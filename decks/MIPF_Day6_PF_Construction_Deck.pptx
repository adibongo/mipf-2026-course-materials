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Share of cost</c:v>
                </c:pt>
              </c:strCache>
            </c:strRef>
          </c:tx>
          <c:spPr>
            <a:solidFill>
              <a:srgbClr val="141B4D"/>
            </a:solidFill>
          </c:spPr>
          <c:cat>
            <c:strRef>
              <c:f>Sheet1!$A$2:$A$9</c:f>
              <c:strCache>
                <c:ptCount val="8"/>
                <c:pt idx="0">
                  <c:v>Mar-20</c:v>
                </c:pt>
                <c:pt idx="1">
                  <c:v>Jun-20</c:v>
                </c:pt>
                <c:pt idx="2">
                  <c:v>Sep-20</c:v>
                </c:pt>
                <c:pt idx="3">
                  <c:v>Dec-20</c:v>
                </c:pt>
                <c:pt idx="4">
                  <c:v>Mar-21</c:v>
                </c:pt>
                <c:pt idx="5">
                  <c:v>Jun-21</c:v>
                </c:pt>
                <c:pt idx="6">
                  <c:v>Sep-21</c:v>
                </c:pt>
                <c:pt idx="7">
                  <c:v>Dec-21</c:v>
                </c:pt>
              </c:strCache>
            </c:strRef>
          </c:cat>
          <c:val>
            <c:numRef>
              <c:f>Sheet1!$B$2:$B$9</c:f>
              <c:numCache>
                <c:formatCode>General</c:formatCode>
                <c:ptCount val="8"/>
                <c:pt idx="0">
                  <c:v>5.0</c:v>
                </c:pt>
                <c:pt idx="1">
                  <c:v>10.0</c:v>
                </c:pt>
                <c:pt idx="2">
                  <c:v>15.0</c:v>
                </c:pt>
                <c:pt idx="3">
                  <c:v>20.0</c:v>
                </c:pt>
                <c:pt idx="4">
                  <c:v>20.0</c:v>
                </c:pt>
                <c:pt idx="5">
                  <c:v>15.0</c:v>
                </c:pt>
                <c:pt idx="6">
                  <c:v>10.0</c:v>
                </c:pt>
                <c:pt idx="7">
                  <c:v>5.0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E1E7EE"/>
              </a:solidFill>
            </a:ln>
          </c:spPr>
        </c:majorGridlines>
        <c:title>
          <c:tx>
            <c:rich>
              <a:bodyPr/>
              <a:lstStyle/>
              <a:p>
                <a:r>
                  <a:rPr sz="1100"/>
                  <a:t>% of cost</a:t>
                </a:r>
              </a:p>
            </c:rich>
          </c:tx>
          <c:layout/>
          <c:overlay val="0"/>
        </c:title>
        <c:numFmt formatCode="0" sourceLinked="0"/>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Equity</c:v>
                </c:pt>
              </c:strCache>
            </c:strRef>
          </c:tx>
          <c:spPr>
            <a:solidFill>
              <a:srgbClr val="141B4D"/>
            </a:solidFill>
          </c:spPr>
          <c:cat>
            <c:strRef>
              <c:f>Sheet1!$A$2:$A$9</c:f>
              <c:strCache>
                <c:ptCount val="8"/>
                <c:pt idx="0">
                  <c:v>Mar-20</c:v>
                </c:pt>
                <c:pt idx="1">
                  <c:v>Jun-20</c:v>
                </c:pt>
                <c:pt idx="2">
                  <c:v>Sep-20</c:v>
                </c:pt>
                <c:pt idx="3">
                  <c:v>Dec-20</c:v>
                </c:pt>
                <c:pt idx="4">
                  <c:v>Mar-21</c:v>
                </c:pt>
                <c:pt idx="5">
                  <c:v>Jun-21</c:v>
                </c:pt>
                <c:pt idx="6">
                  <c:v>Sep-21</c:v>
                </c:pt>
                <c:pt idx="7">
                  <c:v>Dec-21</c:v>
                </c:pt>
              </c:strCache>
            </c:strRef>
          </c:cat>
          <c:val>
            <c:numRef>
              <c:f>Sheet1!$B$2:$B$9</c:f>
              <c:numCache>
                <c:formatCode>General</c:formatCode>
                <c:ptCount val="8"/>
                <c:pt idx="0">
                  <c:v>2422</c:v>
                </c:pt>
                <c:pt idx="1">
                  <c:v>3861</c:v>
                </c:pt>
                <c:pt idx="2">
                  <c:v>5792</c:v>
                </c:pt>
                <c:pt idx="3">
                  <c:v>7740</c:v>
                </c:pt>
                <c:pt idx="4">
                  <c:v>7804</c:v>
                </c:pt>
                <c:pt idx="5">
                  <c:v>5977</c:v>
                </c:pt>
                <c:pt idx="6">
                  <c:v>4136</c:v>
                </c:pt>
                <c:pt idx="7">
                  <c:v>2276</c:v>
                </c:pt>
              </c:numCache>
            </c:numRef>
          </c:val>
        </c:ser>
        <c:ser>
          <c:idx val="1"/>
          <c:order val="1"/>
          <c:tx>
            <c:strRef>
              <c:f>Sheet1!$C$1</c:f>
              <c:strCache>
                <c:ptCount val="1"/>
                <c:pt idx="0">
                  <c:v>Senior debt</c:v>
                </c:pt>
              </c:strCache>
            </c:strRef>
          </c:tx>
          <c:spPr>
            <a:solidFill>
              <a:srgbClr val="D99A2B"/>
            </a:solidFill>
          </c:spPr>
          <c:cat>
            <c:strRef>
              <c:f>Sheet1!$A$2:$A$9</c:f>
              <c:strCache>
                <c:ptCount val="8"/>
                <c:pt idx="0">
                  <c:v>Mar-20</c:v>
                </c:pt>
                <c:pt idx="1">
                  <c:v>Jun-20</c:v>
                </c:pt>
                <c:pt idx="2">
                  <c:v>Sep-20</c:v>
                </c:pt>
                <c:pt idx="3">
                  <c:v>Dec-20</c:v>
                </c:pt>
                <c:pt idx="4">
                  <c:v>Mar-21</c:v>
                </c:pt>
                <c:pt idx="5">
                  <c:v>Jun-21</c:v>
                </c:pt>
                <c:pt idx="6">
                  <c:v>Sep-21</c:v>
                </c:pt>
                <c:pt idx="7">
                  <c:v>Dec-21</c:v>
                </c:pt>
              </c:strCache>
            </c:strRef>
          </c:cat>
          <c:val>
            <c:numRef>
              <c:f>Sheet1!$C$2:$C$9</c:f>
              <c:numCache>
                <c:formatCode>General</c:formatCode>
                <c:ptCount val="8"/>
                <c:pt idx="0">
                  <c:v>3634</c:v>
                </c:pt>
                <c:pt idx="1">
                  <c:v>5791</c:v>
                </c:pt>
                <c:pt idx="2">
                  <c:v>8689</c:v>
                </c:pt>
                <c:pt idx="3">
                  <c:v>11611</c:v>
                </c:pt>
                <c:pt idx="4">
                  <c:v>11706</c:v>
                </c:pt>
                <c:pt idx="5">
                  <c:v>8966</c:v>
                </c:pt>
                <c:pt idx="6">
                  <c:v>6204</c:v>
                </c:pt>
                <c:pt idx="7">
                  <c:v>3414</c:v>
                </c:pt>
              </c:numCache>
            </c:numRef>
          </c:val>
        </c:ser>
        <c:overlap val="10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E1E7EE"/>
              </a:solidFill>
            </a:ln>
          </c:spPr>
        </c:majorGridlines>
        <c:title>
          <c:tx>
            <c:rich>
              <a:bodyPr/>
              <a:lstStyle/>
              <a:p>
                <a:r>
                  <a:rPr sz="1100"/>
                  <a:t>$000s</a:t>
                </a:r>
              </a:p>
            </c:rich>
          </c:tx>
          <c:layout/>
          <c:overlay val="0"/>
        </c:title>
        <c:numFmt formatCode="#,##0" sourceLinked="0"/>
        <c:majorTickMark val="out"/>
        <c:minorTickMark val="none"/>
        <c:tickLblPos val="nextTo"/>
        <c:txPr>
          <a:bodyPr/>
          <a:lstStyle/>
          <a:p>
            <a:pPr>
              <a:defRPr sz="1100"/>
            </a:pPr>
          </a:p>
        </c:txPr>
        <c:crossAx val="-2068027336"/>
        <c:crosses val="autoZero"/>
      </c:valAx>
    </c:plotArea>
    <c:legend>
      <c:legendPos val="b"/>
      <c:overlay val="0"/>
      <c:txPr>
        <a:bodyPr/>
        <a:lstStyle/>
        <a:p>
          <a:pPr>
            <a:defRPr sz="12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chart" Target="../charts/chart1.xml"/><Relationship Id="rId6"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chart" Target="../charts/chart2.xml"/><Relationship Id="rId6" Type="http://schemas.openxmlformats.org/officeDocument/2006/relationships/notesSlide" Target="../notesSlides/notesSlide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ounded Rectangle 1"/>
          <p:cNvSpPr/>
          <p:nvPr/>
        </p:nvSpPr>
        <p:spPr>
          <a:xfrm>
            <a:off x="457200" y="411480"/>
            <a:ext cx="320040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566928" y="502920"/>
            <a:ext cx="2516682" cy="868680"/>
          </a:xfrm>
          <a:prstGeom prst="rect">
            <a:avLst/>
          </a:prstGeom>
        </p:spPr>
      </p:pic>
      <p:pic>
        <p:nvPicPr>
          <p:cNvPr id="4" name="Picture 3" descr="mipf_hex.png"/>
          <p:cNvPicPr>
            <a:picLocks noChangeAspect="1"/>
          </p:cNvPicPr>
          <p:nvPr/>
        </p:nvPicPr>
        <p:blipFill>
          <a:blip r:embed="rId3"/>
          <a:stretch>
            <a:fillRect/>
          </a:stretch>
        </p:blipFill>
        <p:spPr>
          <a:xfrm>
            <a:off x="9144000" y="457200"/>
            <a:ext cx="2377440" cy="2377440"/>
          </a:xfrm>
          <a:prstGeom prst="rect">
            <a:avLst/>
          </a:prstGeom>
        </p:spPr>
      </p:pic>
      <p:pic>
        <p:nvPicPr>
          <p:cNvPr id="5" name="Picture 4" descr="bongo_ai_hex_dark_256.png"/>
          <p:cNvPicPr>
            <a:picLocks noChangeAspect="1"/>
          </p:cNvPicPr>
          <p:nvPr/>
        </p:nvPicPr>
        <p:blipFill>
          <a:blip r:embed="rId4"/>
          <a:stretch>
            <a:fillRect/>
          </a:stretch>
        </p:blipFill>
        <p:spPr>
          <a:xfrm>
            <a:off x="10607040" y="5074920"/>
            <a:ext cx="1188720" cy="1188720"/>
          </a:xfrm>
          <a:prstGeom prst="rect">
            <a:avLst/>
          </a:prstGeom>
        </p:spPr>
      </p:pic>
      <p:sp>
        <p:nvSpPr>
          <p:cNvPr id="6" name="TextBox 5"/>
          <p:cNvSpPr txBox="1"/>
          <p:nvPr/>
        </p:nvSpPr>
        <p:spPr>
          <a:xfrm>
            <a:off x="9144000" y="6035040"/>
            <a:ext cx="1463040" cy="274320"/>
          </a:xfrm>
          <a:prstGeom prst="rect">
            <a:avLst/>
          </a:prstGeom>
          <a:noFill/>
        </p:spPr>
        <p:txBody>
          <a:bodyPr wrap="square" lIns="45720" rIns="45720" tIns="27432" bIns="27432" anchor="t">
            <a:spAutoFit/>
          </a:bodyPr>
          <a:lstStyle/>
          <a:p>
            <a:pPr algn="r"/>
            <a:r>
              <a:rPr b="0" sz="1100" i="0">
                <a:solidFill>
                  <a:srgbClr val="C9D3F5"/>
                </a:solidFill>
                <a:latin typeface="Calibri"/>
              </a:rPr>
              <a:t>bongo.ai  ·  MIPF</a:t>
            </a:r>
          </a:p>
        </p:txBody>
      </p:sp>
      <p:sp>
        <p:nvSpPr>
          <p:cNvPr id="7" name="TextBox 6"/>
          <p:cNvSpPr txBox="1"/>
          <p:nvPr/>
        </p:nvSpPr>
        <p:spPr>
          <a:xfrm>
            <a:off x="548640" y="2331720"/>
            <a:ext cx="8412480" cy="365760"/>
          </a:xfrm>
          <a:prstGeom prst="rect">
            <a:avLst/>
          </a:prstGeom>
          <a:noFill/>
        </p:spPr>
        <p:txBody>
          <a:bodyPr wrap="square" lIns="45720" rIns="45720" tIns="27432" bIns="27432" anchor="t">
            <a:spAutoFit/>
          </a:bodyPr>
          <a:lstStyle/>
          <a:p>
            <a:pPr algn="l"/>
            <a:r>
              <a:rPr b="1" sz="1400" i="0">
                <a:solidFill>
                  <a:srgbClr val="D99A2B"/>
                </a:solidFill>
                <a:latin typeface="Calibri"/>
              </a:rPr>
              <a:t>MASTERING INFRASTRUCTURE AND PROJECT FINANCE BOOT CAMP</a:t>
            </a:r>
          </a:p>
        </p:txBody>
      </p:sp>
      <p:sp>
        <p:nvSpPr>
          <p:cNvPr id="8" name="TextBox 7"/>
          <p:cNvSpPr txBox="1"/>
          <p:nvPr/>
        </p:nvSpPr>
        <p:spPr>
          <a:xfrm>
            <a:off x="548640" y="2743200"/>
            <a:ext cx="8595360" cy="1737360"/>
          </a:xfrm>
          <a:prstGeom prst="rect">
            <a:avLst/>
          </a:prstGeom>
          <a:noFill/>
        </p:spPr>
        <p:txBody>
          <a:bodyPr wrap="square" lIns="45720" rIns="45720" tIns="27432" bIns="27432" anchor="t">
            <a:spAutoFit/>
          </a:bodyPr>
          <a:lstStyle/>
          <a:p>
            <a:pPr algn="l"/>
            <a:r>
              <a:rPr b="1" sz="3400" i="0">
                <a:solidFill>
                  <a:srgbClr val="FFFFFF"/>
                </a:solidFill>
                <a:latin typeface="Georgia"/>
              </a:rPr>
              <a:t>Project Finance Modelling I: Construction and Funding</a:t>
            </a:r>
          </a:p>
        </p:txBody>
      </p:sp>
      <p:sp>
        <p:nvSpPr>
          <p:cNvPr id="9" name="TextBox 8"/>
          <p:cNvSpPr txBox="1"/>
          <p:nvPr/>
        </p:nvSpPr>
        <p:spPr>
          <a:xfrm>
            <a:off x="548640" y="4526280"/>
            <a:ext cx="8595360" cy="822960"/>
          </a:xfrm>
          <a:prstGeom prst="rect">
            <a:avLst/>
          </a:prstGeom>
          <a:noFill/>
        </p:spPr>
        <p:txBody>
          <a:bodyPr wrap="square" lIns="45720" rIns="45720" tIns="27432" bIns="27432" anchor="t">
            <a:spAutoFit/>
          </a:bodyPr>
          <a:lstStyle/>
          <a:p>
            <a:pPr algn="l"/>
            <a:r>
              <a:rPr b="0" sz="1800" i="0">
                <a:solidFill>
                  <a:srgbClr val="D8DEF5"/>
                </a:solidFill>
                <a:latin typeface="Calibri"/>
              </a:rPr>
              <a:t>Turn the operating model into a project finance model: construction period, uses and sources of funds, fees, interest during construction and opening balances</a:t>
            </a:r>
          </a:p>
        </p:txBody>
      </p:sp>
      <p:sp>
        <p:nvSpPr>
          <p:cNvPr id="10" name="TextBox 9"/>
          <p:cNvSpPr txBox="1"/>
          <p:nvPr/>
        </p:nvSpPr>
        <p:spPr>
          <a:xfrm>
            <a:off x="548640" y="5669280"/>
            <a:ext cx="8595360" cy="457200"/>
          </a:xfrm>
          <a:prstGeom prst="rect">
            <a:avLst/>
          </a:prstGeom>
          <a:noFill/>
        </p:spPr>
        <p:txBody>
          <a:bodyPr wrap="square" lIns="45720" rIns="45720" tIns="27432" bIns="27432" anchor="t">
            <a:spAutoFit/>
          </a:bodyPr>
          <a:lstStyle/>
          <a:p>
            <a:pPr algn="l"/>
            <a:r>
              <a:rPr b="1" sz="1500" i="0">
                <a:solidFill>
                  <a:srgbClr val="FFFFFF"/>
                </a:solidFill>
                <a:latin typeface="Calibri"/>
              </a:rPr>
              <a:t>Wednesday 21st October 2026  |  Facilitator: Promise Godbold</a:t>
            </a:r>
          </a:p>
        </p:txBody>
      </p:sp>
      <p:sp>
        <p:nvSpPr>
          <p:cNvPr id="11" name="TextBox 10"/>
          <p:cNvSpPr txBox="1"/>
          <p:nvPr/>
        </p:nvSpPr>
        <p:spPr>
          <a:xfrm>
            <a:off x="548640" y="6053328"/>
            <a:ext cx="10058400" cy="274320"/>
          </a:xfrm>
          <a:prstGeom prst="rect">
            <a:avLst/>
          </a:prstGeom>
          <a:noFill/>
        </p:spPr>
        <p:txBody>
          <a:bodyPr wrap="square" lIns="45720" rIns="45720" tIns="27432" bIns="27432" anchor="t">
            <a:spAutoFit/>
          </a:bodyPr>
          <a:lstStyle/>
          <a:p>
            <a:pPr algn="l"/>
            <a:r>
              <a:rPr b="0" sz="1100" i="0">
                <a:solidFill>
                  <a:srgbClr val="C9D3F5"/>
                </a:solidFill>
                <a:latin typeface="Calibri"/>
              </a:rPr>
              <a:t>Prof Bongo Adi  |  +234 706 164 8699  |  badi@lbs.edu.ng  |  bongo.adi@fulbrightmail.org</a:t>
            </a:r>
          </a:p>
        </p:txBody>
      </p:sp>
      <p:sp>
        <p:nvSpPr>
          <p:cNvPr id="12" name="Rectangle 11"/>
          <p:cNvSpPr/>
          <p:nvPr/>
        </p:nvSpPr>
        <p:spPr>
          <a:xfrm>
            <a:off x="548640" y="5532120"/>
            <a:ext cx="219456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783080"/>
            <a:ext cx="8229600" cy="320040"/>
          </a:xfrm>
          <a:prstGeom prst="rect">
            <a:avLst/>
          </a:prstGeom>
          <a:noFill/>
        </p:spPr>
        <p:txBody>
          <a:bodyPr wrap="none">
            <a:spAutoFit/>
          </a:bodyPr>
          <a:lstStyle/>
          <a:p>
            <a:r>
              <a:rPr sz="1200" b="1">
                <a:solidFill>
                  <a:srgbClr val="D99A2B"/>
                </a:solidFill>
                <a:latin typeface="Calibri"/>
              </a:rPr>
              <a:t>PARTICIPANT EDITION  ·  exercise answers and facilitator notes are withheld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PLAN FOR THE DAY</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Today's timetable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719578"/>
        </p:xfrm>
        <a:graphic>
          <a:graphicData uri="http://schemas.openxmlformats.org/drawingml/2006/table">
            <a:tbl>
              <a:tblPr firstRow="1" bandRow="1">
                <a:tableStyleId>{5C22544A-7EE6-4342-B048-85BDC9FD1C3A}</a:tableStyleId>
              </a:tblPr>
              <a:tblGrid>
                <a:gridCol w="1828800"/>
                <a:gridCol w="4754880"/>
                <a:gridCol w="4480560"/>
              </a:tblGrid>
              <a:tr h="384048">
                <a:tc>
                  <a:txBody>
                    <a:bodyPr wrap="square"/>
                    <a:lstStyle/>
                    <a:p>
                      <a:r>
                        <a:rPr b="1" sz="1300" i="0">
                          <a:solidFill>
                            <a:srgbClr val="FFFFFF"/>
                          </a:solidFill>
                          <a:latin typeface="Calibri"/>
                        </a:rPr>
                        <a:t>Time</a:t>
                      </a:r>
                    </a:p>
                  </a:txBody>
                  <a:tcPr marL="64008" marR="64008" marT="27432" marB="27432" anchor="ctr">
                    <a:solidFill>
                      <a:srgbClr val="141B4D"/>
                    </a:solidFill>
                  </a:tcPr>
                </a:tc>
                <a:tc>
                  <a:txBody>
                    <a:bodyPr wrap="square"/>
                    <a:lstStyle/>
                    <a:p>
                      <a:r>
                        <a:rPr b="1" sz="1300" i="0">
                          <a:solidFill>
                            <a:srgbClr val="FFFFFF"/>
                          </a:solidFill>
                          <a:latin typeface="Calibri"/>
                        </a:rPr>
                        <a:t>Session</a:t>
                      </a:r>
                    </a:p>
                  </a:txBody>
                  <a:tcPr marL="64008" marR="64008" marT="27432" marB="27432" anchor="ctr">
                    <a:solidFill>
                      <a:srgbClr val="141B4D"/>
                    </a:solidFill>
                  </a:tcPr>
                </a:tc>
                <a:tc>
                  <a:txBody>
                    <a:bodyPr wrap="square"/>
                    <a:lstStyle/>
                    <a:p>
                      <a:r>
                        <a:rPr b="1" sz="1300" i="0">
                          <a:solidFill>
                            <a:srgbClr val="FFFFFF"/>
                          </a:solidFill>
                          <a:latin typeface="Calibri"/>
                        </a:rPr>
                        <a:t>What participants do</a:t>
                      </a:r>
                    </a:p>
                  </a:txBody>
                  <a:tcPr marL="64008" marR="64008" marT="27432" marB="27432" anchor="ctr">
                    <a:solidFill>
                      <a:srgbClr val="141B4D"/>
                    </a:solidFill>
                  </a:tcPr>
                </a:tc>
              </a:tr>
              <a:tr h="522478">
                <a:tc>
                  <a:txBody>
                    <a:bodyPr wrap="square"/>
                    <a:lstStyle/>
                    <a:p>
                      <a:r>
                        <a:rPr b="1" sz="1300" i="0">
                          <a:solidFill>
                            <a:srgbClr val="1A2233"/>
                          </a:solidFill>
                          <a:latin typeface="Calibri"/>
                        </a:rPr>
                        <a:t>09.00 – 10.00</a:t>
                      </a:r>
                    </a:p>
                  </a:txBody>
                  <a:tcPr marL="64008" marR="64008" marT="27432" marB="27432" anchor="ctr">
                    <a:solidFill>
                      <a:srgbClr val="FFFFFF"/>
                    </a:solidFill>
                  </a:tcPr>
                </a:tc>
                <a:tc>
                  <a:txBody>
                    <a:bodyPr wrap="square"/>
                    <a:lstStyle/>
                    <a:p>
                      <a:r>
                        <a:rPr b="0" sz="1300" i="0">
                          <a:solidFill>
                            <a:srgbClr val="1A2233"/>
                          </a:solidFill>
                          <a:latin typeface="Calibri"/>
                        </a:rPr>
                        <a:t>Introduction to PF modelling; understanding the start model; the construction period</a:t>
                      </a:r>
                    </a:p>
                  </a:txBody>
                  <a:tcPr marL="64008" marR="64008" marT="27432" marB="27432" anchor="ctr">
                    <a:solidFill>
                      <a:srgbClr val="FFFFFF"/>
                    </a:solidFill>
                  </a:tcPr>
                </a:tc>
                <a:tc>
                  <a:txBody>
                    <a:bodyPr wrap="square"/>
                    <a:lstStyle/>
                    <a:p>
                      <a:r>
                        <a:rPr b="0" sz="1300" i="0">
                          <a:solidFill>
                            <a:srgbClr val="1A2233"/>
                          </a:solidFill>
                          <a:latin typeface="Calibri"/>
                        </a:rPr>
                        <a:t>Map what must change; set up the construction timeline (Exercise 6.1)</a:t>
                      </a:r>
                    </a:p>
                  </a:txBody>
                  <a:tcPr marL="64008" marR="64008" marT="27432" marB="27432" anchor="ctr">
                    <a:solidFill>
                      <a:srgbClr val="FFFFFF"/>
                    </a:solidFill>
                  </a:tcPr>
                </a:tc>
              </a:tr>
              <a:tr h="384048">
                <a:tc>
                  <a:txBody>
                    <a:bodyPr wrap="square"/>
                    <a:lstStyle/>
                    <a:p>
                      <a:r>
                        <a:rPr b="1" sz="1300" i="0">
                          <a:solidFill>
                            <a:srgbClr val="1A2233"/>
                          </a:solidFill>
                          <a:latin typeface="Calibri"/>
                        </a:rPr>
                        <a:t>10.00 – 10.30</a:t>
                      </a:r>
                    </a:p>
                  </a:txBody>
                  <a:tcPr marL="64008" marR="64008" marT="27432" marB="27432" anchor="ctr">
                    <a:solidFill>
                      <a:srgbClr val="F3F6F9"/>
                    </a:solidFill>
                  </a:tcPr>
                </a:tc>
                <a:tc>
                  <a:txBody>
                    <a:bodyPr wrap="square"/>
                    <a:lstStyle/>
                    <a:p>
                      <a:r>
                        <a:rPr b="0" sz="1300" i="0">
                          <a:solidFill>
                            <a:srgbClr val="1A2233"/>
                          </a:solidFill>
                          <a:latin typeface="Calibri"/>
                        </a:rPr>
                        <a:t>Coffee break</a:t>
                      </a:r>
                    </a:p>
                  </a:txBody>
                  <a:tcPr marL="64008" marR="64008" marT="27432" marB="27432" anchor="ctr">
                    <a:solidFill>
                      <a:srgbClr val="F3F6F9"/>
                    </a:solidFill>
                  </a:tcPr>
                </a:tc>
                <a:tc>
                  <a:txBody>
                    <a:bodyPr wrap="square"/>
                    <a:lstStyle/>
                    <a:p/>
                  </a:txBody>
                  <a:tcPr marL="64008" marR="64008" marT="27432" marB="27432" anchor="ctr">
                    <a:solidFill>
                      <a:srgbClr val="F3F6F9"/>
                    </a:solidFill>
                  </a:tcPr>
                </a:tc>
              </a:tr>
              <a:tr h="522478">
                <a:tc>
                  <a:txBody>
                    <a:bodyPr wrap="square"/>
                    <a:lstStyle/>
                    <a:p>
                      <a:r>
                        <a:rPr b="1" sz="1300" i="0">
                          <a:solidFill>
                            <a:srgbClr val="1A2233"/>
                          </a:solidFill>
                          <a:latin typeface="Calibri"/>
                        </a:rPr>
                        <a:t>10.30 – 14.00</a:t>
                      </a:r>
                    </a:p>
                  </a:txBody>
                  <a:tcPr marL="64008" marR="64008" marT="27432" marB="27432" anchor="ctr">
                    <a:solidFill>
                      <a:srgbClr val="FFFFFF"/>
                    </a:solidFill>
                  </a:tcPr>
                </a:tc>
                <a:tc>
                  <a:txBody>
                    <a:bodyPr wrap="square"/>
                    <a:lstStyle/>
                    <a:p>
                      <a:r>
                        <a:rPr b="0" sz="1300" i="0">
                          <a:solidFill>
                            <a:srgbClr val="1A2233"/>
                          </a:solidFill>
                          <a:latin typeface="Calibri"/>
                        </a:rPr>
                        <a:t>Sources and uses of funds; sources of finance; finance cost and fees during construction</a:t>
                      </a:r>
                    </a:p>
                  </a:txBody>
                  <a:tcPr marL="64008" marR="64008" marT="27432" marB="27432" anchor="ctr">
                    <a:solidFill>
                      <a:srgbClr val="FFFFFF"/>
                    </a:solidFill>
                  </a:tcPr>
                </a:tc>
                <a:tc>
                  <a:txBody>
                    <a:bodyPr wrap="square"/>
                    <a:lstStyle/>
                    <a:p>
                      <a:r>
                        <a:rPr b="0" sz="1300" i="0">
                          <a:solidFill>
                            <a:srgbClr val="1A2233"/>
                          </a:solidFill>
                          <a:latin typeface="Calibri"/>
                        </a:rPr>
                        <a:t>Build uses, fees, IDC and sources (Exercises 6.2, 6.3)</a:t>
                      </a:r>
                    </a:p>
                  </a:txBody>
                  <a:tcPr marL="64008" marR="64008" marT="27432" marB="27432" anchor="ctr">
                    <a:solidFill>
                      <a:srgbClr val="FFFFFF"/>
                    </a:solidFill>
                  </a:tcPr>
                </a:tc>
              </a:tr>
              <a:tr h="384048">
                <a:tc>
                  <a:txBody>
                    <a:bodyPr wrap="square"/>
                    <a:lstStyle/>
                    <a:p>
                      <a:r>
                        <a:rPr b="1" sz="1300" i="0">
                          <a:solidFill>
                            <a:srgbClr val="1A2233"/>
                          </a:solidFill>
                          <a:latin typeface="Calibri"/>
                        </a:rPr>
                        <a:t>14.00 – 14.45</a:t>
                      </a:r>
                    </a:p>
                  </a:txBody>
                  <a:tcPr marL="64008" marR="64008" marT="27432" marB="27432" anchor="ctr">
                    <a:solidFill>
                      <a:srgbClr val="F3F6F9"/>
                    </a:solidFill>
                  </a:tcPr>
                </a:tc>
                <a:tc>
                  <a:txBody>
                    <a:bodyPr wrap="square"/>
                    <a:lstStyle/>
                    <a:p>
                      <a:r>
                        <a:rPr b="0" sz="1300" i="0">
                          <a:solidFill>
                            <a:srgbClr val="1A2233"/>
                          </a:solidFill>
                          <a:latin typeface="Calibri"/>
                        </a:rPr>
                        <a:t>Lunch break</a:t>
                      </a:r>
                    </a:p>
                  </a:txBody>
                  <a:tcPr marL="64008" marR="64008" marT="27432" marB="27432" anchor="ctr">
                    <a:solidFill>
                      <a:srgbClr val="F3F6F9"/>
                    </a:solidFill>
                  </a:tcPr>
                </a:tc>
                <a:tc>
                  <a:txBody>
                    <a:bodyPr wrap="square"/>
                    <a:lstStyle/>
                    <a:p/>
                  </a:txBody>
                  <a:tcPr marL="64008" marR="64008" marT="27432" marB="27432" anchor="ctr">
                    <a:solidFill>
                      <a:srgbClr val="F3F6F9"/>
                    </a:solidFill>
                  </a:tcPr>
                </a:tc>
              </a:tr>
              <a:tr h="522478">
                <a:tc>
                  <a:txBody>
                    <a:bodyPr wrap="square"/>
                    <a:lstStyle/>
                    <a:p>
                      <a:r>
                        <a:rPr b="1" sz="1300" i="0">
                          <a:solidFill>
                            <a:srgbClr val="1A2233"/>
                          </a:solidFill>
                          <a:latin typeface="Calibri"/>
                        </a:rPr>
                        <a:t>14.45 – 17.00</a:t>
                      </a:r>
                    </a:p>
                  </a:txBody>
                  <a:tcPr marL="64008" marR="64008" marT="27432" marB="27432" anchor="ctr">
                    <a:solidFill>
                      <a:srgbClr val="FFFFFF"/>
                    </a:solidFill>
                  </a:tcPr>
                </a:tc>
                <a:tc>
                  <a:txBody>
                    <a:bodyPr wrap="square"/>
                    <a:lstStyle/>
                    <a:p>
                      <a:r>
                        <a:rPr b="0" sz="1300" i="0">
                          <a:solidFill>
                            <a:srgbClr val="1A2233"/>
                          </a:solidFill>
                          <a:latin typeface="Calibri"/>
                        </a:rPr>
                        <a:t>Opening balances, timelines and interest during construction</a:t>
                      </a:r>
                    </a:p>
                  </a:txBody>
                  <a:tcPr marL="64008" marR="64008" marT="27432" marB="27432" anchor="ctr">
                    <a:solidFill>
                      <a:srgbClr val="FFFFFF"/>
                    </a:solidFill>
                  </a:tcPr>
                </a:tc>
                <a:tc>
                  <a:txBody>
                    <a:bodyPr wrap="square"/>
                    <a:lstStyle/>
                    <a:p>
                      <a:r>
                        <a:rPr b="0" sz="1300" i="0">
                          <a:solidFill>
                            <a:srgbClr val="1A2233"/>
                          </a:solidFill>
                          <a:latin typeface="Calibri"/>
                        </a:rPr>
                        <a:t>Link to the operating model; resolve IDC methods; check (Exercise 6.4)</a:t>
                      </a:r>
                    </a:p>
                  </a:txBody>
                  <a:tcPr marL="64008" marR="64008" marT="27432" marB="27432" anchor="ct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OUTCOMES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Learning outcomes for Day 6</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Explain why project finance models start before the asset exists</a:t>
            </a:r>
          </a:p>
          <a:p>
            <a:pPr>
              <a:spcAft>
                <a:spcPts val="700"/>
              </a:spcAft>
            </a:pPr>
            <a:r>
              <a:rPr b="0" sz="2000" i="0">
                <a:solidFill>
                  <a:srgbClr val="1A2233"/>
                </a:solidFill>
                <a:latin typeface="Calibri"/>
              </a:rPr>
              <a:t>▪ Build a construction timeline with dates and day counts from the financial-close date</a:t>
            </a:r>
          </a:p>
          <a:p>
            <a:pPr>
              <a:spcAft>
                <a:spcPts val="700"/>
              </a:spcAft>
            </a:pPr>
            <a:r>
              <a:rPr b="0" sz="2000" i="0">
                <a:solidFill>
                  <a:srgbClr val="1A2233"/>
                </a:solidFill>
                <a:latin typeface="Calibri"/>
              </a:rPr>
              <a:t>▪ Build the uses of funds: hard cost, upfront fee, commitment fee and interest during construction (IDC)</a:t>
            </a:r>
          </a:p>
          <a:p>
            <a:pPr>
              <a:spcAft>
                <a:spcPts val="700"/>
              </a:spcAft>
            </a:pPr>
            <a:r>
              <a:rPr b="0" sz="2000" i="0">
                <a:solidFill>
                  <a:srgbClr val="1A2233"/>
                </a:solidFill>
                <a:latin typeface="Calibri"/>
              </a:rPr>
              <a:t>▪ Build the sources of funds with a pro-rata (or equity-first) drawdown and prove sources = uses</a:t>
            </a:r>
          </a:p>
          <a:p>
            <a:pPr>
              <a:spcAft>
                <a:spcPts val="700"/>
              </a:spcAft>
            </a:pPr>
            <a:r>
              <a:rPr b="0" sz="2000" i="0">
                <a:solidFill>
                  <a:srgbClr val="1A2233"/>
                </a:solidFill>
                <a:latin typeface="Calibri"/>
              </a:rPr>
              <a:t>▪ Link construction results to the opening balances of the operating model (assets, debt, equity)</a:t>
            </a:r>
          </a:p>
          <a:p>
            <a:pPr>
              <a:spcAft>
                <a:spcPts val="700"/>
              </a:spcAft>
            </a:pPr>
            <a:r>
              <a:rPr b="0" sz="2000" i="0">
                <a:solidFill>
                  <a:srgbClr val="1A2233"/>
                </a:solidFill>
                <a:latin typeface="Calibri"/>
              </a:rPr>
              <a:t>▪ Compare IDC methods and explain circularity and its algebraic fix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WARM-UP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Day 5 end-state: your starting point (corrected Base case)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688336"/>
        </p:xfrm>
        <a:graphic>
          <a:graphicData uri="http://schemas.openxmlformats.org/drawingml/2006/table">
            <a:tbl>
              <a:tblPr firstRow="1" bandRow="1">
                <a:tableStyleId>{5C22544A-7EE6-4342-B048-85BDC9FD1C3A}</a:tableStyleId>
              </a:tblPr>
              <a:tblGrid>
                <a:gridCol w="5852160"/>
                <a:gridCol w="5212080"/>
              </a:tblGrid>
              <a:tr h="384048">
                <a:tc>
                  <a:txBody>
                    <a:bodyPr wrap="square"/>
                    <a:lstStyle/>
                    <a:p>
                      <a:r>
                        <a:rPr b="1" sz="1300" i="0">
                          <a:solidFill>
                            <a:srgbClr val="FFFFFF"/>
                          </a:solidFill>
                          <a:latin typeface="Calibri"/>
                        </a:rPr>
                        <a:t>Item</a:t>
                      </a:r>
                    </a:p>
                  </a:txBody>
                  <a:tcPr marL="64008" marR="64008" marT="27432" marB="27432" anchor="ctr">
                    <a:solidFill>
                      <a:srgbClr val="141B4D"/>
                    </a:solidFill>
                  </a:tcPr>
                </a:tc>
                <a:tc>
                  <a:txBody>
                    <a:bodyPr wrap="square"/>
                    <a:lstStyle/>
                    <a:p>
                      <a:r>
                        <a:rPr b="1" sz="1300" i="0">
                          <a:solidFill>
                            <a:srgbClr val="FFFFFF"/>
                          </a:solidFill>
                          <a:latin typeface="Calibri"/>
                        </a:rPr>
                        <a:t>Value</a:t>
                      </a:r>
                    </a:p>
                  </a:txBody>
                  <a:tcPr marL="64008" marR="64008" marT="27432" marB="27432" anchor="ctr">
                    <a:solidFill>
                      <a:srgbClr val="141B4D"/>
                    </a:solidFill>
                  </a:tcPr>
                </a:tc>
              </a:tr>
              <a:tr h="384048">
                <a:tc>
                  <a:txBody>
                    <a:bodyPr wrap="square"/>
                    <a:lstStyle/>
                    <a:p>
                      <a:r>
                        <a:rPr b="1" sz="1300" i="0">
                          <a:solidFill>
                            <a:srgbClr val="1A2233"/>
                          </a:solidFill>
                          <a:latin typeface="Calibri"/>
                        </a:rPr>
                        <a:t>Shareholder NPV @ 25.25%</a:t>
                      </a:r>
                    </a:p>
                  </a:txBody>
                  <a:tcPr marL="64008" marR="64008" marT="27432" marB="27432" anchor="ctr">
                    <a:solidFill>
                      <a:srgbClr val="FFFFFF"/>
                    </a:solidFill>
                  </a:tcPr>
                </a:tc>
                <a:tc>
                  <a:txBody>
                    <a:bodyPr wrap="square"/>
                    <a:lstStyle/>
                    <a:p>
                      <a:r>
                        <a:rPr b="0" sz="1300" i="0">
                          <a:solidFill>
                            <a:srgbClr val="1A2233"/>
                          </a:solidFill>
                          <a:latin typeface="Calibri"/>
                        </a:rPr>
                        <a:t>17,609</a:t>
                      </a:r>
                    </a:p>
                  </a:txBody>
                  <a:tcPr marL="64008" marR="64008" marT="27432" marB="27432" anchor="ctr">
                    <a:solidFill>
                      <a:srgbClr val="FFFFFF"/>
                    </a:solidFill>
                  </a:tcPr>
                </a:tc>
              </a:tr>
              <a:tr h="384048">
                <a:tc>
                  <a:txBody>
                    <a:bodyPr wrap="square"/>
                    <a:lstStyle/>
                    <a:p>
                      <a:r>
                        <a:rPr b="1" sz="1300" i="0">
                          <a:solidFill>
                            <a:srgbClr val="1A2233"/>
                          </a:solidFill>
                          <a:latin typeface="Calibri"/>
                        </a:rPr>
                        <a:t>Shareholder XIRR</a:t>
                      </a:r>
                    </a:p>
                  </a:txBody>
                  <a:tcPr marL="64008" marR="64008" marT="27432" marB="27432" anchor="ctr">
                    <a:solidFill>
                      <a:srgbClr val="F3F6F9"/>
                    </a:solidFill>
                  </a:tcPr>
                </a:tc>
                <a:tc>
                  <a:txBody>
                    <a:bodyPr wrap="square"/>
                    <a:lstStyle/>
                    <a:p>
                      <a:r>
                        <a:rPr b="0" sz="1300" i="0">
                          <a:solidFill>
                            <a:srgbClr val="1A2233"/>
                          </a:solidFill>
                          <a:latin typeface="Calibri"/>
                        </a:rPr>
                        <a:t>33.72%</a:t>
                      </a:r>
                    </a:p>
                  </a:txBody>
                  <a:tcPr marL="64008" marR="64008" marT="27432" marB="27432" anchor="ctr">
                    <a:solidFill>
                      <a:srgbClr val="F3F6F9"/>
                    </a:solidFill>
                  </a:tcPr>
                </a:tc>
              </a:tr>
              <a:tr h="384048">
                <a:tc>
                  <a:txBody>
                    <a:bodyPr wrap="square"/>
                    <a:lstStyle/>
                    <a:p>
                      <a:r>
                        <a:rPr b="1" sz="1300" i="0">
                          <a:solidFill>
                            <a:srgbClr val="1A2233"/>
                          </a:solidFill>
                          <a:latin typeface="Calibri"/>
                        </a:rPr>
                        <a:t>Total revenue 20 years ($000s)</a:t>
                      </a:r>
                    </a:p>
                  </a:txBody>
                  <a:tcPr marL="64008" marR="64008" marT="27432" marB="27432" anchor="ctr">
                    <a:solidFill>
                      <a:srgbClr val="FFFFFF"/>
                    </a:solidFill>
                  </a:tcPr>
                </a:tc>
                <a:tc>
                  <a:txBody>
                    <a:bodyPr wrap="square"/>
                    <a:lstStyle/>
                    <a:p>
                      <a:r>
                        <a:rPr b="0" sz="1300" i="0">
                          <a:solidFill>
                            <a:srgbClr val="1A2233"/>
                          </a:solidFill>
                          <a:latin typeface="Calibri"/>
                        </a:rPr>
                        <a:t>1,941,569</a:t>
                      </a:r>
                    </a:p>
                  </a:txBody>
                  <a:tcPr marL="64008" marR="64008" marT="27432" marB="27432" anchor="ctr">
                    <a:solidFill>
                      <a:srgbClr val="FFFFFF"/>
                    </a:solidFill>
                  </a:tcPr>
                </a:tc>
              </a:tr>
              <a:tr h="384048">
                <a:tc>
                  <a:txBody>
                    <a:bodyPr wrap="square"/>
                    <a:lstStyle/>
                    <a:p>
                      <a:r>
                        <a:rPr b="1" sz="1300" i="0">
                          <a:solidFill>
                            <a:srgbClr val="1A2233"/>
                          </a:solidFill>
                          <a:latin typeface="Calibri"/>
                        </a:rPr>
                        <a:t>Total EBITDA ($000s)</a:t>
                      </a:r>
                    </a:p>
                  </a:txBody>
                  <a:tcPr marL="64008" marR="64008" marT="27432" marB="27432" anchor="ctr">
                    <a:solidFill>
                      <a:srgbClr val="F3F6F9"/>
                    </a:solidFill>
                  </a:tcPr>
                </a:tc>
                <a:tc>
                  <a:txBody>
                    <a:bodyPr wrap="square"/>
                    <a:lstStyle/>
                    <a:p>
                      <a:r>
                        <a:rPr b="0" sz="1300" i="0">
                          <a:solidFill>
                            <a:srgbClr val="1A2233"/>
                          </a:solidFill>
                          <a:latin typeface="Calibri"/>
                        </a:rPr>
                        <a:t>789,195</a:t>
                      </a:r>
                    </a:p>
                  </a:txBody>
                  <a:tcPr marL="64008" marR="64008" marT="27432" marB="27432" anchor="ctr">
                    <a:solidFill>
                      <a:srgbClr val="F3F6F9"/>
                    </a:solidFill>
                  </a:tcPr>
                </a:tc>
              </a:tr>
              <a:tr h="384048">
                <a:tc>
                  <a:txBody>
                    <a:bodyPr wrap="square"/>
                    <a:lstStyle/>
                    <a:p>
                      <a:r>
                        <a:rPr b="1" sz="1300" i="0">
                          <a:solidFill>
                            <a:srgbClr val="1A2233"/>
                          </a:solidFill>
                          <a:latin typeface="Calibri"/>
                        </a:rPr>
                        <a:t>Total CFADS ($000s)</a:t>
                      </a:r>
                    </a:p>
                  </a:txBody>
                  <a:tcPr marL="64008" marR="64008" marT="27432" marB="27432" anchor="ctr">
                    <a:solidFill>
                      <a:srgbClr val="FFFFFF"/>
                    </a:solidFill>
                  </a:tcPr>
                </a:tc>
                <a:tc>
                  <a:txBody>
                    <a:bodyPr wrap="square"/>
                    <a:lstStyle/>
                    <a:p>
                      <a:r>
                        <a:rPr b="0" sz="1300" i="0">
                          <a:solidFill>
                            <a:srgbClr val="1A2233"/>
                          </a:solidFill>
                          <a:latin typeface="Calibri"/>
                        </a:rPr>
                        <a:t>582,324</a:t>
                      </a:r>
                    </a:p>
                  </a:txBody>
                  <a:tcPr marL="64008" marR="64008" marT="27432" marB="27432" anchor="ctr">
                    <a:solidFill>
                      <a:srgbClr val="FFFFFF"/>
                    </a:solidFill>
                  </a:tcPr>
                </a:tc>
              </a:tr>
              <a:tr h="384048">
                <a:tc>
                  <a:txBody>
                    <a:bodyPr wrap="square"/>
                    <a:lstStyle/>
                    <a:p>
                      <a:r>
                        <a:rPr b="1" sz="1300" i="0">
                          <a:solidFill>
                            <a:srgbClr val="1A2233"/>
                          </a:solidFill>
                          <a:latin typeface="Calibri"/>
                        </a:rPr>
                        <a:t>FinStat checks F74, F77, F80, Time F120</a:t>
                      </a:r>
                    </a:p>
                  </a:txBody>
                  <a:tcPr marL="64008" marR="64008" marT="27432" marB="27432" anchor="ctr">
                    <a:solidFill>
                      <a:srgbClr val="F3F6F9"/>
                    </a:solidFill>
                  </a:tcPr>
                </a:tc>
                <a:tc>
                  <a:txBody>
                    <a:bodyPr wrap="square"/>
                    <a:lstStyle/>
                    <a:p>
                      <a:r>
                        <a:rPr b="0" sz="1300" i="0">
                          <a:solidFill>
                            <a:srgbClr val="1A2233"/>
                          </a:solidFill>
                          <a:latin typeface="Calibri"/>
                        </a:rPr>
                        <a:t>0, 0, 0, 0</a:t>
                      </a:r>
                    </a:p>
                  </a:txBody>
                  <a:tcPr marL="64008" marR="64008" marT="27432" marB="27432" anchor="ctr">
                    <a:solidFill>
                      <a:srgbClr val="F3F6F9"/>
                    </a:solidFill>
                  </a:tcPr>
                </a:tc>
              </a:tr>
            </a:tbl>
          </a:graphicData>
        </a:graphic>
      </p:graphicFrame>
      <p:sp>
        <p:nvSpPr>
          <p:cNvPr id="12" name="Rectangle 11"/>
          <p:cNvSpPr/>
          <p:nvPr/>
        </p:nvSpPr>
        <p:spPr>
          <a:xfrm>
            <a:off x="548640" y="4572000"/>
            <a:ext cx="11064240" cy="82296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572000"/>
            <a:ext cx="82296" cy="82296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572000"/>
            <a:ext cx="10835640" cy="822960"/>
          </a:xfrm>
          <a:prstGeom prst="rect">
            <a:avLst/>
          </a:prstGeom>
          <a:noFill/>
        </p:spPr>
        <p:txBody>
          <a:bodyPr wrap="square" lIns="45720" rIns="45720" tIns="27432" bIns="27432" anchor="ctr">
            <a:spAutoFit/>
          </a:bodyPr>
          <a:lstStyle/>
          <a:p>
            <a:pPr algn="l"/>
            <a:r>
              <a:rPr b="0" sz="1400" i="0">
                <a:solidFill>
                  <a:srgbClr val="1A2233"/>
                </a:solidFill>
                <a:latin typeface="Calibri"/>
              </a:rPr>
              <a:t>These are the corrected-model figures (tax now deducts interest; scenarios redefined). Participants who used the original file: differences are explained on the Cover sheet change log.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6  |  Wed 21 Oct 2026  |  Project finance modelling I: construction and funding</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5</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09.00 – 09.40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1: From the start model to a project finance model</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What is missing, and what we add.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CONTEXT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What the start model has and what a PF model needs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103626"/>
        </p:xfrm>
        <a:graphic>
          <a:graphicData uri="http://schemas.openxmlformats.org/drawingml/2006/table">
            <a:tbl>
              <a:tblPr firstRow="1" bandRow="1">
                <a:tableStyleId>{5C22544A-7EE6-4342-B048-85BDC9FD1C3A}</a:tableStyleId>
              </a:tblPr>
              <a:tblGrid>
                <a:gridCol w="2011680"/>
                <a:gridCol w="4480560"/>
                <a:gridCol w="4572000"/>
              </a:tblGrid>
              <a:tr h="384048">
                <a:tc>
                  <a:txBody>
                    <a:bodyPr wrap="square"/>
                    <a:lstStyle/>
                    <a:p>
                      <a:r>
                        <a:rPr b="1" sz="1300" i="0">
                          <a:solidFill>
                            <a:srgbClr val="FFFFFF"/>
                          </a:solidFill>
                          <a:latin typeface="Calibri"/>
                        </a:rPr>
                        <a:t>Topic</a:t>
                      </a:r>
                    </a:p>
                  </a:txBody>
                  <a:tcPr marL="64008" marR="64008" marT="27432" marB="27432" anchor="ctr">
                    <a:solidFill>
                      <a:srgbClr val="141B4D"/>
                    </a:solidFill>
                  </a:tcPr>
                </a:tc>
                <a:tc>
                  <a:txBody>
                    <a:bodyPr wrap="square"/>
                    <a:lstStyle/>
                    <a:p>
                      <a:r>
                        <a:rPr b="1" sz="1300" i="0">
                          <a:solidFill>
                            <a:srgbClr val="FFFFFF"/>
                          </a:solidFill>
                          <a:latin typeface="Calibri"/>
                        </a:rPr>
                        <a:t>Start model (Days 4 and 5)</a:t>
                      </a:r>
                    </a:p>
                  </a:txBody>
                  <a:tcPr marL="64008" marR="64008" marT="27432" marB="27432" anchor="ctr">
                    <a:solidFill>
                      <a:srgbClr val="141B4D"/>
                    </a:solidFill>
                  </a:tcPr>
                </a:tc>
                <a:tc>
                  <a:txBody>
                    <a:bodyPr wrap="square"/>
                    <a:lstStyle/>
                    <a:p>
                      <a:r>
                        <a:rPr b="1" sz="1300" i="0">
                          <a:solidFill>
                            <a:srgbClr val="FFFFFF"/>
                          </a:solidFill>
                          <a:latin typeface="Calibri"/>
                        </a:rPr>
                        <a:t>Project finance model (Days 6 and 7)</a:t>
                      </a:r>
                    </a:p>
                  </a:txBody>
                  <a:tcPr marL="64008" marR="64008" marT="27432" marB="27432" anchor="ctr">
                    <a:solidFill>
                      <a:srgbClr val="141B4D"/>
                    </a:solidFill>
                  </a:tcPr>
                </a:tc>
              </a:tr>
              <a:tr h="522478">
                <a:tc>
                  <a:txBody>
                    <a:bodyPr wrap="square"/>
                    <a:lstStyle/>
                    <a:p>
                      <a:r>
                        <a:rPr b="1" sz="1300" i="0">
                          <a:solidFill>
                            <a:srgbClr val="1A2233"/>
                          </a:solidFill>
                          <a:latin typeface="Calibri"/>
                        </a:rPr>
                        <a:t>Starting point</a:t>
                      </a:r>
                    </a:p>
                  </a:txBody>
                  <a:tcPr marL="64008" marR="64008" marT="27432" marB="27432" anchor="ctr">
                    <a:solidFill>
                      <a:srgbClr val="FFFFFF"/>
                    </a:solidFill>
                  </a:tcPr>
                </a:tc>
                <a:tc>
                  <a:txBody>
                    <a:bodyPr wrap="square"/>
                    <a:lstStyle/>
                    <a:p>
                      <a:r>
                        <a:rPr b="0" sz="1300" i="0">
                          <a:solidFill>
                            <a:srgbClr val="1A2233"/>
                          </a:solidFill>
                          <a:latin typeface="Calibri"/>
                        </a:rPr>
                        <a:t>An operating asset already owned at 31 Dec 2021 (US$100,000k, 60% debt)</a:t>
                      </a:r>
                    </a:p>
                  </a:txBody>
                  <a:tcPr marL="64008" marR="64008" marT="27432" marB="27432" anchor="ctr">
                    <a:solidFill>
                      <a:srgbClr val="FFFFFF"/>
                    </a:solidFill>
                  </a:tcPr>
                </a:tc>
                <a:tc>
                  <a:txBody>
                    <a:bodyPr wrap="square"/>
                    <a:lstStyle/>
                    <a:p>
                      <a:r>
                        <a:rPr b="0" sz="1300" i="0">
                          <a:solidFill>
                            <a:srgbClr val="1A2233"/>
                          </a:solidFill>
                          <a:latin typeface="Calibri"/>
                        </a:rPr>
                        <a:t>A project that is built first: construction quarters before 31 Dec 2021</a:t>
                      </a:r>
                    </a:p>
                  </a:txBody>
                  <a:tcPr marL="64008" marR="64008" marT="27432" marB="27432" anchor="ctr">
                    <a:solidFill>
                      <a:srgbClr val="FFFFFF"/>
                    </a:solidFill>
                  </a:tcPr>
                </a:tc>
              </a:tr>
              <a:tr h="522478">
                <a:tc>
                  <a:txBody>
                    <a:bodyPr wrap="square"/>
                    <a:lstStyle/>
                    <a:p>
                      <a:r>
                        <a:rPr b="1" sz="1300" i="0">
                          <a:solidFill>
                            <a:srgbClr val="1A2233"/>
                          </a:solidFill>
                          <a:latin typeface="Calibri"/>
                        </a:rPr>
                        <a:t>Asset value</a:t>
                      </a:r>
                    </a:p>
                  </a:txBody>
                  <a:tcPr marL="64008" marR="64008" marT="27432" marB="27432" anchor="ctr">
                    <a:solidFill>
                      <a:srgbClr val="F3F6F9"/>
                    </a:solidFill>
                  </a:tcPr>
                </a:tc>
                <a:tc>
                  <a:txBody>
                    <a:bodyPr wrap="square"/>
                    <a:lstStyle/>
                    <a:p>
                      <a:r>
                        <a:rPr b="0" sz="1300" i="0">
                          <a:solidFill>
                            <a:srgbClr val="1A2233"/>
                          </a:solidFill>
                          <a:latin typeface="Calibri"/>
                        </a:rPr>
                        <a:t>Typed input (InpC row 64)</a:t>
                      </a:r>
                    </a:p>
                  </a:txBody>
                  <a:tcPr marL="64008" marR="64008" marT="27432" marB="27432" anchor="ctr">
                    <a:solidFill>
                      <a:srgbClr val="F3F6F9"/>
                    </a:solidFill>
                  </a:tcPr>
                </a:tc>
                <a:tc>
                  <a:txBody>
                    <a:bodyPr wrap="square"/>
                    <a:lstStyle/>
                    <a:p>
                      <a:r>
                        <a:rPr b="0" sz="1300" i="0">
                          <a:solidFill>
                            <a:srgbClr val="1A2233"/>
                          </a:solidFill>
                          <a:latin typeface="Calibri"/>
                        </a:rPr>
                        <a:t>Calculated: cost + fees + interest during construction</a:t>
                      </a:r>
                    </a:p>
                  </a:txBody>
                  <a:tcPr marL="64008" marR="64008" marT="27432" marB="27432" anchor="ctr">
                    <a:solidFill>
                      <a:srgbClr val="F3F6F9"/>
                    </a:solidFill>
                  </a:tcPr>
                </a:tc>
              </a:tr>
              <a:tr h="522478">
                <a:tc>
                  <a:txBody>
                    <a:bodyPr wrap="square"/>
                    <a:lstStyle/>
                    <a:p>
                      <a:r>
                        <a:rPr b="1" sz="1300" i="0">
                          <a:solidFill>
                            <a:srgbClr val="1A2233"/>
                          </a:solidFill>
                          <a:latin typeface="Calibri"/>
                        </a:rPr>
                        <a:t>Debt</a:t>
                      </a:r>
                    </a:p>
                  </a:txBody>
                  <a:tcPr marL="64008" marR="64008" marT="27432" marB="27432" anchor="ctr">
                    <a:solidFill>
                      <a:srgbClr val="FFFFFF"/>
                    </a:solidFill>
                  </a:tcPr>
                </a:tc>
                <a:tc>
                  <a:txBody>
                    <a:bodyPr wrap="square"/>
                    <a:lstStyle/>
                    <a:p>
                      <a:r>
                        <a:rPr b="0" sz="1300" i="0">
                          <a:solidFill>
                            <a:srgbClr val="1A2233"/>
                          </a:solidFill>
                          <a:latin typeface="Calibri"/>
                        </a:rPr>
                        <a:t>60% of the asset, fixed repayment profile</a:t>
                      </a:r>
                    </a:p>
                  </a:txBody>
                  <a:tcPr marL="64008" marR="64008" marT="27432" marB="27432" anchor="ctr">
                    <a:solidFill>
                      <a:srgbClr val="FFFFFF"/>
                    </a:solidFill>
                  </a:tcPr>
                </a:tc>
                <a:tc>
                  <a:txBody>
                    <a:bodyPr wrap="square"/>
                    <a:lstStyle/>
                    <a:p>
                      <a:r>
                        <a:rPr b="0" sz="1300" i="0">
                          <a:solidFill>
                            <a:srgbClr val="1A2233"/>
                          </a:solidFill>
                          <a:latin typeface="Calibri"/>
                        </a:rPr>
                        <a:t>Drawn during construction; sized on cash flow; sculpted repayments</a:t>
                      </a:r>
                    </a:p>
                  </a:txBody>
                  <a:tcPr marL="64008" marR="64008" marT="27432" marB="27432" anchor="ctr">
                    <a:solidFill>
                      <a:srgbClr val="FFFFFF"/>
                    </a:solidFill>
                  </a:tcPr>
                </a:tc>
              </a:tr>
              <a:tr h="384048">
                <a:tc>
                  <a:txBody>
                    <a:bodyPr wrap="square"/>
                    <a:lstStyle/>
                    <a:p>
                      <a:r>
                        <a:rPr b="1" sz="1300" i="0">
                          <a:solidFill>
                            <a:srgbClr val="1A2233"/>
                          </a:solidFill>
                          <a:latin typeface="Calibri"/>
                        </a:rPr>
                        <a:t>Equity</a:t>
                      </a:r>
                    </a:p>
                  </a:txBody>
                  <a:tcPr marL="64008" marR="64008" marT="27432" marB="27432" anchor="ctr">
                    <a:solidFill>
                      <a:srgbClr val="F3F6F9"/>
                    </a:solidFill>
                  </a:tcPr>
                </a:tc>
                <a:tc>
                  <a:txBody>
                    <a:bodyPr wrap="square"/>
                    <a:lstStyle/>
                    <a:p>
                      <a:r>
                        <a:rPr b="0" sz="1300" i="0">
                          <a:solidFill>
                            <a:srgbClr val="1A2233"/>
                          </a:solidFill>
                          <a:latin typeface="Calibri"/>
                        </a:rPr>
                        <a:t>40% of the asset</a:t>
                      </a:r>
                    </a:p>
                  </a:txBody>
                  <a:tcPr marL="64008" marR="64008" marT="27432" marB="27432" anchor="ctr">
                    <a:solidFill>
                      <a:srgbClr val="F3F6F9"/>
                    </a:solidFill>
                  </a:tcPr>
                </a:tc>
                <a:tc>
                  <a:txBody>
                    <a:bodyPr wrap="square"/>
                    <a:lstStyle/>
                    <a:p>
                      <a:r>
                        <a:rPr b="0" sz="1300" i="0">
                          <a:solidFill>
                            <a:srgbClr val="1A2233"/>
                          </a:solidFill>
                          <a:latin typeface="Calibri"/>
                        </a:rPr>
                        <a:t>Balancing source of funds; part shareholder loan</a:t>
                      </a:r>
                    </a:p>
                  </a:txBody>
                  <a:tcPr marL="64008" marR="64008" marT="27432" marB="27432" anchor="ctr">
                    <a:solidFill>
                      <a:srgbClr val="F3F6F9"/>
                    </a:solidFill>
                  </a:tcPr>
                </a:tc>
              </a:tr>
              <a:tr h="384048">
                <a:tc>
                  <a:txBody>
                    <a:bodyPr wrap="square"/>
                    <a:lstStyle/>
                    <a:p>
                      <a:r>
                        <a:rPr b="1" sz="1300" i="0">
                          <a:solidFill>
                            <a:srgbClr val="1A2233"/>
                          </a:solidFill>
                          <a:latin typeface="Calibri"/>
                        </a:rPr>
                        <a:t>Lender tests</a:t>
                      </a:r>
                    </a:p>
                  </a:txBody>
                  <a:tcPr marL="64008" marR="64008" marT="27432" marB="27432" anchor="ctr">
                    <a:solidFill>
                      <a:srgbClr val="FFFFFF"/>
                    </a:solidFill>
                  </a:tcPr>
                </a:tc>
                <a:tc>
                  <a:txBody>
                    <a:bodyPr wrap="square"/>
                    <a:lstStyle/>
                    <a:p>
                      <a:r>
                        <a:rPr b="0" sz="1300" i="0">
                          <a:solidFill>
                            <a:srgbClr val="1A2233"/>
                          </a:solidFill>
                          <a:latin typeface="Calibri"/>
                        </a:rPr>
                        <a:t>DSCR (informative)</a:t>
                      </a:r>
                    </a:p>
                  </a:txBody>
                  <a:tcPr marL="64008" marR="64008" marT="27432" marB="27432" anchor="ctr">
                    <a:solidFill>
                      <a:srgbClr val="FFFFFF"/>
                    </a:solidFill>
                  </a:tcPr>
                </a:tc>
                <a:tc>
                  <a:txBody>
                    <a:bodyPr wrap="square"/>
                    <a:lstStyle/>
                    <a:p>
                      <a:r>
                        <a:rPr b="0" sz="1300" i="0">
                          <a:solidFill>
                            <a:srgbClr val="1A2233"/>
                          </a:solidFill>
                          <a:latin typeface="Calibri"/>
                        </a:rPr>
                        <a:t>DSCR, LLCR, PLCR, DSRA, lock-ups</a:t>
                      </a:r>
                    </a:p>
                  </a:txBody>
                  <a:tcPr marL="64008" marR="64008" marT="27432" marB="27432" anchor="ctr">
                    <a:solidFill>
                      <a:srgbClr val="FFFFFF"/>
                    </a:solidFill>
                  </a:tcPr>
                </a:tc>
              </a:tr>
              <a:tr h="384048">
                <a:tc>
                  <a:txBody>
                    <a:bodyPr wrap="square"/>
                    <a:lstStyle/>
                    <a:p>
                      <a:r>
                        <a:rPr b="1" sz="1300" i="0">
                          <a:solidFill>
                            <a:srgbClr val="1A2233"/>
                          </a:solidFill>
                          <a:latin typeface="Calibri"/>
                        </a:rPr>
                        <a:t>Returns</a:t>
                      </a:r>
                    </a:p>
                  </a:txBody>
                  <a:tcPr marL="64008" marR="64008" marT="27432" marB="27432" anchor="ctr">
                    <a:solidFill>
                      <a:srgbClr val="F3F6F9"/>
                    </a:solidFill>
                  </a:tcPr>
                </a:tc>
                <a:tc>
                  <a:txBody>
                    <a:bodyPr wrap="square"/>
                    <a:lstStyle/>
                    <a:p>
                      <a:r>
                        <a:rPr b="0" sz="1300" i="0">
                          <a:solidFill>
                            <a:srgbClr val="1A2233"/>
                          </a:solidFill>
                          <a:latin typeface="Calibri"/>
                        </a:rPr>
                        <a:t>Shareholder IRR</a:t>
                      </a:r>
                    </a:p>
                  </a:txBody>
                  <a:tcPr marL="64008" marR="64008" marT="27432" marB="27432" anchor="ctr">
                    <a:solidFill>
                      <a:srgbClr val="F3F6F9"/>
                    </a:solidFill>
                  </a:tcPr>
                </a:tc>
                <a:tc>
                  <a:txBody>
                    <a:bodyPr wrap="square"/>
                    <a:lstStyle/>
                    <a:p>
                      <a:r>
                        <a:rPr b="0" sz="1300" i="0">
                          <a:solidFill>
                            <a:srgbClr val="1A2233"/>
                          </a:solidFill>
                          <a:latin typeface="Calibri"/>
                        </a:rPr>
                        <a:t>Blended sponsor IRR (equity + shareholder loan)</a:t>
                      </a:r>
                    </a:p>
                  </a:txBody>
                  <a:tcPr marL="64008" marR="64008" marT="27432" marB="27432" anchor="ctr">
                    <a:solidFill>
                      <a:srgbClr val="F3F6F9"/>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MAP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The PF model: new sheets and where they plug in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 y="1554480"/>
            <a:ext cx="3474720" cy="914400"/>
          </a:xfrm>
          <a:prstGeom prst="roundRect">
            <a:avLst/>
          </a:prstGeom>
          <a:solidFill>
            <a:srgbClr val="F2C9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1A2233"/>
                </a:solidFill>
                <a:latin typeface="Calibri"/>
              </a:rPr>
              <a:t>InpC (new rows 111 to 148)
construction, sizing, shareholder-loan inputs</a:t>
            </a:r>
          </a:p>
        </p:txBody>
      </p:sp>
      <p:sp>
        <p:nvSpPr>
          <p:cNvPr id="12" name="Rounded Rectangle 11"/>
          <p:cNvSpPr/>
          <p:nvPr/>
        </p:nvSpPr>
        <p:spPr>
          <a:xfrm>
            <a:off x="4572000" y="1554480"/>
            <a:ext cx="2926080" cy="109728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Constr
uses and sources of funds,
IDC, opening balances</a:t>
            </a:r>
          </a:p>
        </p:txBody>
      </p:sp>
      <p:sp>
        <p:nvSpPr>
          <p:cNvPr id="13" name="Rounded Rectangle 12"/>
          <p:cNvSpPr/>
          <p:nvPr/>
        </p:nvSpPr>
        <p:spPr>
          <a:xfrm>
            <a:off x="8229600" y="1554480"/>
            <a:ext cx="3474720" cy="1097280"/>
          </a:xfrm>
          <a:prstGeom prst="round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Existing operating model
NCA, Debt, Equity, Tax
(opening balances re-pointed)</a:t>
            </a:r>
          </a:p>
        </p:txBody>
      </p:sp>
      <p:sp>
        <p:nvSpPr>
          <p:cNvPr id="14" name="Rounded Rectangle 13"/>
          <p:cNvSpPr/>
          <p:nvPr/>
        </p:nvSpPr>
        <p:spPr>
          <a:xfrm>
            <a:off x="457200" y="3657600"/>
            <a:ext cx="3474720" cy="1005840"/>
          </a:xfrm>
          <a:prstGeom prst="roundRect">
            <a:avLst/>
          </a:prstGeom>
          <a:solidFill>
            <a:srgbClr val="D99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1A2233"/>
                </a:solidFill>
                <a:latin typeface="Calibri"/>
              </a:rPr>
              <a:t>Sculpt
debt capacity, sizing, sculpted repayments (Day 7)</a:t>
            </a:r>
          </a:p>
        </p:txBody>
      </p:sp>
      <p:sp>
        <p:nvSpPr>
          <p:cNvPr id="15" name="Rounded Rectangle 14"/>
          <p:cNvSpPr/>
          <p:nvPr/>
        </p:nvSpPr>
        <p:spPr>
          <a:xfrm>
            <a:off x="4572000" y="3657600"/>
            <a:ext cx="3474720" cy="1005840"/>
          </a:xfrm>
          <a:prstGeom prst="round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DSRA  SHL  Ratios
reserve account, shareholder loan, DSCR/LLCR/PLCR (Day 7)</a:t>
            </a:r>
          </a:p>
        </p:txBody>
      </p:sp>
      <p:sp>
        <p:nvSpPr>
          <p:cNvPr id="16" name="Rounded Rectangle 15"/>
          <p:cNvSpPr/>
          <p:nvPr/>
        </p:nvSpPr>
        <p:spPr>
          <a:xfrm>
            <a:off x="8595360" y="3657600"/>
            <a:ext cx="3108960" cy="1005840"/>
          </a:xfrm>
          <a:prstGeom prst="round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FinStat and Val
IS, cash, balance sheet, blended return</a:t>
            </a:r>
          </a:p>
        </p:txBody>
      </p:sp>
      <p:cxnSp>
        <p:nvCxnSpPr>
          <p:cNvPr id="17" name="Connector 16"/>
          <p:cNvCxnSpPr/>
          <p:nvPr/>
        </p:nvCxnSpPr>
        <p:spPr>
          <a:xfrm>
            <a:off x="3931920" y="2011680"/>
            <a:ext cx="640080" cy="9144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977640" y="1746504"/>
            <a:ext cx="548640" cy="256032"/>
          </a:xfrm>
          <a:prstGeom prst="rect">
            <a:avLst/>
          </a:prstGeom>
          <a:noFill/>
        </p:spPr>
        <p:txBody>
          <a:bodyPr wrap="square" lIns="45720" rIns="45720" tIns="27432" bIns="27432" anchor="t">
            <a:spAutoFit/>
          </a:bodyPr>
          <a:lstStyle/>
          <a:p>
            <a:pPr algn="ctr"/>
            <a:r>
              <a:rPr b="0" sz="1000" i="1">
                <a:solidFill>
                  <a:srgbClr val="5C6B7A"/>
                </a:solidFill>
                <a:latin typeface="Calibri"/>
              </a:rPr>
              <a:t>inputs</a:t>
            </a:r>
          </a:p>
        </p:txBody>
      </p:sp>
      <p:cxnSp>
        <p:nvCxnSpPr>
          <p:cNvPr id="19" name="Connector 18"/>
          <p:cNvCxnSpPr/>
          <p:nvPr/>
        </p:nvCxnSpPr>
        <p:spPr>
          <a:xfrm>
            <a:off x="7498079" y="2103120"/>
            <a:ext cx="731521" cy="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931920" y="2103120"/>
            <a:ext cx="4297680" cy="205740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40680" y="2820924"/>
            <a:ext cx="1280160" cy="256032"/>
          </a:xfrm>
          <a:prstGeom prst="rect">
            <a:avLst/>
          </a:prstGeom>
          <a:noFill/>
        </p:spPr>
        <p:txBody>
          <a:bodyPr wrap="square" lIns="45720" rIns="45720" tIns="27432" bIns="27432" anchor="t">
            <a:spAutoFit/>
          </a:bodyPr>
          <a:lstStyle/>
          <a:p>
            <a:pPr algn="ctr"/>
            <a:r>
              <a:rPr b="0" sz="1000" i="1">
                <a:solidFill>
                  <a:srgbClr val="5C6B7A"/>
                </a:solidFill>
                <a:latin typeface="Calibri"/>
              </a:rPr>
              <a:t>debt profile</a:t>
            </a:r>
          </a:p>
        </p:txBody>
      </p:sp>
      <p:cxnSp>
        <p:nvCxnSpPr>
          <p:cNvPr id="22" name="Connector 21"/>
          <p:cNvCxnSpPr/>
          <p:nvPr/>
        </p:nvCxnSpPr>
        <p:spPr>
          <a:xfrm>
            <a:off x="9966960" y="2651760"/>
            <a:ext cx="182880" cy="100584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046720" y="4160520"/>
            <a:ext cx="548640" cy="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48640" y="5029200"/>
            <a:ext cx="11064240" cy="82296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5029200"/>
            <a:ext cx="82296" cy="82296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029200"/>
            <a:ext cx="10835640" cy="822960"/>
          </a:xfrm>
          <a:prstGeom prst="rect">
            <a:avLst/>
          </a:prstGeom>
          <a:noFill/>
        </p:spPr>
        <p:txBody>
          <a:bodyPr wrap="square" lIns="45720" rIns="45720" tIns="27432" bIns="27432" anchor="ctr">
            <a:spAutoFit/>
          </a:bodyPr>
          <a:lstStyle/>
          <a:p>
            <a:pPr algn="l"/>
            <a:r>
              <a:rPr b="0" sz="1400" i="0">
                <a:solidFill>
                  <a:srgbClr val="1A2233"/>
                </a:solidFill>
                <a:latin typeface="Calibri"/>
              </a:rPr>
              <a:t>Today: Constr and the re-pointing of three opening balances. Tomorrow: Sculpt, DSRA, SHL, Ratios and the valuation changes.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Why model construction separately?</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1900" i="0">
                <a:solidFill>
                  <a:srgbClr val="1A2233"/>
                </a:solidFill>
                <a:latin typeface="Calibri"/>
              </a:rPr>
              <a:t>Before the project earns anything, money is spent on building it. Lenders and sponsors must know the total cost, how it is funded quarter by quarter, and how much interest accumulates before the first passenger rides. That accumulated interest becomes part of the asset cost and part of the debt.</a:t>
            </a:r>
          </a:p>
        </p:txBody>
      </p:sp>
      <p:sp>
        <p:nvSpPr>
          <p:cNvPr id="13" name="TextBox 12"/>
          <p:cNvSpPr txBox="1"/>
          <p:nvPr/>
        </p:nvSpPr>
        <p:spPr>
          <a:xfrm>
            <a:off x="640080" y="31089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4" name="TextBox 13"/>
          <p:cNvSpPr txBox="1"/>
          <p:nvPr/>
        </p:nvSpPr>
        <p:spPr>
          <a:xfrm>
            <a:off x="640080" y="3383279"/>
            <a:ext cx="10881360" cy="2103120"/>
          </a:xfrm>
          <a:prstGeom prst="rect">
            <a:avLst/>
          </a:prstGeom>
          <a:noFill/>
        </p:spPr>
        <p:txBody>
          <a:bodyPr wrap="square" lIns="45720" rIns="45720" tIns="27432" bIns="27432" anchor="t">
            <a:spAutoFit/>
          </a:bodyPr>
          <a:lstStyle/>
          <a:p>
            <a:pPr algn="l"/>
            <a:r>
              <a:rPr b="0" sz="1600" i="0">
                <a:solidFill>
                  <a:srgbClr val="1A2233"/>
                </a:solidFill>
                <a:latin typeface="Calibri"/>
              </a:rPr>
              <a:t>Hard cost US$94,850k spent over 8 quarters (2020 and 2021)</a:t>
            </a:r>
          </a:p>
          <a:p>
            <a:pPr algn="l"/>
            <a:r>
              <a:rPr b="0" sz="1600" i="0">
                <a:solidFill>
                  <a:srgbClr val="1A2233"/>
                </a:solidFill>
                <a:latin typeface="Calibri"/>
              </a:rPr>
              <a:t>Fees and interest during construction add about US$5,173k, so the project costs US$100,023k at financial close (COD = commercial operation date)</a:t>
            </a:r>
          </a:p>
        </p:txBody>
      </p:sp>
      <p:sp>
        <p:nvSpPr>
          <p:cNvPr id="15" name="Rectangle 14"/>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Underestimating interest during construction is a classic cause of funding gaps.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6  |  Wed 21 Oct 2026  |  Project finance modelling I: construction and funding</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9</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09.40 – 10.00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2: The construction timeline and inputs</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New inputs and a new timeline sheet.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INPUTS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New constants on InpC (rows 111 to 148)</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474720"/>
        </p:xfrm>
        <a:graphic>
          <a:graphicData uri="http://schemas.openxmlformats.org/drawingml/2006/table">
            <a:tbl>
              <a:tblPr firstRow="1" bandRow="1">
                <a:tableStyleId>{5C22544A-7EE6-4342-B048-85BDC9FD1C3A}</a:tableStyleId>
              </a:tblPr>
              <a:tblGrid>
                <a:gridCol w="1463040"/>
                <a:gridCol w="4572000"/>
                <a:gridCol w="3566160"/>
                <a:gridCol w="1463040"/>
              </a:tblGrid>
              <a:tr h="347472">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Input</a:t>
                      </a:r>
                    </a:p>
                  </a:txBody>
                  <a:tcPr marL="64008" marR="64008" marT="27432" marB="27432" anchor="ctr">
                    <a:solidFill>
                      <a:srgbClr val="141B4D"/>
                    </a:solidFill>
                  </a:tcPr>
                </a:tc>
                <a:tc>
                  <a:txBody>
                    <a:bodyPr wrap="square"/>
                    <a:lstStyle/>
                    <a:p>
                      <a:r>
                        <a:rPr b="1" sz="1200" i="0">
                          <a:solidFill>
                            <a:srgbClr val="FFFFFF"/>
                          </a:solidFill>
                          <a:latin typeface="Calibri"/>
                        </a:rPr>
                        <a:t>Value</a:t>
                      </a:r>
                    </a:p>
                  </a:txBody>
                  <a:tcPr marL="64008" marR="64008" marT="27432" marB="27432" anchor="ctr">
                    <a:solidFill>
                      <a:srgbClr val="141B4D"/>
                    </a:solidFill>
                  </a:tcPr>
                </a:tc>
                <a:tc>
                  <a:txBody>
                    <a:bodyPr wrap="square"/>
                    <a:lstStyle/>
                    <a:p>
                      <a:r>
                        <a:rPr b="1" sz="1200" i="0">
                          <a:solidFill>
                            <a:srgbClr val="FFFFFF"/>
                          </a:solidFill>
                          <a:latin typeface="Calibri"/>
                        </a:rPr>
                        <a:t>Unit</a:t>
                      </a:r>
                    </a:p>
                  </a:txBody>
                  <a:tcPr marL="64008" marR="64008" marT="27432" marB="27432" anchor="ctr">
                    <a:solidFill>
                      <a:srgbClr val="141B4D"/>
                    </a:solidFill>
                  </a:tcPr>
                </a:tc>
              </a:tr>
              <a:tr h="347472">
                <a:tc>
                  <a:txBody>
                    <a:bodyPr wrap="square"/>
                    <a:lstStyle/>
                    <a:p>
                      <a:r>
                        <a:rPr b="1" sz="1200" i="0">
                          <a:solidFill>
                            <a:srgbClr val="1A2233"/>
                          </a:solidFill>
                          <a:latin typeface="Calibri"/>
                        </a:rPr>
                        <a:t>113</a:t>
                      </a:r>
                    </a:p>
                  </a:txBody>
                  <a:tcPr marL="64008" marR="64008" marT="27432" marB="27432" anchor="ctr">
                    <a:solidFill>
                      <a:srgbClr val="FFFFFF"/>
                    </a:solidFill>
                  </a:tcPr>
                </a:tc>
                <a:tc>
                  <a:txBody>
                    <a:bodyPr wrap="square"/>
                    <a:lstStyle/>
                    <a:p>
                      <a:r>
                        <a:rPr b="0" sz="1200" i="0">
                          <a:solidFill>
                            <a:srgbClr val="1A2233"/>
                          </a:solidFill>
                          <a:latin typeface="Calibri"/>
                        </a:rPr>
                        <a:t>Construction period</a:t>
                      </a:r>
                    </a:p>
                  </a:txBody>
                  <a:tcPr marL="64008" marR="64008" marT="27432" marB="27432" anchor="ctr">
                    <a:solidFill>
                      <a:srgbClr val="FFFFFF"/>
                    </a:solidFill>
                  </a:tcPr>
                </a:tc>
                <a:tc>
                  <a:txBody>
                    <a:bodyPr wrap="square"/>
                    <a:lstStyle/>
                    <a:p>
                      <a:r>
                        <a:rPr b="0" sz="1200" i="0">
                          <a:solidFill>
                            <a:srgbClr val="1A2233"/>
                          </a:solidFill>
                          <a:latin typeface="Calibri"/>
                        </a:rPr>
                        <a:t>8</a:t>
                      </a:r>
                    </a:p>
                  </a:txBody>
                  <a:tcPr marL="64008" marR="64008" marT="27432" marB="27432" anchor="ctr">
                    <a:solidFill>
                      <a:srgbClr val="FFFFFF"/>
                    </a:solidFill>
                  </a:tcPr>
                </a:tc>
                <a:tc>
                  <a:txBody>
                    <a:bodyPr wrap="square"/>
                    <a:lstStyle/>
                    <a:p>
                      <a:r>
                        <a:rPr b="0" sz="1200" i="0">
                          <a:solidFill>
                            <a:srgbClr val="1A2233"/>
                          </a:solidFill>
                          <a:latin typeface="Calibri"/>
                        </a:rPr>
                        <a:t>quarters</a:t>
                      </a:r>
                    </a:p>
                  </a:txBody>
                  <a:tcPr marL="64008" marR="64008" marT="27432" marB="27432" anchor="ctr">
                    <a:solidFill>
                      <a:srgbClr val="FFFFFF"/>
                    </a:solidFill>
                  </a:tcPr>
                </a:tc>
              </a:tr>
              <a:tr h="347472">
                <a:tc>
                  <a:txBody>
                    <a:bodyPr wrap="square"/>
                    <a:lstStyle/>
                    <a:p>
                      <a:r>
                        <a:rPr b="1" sz="1200" i="0">
                          <a:solidFill>
                            <a:srgbClr val="1A2233"/>
                          </a:solidFill>
                          <a:latin typeface="Calibri"/>
                        </a:rPr>
                        <a:t>115</a:t>
                      </a:r>
                    </a:p>
                  </a:txBody>
                  <a:tcPr marL="64008" marR="64008" marT="27432" marB="27432" anchor="ctr">
                    <a:solidFill>
                      <a:srgbClr val="F3F6F9"/>
                    </a:solidFill>
                  </a:tcPr>
                </a:tc>
                <a:tc>
                  <a:txBody>
                    <a:bodyPr wrap="square"/>
                    <a:lstStyle/>
                    <a:p>
                      <a:r>
                        <a:rPr b="0" sz="1200" i="0">
                          <a:solidFill>
                            <a:srgbClr val="1A2233"/>
                          </a:solidFill>
                          <a:latin typeface="Calibri"/>
                        </a:rPr>
                        <a:t>Total construction cost (hard cost)</a:t>
                      </a:r>
                    </a:p>
                  </a:txBody>
                  <a:tcPr marL="64008" marR="64008" marT="27432" marB="27432" anchor="ctr">
                    <a:solidFill>
                      <a:srgbClr val="F3F6F9"/>
                    </a:solidFill>
                  </a:tcPr>
                </a:tc>
                <a:tc>
                  <a:txBody>
                    <a:bodyPr wrap="square"/>
                    <a:lstStyle/>
                    <a:p>
                      <a:r>
                        <a:rPr b="0" sz="1200" i="0">
                          <a:solidFill>
                            <a:srgbClr val="1A2233"/>
                          </a:solidFill>
                          <a:latin typeface="Calibri"/>
                        </a:rPr>
                        <a:t>94,850</a:t>
                      </a:r>
                    </a:p>
                  </a:txBody>
                  <a:tcPr marL="64008" marR="64008" marT="27432" marB="27432" anchor="ctr">
                    <a:solidFill>
                      <a:srgbClr val="F3F6F9"/>
                    </a:solidFill>
                  </a:tcPr>
                </a:tc>
                <a:tc>
                  <a:txBody>
                    <a:bodyPr wrap="square"/>
                    <a:lstStyle/>
                    <a:p>
                      <a:r>
                        <a:rPr b="0" sz="1200" i="0">
                          <a:solidFill>
                            <a:srgbClr val="1A2233"/>
                          </a:solidFill>
                          <a:latin typeface="Calibri"/>
                        </a:rPr>
                        <a:t>$000s</a:t>
                      </a:r>
                    </a:p>
                  </a:txBody>
                  <a:tcPr marL="64008" marR="64008" marT="27432" marB="27432" anchor="ctr">
                    <a:solidFill>
                      <a:srgbClr val="F3F6F9"/>
                    </a:solidFill>
                  </a:tcPr>
                </a:tc>
              </a:tr>
              <a:tr h="347472">
                <a:tc>
                  <a:txBody>
                    <a:bodyPr wrap="square"/>
                    <a:lstStyle/>
                    <a:p>
                      <a:r>
                        <a:rPr b="1" sz="1200" i="0">
                          <a:solidFill>
                            <a:srgbClr val="1A2233"/>
                          </a:solidFill>
                          <a:latin typeface="Calibri"/>
                        </a:rPr>
                        <a:t>118 to 125</a:t>
                      </a:r>
                    </a:p>
                  </a:txBody>
                  <a:tcPr marL="64008" marR="64008" marT="27432" marB="27432" anchor="ctr">
                    <a:solidFill>
                      <a:srgbClr val="FFFFFF"/>
                    </a:solidFill>
                  </a:tcPr>
                </a:tc>
                <a:tc>
                  <a:txBody>
                    <a:bodyPr wrap="square"/>
                    <a:lstStyle/>
                    <a:p>
                      <a:r>
                        <a:rPr b="0" sz="1200" i="0">
                          <a:solidFill>
                            <a:srgbClr val="1A2233"/>
                          </a:solidFill>
                          <a:latin typeface="Calibri"/>
                        </a:rPr>
                        <a:t>Spend profile (quarter 1 to 8)</a:t>
                      </a:r>
                    </a:p>
                  </a:txBody>
                  <a:tcPr marL="64008" marR="64008" marT="27432" marB="27432" anchor="ctr">
                    <a:solidFill>
                      <a:srgbClr val="FFFFFF"/>
                    </a:solidFill>
                  </a:tcPr>
                </a:tc>
                <a:tc>
                  <a:txBody>
                    <a:bodyPr wrap="square"/>
                    <a:lstStyle/>
                    <a:p>
                      <a:r>
                        <a:rPr b="0" sz="1200" i="0">
                          <a:solidFill>
                            <a:srgbClr val="1A2233"/>
                          </a:solidFill>
                          <a:latin typeface="Calibri"/>
                        </a:rPr>
                        <a:t>5%, 10%, 15%, 20%, 20%, 15%, 10%, 5%</a:t>
                      </a:r>
                    </a:p>
                  </a:txBody>
                  <a:tcPr marL="64008" marR="64008" marT="27432" marB="27432" anchor="ctr">
                    <a:solidFill>
                      <a:srgbClr val="FFFFFF"/>
                    </a:solidFill>
                  </a:tcPr>
                </a:tc>
                <a:tc>
                  <a:txBody>
                    <a:bodyPr wrap="square"/>
                    <a:lstStyle/>
                    <a:p>
                      <a:r>
                        <a:rPr b="0" sz="1200" i="0">
                          <a:solidFill>
                            <a:srgbClr val="1A2233"/>
                          </a:solidFill>
                          <a:latin typeface="Calibri"/>
                        </a:rPr>
                        <a:t>% of cost</a:t>
                      </a:r>
                    </a:p>
                  </a:txBody>
                  <a:tcPr marL="64008" marR="64008" marT="27432" marB="27432" anchor="ctr">
                    <a:solidFill>
                      <a:srgbClr val="FFFFFF"/>
                    </a:solidFill>
                  </a:tcPr>
                </a:tc>
              </a:tr>
              <a:tr h="347472">
                <a:tc>
                  <a:txBody>
                    <a:bodyPr wrap="square"/>
                    <a:lstStyle/>
                    <a:p>
                      <a:r>
                        <a:rPr b="1" sz="1200" i="0">
                          <a:solidFill>
                            <a:srgbClr val="1A2233"/>
                          </a:solidFill>
                          <a:latin typeface="Calibri"/>
                        </a:rPr>
                        <a:t>127</a:t>
                      </a:r>
                    </a:p>
                  </a:txBody>
                  <a:tcPr marL="64008" marR="64008" marT="27432" marB="27432" anchor="ctr">
                    <a:solidFill>
                      <a:srgbClr val="F3F6F9"/>
                    </a:solidFill>
                  </a:tcPr>
                </a:tc>
                <a:tc>
                  <a:txBody>
                    <a:bodyPr wrap="square"/>
                    <a:lstStyle/>
                    <a:p>
                      <a:r>
                        <a:rPr b="0" sz="1200" i="0">
                          <a:solidFill>
                            <a:srgbClr val="1A2233"/>
                          </a:solidFill>
                          <a:latin typeface="Calibri"/>
                        </a:rPr>
                        <a:t>Upfront fee</a:t>
                      </a:r>
                    </a:p>
                  </a:txBody>
                  <a:tcPr marL="64008" marR="64008" marT="27432" marB="27432" anchor="ctr">
                    <a:solidFill>
                      <a:srgbClr val="F3F6F9"/>
                    </a:solidFill>
                  </a:tcPr>
                </a:tc>
                <a:tc>
                  <a:txBody>
                    <a:bodyPr wrap="square"/>
                    <a:lstStyle/>
                    <a:p>
                      <a:r>
                        <a:rPr b="0" sz="1200" i="0">
                          <a:solidFill>
                            <a:srgbClr val="1A2233"/>
                          </a:solidFill>
                          <a:latin typeface="Calibri"/>
                        </a:rPr>
                        <a:t>2.00%</a:t>
                      </a:r>
                    </a:p>
                  </a:txBody>
                  <a:tcPr marL="64008" marR="64008" marT="27432" marB="27432" anchor="ctr">
                    <a:solidFill>
                      <a:srgbClr val="F3F6F9"/>
                    </a:solidFill>
                  </a:tcPr>
                </a:tc>
                <a:tc>
                  <a:txBody>
                    <a:bodyPr wrap="square"/>
                    <a:lstStyle/>
                    <a:p>
                      <a:r>
                        <a:rPr b="0" sz="1200" i="0">
                          <a:solidFill>
                            <a:srgbClr val="1A2233"/>
                          </a:solidFill>
                          <a:latin typeface="Calibri"/>
                        </a:rPr>
                        <a:t>% of facility</a:t>
                      </a:r>
                    </a:p>
                  </a:txBody>
                  <a:tcPr marL="64008" marR="64008" marT="27432" marB="27432" anchor="ctr">
                    <a:solidFill>
                      <a:srgbClr val="F3F6F9"/>
                    </a:solidFill>
                  </a:tcPr>
                </a:tc>
              </a:tr>
              <a:tr h="347472">
                <a:tc>
                  <a:txBody>
                    <a:bodyPr wrap="square"/>
                    <a:lstStyle/>
                    <a:p>
                      <a:r>
                        <a:rPr b="1" sz="1200" i="0">
                          <a:solidFill>
                            <a:srgbClr val="1A2233"/>
                          </a:solidFill>
                          <a:latin typeface="Calibri"/>
                        </a:rPr>
                        <a:t>129</a:t>
                      </a:r>
                    </a:p>
                  </a:txBody>
                  <a:tcPr marL="64008" marR="64008" marT="27432" marB="27432" anchor="ctr">
                    <a:solidFill>
                      <a:srgbClr val="FFFFFF"/>
                    </a:solidFill>
                  </a:tcPr>
                </a:tc>
                <a:tc>
                  <a:txBody>
                    <a:bodyPr wrap="square"/>
                    <a:lstStyle/>
                    <a:p>
                      <a:r>
                        <a:rPr b="0" sz="1200" i="0">
                          <a:solidFill>
                            <a:srgbClr val="1A2233"/>
                          </a:solidFill>
                          <a:latin typeface="Calibri"/>
                        </a:rPr>
                        <a:t>Commitment fee on undrawn facility</a:t>
                      </a:r>
                    </a:p>
                  </a:txBody>
                  <a:tcPr marL="64008" marR="64008" marT="27432" marB="27432" anchor="ctr">
                    <a:solidFill>
                      <a:srgbClr val="FFFFFF"/>
                    </a:solidFill>
                  </a:tcPr>
                </a:tc>
                <a:tc>
                  <a:txBody>
                    <a:bodyPr wrap="square"/>
                    <a:lstStyle/>
                    <a:p>
                      <a:r>
                        <a:rPr b="0" sz="1200" i="0">
                          <a:solidFill>
                            <a:srgbClr val="1A2233"/>
                          </a:solidFill>
                          <a:latin typeface="Calibri"/>
                        </a:rPr>
                        <a:t>0.75%</a:t>
                      </a:r>
                    </a:p>
                  </a:txBody>
                  <a:tcPr marL="64008" marR="64008" marT="27432" marB="27432" anchor="ctr">
                    <a:solidFill>
                      <a:srgbClr val="FFFFFF"/>
                    </a:solidFill>
                  </a:tcPr>
                </a:tc>
                <a:tc>
                  <a:txBody>
                    <a:bodyPr wrap="square"/>
                    <a:lstStyle/>
                    <a:p>
                      <a:r>
                        <a:rPr b="0" sz="1200" i="0">
                          <a:solidFill>
                            <a:srgbClr val="1A2233"/>
                          </a:solidFill>
                          <a:latin typeface="Calibri"/>
                        </a:rPr>
                        <a:t>% p.a.</a:t>
                      </a:r>
                    </a:p>
                  </a:txBody>
                  <a:tcPr marL="64008" marR="64008" marT="27432" marB="27432" anchor="ctr">
                    <a:solidFill>
                      <a:srgbClr val="FFFFFF"/>
                    </a:solidFill>
                  </a:tcPr>
                </a:tc>
              </a:tr>
              <a:tr h="347472">
                <a:tc>
                  <a:txBody>
                    <a:bodyPr wrap="square"/>
                    <a:lstStyle/>
                    <a:p>
                      <a:r>
                        <a:rPr b="1" sz="1200" i="0">
                          <a:solidFill>
                            <a:srgbClr val="1A2233"/>
                          </a:solidFill>
                          <a:latin typeface="Calibri"/>
                        </a:rPr>
                        <a:t>131</a:t>
                      </a:r>
                    </a:p>
                  </a:txBody>
                  <a:tcPr marL="64008" marR="64008" marT="27432" marB="27432" anchor="ctr">
                    <a:solidFill>
                      <a:srgbClr val="F3F6F9"/>
                    </a:solidFill>
                  </a:tcPr>
                </a:tc>
                <a:tc>
                  <a:txBody>
                    <a:bodyPr wrap="square"/>
                    <a:lstStyle/>
                    <a:p>
                      <a:r>
                        <a:rPr b="0" sz="1200" i="0">
                          <a:solidFill>
                            <a:srgbClr val="1A2233"/>
                          </a:solidFill>
                          <a:latin typeface="Calibri"/>
                        </a:rPr>
                        <a:t>Senior debt facility (commitment)</a:t>
                      </a:r>
                    </a:p>
                  </a:txBody>
                  <a:tcPr marL="64008" marR="64008" marT="27432" marB="27432" anchor="ctr">
                    <a:solidFill>
                      <a:srgbClr val="F3F6F9"/>
                    </a:solidFill>
                  </a:tcPr>
                </a:tc>
                <a:tc>
                  <a:txBody>
                    <a:bodyPr wrap="square"/>
                    <a:lstStyle/>
                    <a:p>
                      <a:r>
                        <a:rPr b="0" sz="1200" i="0">
                          <a:solidFill>
                            <a:srgbClr val="1A2233"/>
                          </a:solidFill>
                          <a:latin typeface="Calibri"/>
                        </a:rPr>
                        <a:t>60,000 (teaching value)</a:t>
                      </a:r>
                    </a:p>
                  </a:txBody>
                  <a:tcPr marL="64008" marR="64008" marT="27432" marB="27432" anchor="ctr">
                    <a:solidFill>
                      <a:srgbClr val="F3F6F9"/>
                    </a:solidFill>
                  </a:tcPr>
                </a:tc>
                <a:tc>
                  <a:txBody>
                    <a:bodyPr wrap="square"/>
                    <a:lstStyle/>
                    <a:p>
                      <a:r>
                        <a:rPr b="0" sz="1200" i="0">
                          <a:solidFill>
                            <a:srgbClr val="1A2233"/>
                          </a:solidFill>
                          <a:latin typeface="Calibri"/>
                        </a:rPr>
                        <a:t>$000s</a:t>
                      </a:r>
                    </a:p>
                  </a:txBody>
                  <a:tcPr marL="64008" marR="64008" marT="27432" marB="27432" anchor="ctr">
                    <a:solidFill>
                      <a:srgbClr val="F3F6F9"/>
                    </a:solidFill>
                  </a:tcPr>
                </a:tc>
              </a:tr>
              <a:tr h="347472">
                <a:tc>
                  <a:txBody>
                    <a:bodyPr wrap="square"/>
                    <a:lstStyle/>
                    <a:p>
                      <a:r>
                        <a:rPr b="1" sz="1200" i="0">
                          <a:solidFill>
                            <a:srgbClr val="1A2233"/>
                          </a:solidFill>
                          <a:latin typeface="Calibri"/>
                        </a:rPr>
                        <a:t>133</a:t>
                      </a:r>
                    </a:p>
                  </a:txBody>
                  <a:tcPr marL="64008" marR="64008" marT="27432" marB="27432" anchor="ctr">
                    <a:solidFill>
                      <a:srgbClr val="FFFFFF"/>
                    </a:solidFill>
                  </a:tcPr>
                </a:tc>
                <a:tc>
                  <a:txBody>
                    <a:bodyPr wrap="square"/>
                    <a:lstStyle/>
                    <a:p>
                      <a:r>
                        <a:rPr b="0" sz="1200" i="0">
                          <a:solidFill>
                            <a:srgbClr val="1A2233"/>
                          </a:solidFill>
                          <a:latin typeface="Calibri"/>
                        </a:rPr>
                        <a:t>Drawdown method</a:t>
                      </a:r>
                    </a:p>
                  </a:txBody>
                  <a:tcPr marL="64008" marR="64008" marT="27432" marB="27432" anchor="ctr">
                    <a:solidFill>
                      <a:srgbClr val="FFFFFF"/>
                    </a:solidFill>
                  </a:tcPr>
                </a:tc>
                <a:tc>
                  <a:txBody>
                    <a:bodyPr wrap="square"/>
                    <a:lstStyle/>
                    <a:p>
                      <a:r>
                        <a:rPr b="0" sz="1200" i="0">
                          <a:solidFill>
                            <a:srgbClr val="1A2233"/>
                          </a:solidFill>
                          <a:latin typeface="Calibri"/>
                        </a:rPr>
                        <a:t>1 = pro-rata; 2 = equity first</a:t>
                      </a:r>
                    </a:p>
                  </a:txBody>
                  <a:tcPr marL="64008" marR="64008" marT="27432" marB="27432" anchor="ctr">
                    <a:solidFill>
                      <a:srgbClr val="FFFFFF"/>
                    </a:solidFill>
                  </a:tcPr>
                </a:tc>
                <a:tc>
                  <a:txBody>
                    <a:bodyPr wrap="square"/>
                    <a:lstStyle/>
                    <a:p>
                      <a:r>
                        <a:rPr b="0" sz="1200" i="0">
                          <a:solidFill>
                            <a:srgbClr val="1A2233"/>
                          </a:solidFill>
                          <a:latin typeface="Calibri"/>
                        </a:rPr>
                        <a:t>switch</a:t>
                      </a:r>
                    </a:p>
                  </a:txBody>
                  <a:tcPr marL="64008" marR="64008" marT="27432" marB="27432" anchor="ctr">
                    <a:solidFill>
                      <a:srgbClr val="FFFFFF"/>
                    </a:solidFill>
                  </a:tcPr>
                </a:tc>
              </a:tr>
              <a:tr h="347472">
                <a:tc>
                  <a:txBody>
                    <a:bodyPr wrap="square"/>
                    <a:lstStyle/>
                    <a:p>
                      <a:r>
                        <a:rPr b="1" sz="1200" i="0">
                          <a:solidFill>
                            <a:srgbClr val="1A2233"/>
                          </a:solidFill>
                          <a:latin typeface="Calibri"/>
                        </a:rPr>
                        <a:t>135</a:t>
                      </a:r>
                    </a:p>
                  </a:txBody>
                  <a:tcPr marL="64008" marR="64008" marT="27432" marB="27432" anchor="ctr">
                    <a:solidFill>
                      <a:srgbClr val="F3F6F9"/>
                    </a:solidFill>
                  </a:tcPr>
                </a:tc>
                <a:tc>
                  <a:txBody>
                    <a:bodyPr wrap="square"/>
                    <a:lstStyle/>
                    <a:p>
                      <a:r>
                        <a:rPr b="0" sz="1200" i="0">
                          <a:solidFill>
                            <a:srgbClr val="1A2233"/>
                          </a:solidFill>
                          <a:latin typeface="Calibri"/>
                        </a:rPr>
                        <a:t>Equity commitment (method 2)</a:t>
                      </a:r>
                    </a:p>
                  </a:txBody>
                  <a:tcPr marL="64008" marR="64008" marT="27432" marB="27432" anchor="ctr">
                    <a:solidFill>
                      <a:srgbClr val="F3F6F9"/>
                    </a:solidFill>
                  </a:tcPr>
                </a:tc>
                <a:tc>
                  <a:txBody>
                    <a:bodyPr wrap="square"/>
                    <a:lstStyle/>
                    <a:p>
                      <a:r>
                        <a:rPr b="0" sz="1200" i="0">
                          <a:solidFill>
                            <a:srgbClr val="1A2233"/>
                          </a:solidFill>
                          <a:latin typeface="Calibri"/>
                        </a:rPr>
                        <a:t>40,000</a:t>
                      </a:r>
                    </a:p>
                  </a:txBody>
                  <a:tcPr marL="64008" marR="64008" marT="27432" marB="27432" anchor="ctr">
                    <a:solidFill>
                      <a:srgbClr val="F3F6F9"/>
                    </a:solidFill>
                  </a:tcPr>
                </a:tc>
                <a:tc>
                  <a:txBody>
                    <a:bodyPr wrap="square"/>
                    <a:lstStyle/>
                    <a:p>
                      <a:r>
                        <a:rPr b="0" sz="1200" i="0">
                          <a:solidFill>
                            <a:srgbClr val="1A2233"/>
                          </a:solidFill>
                          <a:latin typeface="Calibri"/>
                        </a:rPr>
                        <a:t>$000s</a:t>
                      </a:r>
                    </a:p>
                  </a:txBody>
                  <a:tcPr marL="64008" marR="64008" marT="27432" marB="27432" anchor="ctr">
                    <a:solidFill>
                      <a:srgbClr val="F3F6F9"/>
                    </a:solidFill>
                  </a:tcPr>
                </a:tc>
              </a:tr>
              <a:tr h="347472">
                <a:tc>
                  <a:txBody>
                    <a:bodyPr wrap="square"/>
                    <a:lstStyle/>
                    <a:p>
                      <a:r>
                        <a:rPr b="1" sz="1200" i="0">
                          <a:solidFill>
                            <a:srgbClr val="1A2233"/>
                          </a:solidFill>
                          <a:latin typeface="Calibri"/>
                        </a:rPr>
                        <a:t>72</a:t>
                      </a:r>
                    </a:p>
                  </a:txBody>
                  <a:tcPr marL="64008" marR="64008" marT="27432" marB="27432" anchor="ctr">
                    <a:solidFill>
                      <a:srgbClr val="FFFFFF"/>
                    </a:solidFill>
                  </a:tcPr>
                </a:tc>
                <a:tc>
                  <a:txBody>
                    <a:bodyPr wrap="square"/>
                    <a:lstStyle/>
                    <a:p>
                      <a:r>
                        <a:rPr b="0" sz="1200" i="0">
                          <a:solidFill>
                            <a:srgbClr val="1A2233"/>
                          </a:solidFill>
                          <a:latin typeface="Calibri"/>
                        </a:rPr>
                        <a:t>Gearing (existing input)</a:t>
                      </a:r>
                    </a:p>
                  </a:txBody>
                  <a:tcPr marL="64008" marR="64008" marT="27432" marB="27432" anchor="ctr">
                    <a:solidFill>
                      <a:srgbClr val="FFFFFF"/>
                    </a:solidFill>
                  </a:tcPr>
                </a:tc>
                <a:tc>
                  <a:txBody>
                    <a:bodyPr wrap="square"/>
                    <a:lstStyle/>
                    <a:p>
                      <a:r>
                        <a:rPr b="0" sz="1200" i="0">
                          <a:solidFill>
                            <a:srgbClr val="1A2233"/>
                          </a:solidFill>
                          <a:latin typeface="Calibri"/>
                        </a:rPr>
                        <a:t>60% (teaching value)</a:t>
                      </a:r>
                    </a:p>
                  </a:txBody>
                  <a:tcPr marL="64008" marR="64008" marT="27432" marB="27432" anchor="ctr">
                    <a:solidFill>
                      <a:srgbClr val="FFFFFF"/>
                    </a:solidFill>
                  </a:tcPr>
                </a:tc>
                <a:tc>
                  <a:txBody>
                    <a:bodyPr wrap="square"/>
                    <a:lstStyle/>
                    <a:p>
                      <a:r>
                        <a:rPr b="0" sz="1200" i="0">
                          <a:solidFill>
                            <a:srgbClr val="1A2233"/>
                          </a:solidFill>
                          <a:latin typeface="Calibri"/>
                        </a:rPr>
                        <a:t>%</a:t>
                      </a:r>
                    </a:p>
                  </a:txBody>
                  <a:tcPr marL="64008" marR="64008" marT="27432" marB="27432" anchor="ctr">
                    <a:solidFill>
                      <a:srgbClr val="FFFFFF"/>
                    </a:solidFill>
                  </a:tcPr>
                </a:tc>
              </a:tr>
            </a:tbl>
          </a:graphicData>
        </a:graphic>
      </p:graphicFrame>
      <p:sp>
        <p:nvSpPr>
          <p:cNvPr id="12" name="Rectangle 11"/>
          <p:cNvSpPr/>
          <p:nvPr/>
        </p:nvSpPr>
        <p:spPr>
          <a:xfrm>
            <a:off x="548640" y="5212080"/>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21208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21208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Typed in the scenario columns J to L (yellow); column F picks the active scenario with INDEX, exactly like every other input.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INPUTS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Add an input row to InpC: the keystrokes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8640" y="15453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2" name="TextBox 11"/>
          <p:cNvSpPr txBox="1"/>
          <p:nvPr/>
        </p:nvSpPr>
        <p:spPr>
          <a:xfrm>
            <a:off x="1078992" y="15087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Go to the blank row: </a:t>
            </a:r>
            <a:r>
              <a:rPr b="0" sz="1600" i="0">
                <a:solidFill>
                  <a:srgbClr val="0B5E82"/>
                </a:solidFill>
                <a:latin typeface="Consolas"/>
              </a:rPr>
              <a:t>Ctrl+G</a:t>
            </a:r>
            <a:r>
              <a:rPr b="0" sz="1600" i="0">
                <a:solidFill>
                  <a:srgbClr val="1A2233"/>
                </a:solidFill>
                <a:latin typeface="Calibri"/>
              </a:rPr>
              <a:t>, type </a:t>
            </a:r>
            <a:r>
              <a:rPr b="0" sz="1600" i="0">
                <a:solidFill>
                  <a:srgbClr val="0B5E82"/>
                </a:solidFill>
                <a:latin typeface="Consolas"/>
              </a:rPr>
              <a:t>E113</a:t>
            </a:r>
            <a:r>
              <a:rPr b="0" sz="1600" i="0">
                <a:solidFill>
                  <a:srgbClr val="1A2233"/>
                </a:solidFill>
                <a:latin typeface="Calibri"/>
              </a:rPr>
              <a:t>, Enter.</a:t>
            </a:r>
          </a:p>
        </p:txBody>
      </p:sp>
      <p:sp>
        <p:nvSpPr>
          <p:cNvPr id="13" name="Oval 12"/>
          <p:cNvSpPr/>
          <p:nvPr/>
        </p:nvSpPr>
        <p:spPr>
          <a:xfrm>
            <a:off x="548640" y="21930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4" name="TextBox 13"/>
          <p:cNvSpPr txBox="1"/>
          <p:nvPr/>
        </p:nvSpPr>
        <p:spPr>
          <a:xfrm>
            <a:off x="1078992" y="21564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Type the label in E113, the unit in G113 and the scenario values in J113, K113 and L113 (Tab moves right).</a:t>
            </a:r>
          </a:p>
        </p:txBody>
      </p:sp>
      <p:sp>
        <p:nvSpPr>
          <p:cNvPr id="15" name="Oval 14"/>
          <p:cNvSpPr/>
          <p:nvPr/>
        </p:nvSpPr>
        <p:spPr>
          <a:xfrm>
            <a:off x="548640" y="28407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16" name="TextBox 15"/>
          <p:cNvSpPr txBox="1"/>
          <p:nvPr/>
        </p:nvSpPr>
        <p:spPr>
          <a:xfrm>
            <a:off x="1078992" y="28041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Select F113: type </a:t>
            </a:r>
            <a:r>
              <a:rPr b="0" sz="1600" i="0">
                <a:solidFill>
                  <a:srgbClr val="0B5E82"/>
                </a:solidFill>
                <a:latin typeface="Consolas"/>
              </a:rPr>
              <a:t>=INDEX(I113:M113,$F$4)</a:t>
            </a:r>
            <a:r>
              <a:rPr b="0" sz="1600" i="0">
                <a:solidFill>
                  <a:srgbClr val="1A2233"/>
                </a:solidFill>
                <a:latin typeface="Calibri"/>
              </a:rPr>
              <a:t> and press Enter. (In older Excel this is an array formula: confirm with Ctrl+Shift+Enter.)</a:t>
            </a:r>
          </a:p>
        </p:txBody>
      </p:sp>
      <p:sp>
        <p:nvSpPr>
          <p:cNvPr id="17" name="Oval 16"/>
          <p:cNvSpPr/>
          <p:nvPr/>
        </p:nvSpPr>
        <p:spPr>
          <a:xfrm>
            <a:off x="548640" y="34884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4</a:t>
            </a:r>
          </a:p>
        </p:txBody>
      </p:sp>
      <p:sp>
        <p:nvSpPr>
          <p:cNvPr id="18" name="TextBox 17"/>
          <p:cNvSpPr txBox="1"/>
          <p:nvPr/>
        </p:nvSpPr>
        <p:spPr>
          <a:xfrm>
            <a:off x="1078992" y="34518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Colour J113:L113 yellow: select, then </a:t>
            </a:r>
            <a:r>
              <a:rPr b="0" sz="1600" i="0">
                <a:solidFill>
                  <a:srgbClr val="0B5E82"/>
                </a:solidFill>
                <a:latin typeface="Consolas"/>
              </a:rPr>
              <a:t>Alt+H, H</a:t>
            </a:r>
            <a:r>
              <a:rPr b="0" sz="1600" i="0">
                <a:solidFill>
                  <a:srgbClr val="1A2233"/>
                </a:solidFill>
                <a:latin typeface="Calibri"/>
              </a:rPr>
              <a:t> (Win) / Home ▸ Fill Color (Mac).</a:t>
            </a:r>
          </a:p>
        </p:txBody>
      </p:sp>
      <p:sp>
        <p:nvSpPr>
          <p:cNvPr id="19" name="Oval 18"/>
          <p:cNvSpPr/>
          <p:nvPr/>
        </p:nvSpPr>
        <p:spPr>
          <a:xfrm>
            <a:off x="548640" y="41361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5</a:t>
            </a:r>
          </a:p>
        </p:txBody>
      </p:sp>
      <p:sp>
        <p:nvSpPr>
          <p:cNvPr id="20" name="TextBox 19"/>
          <p:cNvSpPr txBox="1"/>
          <p:nvPr/>
        </p:nvSpPr>
        <p:spPr>
          <a:xfrm>
            <a:off x="1078992" y="40995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Format: </a:t>
            </a:r>
            <a:r>
              <a:rPr b="0" sz="1600" i="0">
                <a:solidFill>
                  <a:srgbClr val="0B5E82"/>
                </a:solidFill>
                <a:latin typeface="Consolas"/>
              </a:rPr>
              <a:t>Ctrl+1</a:t>
            </a:r>
            <a:r>
              <a:rPr b="0" sz="1600" i="0">
                <a:solidFill>
                  <a:srgbClr val="1A2233"/>
                </a:solidFill>
                <a:latin typeface="Calibri"/>
              </a:rPr>
              <a:t> for number format; </a:t>
            </a:r>
            <a:r>
              <a:rPr b="0" sz="1600" i="0">
                <a:solidFill>
                  <a:srgbClr val="0B5E82"/>
                </a:solidFill>
                <a:latin typeface="Consolas"/>
              </a:rPr>
              <a:t>Ctrl+Shift+%</a:t>
            </a:r>
            <a:r>
              <a:rPr b="0" sz="1600" i="0">
                <a:solidFill>
                  <a:srgbClr val="1A2233"/>
                </a:solidFill>
                <a:latin typeface="Calibri"/>
              </a:rPr>
              <a:t> for percentages.</a:t>
            </a:r>
          </a:p>
        </p:txBody>
      </p:sp>
      <p:sp>
        <p:nvSpPr>
          <p:cNvPr id="21" name="Oval 20"/>
          <p:cNvSpPr/>
          <p:nvPr/>
        </p:nvSpPr>
        <p:spPr>
          <a:xfrm>
            <a:off x="548640" y="47838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6</a:t>
            </a:r>
          </a:p>
        </p:txBody>
      </p:sp>
      <p:sp>
        <p:nvSpPr>
          <p:cNvPr id="22" name="TextBox 21"/>
          <p:cNvSpPr txBox="1"/>
          <p:nvPr/>
        </p:nvSpPr>
        <p:spPr>
          <a:xfrm>
            <a:off x="1078992" y="47472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Repeat for the other rows. Use </a:t>
            </a:r>
            <a:r>
              <a:rPr b="0" sz="1600" i="0">
                <a:solidFill>
                  <a:srgbClr val="0B5E82"/>
                </a:solidFill>
                <a:latin typeface="Consolas"/>
              </a:rPr>
              <a:t>Ctrl+D</a:t>
            </a:r>
            <a:r>
              <a:rPr b="0" sz="1600" i="0">
                <a:solidFill>
                  <a:srgbClr val="1A2233"/>
                </a:solidFill>
                <a:latin typeface="Calibri"/>
              </a:rPr>
              <a:t> to copy an existing row's formats.</a:t>
            </a:r>
          </a:p>
        </p:txBody>
      </p:sp>
      <p:sp>
        <p:nvSpPr>
          <p:cNvPr id="23" name="Rectangle 22"/>
          <p:cNvSpPr/>
          <p:nvPr/>
        </p:nvSpPr>
        <p:spPr>
          <a:xfrm>
            <a:off x="548640" y="5486400"/>
            <a:ext cx="11064240" cy="68580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486400"/>
            <a:ext cx="82296" cy="68580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486400"/>
            <a:ext cx="10835640" cy="685800"/>
          </a:xfrm>
          <a:prstGeom prst="rect">
            <a:avLst/>
          </a:prstGeom>
          <a:noFill/>
        </p:spPr>
        <p:txBody>
          <a:bodyPr wrap="square" lIns="45720" rIns="45720" tIns="27432" bIns="27432" anchor="ctr">
            <a:spAutoFit/>
          </a:bodyPr>
          <a:lstStyle/>
          <a:p>
            <a:pPr algn="l"/>
            <a:r>
              <a:rPr b="0" sz="1400" i="0">
                <a:solidFill>
                  <a:srgbClr val="1A2233"/>
                </a:solidFill>
                <a:latin typeface="Calibri"/>
              </a:rPr>
              <a:t>Inputs rows 118 to 125 hold the spend profile: put the quarter number in E and the share in J:L.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LAYOUT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Construction sheet: layout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1554480"/>
            <a:ext cx="2468880" cy="8229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Rows 5 to 14
timeline and days</a:t>
            </a:r>
          </a:p>
        </p:txBody>
      </p:sp>
      <p:sp>
        <p:nvSpPr>
          <p:cNvPr id="12" name="Rounded Rectangle 11"/>
          <p:cNvSpPr/>
          <p:nvPr/>
        </p:nvSpPr>
        <p:spPr>
          <a:xfrm>
            <a:off x="3291840" y="1554480"/>
            <a:ext cx="2468880" cy="822960"/>
          </a:xfrm>
          <a:prstGeom prst="round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Rows 17 to 19
construction cost spend</a:t>
            </a:r>
          </a:p>
        </p:txBody>
      </p:sp>
      <p:sp>
        <p:nvSpPr>
          <p:cNvPr id="13" name="Rounded Rectangle 12"/>
          <p:cNvSpPr/>
          <p:nvPr/>
        </p:nvSpPr>
        <p:spPr>
          <a:xfrm>
            <a:off x="6035040" y="1554480"/>
            <a:ext cx="2468880" cy="822960"/>
          </a:xfrm>
          <a:prstGeom prst="round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Rows 22 to 25
upfront fee</a:t>
            </a:r>
          </a:p>
        </p:txBody>
      </p:sp>
      <p:sp>
        <p:nvSpPr>
          <p:cNvPr id="14" name="Rounded Rectangle 13"/>
          <p:cNvSpPr/>
          <p:nvPr/>
        </p:nvSpPr>
        <p:spPr>
          <a:xfrm>
            <a:off x="8778240" y="1554480"/>
            <a:ext cx="2743200" cy="822960"/>
          </a:xfrm>
          <a:prstGeom prst="round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Rows 28 to 32
IDC and commitment fee</a:t>
            </a:r>
          </a:p>
        </p:txBody>
      </p:sp>
      <p:sp>
        <p:nvSpPr>
          <p:cNvPr id="15" name="Rounded Rectangle 14"/>
          <p:cNvSpPr/>
          <p:nvPr/>
        </p:nvSpPr>
        <p:spPr>
          <a:xfrm>
            <a:off x="1463040" y="3200400"/>
            <a:ext cx="2743200" cy="822960"/>
          </a:xfrm>
          <a:prstGeom prst="round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Rows 35 to 39
uses of funds</a:t>
            </a:r>
          </a:p>
        </p:txBody>
      </p:sp>
      <p:sp>
        <p:nvSpPr>
          <p:cNvPr id="16" name="Rounded Rectangle 15"/>
          <p:cNvSpPr/>
          <p:nvPr/>
        </p:nvSpPr>
        <p:spPr>
          <a:xfrm>
            <a:off x="4754880" y="3200400"/>
            <a:ext cx="3017520" cy="822960"/>
          </a:xfrm>
          <a:prstGeom prst="round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FFFFFF"/>
                </a:solidFill>
                <a:latin typeface="Calibri"/>
              </a:rPr>
              <a:t>Rows 42 to 49
sources of funds, debt balance</a:t>
            </a:r>
          </a:p>
        </p:txBody>
      </p:sp>
      <p:sp>
        <p:nvSpPr>
          <p:cNvPr id="17" name="Rounded Rectangle 16"/>
          <p:cNvSpPr/>
          <p:nvPr/>
        </p:nvSpPr>
        <p:spPr>
          <a:xfrm>
            <a:off x="8412480" y="3200400"/>
            <a:ext cx="3017520" cy="822960"/>
          </a:xfrm>
          <a:prstGeom prst="roundRect">
            <a:avLst/>
          </a:prstGeom>
          <a:solidFill>
            <a:srgbClr val="D99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300" i="0">
                <a:solidFill>
                  <a:srgbClr val="1A2233"/>
                </a:solidFill>
                <a:latin typeface="Calibri"/>
              </a:rPr>
              <a:t>Rows 52 to 55
opening balances at COD</a:t>
            </a:r>
          </a:p>
        </p:txBody>
      </p:sp>
      <p:cxnSp>
        <p:nvCxnSpPr>
          <p:cNvPr id="18" name="Connector 17"/>
          <p:cNvCxnSpPr/>
          <p:nvPr/>
        </p:nvCxnSpPr>
        <p:spPr>
          <a:xfrm>
            <a:off x="3017520" y="1965960"/>
            <a:ext cx="274320" cy="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760720" y="1965960"/>
            <a:ext cx="274320" cy="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503920" y="1965960"/>
            <a:ext cx="274320" cy="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4206240" y="1965960"/>
            <a:ext cx="4572000" cy="164592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206240" y="3611880"/>
            <a:ext cx="548640" cy="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772400" y="3611880"/>
            <a:ext cx="640080" cy="0"/>
          </a:xfrm>
          <a:prstGeom prst="line">
            <a:avLst/>
          </a:prstGeom>
          <a:ln w="22225">
            <a:solidFill>
              <a:srgbClr val="5C6B7A"/>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48640" y="4572000"/>
            <a:ext cx="11064240" cy="91440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572000"/>
            <a:ext cx="82296" cy="9144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72000"/>
            <a:ext cx="10835640" cy="914400"/>
          </a:xfrm>
          <a:prstGeom prst="rect">
            <a:avLst/>
          </a:prstGeom>
          <a:noFill/>
        </p:spPr>
        <p:txBody>
          <a:bodyPr wrap="square" lIns="45720" rIns="45720" tIns="27432" bIns="27432" anchor="ctr">
            <a:spAutoFit/>
          </a:bodyPr>
          <a:lstStyle/>
          <a:p>
            <a:pPr algn="l"/>
            <a:r>
              <a:rPr b="0" sz="1400" i="0">
                <a:solidFill>
                  <a:srgbClr val="1A2233"/>
                </a:solidFill>
                <a:latin typeface="Calibri"/>
              </a:rPr>
              <a:t>Same conventions as every sheet: E label, F constant, G unit, H total, timeline from J. Construction has its own 8-column timeline J to Q (it does not use the 84-column operating ruler).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TIMELINE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Constr: the 8-quarter timeline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81328"/>
            <a:ext cx="1005840" cy="347472"/>
          </a:xfrm>
          <a:prstGeom prst="rect">
            <a:avLst/>
          </a:prstGeom>
          <a:solidFill>
            <a:srgbClr val="FFFFFF"/>
          </a:solidFill>
          <a:ln w="12700">
            <a:solidFill>
              <a:srgbClr val="5C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1A2233"/>
                </a:solidFill>
                <a:latin typeface="Consolas"/>
              </a:rPr>
              <a:t>J13</a:t>
            </a:r>
          </a:p>
        </p:txBody>
      </p:sp>
      <p:sp>
        <p:nvSpPr>
          <p:cNvPr id="12" name="Rectangle 11"/>
          <p:cNvSpPr/>
          <p:nvPr/>
        </p:nvSpPr>
        <p:spPr>
          <a:xfrm>
            <a:off x="1600200" y="1481328"/>
            <a:ext cx="411480" cy="347472"/>
          </a:xfrm>
          <a:prstGeom prst="rect">
            <a:avLst/>
          </a:prstGeom>
          <a:solidFill>
            <a:srgbClr val="F3F6F9"/>
          </a:solidFill>
          <a:ln w="12700">
            <a:solidFill>
              <a:srgbClr val="5C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1">
                <a:solidFill>
                  <a:srgbClr val="5C6B7A"/>
                </a:solidFill>
                <a:latin typeface="Calibri"/>
              </a:rPr>
              <a:t>fx</a:t>
            </a:r>
          </a:p>
        </p:txBody>
      </p:sp>
      <p:sp>
        <p:nvSpPr>
          <p:cNvPr id="13" name="Rectangle 12"/>
          <p:cNvSpPr/>
          <p:nvPr/>
        </p:nvSpPr>
        <p:spPr>
          <a:xfrm>
            <a:off x="2057400" y="1481328"/>
            <a:ext cx="7498079" cy="347472"/>
          </a:xfrm>
          <a:prstGeom prst="rect">
            <a:avLst/>
          </a:prstGeom>
          <a:solidFill>
            <a:srgbClr val="FFFFFF"/>
          </a:solidFill>
          <a:ln w="12700">
            <a:solidFill>
              <a:srgbClr val="5C6B7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0" sz="1300" i="0">
                <a:solidFill>
                  <a:srgbClr val="1A2233"/>
                </a:solidFill>
                <a:latin typeface="Consolas"/>
              </a:rPr>
              <a:t>=EOMONTH($F$9,-$F$10*($F$11-J$5))</a:t>
            </a:r>
          </a:p>
        </p:txBody>
      </p:sp>
      <p:graphicFrame>
        <p:nvGraphicFramePr>
          <p:cNvPr id="14" name="Table 13"/>
          <p:cNvGraphicFramePr>
            <a:graphicFrameLocks noGrp="1"/>
          </p:cNvGraphicFramePr>
          <p:nvPr/>
        </p:nvGraphicFramePr>
        <p:xfrm>
          <a:off x="548640" y="1938528"/>
          <a:ext cx="9144000" cy="3730752"/>
        </p:xfrm>
        <a:graphic>
          <a:graphicData uri="http://schemas.openxmlformats.org/drawingml/2006/table">
            <a:tbl>
              <a:tblPr firstRow="1" bandRow="1">
                <a:tableStyleId>{5C22544A-7EE6-4342-B048-85BDC9FD1C3A}</a:tableStyleId>
              </a:tblPr>
              <a:tblGrid>
                <a:gridCol w="502920"/>
                <a:gridCol w="960120"/>
                <a:gridCol w="960120"/>
                <a:gridCol w="960120"/>
                <a:gridCol w="960120"/>
                <a:gridCol w="960120"/>
                <a:gridCol w="960120"/>
                <a:gridCol w="960120"/>
                <a:gridCol w="960120"/>
                <a:gridCol w="960120"/>
              </a:tblGrid>
              <a:tr h="310896">
                <a:tc>
                  <a:txBody>
                    <a:bodyPr/>
                    <a:lstStyle/>
                    <a:p>
                      <a:pPr algn="ctr"/>
                      <a:r>
                        <a:rPr sz="1100" b="0">
                          <a:solidFill>
                            <a:srgbClr val="1A2233"/>
                          </a:solidFill>
                          <a:latin typeface="Calibri"/>
                        </a:rPr>
                        <a:t/>
                      </a:r>
                    </a:p>
                  </a:txBody>
                  <a:tcPr marL="45720" marR="45720" marT="9144" marB="9144" anchor="ctr">
                    <a:solidFill>
                      <a:srgbClr val="D9DEE6"/>
                    </a:solidFill>
                  </a:tcPr>
                </a:tc>
                <a:tc>
                  <a:txBody>
                    <a:bodyPr/>
                    <a:lstStyle/>
                    <a:p>
                      <a:pPr algn="ctr"/>
                      <a:r>
                        <a:rPr sz="1100" b="1">
                          <a:solidFill>
                            <a:srgbClr val="1A2233"/>
                          </a:solidFill>
                          <a:latin typeface="Calibri"/>
                        </a:rPr>
                        <a:t>E</a:t>
                      </a:r>
                    </a:p>
                  </a:txBody>
                  <a:tcPr marL="45720" marR="45720" marT="9144" marB="9144" anchor="ctr">
                    <a:solidFill>
                      <a:srgbClr val="D9DEE6"/>
                    </a:solidFill>
                  </a:tcPr>
                </a:tc>
                <a:tc>
                  <a:txBody>
                    <a:bodyPr/>
                    <a:lstStyle/>
                    <a:p>
                      <a:pPr algn="ctr"/>
                      <a:r>
                        <a:rPr sz="1100" b="1">
                          <a:solidFill>
                            <a:srgbClr val="1A2233"/>
                          </a:solidFill>
                          <a:latin typeface="Calibri"/>
                        </a:rPr>
                        <a:t>F</a:t>
                      </a:r>
                    </a:p>
                  </a:txBody>
                  <a:tcPr marL="45720" marR="45720" marT="9144" marB="9144" anchor="ctr">
                    <a:solidFill>
                      <a:srgbClr val="D9DEE6"/>
                    </a:solidFill>
                  </a:tcPr>
                </a:tc>
                <a:tc>
                  <a:txBody>
                    <a:bodyPr/>
                    <a:lstStyle/>
                    <a:p>
                      <a:pPr algn="ctr"/>
                      <a:r>
                        <a:rPr sz="1100" b="1">
                          <a:solidFill>
                            <a:srgbClr val="1A2233"/>
                          </a:solidFill>
                          <a:latin typeface="Calibri"/>
                        </a:rPr>
                        <a:t>G</a:t>
                      </a:r>
                    </a:p>
                  </a:txBody>
                  <a:tcPr marL="45720" marR="45720" marT="9144" marB="9144" anchor="ctr">
                    <a:solidFill>
                      <a:srgbClr val="D9DEE6"/>
                    </a:solidFill>
                  </a:tcPr>
                </a:tc>
                <a:tc>
                  <a:txBody>
                    <a:bodyPr/>
                    <a:lstStyle/>
                    <a:p>
                      <a:pPr algn="ctr"/>
                      <a:r>
                        <a:rPr sz="1100" b="1">
                          <a:solidFill>
                            <a:srgbClr val="1A2233"/>
                          </a:solidFill>
                          <a:latin typeface="Calibri"/>
                        </a:rPr>
                        <a:t>H</a:t>
                      </a:r>
                    </a:p>
                  </a:txBody>
                  <a:tcPr marL="45720" marR="45720" marT="9144" marB="9144" anchor="ctr">
                    <a:solidFill>
                      <a:srgbClr val="D9DEE6"/>
                    </a:solidFill>
                  </a:tcPr>
                </a:tc>
                <a:tc>
                  <a:txBody>
                    <a:bodyPr/>
                    <a:lstStyle/>
                    <a:p>
                      <a:pPr algn="ctr"/>
                      <a:r>
                        <a:rPr sz="1100" b="1">
                          <a:solidFill>
                            <a:srgbClr val="1A2233"/>
                          </a:solidFill>
                          <a:latin typeface="Calibri"/>
                        </a:rPr>
                        <a:t>I</a:t>
                      </a:r>
                    </a:p>
                  </a:txBody>
                  <a:tcPr marL="45720" marR="45720" marT="9144" marB="9144" anchor="ctr">
                    <a:solidFill>
                      <a:srgbClr val="D9DEE6"/>
                    </a:solidFill>
                  </a:tcPr>
                </a:tc>
                <a:tc>
                  <a:txBody>
                    <a:bodyPr/>
                    <a:lstStyle/>
                    <a:p>
                      <a:pPr algn="ctr"/>
                      <a:r>
                        <a:rPr sz="1100" b="1">
                          <a:solidFill>
                            <a:srgbClr val="1A2233"/>
                          </a:solidFill>
                          <a:latin typeface="Calibri"/>
                        </a:rPr>
                        <a:t>J</a:t>
                      </a:r>
                    </a:p>
                  </a:txBody>
                  <a:tcPr marL="45720" marR="45720" marT="9144" marB="9144" anchor="ctr">
                    <a:solidFill>
                      <a:srgbClr val="D9DEE6"/>
                    </a:solidFill>
                  </a:tcPr>
                </a:tc>
                <a:tc>
                  <a:txBody>
                    <a:bodyPr/>
                    <a:lstStyle/>
                    <a:p>
                      <a:pPr algn="ctr"/>
                      <a:r>
                        <a:rPr sz="1100" b="1">
                          <a:solidFill>
                            <a:srgbClr val="1A2233"/>
                          </a:solidFill>
                          <a:latin typeface="Calibri"/>
                        </a:rPr>
                        <a:t>K</a:t>
                      </a:r>
                    </a:p>
                  </a:txBody>
                  <a:tcPr marL="45720" marR="45720" marT="9144" marB="9144" anchor="ctr">
                    <a:solidFill>
                      <a:srgbClr val="D9DEE6"/>
                    </a:solidFill>
                  </a:tcPr>
                </a:tc>
                <a:tc>
                  <a:txBody>
                    <a:bodyPr/>
                    <a:lstStyle/>
                    <a:p>
                      <a:pPr algn="ctr"/>
                      <a:r>
                        <a:rPr sz="1100" b="1">
                          <a:solidFill>
                            <a:srgbClr val="1A2233"/>
                          </a:solidFill>
                          <a:latin typeface="Calibri"/>
                        </a:rPr>
                        <a:t>L</a:t>
                      </a:r>
                    </a:p>
                  </a:txBody>
                  <a:tcPr marL="45720" marR="45720" marT="9144" marB="9144" anchor="ctr">
                    <a:solidFill>
                      <a:srgbClr val="D9DEE6"/>
                    </a:solidFill>
                  </a:tcPr>
                </a:tc>
                <a:tc>
                  <a:txBody>
                    <a:bodyPr/>
                    <a:lstStyle/>
                    <a:p>
                      <a:pPr algn="ctr"/>
                      <a:r>
                        <a:rPr sz="1100" b="1">
                          <a:solidFill>
                            <a:srgbClr val="1A2233"/>
                          </a:solidFill>
                          <a:latin typeface="Calibri"/>
                        </a:rPr>
                        <a:t>M</a:t>
                      </a:r>
                    </a:p>
                  </a:txBody>
                  <a:tcPr marL="45720" marR="45720" marT="9144" marB="9144" anchor="ctr">
                    <a:solidFill>
                      <a:srgbClr val="D9DEE6"/>
                    </a:solidFill>
                  </a:tcPr>
                </a:tc>
              </a:tr>
              <a:tr h="310896">
                <a:tc>
                  <a:txBody>
                    <a:bodyPr/>
                    <a:lstStyle/>
                    <a:p>
                      <a:pPr algn="ctr"/>
                      <a:r>
                        <a:rPr sz="1100" b="1">
                          <a:solidFill>
                            <a:srgbClr val="1A2233"/>
                          </a:solidFill>
                          <a:latin typeface="Calibri"/>
                        </a:rPr>
                        <a:t>5</a:t>
                      </a:r>
                    </a:p>
                  </a:txBody>
                  <a:tcPr marL="45720" marR="45720" marT="9144" marB="9144" anchor="ctr">
                    <a:solidFill>
                      <a:srgbClr val="D9DEE6"/>
                    </a:solidFill>
                  </a:tcPr>
                </a:tc>
                <a:tc>
                  <a:txBody>
                    <a:bodyPr/>
                    <a:lstStyle/>
                    <a:p>
                      <a:pPr algn="l"/>
                      <a:r>
                        <a:rPr sz="1100" b="0">
                          <a:solidFill>
                            <a:srgbClr val="1A2233"/>
                          </a:solidFill>
                          <a:latin typeface="Calibri"/>
                        </a:rPr>
                        <a:t>Counter</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1">
                          <a:solidFill>
                            <a:srgbClr val="1A2233"/>
                          </a:solidFill>
                          <a:latin typeface="Calibri"/>
                        </a:rPr>
                        <a:t>1</a:t>
                      </a:r>
                    </a:p>
                  </a:txBody>
                  <a:tcPr marL="45720" marR="45720" marT="9144" marB="9144" anchor="ctr">
                    <a:solidFill>
                      <a:srgbClr val="FBF0D9"/>
                    </a:solidFill>
                  </a:tcPr>
                </a:tc>
                <a:tc>
                  <a:txBody>
                    <a:bodyPr/>
                    <a:lstStyle/>
                    <a:p>
                      <a:pPr algn="l"/>
                      <a:r>
                        <a:rPr sz="1100" b="0">
                          <a:solidFill>
                            <a:srgbClr val="1A2233"/>
                          </a:solidFill>
                          <a:latin typeface="Calibri"/>
                        </a:rPr>
                        <a:t>2</a:t>
                      </a:r>
                    </a:p>
                  </a:txBody>
                  <a:tcPr marL="45720" marR="45720" marT="9144" marB="9144" anchor="ctr">
                    <a:solidFill>
                      <a:srgbClr val="FFFFFF"/>
                    </a:solidFill>
                  </a:tcPr>
                </a:tc>
                <a:tc>
                  <a:txBody>
                    <a:bodyPr/>
                    <a:lstStyle/>
                    <a:p>
                      <a:pPr algn="l"/>
                      <a:r>
                        <a:rPr sz="1100" b="0">
                          <a:solidFill>
                            <a:srgbClr val="1A2233"/>
                          </a:solidFill>
                          <a:latin typeface="Calibri"/>
                        </a:rPr>
                        <a:t>3</a:t>
                      </a:r>
                    </a:p>
                  </a:txBody>
                  <a:tcPr marL="45720" marR="45720" marT="9144" marB="9144" anchor="ctr">
                    <a:solidFill>
                      <a:srgbClr val="FFFFFF"/>
                    </a:solidFill>
                  </a:tcPr>
                </a:tc>
                <a:tc>
                  <a:txBody>
                    <a:bodyPr/>
                    <a:lstStyle/>
                    <a:p>
                      <a:pPr algn="l"/>
                      <a:r>
                        <a:rPr sz="1100" b="0">
                          <a:solidFill>
                            <a:srgbClr val="1A2233"/>
                          </a:solidFill>
                          <a:latin typeface="Calibri"/>
                        </a:rPr>
                        <a:t>4</a:t>
                      </a:r>
                    </a:p>
                  </a:txBody>
                  <a:tcPr marL="45720" marR="45720" marT="9144" marB="9144" anchor="ctr">
                    <a:solidFill>
                      <a:srgbClr val="FFFFFF"/>
                    </a:solidFill>
                  </a:tcPr>
                </a:tc>
              </a:tr>
              <a:tr h="310896">
                <a:tc>
                  <a:txBody>
                    <a:bodyPr/>
                    <a:lstStyle/>
                    <a:p>
                      <a:pPr algn="ctr"/>
                      <a:r>
                        <a:rPr sz="1100" b="1">
                          <a:solidFill>
                            <a:srgbClr val="1A2233"/>
                          </a:solidFill>
                          <a:latin typeface="Calibri"/>
                        </a:rPr>
                        <a:t>6</a:t>
                      </a:r>
                    </a:p>
                  </a:txBody>
                  <a:tcPr marL="45720" marR="45720" marT="9144" marB="9144" anchor="ctr">
                    <a:solidFill>
                      <a:srgbClr val="D9DEE6"/>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r>
              <a:tr h="310896">
                <a:tc>
                  <a:txBody>
                    <a:bodyPr/>
                    <a:lstStyle/>
                    <a:p>
                      <a:pPr algn="ctr"/>
                      <a:r>
                        <a:rPr sz="1100" b="1">
                          <a:solidFill>
                            <a:srgbClr val="1A2233"/>
                          </a:solidFill>
                          <a:latin typeface="Calibri"/>
                        </a:rPr>
                        <a:t>7</a:t>
                      </a:r>
                    </a:p>
                  </a:txBody>
                  <a:tcPr marL="45720" marR="45720" marT="9144" marB="9144" anchor="ctr">
                    <a:solidFill>
                      <a:srgbClr val="D9DEE6"/>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r>
              <a:tr h="310896">
                <a:tc>
                  <a:txBody>
                    <a:bodyPr/>
                    <a:lstStyle/>
                    <a:p>
                      <a:pPr algn="ctr"/>
                      <a:r>
                        <a:rPr sz="1100" b="1">
                          <a:solidFill>
                            <a:srgbClr val="1A2233"/>
                          </a:solidFill>
                          <a:latin typeface="Calibri"/>
                        </a:rPr>
                        <a:t>8</a:t>
                      </a:r>
                    </a:p>
                  </a:txBody>
                  <a:tcPr marL="45720" marR="45720" marT="9144" marB="9144" anchor="ctr">
                    <a:solidFill>
                      <a:srgbClr val="D9DEE6"/>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r>
              <a:tr h="310896">
                <a:tc>
                  <a:txBody>
                    <a:bodyPr/>
                    <a:lstStyle/>
                    <a:p>
                      <a:pPr algn="ctr"/>
                      <a:r>
                        <a:rPr sz="1100" b="1">
                          <a:solidFill>
                            <a:srgbClr val="1A2233"/>
                          </a:solidFill>
                          <a:latin typeface="Calibri"/>
                        </a:rPr>
                        <a:t>9</a:t>
                      </a:r>
                    </a:p>
                  </a:txBody>
                  <a:tcPr marL="45720" marR="45720" marT="9144" marB="9144" anchor="ctr">
                    <a:solidFill>
                      <a:srgbClr val="D9DEE6"/>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1">
                          <a:solidFill>
                            <a:srgbClr val="1A2233"/>
                          </a:solidFill>
                          <a:latin typeface="Calibri"/>
                        </a:rPr>
                        <a:t>31 Dec 21</a:t>
                      </a:r>
                    </a:p>
                  </a:txBody>
                  <a:tcPr marL="45720" marR="45720" marT="9144" marB="9144" anchor="ctr">
                    <a:solidFill>
                      <a:srgbClr val="FBF0D9"/>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r>
              <a:tr h="310896">
                <a:tc>
                  <a:txBody>
                    <a:bodyPr/>
                    <a:lstStyle/>
                    <a:p>
                      <a:pPr algn="ctr"/>
                      <a:r>
                        <a:rPr sz="1100" b="1">
                          <a:solidFill>
                            <a:srgbClr val="1A2233"/>
                          </a:solidFill>
                          <a:latin typeface="Calibri"/>
                        </a:rPr>
                        <a:t>10</a:t>
                      </a:r>
                    </a:p>
                  </a:txBody>
                  <a:tcPr marL="45720" marR="45720" marT="9144" marB="9144" anchor="ctr">
                    <a:solidFill>
                      <a:srgbClr val="D9DEE6"/>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1">
                          <a:solidFill>
                            <a:srgbClr val="1A2233"/>
                          </a:solidFill>
                          <a:latin typeface="Calibri"/>
                        </a:rPr>
                        <a:t>3</a:t>
                      </a:r>
                    </a:p>
                  </a:txBody>
                  <a:tcPr marL="45720" marR="45720" marT="9144" marB="9144" anchor="ctr">
                    <a:solidFill>
                      <a:srgbClr val="FBF0D9"/>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r>
              <a:tr h="310896">
                <a:tc>
                  <a:txBody>
                    <a:bodyPr/>
                    <a:lstStyle/>
                    <a:p>
                      <a:pPr algn="ctr"/>
                      <a:r>
                        <a:rPr sz="1100" b="1">
                          <a:solidFill>
                            <a:srgbClr val="1A2233"/>
                          </a:solidFill>
                          <a:latin typeface="Calibri"/>
                        </a:rPr>
                        <a:t>11</a:t>
                      </a:r>
                    </a:p>
                  </a:txBody>
                  <a:tcPr marL="45720" marR="45720" marT="9144" marB="9144" anchor="ctr">
                    <a:solidFill>
                      <a:srgbClr val="D9DEE6"/>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1">
                          <a:solidFill>
                            <a:srgbClr val="1A2233"/>
                          </a:solidFill>
                          <a:latin typeface="Calibri"/>
                        </a:rPr>
                        <a:t>8</a:t>
                      </a:r>
                    </a:p>
                  </a:txBody>
                  <a:tcPr marL="45720" marR="45720" marT="9144" marB="9144" anchor="ctr">
                    <a:solidFill>
                      <a:srgbClr val="FBF0D9"/>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r>
              <a:tr h="310896">
                <a:tc>
                  <a:txBody>
                    <a:bodyPr/>
                    <a:lstStyle/>
                    <a:p>
                      <a:pPr algn="ctr"/>
                      <a:r>
                        <a:rPr sz="1100" b="1">
                          <a:solidFill>
                            <a:srgbClr val="1A2233"/>
                          </a:solidFill>
                          <a:latin typeface="Calibri"/>
                        </a:rPr>
                        <a:t>12</a:t>
                      </a:r>
                    </a:p>
                  </a:txBody>
                  <a:tcPr marL="45720" marR="45720" marT="9144" marB="9144" anchor="ctr">
                    <a:solidFill>
                      <a:srgbClr val="D9DEE6"/>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r>
              <a:tr h="310896">
                <a:tc>
                  <a:txBody>
                    <a:bodyPr/>
                    <a:lstStyle/>
                    <a:p>
                      <a:pPr algn="ctr"/>
                      <a:r>
                        <a:rPr sz="1100" b="1">
                          <a:solidFill>
                            <a:srgbClr val="1A2233"/>
                          </a:solidFill>
                          <a:latin typeface="Calibri"/>
                        </a:rPr>
                        <a:t>13</a:t>
                      </a:r>
                    </a:p>
                  </a:txBody>
                  <a:tcPr marL="45720" marR="45720" marT="9144" marB="9144" anchor="ctr">
                    <a:solidFill>
                      <a:srgbClr val="D9DEE6"/>
                    </a:solidFill>
                  </a:tcPr>
                </a:tc>
                <a:tc>
                  <a:txBody>
                    <a:bodyPr/>
                    <a:lstStyle/>
                    <a:p>
                      <a:pPr algn="l"/>
                      <a:r>
                        <a:rPr sz="1100" b="0">
                          <a:solidFill>
                            <a:srgbClr val="1A2233"/>
                          </a:solidFill>
                          <a:latin typeface="Calibri"/>
                        </a:rPr>
                        <a:t>Period ending</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1">
                          <a:solidFill>
                            <a:srgbClr val="1A2233"/>
                          </a:solidFill>
                          <a:latin typeface="Calibri"/>
                        </a:rPr>
                        <a:t>31 Mar 20</a:t>
                      </a:r>
                    </a:p>
                  </a:txBody>
                  <a:tcPr marL="45720" marR="45720" marT="9144" marB="9144" anchor="ctr">
                    <a:solidFill>
                      <a:srgbClr val="FFE9B8"/>
                    </a:solidFill>
                  </a:tcPr>
                </a:tc>
                <a:tc>
                  <a:txBody>
                    <a:bodyPr/>
                    <a:lstStyle/>
                    <a:p>
                      <a:pPr algn="l"/>
                      <a:r>
                        <a:rPr sz="1100" b="0">
                          <a:solidFill>
                            <a:srgbClr val="1A2233"/>
                          </a:solidFill>
                          <a:latin typeface="Calibri"/>
                        </a:rPr>
                        <a:t>30 Jun 20</a:t>
                      </a:r>
                    </a:p>
                  </a:txBody>
                  <a:tcPr marL="45720" marR="45720" marT="9144" marB="9144" anchor="ctr">
                    <a:solidFill>
                      <a:srgbClr val="FFFFFF"/>
                    </a:solidFill>
                  </a:tcPr>
                </a:tc>
                <a:tc>
                  <a:txBody>
                    <a:bodyPr/>
                    <a:lstStyle/>
                    <a:p>
                      <a:pPr algn="l"/>
                      <a:r>
                        <a:rPr sz="1100" b="0">
                          <a:solidFill>
                            <a:srgbClr val="1A2233"/>
                          </a:solidFill>
                          <a:latin typeface="Calibri"/>
                        </a:rPr>
                        <a:t>30 Sep 20</a:t>
                      </a:r>
                    </a:p>
                  </a:txBody>
                  <a:tcPr marL="45720" marR="45720" marT="9144" marB="9144" anchor="ctr">
                    <a:solidFill>
                      <a:srgbClr val="FFFFFF"/>
                    </a:solidFill>
                  </a:tcPr>
                </a:tc>
                <a:tc>
                  <a:txBody>
                    <a:bodyPr/>
                    <a:lstStyle/>
                    <a:p>
                      <a:pPr algn="l"/>
                      <a:r>
                        <a:rPr sz="1100" b="0">
                          <a:solidFill>
                            <a:srgbClr val="1A2233"/>
                          </a:solidFill>
                          <a:latin typeface="Calibri"/>
                        </a:rPr>
                        <a:t>31 Dec 20</a:t>
                      </a:r>
                    </a:p>
                  </a:txBody>
                  <a:tcPr marL="45720" marR="45720" marT="9144" marB="9144" anchor="ctr">
                    <a:solidFill>
                      <a:srgbClr val="FFFFFF"/>
                    </a:solidFill>
                  </a:tcPr>
                </a:tc>
              </a:tr>
              <a:tr h="310896">
                <a:tc>
                  <a:txBody>
                    <a:bodyPr/>
                    <a:lstStyle/>
                    <a:p>
                      <a:pPr algn="ctr"/>
                      <a:r>
                        <a:rPr sz="1100" b="1">
                          <a:solidFill>
                            <a:srgbClr val="1A2233"/>
                          </a:solidFill>
                          <a:latin typeface="Calibri"/>
                        </a:rPr>
                        <a:t>14</a:t>
                      </a:r>
                    </a:p>
                  </a:txBody>
                  <a:tcPr marL="45720" marR="45720" marT="9144" marB="9144" anchor="ctr">
                    <a:solidFill>
                      <a:srgbClr val="D9DEE6"/>
                    </a:solidFill>
                  </a:tcPr>
                </a:tc>
                <a:tc>
                  <a:txBody>
                    <a:bodyPr/>
                    <a:lstStyle/>
                    <a:p>
                      <a:pPr algn="l"/>
                      <a:r>
                        <a:rPr sz="1100" b="0">
                          <a:solidFill>
                            <a:srgbClr val="1A2233"/>
                          </a:solidFill>
                          <a:latin typeface="Calibri"/>
                        </a:rPr>
                        <a:t>Days</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91</a:t>
                      </a:r>
                    </a:p>
                  </a:txBody>
                  <a:tcPr marL="45720" marR="45720" marT="9144" marB="9144" anchor="ctr">
                    <a:solidFill>
                      <a:srgbClr val="FFFFFF"/>
                    </a:solidFill>
                  </a:tcPr>
                </a:tc>
                <a:tc>
                  <a:txBody>
                    <a:bodyPr/>
                    <a:lstStyle/>
                    <a:p>
                      <a:pPr algn="l"/>
                      <a:r>
                        <a:rPr sz="1100" b="0">
                          <a:solidFill>
                            <a:srgbClr val="1A2233"/>
                          </a:solidFill>
                          <a:latin typeface="Calibri"/>
                        </a:rPr>
                        <a:t>91</a:t>
                      </a:r>
                    </a:p>
                  </a:txBody>
                  <a:tcPr marL="45720" marR="45720" marT="9144" marB="9144" anchor="ctr">
                    <a:solidFill>
                      <a:srgbClr val="FFFFFF"/>
                    </a:solidFill>
                  </a:tcPr>
                </a:tc>
                <a:tc>
                  <a:txBody>
                    <a:bodyPr/>
                    <a:lstStyle/>
                    <a:p>
                      <a:pPr algn="l"/>
                      <a:r>
                        <a:rPr sz="1100" b="0">
                          <a:solidFill>
                            <a:srgbClr val="1A2233"/>
                          </a:solidFill>
                          <a:latin typeface="Calibri"/>
                        </a:rPr>
                        <a:t>92</a:t>
                      </a:r>
                    </a:p>
                  </a:txBody>
                  <a:tcPr marL="45720" marR="45720" marT="9144" marB="9144" anchor="ctr">
                    <a:solidFill>
                      <a:srgbClr val="FFFFFF"/>
                    </a:solidFill>
                  </a:tcPr>
                </a:tc>
                <a:tc>
                  <a:txBody>
                    <a:bodyPr/>
                    <a:lstStyle/>
                    <a:p>
                      <a:pPr algn="l"/>
                      <a:r>
                        <a:rPr sz="1100" b="0">
                          <a:solidFill>
                            <a:srgbClr val="1A2233"/>
                          </a:solidFill>
                          <a:latin typeface="Calibri"/>
                        </a:rPr>
                        <a:t>92</a:t>
                      </a:r>
                    </a:p>
                  </a:txBody>
                  <a:tcPr marL="45720" marR="45720" marT="9144" marB="9144" anchor="ctr">
                    <a:solidFill>
                      <a:srgbClr val="FFFFFF"/>
                    </a:solidFill>
                  </a:tcPr>
                </a:tc>
              </a:tr>
              <a:tr h="310896">
                <a:tc>
                  <a:txBody>
                    <a:bodyPr/>
                    <a:lstStyle/>
                    <a:p>
                      <a:pPr algn="ctr"/>
                      <a:r>
                        <a:rPr sz="1100" b="1">
                          <a:solidFill>
                            <a:srgbClr val="1A2233"/>
                          </a:solidFill>
                          <a:latin typeface="Calibri"/>
                        </a:rPr>
                        <a:t>15</a:t>
                      </a:r>
                    </a:p>
                  </a:txBody>
                  <a:tcPr marL="45720" marR="45720" marT="9144" marB="9144" anchor="ctr">
                    <a:solidFill>
                      <a:srgbClr val="D9DEE6"/>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r>
            </a:tbl>
          </a:graphicData>
        </a:graphic>
      </p:graphicFrame>
      <p:sp>
        <p:nvSpPr>
          <p:cNvPr id="15" name="Rectangle 14"/>
          <p:cNvSpPr/>
          <p:nvPr/>
        </p:nvSpPr>
        <p:spPr>
          <a:xfrm>
            <a:off x="9966960" y="1481328"/>
            <a:ext cx="1691639" cy="347472"/>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FFFFFF"/>
                </a:solidFill>
                <a:latin typeface="Calibri"/>
              </a:rPr>
              <a:t>HOW IT WORKS</a:t>
            </a:r>
          </a:p>
        </p:txBody>
      </p:sp>
      <p:sp>
        <p:nvSpPr>
          <p:cNvPr id="16" name="TextBox 15"/>
          <p:cNvSpPr txBox="1"/>
          <p:nvPr/>
        </p:nvSpPr>
        <p:spPr>
          <a:xfrm>
            <a:off x="9966960" y="1920240"/>
            <a:ext cx="1691639" cy="4206240"/>
          </a:xfrm>
          <a:prstGeom prst="rect">
            <a:avLst/>
          </a:prstGeom>
          <a:noFill/>
        </p:spPr>
        <p:txBody>
          <a:bodyPr wrap="square">
            <a:spAutoFit/>
          </a:bodyPr>
          <a:lstStyle/>
          <a:p>
            <a:pPr>
              <a:spcAft>
                <a:spcPts val="600"/>
              </a:spcAft>
            </a:pPr>
            <a:r>
              <a:rPr b="0" sz="1200" i="0">
                <a:solidFill>
                  <a:srgbClr val="1A2233"/>
                </a:solidFill>
                <a:latin typeface="Calibri"/>
              </a:rPr>
              <a:t>▪ F9 = financial close (COD) from InpC, F10 = 3 months per period, F11 = 8 quarters</a:t>
            </a:r>
          </a:p>
          <a:p>
            <a:pPr>
              <a:spcAft>
                <a:spcPts val="600"/>
              </a:spcAft>
            </a:pPr>
            <a:r>
              <a:rPr b="0" sz="1200" i="0">
                <a:solidFill>
                  <a:srgbClr val="1A2233"/>
                </a:solidFill>
                <a:latin typeface="Calibri"/>
              </a:rPr>
              <a:t>▪ Counting back from COD: quarter 1 ends 7 periods earlier: EOMONTH(COD, −3×(8−1)) = 31 Mar 2020</a:t>
            </a:r>
          </a:p>
          <a:p>
            <a:pPr>
              <a:spcAft>
                <a:spcPts val="600"/>
              </a:spcAft>
            </a:pPr>
            <a:r>
              <a:rPr b="0" sz="1200" i="0">
                <a:solidFill>
                  <a:srgbClr val="1A2233"/>
                </a:solidFill>
                <a:latin typeface="Calibri"/>
              </a:rPr>
              <a:t>▪ Quarter 8 = COD itself: </a:t>
            </a:r>
            <a:r>
              <a:rPr b="0" sz="1200" i="0">
                <a:solidFill>
                  <a:srgbClr val="0B5E82"/>
                </a:solidFill>
                <a:latin typeface="Consolas"/>
              </a:rPr>
              <a:t>EOMONTH(COD, 0)</a:t>
            </a:r>
            <a:r>
              <a:rPr b="0" sz="1200" i="0">
                <a:solidFill>
                  <a:srgbClr val="1A2233"/>
                </a:solidFill>
                <a:latin typeface="Calibri"/>
              </a:rPr>
              <a:t> = 31 Dec 2021</a:t>
            </a:r>
          </a:p>
          <a:p>
            <a:pPr>
              <a:spcAft>
                <a:spcPts val="600"/>
              </a:spcAft>
            </a:pPr>
            <a:r>
              <a:rPr b="0" sz="1200" i="0">
                <a:solidFill>
                  <a:srgbClr val="1A2233"/>
                </a:solidFill>
                <a:latin typeface="Calibri"/>
              </a:rPr>
              <a:t>▪ EOMONTH returns the last day of the month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Constr!J13: Construction period ending</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Constr</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J13  (to CO13)</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Construction period ending  (date)</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=EOMONTH($F$9,-$F$10*($F$11-J$5))</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Start from the COD date (F9)</a:t>
            </a:r>
          </a:p>
          <a:p>
            <a:pPr algn="l"/>
            <a:r>
              <a:rPr b="0" sz="1500" i="0">
                <a:solidFill>
                  <a:srgbClr val="1A2233"/>
                </a:solidFill>
                <a:latin typeface="Calibri"/>
              </a:rPr>
              <a:t>▪ Go back F10 (3) months for every quarter between this one and the last (F11 − counter)</a:t>
            </a:r>
          </a:p>
          <a:p>
            <a:pPr algn="l"/>
            <a:r>
              <a:rPr b="0" sz="1500" i="0">
                <a:solidFill>
                  <a:srgbClr val="1A2233"/>
                </a:solidFill>
                <a:latin typeface="Calibri"/>
              </a:rPr>
              <a:t>▪ EOMONTH snaps to the month-end</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J13:Q13,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J13:Q13,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J13 → CO13</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J13 = 31 Mar 20 … Q13 = 31 Dec 21</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Counting backwards means moving the COD date moves the whole construction schedule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Constr!J14: Days in construction period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Constr</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J14  (to CO14)</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Days in construction period  (days)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=J13-EOMONTH(J13,-$F$10)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Period end minus the previous period end (EOMONTH(J13,−3))</a:t>
            </a:r>
          </a:p>
          <a:p>
            <a:pPr algn="l"/>
            <a:r>
              <a:rPr b="0" sz="1500" i="0">
                <a:solidFill>
                  <a:srgbClr val="1A2233"/>
                </a:solidFill>
                <a:latin typeface="Calibri"/>
              </a:rPr>
              <a:t>▪ Gives the number of days used for interest and fees</a:t>
            </a:r>
          </a:p>
          <a:p>
            <a:pPr algn="l"/>
            <a:r>
              <a:rPr b="0" sz="1500" i="0">
                <a:solidFill>
                  <a:srgbClr val="1A2233"/>
                </a:solidFill>
                <a:latin typeface="Calibri"/>
              </a:rPr>
              <a:t>▪ E.g. 31 Mar 20 − 31 Dec 19 = 91</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J14:Q14,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J14:Q14,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J14 → CO14</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H14 = 730 days for 8 quarters</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Same day-count idea as the operating timeline, but between consecutive period ends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6.1: Build the construction timeline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Create the Constr sheet, add the pull rows 9 to 11 and the timeline rows 13 and 14.</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Insert a new sheet: </a:t>
            </a:r>
            <a:r>
              <a:rPr b="0" sz="1500" i="0">
                <a:solidFill>
                  <a:srgbClr val="0B5E82"/>
                </a:solidFill>
                <a:latin typeface="Consolas"/>
              </a:rPr>
              <a:t>Shift+F11</a:t>
            </a:r>
            <a:r>
              <a:rPr b="0" sz="1500" i="0">
                <a:solidFill>
                  <a:srgbClr val="1A2233"/>
                </a:solidFill>
                <a:latin typeface="Calibri"/>
              </a:rPr>
              <a:t> (Win) / </a:t>
            </a:r>
            <a:r>
              <a:rPr b="0" sz="1500" i="0">
                <a:solidFill>
                  <a:srgbClr val="0B5E82"/>
                </a:solidFill>
                <a:latin typeface="Consolas"/>
              </a:rPr>
              <a:t>Fn+Shift+F11</a:t>
            </a:r>
            <a:r>
              <a:rPr b="0" sz="1500" i="0">
                <a:solidFill>
                  <a:srgbClr val="1A2233"/>
                </a:solidFill>
                <a:latin typeface="Calibri"/>
              </a:rPr>
              <a:t> (Mac); rename it Constr (double-click the tab)</a:t>
            </a:r>
          </a:p>
          <a:p>
            <a:pPr>
              <a:spcAft>
                <a:spcPts val="300"/>
              </a:spcAft>
            </a:pPr>
            <a:r>
              <a:rPr b="0" sz="1500" i="0">
                <a:solidFill>
                  <a:srgbClr val="1A2233"/>
                </a:solidFill>
                <a:latin typeface="Calibri"/>
              </a:rPr>
              <a:t>2.  Copy rows 1 to 5 from OpRev for the layout (select, copy, paste into Constr)</a:t>
            </a:r>
          </a:p>
          <a:p>
            <a:pPr>
              <a:spcAft>
                <a:spcPts val="300"/>
              </a:spcAft>
            </a:pPr>
            <a:r>
              <a:rPr b="0" sz="1500" i="0">
                <a:solidFill>
                  <a:srgbClr val="1A2233"/>
                </a:solidFill>
                <a:latin typeface="Calibri"/>
              </a:rPr>
              <a:t>3.  Pull F9:F11 from InpC: </a:t>
            </a:r>
            <a:r>
              <a:rPr b="0" sz="1500" i="0">
                <a:solidFill>
                  <a:srgbClr val="0B5E82"/>
                </a:solidFill>
                <a:latin typeface="Consolas"/>
              </a:rPr>
              <a:t>Ctrl+G</a:t>
            </a:r>
            <a:r>
              <a:rPr b="0" sz="1500" i="0">
                <a:solidFill>
                  <a:srgbClr val="1A2233"/>
                </a:solidFill>
                <a:latin typeface="Calibri"/>
              </a:rPr>
              <a:t> E9:G9, type </a:t>
            </a:r>
            <a:r>
              <a:rPr b="0" sz="1500" i="0">
                <a:solidFill>
                  <a:srgbClr val="0B5E82"/>
                </a:solidFill>
                <a:latin typeface="Consolas"/>
              </a:rPr>
              <a:t>=InpC!E$10</a:t>
            </a:r>
            <a:r>
              <a:rPr b="0" sz="1500" i="0">
                <a:solidFill>
                  <a:srgbClr val="1A2233"/>
                </a:solidFill>
                <a:latin typeface="Calibri"/>
              </a:rPr>
              <a:t>, </a:t>
            </a:r>
            <a:r>
              <a:rPr b="0" sz="1500" i="0">
                <a:solidFill>
                  <a:srgbClr val="0B5E82"/>
                </a:solidFill>
                <a:latin typeface="Consolas"/>
              </a:rPr>
              <a:t>Ctrl+Enter</a:t>
            </a:r>
            <a:r>
              <a:rPr b="0" sz="1500" i="0">
                <a:solidFill>
                  <a:srgbClr val="1A2233"/>
                </a:solidFill>
                <a:latin typeface="Calibri"/>
              </a:rPr>
              <a:t> (copies across E, F, G)</a:t>
            </a:r>
          </a:p>
          <a:p>
            <a:pPr>
              <a:spcAft>
                <a:spcPts val="300"/>
              </a:spcAft>
            </a:pPr>
            <a:r>
              <a:rPr b="0" sz="1500" i="0">
                <a:solidFill>
                  <a:srgbClr val="1A2233"/>
                </a:solidFill>
                <a:latin typeface="Calibri"/>
              </a:rPr>
              <a:t>4.  Build rows 5, 13 and 14 over J:Q</a:t>
            </a:r>
          </a:p>
          <a:p>
            <a:pPr>
              <a:spcAft>
                <a:spcPts val="300"/>
              </a:spcAft>
            </a:pPr>
            <a:r>
              <a:rPr b="0" sz="1500" i="0">
                <a:solidFill>
                  <a:srgbClr val="1A2233"/>
                </a:solidFill>
                <a:latin typeface="Calibri"/>
              </a:rPr>
              <a:t>5.  Check: Q13 = 31 Dec 2021; H14 = 730</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15 min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6  |  Wed 21 Oct 2026  |  Project finance modelling I: construction and funding</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17</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10.30 – 12.00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3: Uses of funds</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Hard cost, upfront fee, interest during construction and commitment fee.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Uses of funds: what the money is spent on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058670"/>
        </p:xfrm>
        <a:graphic>
          <a:graphicData uri="http://schemas.openxmlformats.org/drawingml/2006/table">
            <a:tbl>
              <a:tblPr firstRow="1" bandRow="1">
                <a:tableStyleId>{5C22544A-7EE6-4342-B048-85BDC9FD1C3A}</a:tableStyleId>
              </a:tblPr>
              <a:tblGrid>
                <a:gridCol w="3108960"/>
                <a:gridCol w="6400800"/>
                <a:gridCol w="1554480"/>
              </a:tblGrid>
              <a:tr h="384048">
                <a:tc>
                  <a:txBody>
                    <a:bodyPr wrap="square"/>
                    <a:lstStyle/>
                    <a:p>
                      <a:r>
                        <a:rPr b="1" sz="1300" i="0">
                          <a:solidFill>
                            <a:srgbClr val="FFFFFF"/>
                          </a:solidFill>
                          <a:latin typeface="Calibri"/>
                        </a:rPr>
                        <a:t>Use</a:t>
                      </a:r>
                    </a:p>
                  </a:txBody>
                  <a:tcPr marL="64008" marR="64008" marT="27432" marB="27432" anchor="ctr">
                    <a:solidFill>
                      <a:srgbClr val="141B4D"/>
                    </a:solidFill>
                  </a:tcPr>
                </a:tc>
                <a:tc>
                  <a:txBody>
                    <a:bodyPr wrap="square"/>
                    <a:lstStyle/>
                    <a:p>
                      <a:r>
                        <a:rPr b="1" sz="1300" i="0">
                          <a:solidFill>
                            <a:srgbClr val="FFFFFF"/>
                          </a:solidFill>
                          <a:latin typeface="Calibri"/>
                        </a:rPr>
                        <a:t>Meaning</a:t>
                      </a:r>
                    </a:p>
                  </a:txBody>
                  <a:tcPr marL="64008" marR="64008" marT="27432" marB="27432" anchor="ctr">
                    <a:solidFill>
                      <a:srgbClr val="141B4D"/>
                    </a:solidFill>
                  </a:tcPr>
                </a:tc>
                <a:tc>
                  <a:txBody>
                    <a:bodyPr wrap="square"/>
                    <a:lstStyle/>
                    <a:p>
                      <a:r>
                        <a:rPr b="1" sz="1300" i="0">
                          <a:solidFill>
                            <a:srgbClr val="FFFFFF"/>
                          </a:solidFill>
                          <a:latin typeface="Calibri"/>
                        </a:rPr>
                        <a:t>Row</a:t>
                      </a:r>
                    </a:p>
                  </a:txBody>
                  <a:tcPr marL="64008" marR="64008" marT="27432" marB="27432" anchor="ctr">
                    <a:solidFill>
                      <a:srgbClr val="141B4D"/>
                    </a:solidFill>
                  </a:tcPr>
                </a:tc>
              </a:tr>
              <a:tr h="384048">
                <a:tc>
                  <a:txBody>
                    <a:bodyPr wrap="square"/>
                    <a:lstStyle/>
                    <a:p>
                      <a:r>
                        <a:rPr b="1" sz="1300" i="0">
                          <a:solidFill>
                            <a:srgbClr val="1A2233"/>
                          </a:solidFill>
                          <a:latin typeface="Calibri"/>
                        </a:rPr>
                        <a:t>Construction (hard) cost</a:t>
                      </a:r>
                    </a:p>
                  </a:txBody>
                  <a:tcPr marL="64008" marR="64008" marT="27432" marB="27432" anchor="ctr">
                    <a:solidFill>
                      <a:srgbClr val="FFFFFF"/>
                    </a:solidFill>
                  </a:tcPr>
                </a:tc>
                <a:tc>
                  <a:txBody>
                    <a:bodyPr wrap="square"/>
                    <a:lstStyle/>
                    <a:p>
                      <a:r>
                        <a:rPr b="0" sz="1300" i="0">
                          <a:solidFill>
                            <a:srgbClr val="1A2233"/>
                          </a:solidFill>
                          <a:latin typeface="Calibri"/>
                        </a:rPr>
                        <a:t>Paid to contractors; spread over 8 quarters by an S-curve</a:t>
                      </a:r>
                    </a:p>
                  </a:txBody>
                  <a:tcPr marL="64008" marR="64008" marT="27432" marB="27432" anchor="ctr">
                    <a:solidFill>
                      <a:srgbClr val="FFFFFF"/>
                    </a:solidFill>
                  </a:tcPr>
                </a:tc>
                <a:tc>
                  <a:txBody>
                    <a:bodyPr wrap="square"/>
                    <a:lstStyle/>
                    <a:p>
                      <a:r>
                        <a:rPr b="0" sz="1300" i="0">
                          <a:solidFill>
                            <a:srgbClr val="1A2233"/>
                          </a:solidFill>
                          <a:latin typeface="Calibri"/>
                        </a:rPr>
                        <a:t>19</a:t>
                      </a:r>
                    </a:p>
                  </a:txBody>
                  <a:tcPr marL="64008" marR="64008" marT="27432" marB="27432" anchor="ctr">
                    <a:solidFill>
                      <a:srgbClr val="FFFFFF"/>
                    </a:solidFill>
                  </a:tcPr>
                </a:tc>
              </a:tr>
              <a:tr h="384048">
                <a:tc>
                  <a:txBody>
                    <a:bodyPr wrap="square"/>
                    <a:lstStyle/>
                    <a:p>
                      <a:r>
                        <a:rPr b="1" sz="1300" i="0">
                          <a:solidFill>
                            <a:srgbClr val="1A2233"/>
                          </a:solidFill>
                          <a:latin typeface="Calibri"/>
                        </a:rPr>
                        <a:t>Upfront fee</a:t>
                      </a:r>
                    </a:p>
                  </a:txBody>
                  <a:tcPr marL="64008" marR="64008" marT="27432" marB="27432" anchor="ctr">
                    <a:solidFill>
                      <a:srgbClr val="F3F6F9"/>
                    </a:solidFill>
                  </a:tcPr>
                </a:tc>
                <a:tc>
                  <a:txBody>
                    <a:bodyPr wrap="square"/>
                    <a:lstStyle/>
                    <a:p>
                      <a:r>
                        <a:rPr b="0" sz="1300" i="0">
                          <a:solidFill>
                            <a:srgbClr val="1A2233"/>
                          </a:solidFill>
                          <a:latin typeface="Calibri"/>
                        </a:rPr>
                        <a:t>One-off arrangement fee of 2% of the facility, paid in quarter 1</a:t>
                      </a:r>
                    </a:p>
                  </a:txBody>
                  <a:tcPr marL="64008" marR="64008" marT="27432" marB="27432" anchor="ctr">
                    <a:solidFill>
                      <a:srgbClr val="F3F6F9"/>
                    </a:solidFill>
                  </a:tcPr>
                </a:tc>
                <a:tc>
                  <a:txBody>
                    <a:bodyPr wrap="square"/>
                    <a:lstStyle/>
                    <a:p>
                      <a:r>
                        <a:rPr b="0" sz="1300" i="0">
                          <a:solidFill>
                            <a:srgbClr val="1A2233"/>
                          </a:solidFill>
                          <a:latin typeface="Calibri"/>
                        </a:rPr>
                        <a:t>25</a:t>
                      </a:r>
                    </a:p>
                  </a:txBody>
                  <a:tcPr marL="64008" marR="64008" marT="27432" marB="27432" anchor="ctr">
                    <a:solidFill>
                      <a:srgbClr val="F3F6F9"/>
                    </a:solidFill>
                  </a:tcPr>
                </a:tc>
              </a:tr>
              <a:tr h="522478">
                <a:tc>
                  <a:txBody>
                    <a:bodyPr wrap="square"/>
                    <a:lstStyle/>
                    <a:p>
                      <a:r>
                        <a:rPr b="1" sz="1300" i="0">
                          <a:solidFill>
                            <a:srgbClr val="1A2233"/>
                          </a:solidFill>
                          <a:latin typeface="Calibri"/>
                        </a:rPr>
                        <a:t>Interest during construction (IDC)</a:t>
                      </a:r>
                    </a:p>
                  </a:txBody>
                  <a:tcPr marL="64008" marR="64008" marT="27432" marB="27432" anchor="ctr">
                    <a:solidFill>
                      <a:srgbClr val="FFFFFF"/>
                    </a:solidFill>
                  </a:tcPr>
                </a:tc>
                <a:tc>
                  <a:txBody>
                    <a:bodyPr wrap="square"/>
                    <a:lstStyle/>
                    <a:p>
                      <a:r>
                        <a:rPr b="0" sz="1300" i="0">
                          <a:solidFill>
                            <a:srgbClr val="1A2233"/>
                          </a:solidFill>
                          <a:latin typeface="Calibri"/>
                        </a:rPr>
                        <a:t>Interest on the debt drawn so far; capitalised (added to cost)</a:t>
                      </a:r>
                    </a:p>
                  </a:txBody>
                  <a:tcPr marL="64008" marR="64008" marT="27432" marB="27432" anchor="ctr">
                    <a:solidFill>
                      <a:srgbClr val="FFFFFF"/>
                    </a:solidFill>
                  </a:tcPr>
                </a:tc>
                <a:tc>
                  <a:txBody>
                    <a:bodyPr wrap="square"/>
                    <a:lstStyle/>
                    <a:p>
                      <a:r>
                        <a:rPr b="0" sz="1300" i="0">
                          <a:solidFill>
                            <a:srgbClr val="1A2233"/>
                          </a:solidFill>
                          <a:latin typeface="Calibri"/>
                        </a:rPr>
                        <a:t>31</a:t>
                      </a:r>
                    </a:p>
                  </a:txBody>
                  <a:tcPr marL="64008" marR="64008" marT="27432" marB="27432" anchor="ctr">
                    <a:solidFill>
                      <a:srgbClr val="FFFFFF"/>
                    </a:solidFill>
                  </a:tcPr>
                </a:tc>
              </a:tr>
              <a:tr h="384048">
                <a:tc>
                  <a:txBody>
                    <a:bodyPr wrap="square"/>
                    <a:lstStyle/>
                    <a:p>
                      <a:r>
                        <a:rPr b="1" sz="1300" i="0">
                          <a:solidFill>
                            <a:srgbClr val="1A2233"/>
                          </a:solidFill>
                          <a:latin typeface="Calibri"/>
                        </a:rPr>
                        <a:t>Commitment fee</a:t>
                      </a:r>
                    </a:p>
                  </a:txBody>
                  <a:tcPr marL="64008" marR="64008" marT="27432" marB="27432" anchor="ctr">
                    <a:solidFill>
                      <a:srgbClr val="F3F6F9"/>
                    </a:solidFill>
                  </a:tcPr>
                </a:tc>
                <a:tc>
                  <a:txBody>
                    <a:bodyPr wrap="square"/>
                    <a:lstStyle/>
                    <a:p>
                      <a:r>
                        <a:rPr b="0" sz="1300" i="0">
                          <a:solidFill>
                            <a:srgbClr val="1A2233"/>
                          </a:solidFill>
                          <a:latin typeface="Calibri"/>
                        </a:rPr>
                        <a:t>0.75% p.a. on the part of the facility not yet drawn</a:t>
                      </a:r>
                    </a:p>
                  </a:txBody>
                  <a:tcPr marL="64008" marR="64008" marT="27432" marB="27432" anchor="ctr">
                    <a:solidFill>
                      <a:srgbClr val="F3F6F9"/>
                    </a:solidFill>
                  </a:tcPr>
                </a:tc>
                <a:tc>
                  <a:txBody>
                    <a:bodyPr wrap="square"/>
                    <a:lstStyle/>
                    <a:p>
                      <a:r>
                        <a:rPr b="0" sz="1300" i="0">
                          <a:solidFill>
                            <a:srgbClr val="1A2233"/>
                          </a:solidFill>
                          <a:latin typeface="Calibri"/>
                        </a:rPr>
                        <a:t>32</a:t>
                      </a:r>
                    </a:p>
                  </a:txBody>
                  <a:tcPr marL="64008" marR="64008" marT="27432" marB="27432" anchor="ctr">
                    <a:solidFill>
                      <a:srgbClr val="F3F6F9"/>
                    </a:solidFill>
                  </a:tcPr>
                </a:tc>
              </a:tr>
            </a:tbl>
          </a:graphicData>
        </a:graphic>
      </p:graphicFrame>
      <p:sp>
        <p:nvSpPr>
          <p:cNvPr id="12" name="Rectangle 11"/>
          <p:cNvSpPr/>
          <p:nvPr/>
        </p:nvSpPr>
        <p:spPr>
          <a:xfrm>
            <a:off x="548640" y="3750310"/>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75031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75031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Every dollar spent must be funded: Total uses = total sources (checked on row 48).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SPEND PROFILE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The S-curve: share of hard cost spent each quarter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548640" y="1508760"/>
          <a:ext cx="10881360" cy="4297680"/>
        </p:xfrm>
        <a:graphic>
          <a:graphicData uri="http://schemas.openxmlformats.org/drawingml/2006/chart">
            <c:chart xmlns:c="http://schemas.openxmlformats.org/drawingml/2006/chart" r:id="rId5"/>
          </a:graphicData>
        </a:graphic>
      </p:graphicFrame>
      <p:sp>
        <p:nvSpPr>
          <p:cNvPr id="12" name="TextBox 11"/>
          <p:cNvSpPr txBox="1"/>
          <p:nvPr/>
        </p:nvSpPr>
        <p:spPr>
          <a:xfrm>
            <a:off x="548640" y="5852159"/>
            <a:ext cx="11064240" cy="502920"/>
          </a:xfrm>
          <a:prstGeom prst="rect">
            <a:avLst/>
          </a:prstGeom>
          <a:noFill/>
        </p:spPr>
        <p:txBody>
          <a:bodyPr wrap="square" lIns="45720" rIns="45720" tIns="27432" bIns="27432" anchor="t">
            <a:spAutoFit/>
          </a:bodyPr>
          <a:lstStyle/>
          <a:p>
            <a:pPr algn="l"/>
            <a:r>
              <a:rPr b="0" sz="1300" i="1">
                <a:solidFill>
                  <a:srgbClr val="5C6B7A"/>
                </a:solidFill>
                <a:latin typeface="Calibri"/>
              </a:rPr>
              <a:t>5% / 10% / 15% / 20% / 20% / 15% / 10% / 5%: slow start, peak mid-way, slow finish. Typed on InpC rows 118 to 125.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Constr!J18: spend profile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Constr</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J18  (to CO18)</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Spend profile  (%)</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=INDEX(InpC!$F$118:$F$125,J$5)</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200" i="0">
                <a:solidFill>
                  <a:srgbClr val="1A2233"/>
                </a:solidFill>
                <a:latin typeface="Calibri"/>
              </a:rPr>
              <a:t>▪ Pick the quarter's share of cost from the 8-row table on InpC</a:t>
            </a:r>
          </a:p>
          <a:p>
            <a:pPr algn="l"/>
            <a:r>
              <a:rPr b="0" sz="1200" i="0">
                <a:solidFill>
                  <a:srgbClr val="1A2233"/>
                </a:solidFill>
                <a:latin typeface="Calibri"/>
              </a:rPr>
              <a:t>▪ </a:t>
            </a:r>
            <a:r>
              <a:rPr b="0" sz="1200" i="0">
                <a:solidFill>
                  <a:srgbClr val="0B5E82"/>
                </a:solidFill>
                <a:latin typeface="Consolas"/>
              </a:rPr>
              <a:t>INDEX(range, n)</a:t>
            </a:r>
            <a:r>
              <a:rPr b="0" sz="1200" i="0">
                <a:solidFill>
                  <a:srgbClr val="1A2233"/>
                </a:solidFill>
                <a:latin typeface="Calibri"/>
              </a:rPr>
              <a:t> returns the nth item; the counter row 5 supplies n</a:t>
            </a:r>
          </a:p>
          <a:p>
            <a:pPr algn="l"/>
            <a:r>
              <a:rPr b="0" sz="1200" i="0">
                <a:solidFill>
                  <a:srgbClr val="1A2233"/>
                </a:solidFill>
                <a:latin typeface="Calibri"/>
              </a:rPr>
              <a:t>▪ Range locked with $ because it must not move when you copy right</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InpC!$F$118:$F$125 = spend profile</a:t>
            </a:r>
          </a:p>
          <a:p>
            <a:pPr algn="l"/>
            <a:r>
              <a:rPr b="0" sz="1300" i="0">
                <a:solidFill>
                  <a:srgbClr val="1A2233"/>
                </a:solidFill>
                <a:latin typeface="Consolas"/>
              </a:rPr>
              <a:t>J$5 = construction quarter counter</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J18:Q18, Enter</a:t>
            </a:r>
          </a:p>
          <a:p>
            <a:pPr algn="l"/>
            <a:r>
              <a:rPr b="0" sz="1300" i="0">
                <a:solidFill>
                  <a:srgbClr val="1A2233"/>
                </a:solidFill>
                <a:latin typeface="Consolas"/>
              </a:rPr>
              <a:t>Type the formula</a:t>
            </a:r>
          </a:p>
          <a:p>
            <a:pPr algn="l"/>
            <a:r>
              <a:rPr b="0" sz="1300" i="0">
                <a:solidFill>
                  <a:srgbClr val="1A2233"/>
                </a:solidFill>
                <a:latin typeface="Consolas"/>
              </a:rPr>
              <a:t>Ctrl+Enter fills the range</a:t>
            </a:r>
          </a:p>
          <a:p>
            <a:pPr algn="l"/>
            <a:r>
              <a:rPr b="0" sz="1300" i="0">
                <a:solidFill>
                  <a:srgbClr val="1A2233"/>
                </a:solidFill>
                <a:latin typeface="Consolas"/>
              </a:rPr>
              <a:t>F4 cycles the $ signs</a:t>
            </a:r>
          </a:p>
          <a:p>
            <a:pPr algn="l"/>
            <a:r>
              <a:rPr b="0" sz="1300" i="0">
                <a:solidFill>
                  <a:srgbClr val="1A2233"/>
                </a:solidFill>
                <a:latin typeface="Consolas"/>
              </a:rPr>
              <a:t>Sheets: Ctrl+PgUp/PgDn</a:t>
            </a:r>
          </a:p>
          <a:p>
            <a:pPr algn="l"/>
            <a:r>
              <a:rPr b="0" sz="13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J18:Q18, Return</a:t>
            </a:r>
          </a:p>
          <a:p>
            <a:pPr algn="l"/>
            <a:r>
              <a:rPr b="0" sz="1300" i="0">
                <a:solidFill>
                  <a:srgbClr val="1A2233"/>
                </a:solidFill>
                <a:latin typeface="Consolas"/>
              </a:rPr>
              <a:t>Type the formula</a:t>
            </a:r>
          </a:p>
          <a:p>
            <a:pPr algn="l"/>
            <a:r>
              <a:rPr b="0" sz="1300" i="0">
                <a:solidFill>
                  <a:srgbClr val="1A2233"/>
                </a:solidFill>
                <a:latin typeface="Consolas"/>
              </a:rPr>
              <a:t>Ctrl+Return fills range</a:t>
            </a:r>
          </a:p>
          <a:p>
            <a:pPr algn="l"/>
            <a:r>
              <a:rPr b="0" sz="1300" i="0">
                <a:solidFill>
                  <a:srgbClr val="1A2233"/>
                </a:solidFill>
                <a:latin typeface="Consolas"/>
              </a:rPr>
              <a:t>Cmd+T (Fn+F4): $ signs</a:t>
            </a:r>
          </a:p>
          <a:p>
            <a:pPr algn="l"/>
            <a:r>
              <a:rPr b="0" sz="1300" i="0">
                <a:solidFill>
                  <a:srgbClr val="1A2233"/>
                </a:solidFill>
                <a:latin typeface="Consolas"/>
              </a:rPr>
              <a:t>Sheets: Option+←/→</a:t>
            </a:r>
          </a:p>
          <a:p>
            <a:pPr algn="l"/>
            <a:r>
              <a:rPr b="0" sz="13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J18 → CO18</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Row 18 = 5%, 10%, 15%, 20%, 20%, 15%, 10%, 5%;  H18 = 100%</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A table lookup lets you change the profile without touching formulas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Constr!J19: construction cost spend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Constr</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J19  (to CO19)</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Construction cost spend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=$F$17*J18</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Total construction cost (F17) × the quarter's share</a:t>
            </a:r>
          </a:p>
          <a:p>
            <a:pPr algn="l"/>
            <a:r>
              <a:rPr b="0" sz="1500" i="0">
                <a:solidFill>
                  <a:srgbClr val="1A2233"/>
                </a:solidFill>
                <a:latin typeface="Calibri"/>
              </a:rPr>
              <a:t>▪ F17 = InpC!F115 = 94,850</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F17 = InpC!F$115</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J19:Q19,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J19:Q19,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J19 → CO19</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H19 = 94,850; Q1 = 4,742.5; Q4 = 18,970.0</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Hard cost by quarter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Constr!J25: upfront fee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Constr</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J25  (to CO25)</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Upfront fee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=IF(J$5=1,$F$22*$F$23,0)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Only in quarter 1 (counter = 1): fee % × facility</a:t>
            </a:r>
          </a:p>
          <a:p>
            <a:pPr algn="l"/>
            <a:r>
              <a:rPr b="0" sz="1500" i="0">
                <a:solidFill>
                  <a:srgbClr val="1A2233"/>
                </a:solidFill>
                <a:latin typeface="Calibri"/>
              </a:rPr>
              <a:t>▪ 2.0% × 60,000 = 1,200</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F22 = InpC!F$127 (2%)</a:t>
            </a:r>
          </a:p>
          <a:p>
            <a:pPr algn="l"/>
            <a:r>
              <a:rPr b="0" sz="1300" i="0">
                <a:solidFill>
                  <a:srgbClr val="1A2233"/>
                </a:solidFill>
                <a:latin typeface="Consolas"/>
              </a:rPr>
              <a:t>F23 = InpC!F$131 (facility)</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J25:Q25,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J25:Q25,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J25 → CO25</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J25 = 1,200; H25 = 1,200</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Upfront fees are paid when the loan agreement is signed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Constr!J31: interest during construction (IDC)</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Constr</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J31  (to CO31)</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Interest during construction (IDC)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=J30*$F$28/$F$29*J14</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400" i="0">
                <a:solidFill>
                  <a:srgbClr val="1A2233"/>
                </a:solidFill>
                <a:latin typeface="Calibri"/>
              </a:rPr>
              <a:t>▪ Interest = opening debt balance (row 30) × annual rate ÷ 360 × days in the quarter</a:t>
            </a:r>
          </a:p>
          <a:p>
            <a:pPr algn="l"/>
            <a:r>
              <a:rPr b="0" sz="1400" i="0">
                <a:solidFill>
                  <a:srgbClr val="1A2233"/>
                </a:solidFill>
                <a:latin typeface="Calibri"/>
              </a:rPr>
              <a:t>▪ Opening balance = last quarter's closing balance: </a:t>
            </a:r>
            <a:r>
              <a:rPr b="0" sz="1400" i="0">
                <a:solidFill>
                  <a:srgbClr val="0B5E82"/>
                </a:solidFill>
                <a:latin typeface="Consolas"/>
              </a:rPr>
              <a:t>J30 =I49</a:t>
            </a:r>
          </a:p>
          <a:p>
            <a:pPr algn="l"/>
            <a:r>
              <a:rPr b="0" sz="1400" i="0">
                <a:solidFill>
                  <a:srgbClr val="1A2233"/>
                </a:solidFill>
                <a:latin typeface="Calibri"/>
              </a:rPr>
              <a:t>▪ Rate 6.5%, day count 360</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F28 = InpC!F$77 (6.5%)</a:t>
            </a:r>
          </a:p>
          <a:p>
            <a:pPr algn="l"/>
            <a:r>
              <a:rPr b="0" sz="1300" i="0">
                <a:solidFill>
                  <a:srgbClr val="1A2233"/>
                </a:solidFill>
                <a:latin typeface="Consolas"/>
              </a:rPr>
              <a:t>F29 = InpC!F$79 (360)</a:t>
            </a:r>
          </a:p>
          <a:p>
            <a:pPr algn="l"/>
            <a:r>
              <a:rPr b="0" sz="1300" i="0">
                <a:solidFill>
                  <a:srgbClr val="1A2233"/>
                </a:solidFill>
                <a:latin typeface="Consolas"/>
              </a:rPr>
              <a:t>J30 = I49 (closing debt of last quarter)</a:t>
            </a:r>
          </a:p>
          <a:p>
            <a:pPr algn="l"/>
            <a:r>
              <a:rPr b="0" sz="1300" i="0">
                <a:solidFill>
                  <a:srgbClr val="1A2233"/>
                </a:solidFill>
                <a:latin typeface="Consolas"/>
              </a:rPr>
              <a:t>J14 = days</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J31:Q31,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J31:Q31,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J31 → CO31</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H31 = 3,458.2 (IDC for the 8 quarters)</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Interest on the opening balance (not the closing) keeps the model free of circular references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Constr!J32: commitment fee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Constr</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J32  (to CO32)</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Commitment fee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=($F$23-J30)*$F$24/$F$29*J14</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The undrawn part of the facility = facility (F23) − debt drawn so far (J30)</a:t>
            </a:r>
          </a:p>
          <a:p>
            <a:pPr algn="l"/>
            <a:r>
              <a:rPr b="0" sz="1500" i="0">
                <a:solidFill>
                  <a:srgbClr val="1A2233"/>
                </a:solidFill>
                <a:latin typeface="Calibri"/>
              </a:rPr>
              <a:t>▪ × commitment fee 0.75% ÷ 360 × days</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F24 = InpC!F$129 (0.75%)</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J32:Q32,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J32:Q32,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J32 → CO32</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H32 = 514.7</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Banks are paid for keeping the money available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Constr block: total uses of funds (rows 35 to 39)</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975104"/>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35</a:t>
                      </a:r>
                    </a:p>
                  </a:txBody>
                  <a:tcPr marL="64008" marR="64008" marT="27432" marB="27432" anchor="ctr">
                    <a:solidFill>
                      <a:srgbClr val="FFFFFF"/>
                    </a:solidFill>
                  </a:tcPr>
                </a:tc>
                <a:tc>
                  <a:txBody>
                    <a:bodyPr wrap="square"/>
                    <a:lstStyle/>
                    <a:p>
                      <a:r>
                        <a:rPr b="0" sz="1200" i="0">
                          <a:solidFill>
                            <a:srgbClr val="1A2233"/>
                          </a:solidFill>
                          <a:latin typeface="Calibri"/>
                        </a:rPr>
                        <a:t>Construction cost spend</a:t>
                      </a:r>
                    </a:p>
                  </a:txBody>
                  <a:tcPr marL="64008" marR="64008" marT="27432" marB="27432" anchor="ctr">
                    <a:solidFill>
                      <a:srgbClr val="FFFFFF"/>
                    </a:solidFill>
                  </a:tcPr>
                </a:tc>
                <a:tc>
                  <a:txBody>
                    <a:bodyPr wrap="square"/>
                    <a:lstStyle/>
                    <a:p>
                      <a:r>
                        <a:rPr b="0" sz="1200" i="0">
                          <a:solidFill>
                            <a:srgbClr val="1A2233"/>
                          </a:solidFill>
                          <a:latin typeface="Consolas"/>
                        </a:rPr>
                        <a:t>J: =J19</a:t>
                      </a:r>
                    </a:p>
                  </a:txBody>
                  <a:tcPr marL="64008" marR="64008" marT="27432" marB="27432" anchor="ctr">
                    <a:solidFill>
                      <a:srgbClr val="FFFFFF"/>
                    </a:solidFill>
                  </a:tcPr>
                </a:tc>
              </a:tr>
              <a:tr h="329184">
                <a:tc>
                  <a:txBody>
                    <a:bodyPr wrap="square"/>
                    <a:lstStyle/>
                    <a:p>
                      <a:r>
                        <a:rPr b="1" sz="1200" i="0">
                          <a:solidFill>
                            <a:srgbClr val="1A2233"/>
                          </a:solidFill>
                          <a:latin typeface="Calibri"/>
                        </a:rPr>
                        <a:t>36</a:t>
                      </a:r>
                    </a:p>
                  </a:txBody>
                  <a:tcPr marL="64008" marR="64008" marT="27432" marB="27432" anchor="ctr">
                    <a:solidFill>
                      <a:srgbClr val="F3F6F9"/>
                    </a:solidFill>
                  </a:tcPr>
                </a:tc>
                <a:tc>
                  <a:txBody>
                    <a:bodyPr wrap="square"/>
                    <a:lstStyle/>
                    <a:p>
                      <a:r>
                        <a:rPr b="0" sz="1200" i="0">
                          <a:solidFill>
                            <a:srgbClr val="1A2233"/>
                          </a:solidFill>
                          <a:latin typeface="Calibri"/>
                        </a:rPr>
                        <a:t>Upfront fee</a:t>
                      </a:r>
                    </a:p>
                  </a:txBody>
                  <a:tcPr marL="64008" marR="64008" marT="27432" marB="27432" anchor="ctr">
                    <a:solidFill>
                      <a:srgbClr val="F3F6F9"/>
                    </a:solidFill>
                  </a:tcPr>
                </a:tc>
                <a:tc>
                  <a:txBody>
                    <a:bodyPr wrap="square"/>
                    <a:lstStyle/>
                    <a:p>
                      <a:r>
                        <a:rPr b="0" sz="1200" i="0">
                          <a:solidFill>
                            <a:srgbClr val="1A2233"/>
                          </a:solidFill>
                          <a:latin typeface="Consolas"/>
                        </a:rPr>
                        <a:t>J: =J25</a:t>
                      </a:r>
                    </a:p>
                  </a:txBody>
                  <a:tcPr marL="64008" marR="64008" marT="27432" marB="27432" anchor="ctr">
                    <a:solidFill>
                      <a:srgbClr val="F3F6F9"/>
                    </a:solidFill>
                  </a:tcPr>
                </a:tc>
              </a:tr>
              <a:tr h="329184">
                <a:tc>
                  <a:txBody>
                    <a:bodyPr wrap="square"/>
                    <a:lstStyle/>
                    <a:p>
                      <a:r>
                        <a:rPr b="1" sz="1200" i="0">
                          <a:solidFill>
                            <a:srgbClr val="1A2233"/>
                          </a:solidFill>
                          <a:latin typeface="Calibri"/>
                        </a:rPr>
                        <a:t>37</a:t>
                      </a:r>
                    </a:p>
                  </a:txBody>
                  <a:tcPr marL="64008" marR="64008" marT="27432" marB="27432" anchor="ctr">
                    <a:solidFill>
                      <a:srgbClr val="FFFFFF"/>
                    </a:solidFill>
                  </a:tcPr>
                </a:tc>
                <a:tc>
                  <a:txBody>
                    <a:bodyPr wrap="square"/>
                    <a:lstStyle/>
                    <a:p>
                      <a:r>
                        <a:rPr b="0" sz="1200" i="0">
                          <a:solidFill>
                            <a:srgbClr val="1A2233"/>
                          </a:solidFill>
                          <a:latin typeface="Calibri"/>
                        </a:rPr>
                        <a:t>Interest during construction (IDC)</a:t>
                      </a:r>
                    </a:p>
                  </a:txBody>
                  <a:tcPr marL="64008" marR="64008" marT="27432" marB="27432" anchor="ctr">
                    <a:solidFill>
                      <a:srgbClr val="FFFFFF"/>
                    </a:solidFill>
                  </a:tcPr>
                </a:tc>
                <a:tc>
                  <a:txBody>
                    <a:bodyPr wrap="square"/>
                    <a:lstStyle/>
                    <a:p>
                      <a:r>
                        <a:rPr b="0" sz="1200" i="0">
                          <a:solidFill>
                            <a:srgbClr val="1A2233"/>
                          </a:solidFill>
                          <a:latin typeface="Consolas"/>
                        </a:rPr>
                        <a:t>J: =J31</a:t>
                      </a:r>
                    </a:p>
                  </a:txBody>
                  <a:tcPr marL="64008" marR="64008" marT="27432" marB="27432" anchor="ctr">
                    <a:solidFill>
                      <a:srgbClr val="FFFFFF"/>
                    </a:solidFill>
                  </a:tcPr>
                </a:tc>
              </a:tr>
              <a:tr h="329184">
                <a:tc>
                  <a:txBody>
                    <a:bodyPr wrap="square"/>
                    <a:lstStyle/>
                    <a:p>
                      <a:r>
                        <a:rPr b="1" sz="1200" i="0">
                          <a:solidFill>
                            <a:srgbClr val="1A2233"/>
                          </a:solidFill>
                          <a:latin typeface="Calibri"/>
                        </a:rPr>
                        <a:t>38</a:t>
                      </a:r>
                    </a:p>
                  </a:txBody>
                  <a:tcPr marL="64008" marR="64008" marT="27432" marB="27432" anchor="ctr">
                    <a:solidFill>
                      <a:srgbClr val="F3F6F9"/>
                    </a:solidFill>
                  </a:tcPr>
                </a:tc>
                <a:tc>
                  <a:txBody>
                    <a:bodyPr wrap="square"/>
                    <a:lstStyle/>
                    <a:p>
                      <a:r>
                        <a:rPr b="0" sz="1200" i="0">
                          <a:solidFill>
                            <a:srgbClr val="1A2233"/>
                          </a:solidFill>
                          <a:latin typeface="Calibri"/>
                        </a:rPr>
                        <a:t>Commitment fee</a:t>
                      </a:r>
                    </a:p>
                  </a:txBody>
                  <a:tcPr marL="64008" marR="64008" marT="27432" marB="27432" anchor="ctr">
                    <a:solidFill>
                      <a:srgbClr val="F3F6F9"/>
                    </a:solidFill>
                  </a:tcPr>
                </a:tc>
                <a:tc>
                  <a:txBody>
                    <a:bodyPr wrap="square"/>
                    <a:lstStyle/>
                    <a:p>
                      <a:r>
                        <a:rPr b="0" sz="1200" i="0">
                          <a:solidFill>
                            <a:srgbClr val="1A2233"/>
                          </a:solidFill>
                          <a:latin typeface="Consolas"/>
                        </a:rPr>
                        <a:t>J: =J32</a:t>
                      </a:r>
                    </a:p>
                  </a:txBody>
                  <a:tcPr marL="64008" marR="64008" marT="27432" marB="27432" anchor="ctr">
                    <a:solidFill>
                      <a:srgbClr val="F3F6F9"/>
                    </a:solidFill>
                  </a:tcPr>
                </a:tc>
              </a:tr>
              <a:tr h="329184">
                <a:tc>
                  <a:txBody>
                    <a:bodyPr wrap="square"/>
                    <a:lstStyle/>
                    <a:p>
                      <a:r>
                        <a:rPr b="1" sz="1200" i="0">
                          <a:solidFill>
                            <a:srgbClr val="1A2233"/>
                          </a:solidFill>
                          <a:latin typeface="Calibri"/>
                        </a:rPr>
                        <a:t>39</a:t>
                      </a:r>
                    </a:p>
                  </a:txBody>
                  <a:tcPr marL="64008" marR="64008" marT="27432" marB="27432" anchor="ctr">
                    <a:solidFill>
                      <a:srgbClr val="FFFFFF"/>
                    </a:solidFill>
                  </a:tcPr>
                </a:tc>
                <a:tc>
                  <a:txBody>
                    <a:bodyPr wrap="square"/>
                    <a:lstStyle/>
                    <a:p>
                      <a:r>
                        <a:rPr b="0" sz="1200" i="0">
                          <a:solidFill>
                            <a:srgbClr val="1A2233"/>
                          </a:solidFill>
                          <a:latin typeface="Calibri"/>
                        </a:rPr>
                        <a:t>Total uses of funds</a:t>
                      </a:r>
                    </a:p>
                  </a:txBody>
                  <a:tcPr marL="64008" marR="64008" marT="27432" marB="27432" anchor="ctr">
                    <a:solidFill>
                      <a:srgbClr val="FFFFFF"/>
                    </a:solidFill>
                  </a:tcPr>
                </a:tc>
                <a:tc>
                  <a:txBody>
                    <a:bodyPr wrap="square"/>
                    <a:lstStyle/>
                    <a:p>
                      <a:r>
                        <a:rPr b="0" sz="1200" i="0">
                          <a:solidFill>
                            <a:srgbClr val="1A2233"/>
                          </a:solidFill>
                          <a:latin typeface="Consolas"/>
                        </a:rPr>
                        <a:t>J: =SUM(J35:J38)</a:t>
                      </a:r>
                    </a:p>
                  </a:txBody>
                  <a:tcPr marL="64008" marR="64008" marT="27432" marB="27432"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Constr!J39: total uses of funds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Constr</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J39  (to CO39)</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Total uses of funds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=SUM(J35:J38)</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Add the four uses pulled in rows 35 to 38</a:t>
            </a:r>
          </a:p>
          <a:p>
            <a:pPr algn="l"/>
            <a:r>
              <a:rPr b="0" sz="1500" i="0">
                <a:solidFill>
                  <a:srgbClr val="1A2233"/>
                </a:solidFill>
                <a:latin typeface="Calibri"/>
              </a:rPr>
              <a:t>▪ </a:t>
            </a:r>
            <a:r>
              <a:rPr b="0" sz="1500" i="0">
                <a:solidFill>
                  <a:srgbClr val="0B5E82"/>
                </a:solidFill>
                <a:latin typeface="Consolas"/>
              </a:rPr>
              <a:t>Alt+=</a:t>
            </a:r>
            <a:r>
              <a:rPr b="0" sz="1500" i="0">
                <a:solidFill>
                  <a:srgbClr val="1A2233"/>
                </a:solidFill>
                <a:latin typeface="Calibri"/>
              </a:rPr>
              <a:t> / </a:t>
            </a:r>
            <a:r>
              <a:rPr b="0" sz="1500" i="0">
                <a:solidFill>
                  <a:srgbClr val="0B5E82"/>
                </a:solidFill>
                <a:latin typeface="Consolas"/>
              </a:rPr>
              <a:t>Cmd+Shift+T</a:t>
            </a:r>
            <a:r>
              <a:rPr b="0" sz="1500" i="0">
                <a:solidFill>
                  <a:srgbClr val="1A2233"/>
                </a:solidFill>
                <a:latin typeface="Calibri"/>
              </a:rPr>
              <a:t> writes the SUM for you; check that the range is J35:J38</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J39:Q39,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J39:Q39,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J39 → CO39</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H39 = 100,022.9 total uses (project cost at COD)</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Uses of funds each quarter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CHECKPOINTS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Uses of funds by quarter ($000s, teaching case)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194560"/>
        </p:xfrm>
        <a:graphic>
          <a:graphicData uri="http://schemas.openxmlformats.org/drawingml/2006/table">
            <a:tbl>
              <a:tblPr firstRow="1" bandRow="1">
                <a:tableStyleId>{5C22544A-7EE6-4342-B048-85BDC9FD1C3A}</a:tableStyleId>
              </a:tblPr>
              <a:tblGrid>
                <a:gridCol w="1554480"/>
                <a:gridCol w="1051560"/>
                <a:gridCol w="1051560"/>
                <a:gridCol w="1051560"/>
                <a:gridCol w="1051560"/>
                <a:gridCol w="1051560"/>
                <a:gridCol w="1051560"/>
                <a:gridCol w="1051560"/>
                <a:gridCol w="1051560"/>
                <a:gridCol w="1097280"/>
              </a:tblGrid>
              <a:tr h="365760">
                <a:tc>
                  <a:txBody>
                    <a:bodyPr wrap="square"/>
                    <a:lstStyle/>
                    <a:p>
                      <a:r>
                        <a:rPr b="1" sz="1100" i="0">
                          <a:solidFill>
                            <a:srgbClr val="FFFFFF"/>
                          </a:solidFill>
                          <a:latin typeface="Calibri"/>
                        </a:rPr>
                        <a:t>Quarter</a:t>
                      </a:r>
                    </a:p>
                  </a:txBody>
                  <a:tcPr marL="64008" marR="64008" marT="27432" marB="27432" anchor="ctr">
                    <a:solidFill>
                      <a:srgbClr val="141B4D"/>
                    </a:solidFill>
                  </a:tcPr>
                </a:tc>
                <a:tc>
                  <a:txBody>
                    <a:bodyPr wrap="square"/>
                    <a:lstStyle/>
                    <a:p>
                      <a:r>
                        <a:rPr b="1" sz="1100" i="0">
                          <a:solidFill>
                            <a:srgbClr val="FFFFFF"/>
                          </a:solidFill>
                          <a:latin typeface="Calibri"/>
                        </a:rPr>
                        <a:t>Mar-20</a:t>
                      </a:r>
                    </a:p>
                  </a:txBody>
                  <a:tcPr marL="64008" marR="64008" marT="27432" marB="27432" anchor="ctr">
                    <a:solidFill>
                      <a:srgbClr val="141B4D"/>
                    </a:solidFill>
                  </a:tcPr>
                </a:tc>
                <a:tc>
                  <a:txBody>
                    <a:bodyPr wrap="square"/>
                    <a:lstStyle/>
                    <a:p>
                      <a:r>
                        <a:rPr b="1" sz="1100" i="0">
                          <a:solidFill>
                            <a:srgbClr val="FFFFFF"/>
                          </a:solidFill>
                          <a:latin typeface="Calibri"/>
                        </a:rPr>
                        <a:t>Jun-20</a:t>
                      </a:r>
                    </a:p>
                  </a:txBody>
                  <a:tcPr marL="64008" marR="64008" marT="27432" marB="27432" anchor="ctr">
                    <a:solidFill>
                      <a:srgbClr val="141B4D"/>
                    </a:solidFill>
                  </a:tcPr>
                </a:tc>
                <a:tc>
                  <a:txBody>
                    <a:bodyPr wrap="square"/>
                    <a:lstStyle/>
                    <a:p>
                      <a:r>
                        <a:rPr b="1" sz="1100" i="0">
                          <a:solidFill>
                            <a:srgbClr val="FFFFFF"/>
                          </a:solidFill>
                          <a:latin typeface="Calibri"/>
                        </a:rPr>
                        <a:t>Sep-20</a:t>
                      </a:r>
                    </a:p>
                  </a:txBody>
                  <a:tcPr marL="64008" marR="64008" marT="27432" marB="27432" anchor="ctr">
                    <a:solidFill>
                      <a:srgbClr val="141B4D"/>
                    </a:solidFill>
                  </a:tcPr>
                </a:tc>
                <a:tc>
                  <a:txBody>
                    <a:bodyPr wrap="square"/>
                    <a:lstStyle/>
                    <a:p>
                      <a:r>
                        <a:rPr b="1" sz="1100" i="0">
                          <a:solidFill>
                            <a:srgbClr val="FFFFFF"/>
                          </a:solidFill>
                          <a:latin typeface="Calibri"/>
                        </a:rPr>
                        <a:t>Dec-20</a:t>
                      </a:r>
                    </a:p>
                  </a:txBody>
                  <a:tcPr marL="64008" marR="64008" marT="27432" marB="27432" anchor="ctr">
                    <a:solidFill>
                      <a:srgbClr val="141B4D"/>
                    </a:solidFill>
                  </a:tcPr>
                </a:tc>
                <a:tc>
                  <a:txBody>
                    <a:bodyPr wrap="square"/>
                    <a:lstStyle/>
                    <a:p>
                      <a:r>
                        <a:rPr b="1" sz="1100" i="0">
                          <a:solidFill>
                            <a:srgbClr val="FFFFFF"/>
                          </a:solidFill>
                          <a:latin typeface="Calibri"/>
                        </a:rPr>
                        <a:t>Mar-21</a:t>
                      </a:r>
                    </a:p>
                  </a:txBody>
                  <a:tcPr marL="64008" marR="64008" marT="27432" marB="27432" anchor="ctr">
                    <a:solidFill>
                      <a:srgbClr val="141B4D"/>
                    </a:solidFill>
                  </a:tcPr>
                </a:tc>
                <a:tc>
                  <a:txBody>
                    <a:bodyPr wrap="square"/>
                    <a:lstStyle/>
                    <a:p>
                      <a:r>
                        <a:rPr b="1" sz="1100" i="0">
                          <a:solidFill>
                            <a:srgbClr val="FFFFFF"/>
                          </a:solidFill>
                          <a:latin typeface="Calibri"/>
                        </a:rPr>
                        <a:t>Jun-21</a:t>
                      </a:r>
                    </a:p>
                  </a:txBody>
                  <a:tcPr marL="64008" marR="64008" marT="27432" marB="27432" anchor="ctr">
                    <a:solidFill>
                      <a:srgbClr val="141B4D"/>
                    </a:solidFill>
                  </a:tcPr>
                </a:tc>
                <a:tc>
                  <a:txBody>
                    <a:bodyPr wrap="square"/>
                    <a:lstStyle/>
                    <a:p>
                      <a:r>
                        <a:rPr b="1" sz="1100" i="0">
                          <a:solidFill>
                            <a:srgbClr val="FFFFFF"/>
                          </a:solidFill>
                          <a:latin typeface="Calibri"/>
                        </a:rPr>
                        <a:t>Sep-21</a:t>
                      </a:r>
                    </a:p>
                  </a:txBody>
                  <a:tcPr marL="64008" marR="64008" marT="27432" marB="27432" anchor="ctr">
                    <a:solidFill>
                      <a:srgbClr val="141B4D"/>
                    </a:solidFill>
                  </a:tcPr>
                </a:tc>
                <a:tc>
                  <a:txBody>
                    <a:bodyPr wrap="square"/>
                    <a:lstStyle/>
                    <a:p>
                      <a:r>
                        <a:rPr b="1" sz="1100" i="0">
                          <a:solidFill>
                            <a:srgbClr val="FFFFFF"/>
                          </a:solidFill>
                          <a:latin typeface="Calibri"/>
                        </a:rPr>
                        <a:t>Dec-21</a:t>
                      </a:r>
                    </a:p>
                  </a:txBody>
                  <a:tcPr marL="64008" marR="64008" marT="27432" marB="27432" anchor="ctr">
                    <a:solidFill>
                      <a:srgbClr val="141B4D"/>
                    </a:solidFill>
                  </a:tcPr>
                </a:tc>
                <a:tc>
                  <a:txBody>
                    <a:bodyPr wrap="square"/>
                    <a:lstStyle/>
                    <a:p>
                      <a:r>
                        <a:rPr b="1" sz="1100" i="0">
                          <a:solidFill>
                            <a:srgbClr val="FFFFFF"/>
                          </a:solidFill>
                          <a:latin typeface="Calibri"/>
                        </a:rPr>
                        <a:t>Total</a:t>
                      </a:r>
                    </a:p>
                  </a:txBody>
                  <a:tcPr marL="64008" marR="64008" marT="27432" marB="27432" anchor="ctr">
                    <a:solidFill>
                      <a:srgbClr val="141B4D"/>
                    </a:solidFill>
                  </a:tcPr>
                </a:tc>
              </a:tr>
              <a:tr h="365760">
                <a:tc>
                  <a:txBody>
                    <a:bodyPr wrap="square"/>
                    <a:lstStyle/>
                    <a:p>
                      <a:r>
                        <a:rPr b="1" sz="1100" i="0">
                          <a:solidFill>
                            <a:srgbClr val="1A2233"/>
                          </a:solidFill>
                          <a:latin typeface="Calibri"/>
                        </a:rPr>
                        <a:t>Hard cost</a:t>
                      </a:r>
                    </a:p>
                  </a:txBody>
                  <a:tcPr marL="64008" marR="64008" marT="27432" marB="27432" anchor="ctr">
                    <a:solidFill>
                      <a:srgbClr val="FFFFFF"/>
                    </a:solidFill>
                  </a:tcPr>
                </a:tc>
                <a:tc>
                  <a:txBody>
                    <a:bodyPr wrap="square"/>
                    <a:lstStyle/>
                    <a:p>
                      <a:r>
                        <a:rPr b="0" sz="1100" i="0">
                          <a:solidFill>
                            <a:srgbClr val="1A2233"/>
                          </a:solidFill>
                          <a:latin typeface="Calibri"/>
                        </a:rPr>
                        <a:t>4,742</a:t>
                      </a:r>
                    </a:p>
                  </a:txBody>
                  <a:tcPr marL="64008" marR="64008" marT="27432" marB="27432" anchor="ctr">
                    <a:solidFill>
                      <a:srgbClr val="FFFFFF"/>
                    </a:solidFill>
                  </a:tcPr>
                </a:tc>
                <a:tc>
                  <a:txBody>
                    <a:bodyPr wrap="square"/>
                    <a:lstStyle/>
                    <a:p>
                      <a:r>
                        <a:rPr b="0" sz="1100" i="0">
                          <a:solidFill>
                            <a:srgbClr val="1A2233"/>
                          </a:solidFill>
                          <a:latin typeface="Calibri"/>
                        </a:rPr>
                        <a:t>9,485</a:t>
                      </a:r>
                    </a:p>
                  </a:txBody>
                  <a:tcPr marL="64008" marR="64008" marT="27432" marB="27432" anchor="ctr">
                    <a:solidFill>
                      <a:srgbClr val="FFFFFF"/>
                    </a:solidFill>
                  </a:tcPr>
                </a:tc>
                <a:tc>
                  <a:txBody>
                    <a:bodyPr wrap="square"/>
                    <a:lstStyle/>
                    <a:p>
                      <a:r>
                        <a:rPr b="0" sz="1100" i="0">
                          <a:solidFill>
                            <a:srgbClr val="1A2233"/>
                          </a:solidFill>
                          <a:latin typeface="Calibri"/>
                        </a:rPr>
                        <a:t>14,228</a:t>
                      </a:r>
                    </a:p>
                  </a:txBody>
                  <a:tcPr marL="64008" marR="64008" marT="27432" marB="27432" anchor="ctr">
                    <a:solidFill>
                      <a:srgbClr val="FFFFFF"/>
                    </a:solidFill>
                  </a:tcPr>
                </a:tc>
                <a:tc>
                  <a:txBody>
                    <a:bodyPr wrap="square"/>
                    <a:lstStyle/>
                    <a:p>
                      <a:r>
                        <a:rPr b="0" sz="1100" i="0">
                          <a:solidFill>
                            <a:srgbClr val="1A2233"/>
                          </a:solidFill>
                          <a:latin typeface="Calibri"/>
                        </a:rPr>
                        <a:t>18,970</a:t>
                      </a:r>
                    </a:p>
                  </a:txBody>
                  <a:tcPr marL="64008" marR="64008" marT="27432" marB="27432" anchor="ctr">
                    <a:solidFill>
                      <a:srgbClr val="FFFFFF"/>
                    </a:solidFill>
                  </a:tcPr>
                </a:tc>
                <a:tc>
                  <a:txBody>
                    <a:bodyPr wrap="square"/>
                    <a:lstStyle/>
                    <a:p>
                      <a:r>
                        <a:rPr b="0" sz="1100" i="0">
                          <a:solidFill>
                            <a:srgbClr val="1A2233"/>
                          </a:solidFill>
                          <a:latin typeface="Calibri"/>
                        </a:rPr>
                        <a:t>18,970</a:t>
                      </a:r>
                    </a:p>
                  </a:txBody>
                  <a:tcPr marL="64008" marR="64008" marT="27432" marB="27432" anchor="ctr">
                    <a:solidFill>
                      <a:srgbClr val="FFFFFF"/>
                    </a:solidFill>
                  </a:tcPr>
                </a:tc>
                <a:tc>
                  <a:txBody>
                    <a:bodyPr wrap="square"/>
                    <a:lstStyle/>
                    <a:p>
                      <a:r>
                        <a:rPr b="0" sz="1100" i="0">
                          <a:solidFill>
                            <a:srgbClr val="1A2233"/>
                          </a:solidFill>
                          <a:latin typeface="Calibri"/>
                        </a:rPr>
                        <a:t>14,228</a:t>
                      </a:r>
                    </a:p>
                  </a:txBody>
                  <a:tcPr marL="64008" marR="64008" marT="27432" marB="27432" anchor="ctr">
                    <a:solidFill>
                      <a:srgbClr val="FFFFFF"/>
                    </a:solidFill>
                  </a:tcPr>
                </a:tc>
                <a:tc>
                  <a:txBody>
                    <a:bodyPr wrap="square"/>
                    <a:lstStyle/>
                    <a:p>
                      <a:r>
                        <a:rPr b="0" sz="1100" i="0">
                          <a:solidFill>
                            <a:srgbClr val="1A2233"/>
                          </a:solidFill>
                          <a:latin typeface="Calibri"/>
                        </a:rPr>
                        <a:t>9,485</a:t>
                      </a:r>
                    </a:p>
                  </a:txBody>
                  <a:tcPr marL="64008" marR="64008" marT="27432" marB="27432" anchor="ctr">
                    <a:solidFill>
                      <a:srgbClr val="FFFFFF"/>
                    </a:solidFill>
                  </a:tcPr>
                </a:tc>
                <a:tc>
                  <a:txBody>
                    <a:bodyPr wrap="square"/>
                    <a:lstStyle/>
                    <a:p>
                      <a:r>
                        <a:rPr b="0" sz="1100" i="0">
                          <a:solidFill>
                            <a:srgbClr val="1A2233"/>
                          </a:solidFill>
                          <a:latin typeface="Calibri"/>
                        </a:rPr>
                        <a:t>4,742</a:t>
                      </a:r>
                    </a:p>
                  </a:txBody>
                  <a:tcPr marL="64008" marR="64008" marT="27432" marB="27432" anchor="ctr">
                    <a:solidFill>
                      <a:srgbClr val="FFFFFF"/>
                    </a:solidFill>
                  </a:tcPr>
                </a:tc>
                <a:tc>
                  <a:txBody>
                    <a:bodyPr wrap="square"/>
                    <a:lstStyle/>
                    <a:p>
                      <a:r>
                        <a:rPr b="0" sz="1100" i="0">
                          <a:solidFill>
                            <a:srgbClr val="1A2233"/>
                          </a:solidFill>
                          <a:latin typeface="Calibri"/>
                        </a:rPr>
                        <a:t>94,850</a:t>
                      </a:r>
                    </a:p>
                  </a:txBody>
                  <a:tcPr marL="64008" marR="64008" marT="27432" marB="27432" anchor="ctr">
                    <a:solidFill>
                      <a:srgbClr val="FFFFFF"/>
                    </a:solidFill>
                  </a:tcPr>
                </a:tc>
              </a:tr>
              <a:tr h="365760">
                <a:tc>
                  <a:txBody>
                    <a:bodyPr wrap="square"/>
                    <a:lstStyle/>
                    <a:p>
                      <a:r>
                        <a:rPr b="1" sz="1100" i="0">
                          <a:solidFill>
                            <a:srgbClr val="1A2233"/>
                          </a:solidFill>
                          <a:latin typeface="Calibri"/>
                        </a:rPr>
                        <a:t>Upfront fee</a:t>
                      </a:r>
                    </a:p>
                  </a:txBody>
                  <a:tcPr marL="64008" marR="64008" marT="27432" marB="27432" anchor="ctr">
                    <a:solidFill>
                      <a:srgbClr val="F3F6F9"/>
                    </a:solidFill>
                  </a:tcPr>
                </a:tc>
                <a:tc>
                  <a:txBody>
                    <a:bodyPr wrap="square"/>
                    <a:lstStyle/>
                    <a:p>
                      <a:r>
                        <a:rPr b="0" sz="1100" i="0">
                          <a:solidFill>
                            <a:srgbClr val="1A2233"/>
                          </a:solidFill>
                          <a:latin typeface="Calibri"/>
                        </a:rPr>
                        <a:t>1,200</a:t>
                      </a:r>
                    </a:p>
                  </a:txBody>
                  <a:tcPr marL="64008" marR="64008" marT="27432" marB="27432" anchor="ctr">
                    <a:solidFill>
                      <a:srgbClr val="F3F6F9"/>
                    </a:solidFill>
                  </a:tcPr>
                </a:tc>
                <a:tc>
                  <a:txBody>
                    <a:bodyPr wrap="square"/>
                    <a:lstStyle/>
                    <a:p>
                      <a:r>
                        <a:rPr b="0" sz="1100" i="0">
                          <a:solidFill>
                            <a:srgbClr val="1A2233"/>
                          </a:solidFill>
                          <a:latin typeface="Calibri"/>
                        </a:rPr>
                        <a:t>0</a:t>
                      </a:r>
                    </a:p>
                  </a:txBody>
                  <a:tcPr marL="64008" marR="64008" marT="27432" marB="27432" anchor="ctr">
                    <a:solidFill>
                      <a:srgbClr val="F3F6F9"/>
                    </a:solidFill>
                  </a:tcPr>
                </a:tc>
                <a:tc>
                  <a:txBody>
                    <a:bodyPr wrap="square"/>
                    <a:lstStyle/>
                    <a:p>
                      <a:r>
                        <a:rPr b="0" sz="1100" i="0">
                          <a:solidFill>
                            <a:srgbClr val="1A2233"/>
                          </a:solidFill>
                          <a:latin typeface="Calibri"/>
                        </a:rPr>
                        <a:t>0</a:t>
                      </a:r>
                    </a:p>
                  </a:txBody>
                  <a:tcPr marL="64008" marR="64008" marT="27432" marB="27432" anchor="ctr">
                    <a:solidFill>
                      <a:srgbClr val="F3F6F9"/>
                    </a:solidFill>
                  </a:tcPr>
                </a:tc>
                <a:tc>
                  <a:txBody>
                    <a:bodyPr wrap="square"/>
                    <a:lstStyle/>
                    <a:p>
                      <a:r>
                        <a:rPr b="0" sz="1100" i="0">
                          <a:solidFill>
                            <a:srgbClr val="1A2233"/>
                          </a:solidFill>
                          <a:latin typeface="Calibri"/>
                        </a:rPr>
                        <a:t>0</a:t>
                      </a:r>
                    </a:p>
                  </a:txBody>
                  <a:tcPr marL="64008" marR="64008" marT="27432" marB="27432" anchor="ctr">
                    <a:solidFill>
                      <a:srgbClr val="F3F6F9"/>
                    </a:solidFill>
                  </a:tcPr>
                </a:tc>
                <a:tc>
                  <a:txBody>
                    <a:bodyPr wrap="square"/>
                    <a:lstStyle/>
                    <a:p>
                      <a:r>
                        <a:rPr b="0" sz="1100" i="0">
                          <a:solidFill>
                            <a:srgbClr val="1A2233"/>
                          </a:solidFill>
                          <a:latin typeface="Calibri"/>
                        </a:rPr>
                        <a:t>0</a:t>
                      </a:r>
                    </a:p>
                  </a:txBody>
                  <a:tcPr marL="64008" marR="64008" marT="27432" marB="27432" anchor="ctr">
                    <a:solidFill>
                      <a:srgbClr val="F3F6F9"/>
                    </a:solidFill>
                  </a:tcPr>
                </a:tc>
                <a:tc>
                  <a:txBody>
                    <a:bodyPr wrap="square"/>
                    <a:lstStyle/>
                    <a:p>
                      <a:r>
                        <a:rPr b="0" sz="1100" i="0">
                          <a:solidFill>
                            <a:srgbClr val="1A2233"/>
                          </a:solidFill>
                          <a:latin typeface="Calibri"/>
                        </a:rPr>
                        <a:t>0</a:t>
                      </a:r>
                    </a:p>
                  </a:txBody>
                  <a:tcPr marL="64008" marR="64008" marT="27432" marB="27432" anchor="ctr">
                    <a:solidFill>
                      <a:srgbClr val="F3F6F9"/>
                    </a:solidFill>
                  </a:tcPr>
                </a:tc>
                <a:tc>
                  <a:txBody>
                    <a:bodyPr wrap="square"/>
                    <a:lstStyle/>
                    <a:p>
                      <a:r>
                        <a:rPr b="0" sz="1100" i="0">
                          <a:solidFill>
                            <a:srgbClr val="1A2233"/>
                          </a:solidFill>
                          <a:latin typeface="Calibri"/>
                        </a:rPr>
                        <a:t>0</a:t>
                      </a:r>
                    </a:p>
                  </a:txBody>
                  <a:tcPr marL="64008" marR="64008" marT="27432" marB="27432" anchor="ctr">
                    <a:solidFill>
                      <a:srgbClr val="F3F6F9"/>
                    </a:solidFill>
                  </a:tcPr>
                </a:tc>
                <a:tc>
                  <a:txBody>
                    <a:bodyPr wrap="square"/>
                    <a:lstStyle/>
                    <a:p>
                      <a:r>
                        <a:rPr b="0" sz="1100" i="0">
                          <a:solidFill>
                            <a:srgbClr val="1A2233"/>
                          </a:solidFill>
                          <a:latin typeface="Calibri"/>
                        </a:rPr>
                        <a:t>0</a:t>
                      </a:r>
                    </a:p>
                  </a:txBody>
                  <a:tcPr marL="64008" marR="64008" marT="27432" marB="27432" anchor="ctr">
                    <a:solidFill>
                      <a:srgbClr val="F3F6F9"/>
                    </a:solidFill>
                  </a:tcPr>
                </a:tc>
                <a:tc>
                  <a:txBody>
                    <a:bodyPr wrap="square"/>
                    <a:lstStyle/>
                    <a:p>
                      <a:r>
                        <a:rPr b="0" sz="1100" i="0">
                          <a:solidFill>
                            <a:srgbClr val="1A2233"/>
                          </a:solidFill>
                          <a:latin typeface="Calibri"/>
                        </a:rPr>
                        <a:t>1,200</a:t>
                      </a:r>
                    </a:p>
                  </a:txBody>
                  <a:tcPr marL="64008" marR="64008" marT="27432" marB="27432" anchor="ctr">
                    <a:solidFill>
                      <a:srgbClr val="F3F6F9"/>
                    </a:solidFill>
                  </a:tcPr>
                </a:tc>
              </a:tr>
              <a:tr h="365760">
                <a:tc>
                  <a:txBody>
                    <a:bodyPr wrap="square"/>
                    <a:lstStyle/>
                    <a:p>
                      <a:r>
                        <a:rPr b="1" sz="1100" i="0">
                          <a:solidFill>
                            <a:srgbClr val="1A2233"/>
                          </a:solidFill>
                          <a:latin typeface="Calibri"/>
                        </a:rPr>
                        <a:t>IDC</a:t>
                      </a:r>
                    </a:p>
                  </a:txBody>
                  <a:tcPr marL="64008" marR="64008" marT="27432" marB="27432" anchor="ctr">
                    <a:solidFill>
                      <a:srgbClr val="FFFFFF"/>
                    </a:solidFill>
                  </a:tcPr>
                </a:tc>
                <a:tc>
                  <a:txBody>
                    <a:bodyPr wrap="square"/>
                    <a:lstStyle/>
                    <a:p>
                      <a:r>
                        <a:rPr b="0" sz="1100" i="0">
                          <a:solidFill>
                            <a:srgbClr val="1A2233"/>
                          </a:solidFill>
                          <a:latin typeface="Calibri"/>
                        </a:rPr>
                        <a:t>0</a:t>
                      </a:r>
                    </a:p>
                  </a:txBody>
                  <a:tcPr marL="64008" marR="64008" marT="27432" marB="27432" anchor="ctr">
                    <a:solidFill>
                      <a:srgbClr val="FFFFFF"/>
                    </a:solidFill>
                  </a:tcPr>
                </a:tc>
                <a:tc>
                  <a:txBody>
                    <a:bodyPr wrap="square"/>
                    <a:lstStyle/>
                    <a:p>
                      <a:r>
                        <a:rPr b="0" sz="1100" i="0">
                          <a:solidFill>
                            <a:srgbClr val="1A2233"/>
                          </a:solidFill>
                          <a:latin typeface="Calibri"/>
                        </a:rPr>
                        <a:t>60</a:t>
                      </a:r>
                    </a:p>
                  </a:txBody>
                  <a:tcPr marL="64008" marR="64008" marT="27432" marB="27432" anchor="ctr">
                    <a:solidFill>
                      <a:srgbClr val="FFFFFF"/>
                    </a:solidFill>
                  </a:tcPr>
                </a:tc>
                <a:tc>
                  <a:txBody>
                    <a:bodyPr wrap="square"/>
                    <a:lstStyle/>
                    <a:p>
                      <a:r>
                        <a:rPr b="0" sz="1100" i="0">
                          <a:solidFill>
                            <a:srgbClr val="1A2233"/>
                          </a:solidFill>
                          <a:latin typeface="Calibri"/>
                        </a:rPr>
                        <a:t>157</a:t>
                      </a:r>
                    </a:p>
                  </a:txBody>
                  <a:tcPr marL="64008" marR="64008" marT="27432" marB="27432" anchor="ctr">
                    <a:solidFill>
                      <a:srgbClr val="FFFFFF"/>
                    </a:solidFill>
                  </a:tcPr>
                </a:tc>
                <a:tc>
                  <a:txBody>
                    <a:bodyPr wrap="square"/>
                    <a:lstStyle/>
                    <a:p>
                      <a:r>
                        <a:rPr b="0" sz="1100" i="0">
                          <a:solidFill>
                            <a:srgbClr val="1A2233"/>
                          </a:solidFill>
                          <a:latin typeface="Calibri"/>
                        </a:rPr>
                        <a:t>301</a:t>
                      </a:r>
                    </a:p>
                  </a:txBody>
                  <a:tcPr marL="64008" marR="64008" marT="27432" marB="27432" anchor="ctr">
                    <a:solidFill>
                      <a:srgbClr val="FFFFFF"/>
                    </a:solidFill>
                  </a:tcPr>
                </a:tc>
                <a:tc>
                  <a:txBody>
                    <a:bodyPr wrap="square"/>
                    <a:lstStyle/>
                    <a:p>
                      <a:r>
                        <a:rPr b="0" sz="1100" i="0">
                          <a:solidFill>
                            <a:srgbClr val="1A2233"/>
                          </a:solidFill>
                          <a:latin typeface="Calibri"/>
                        </a:rPr>
                        <a:t>483</a:t>
                      </a:r>
                    </a:p>
                  </a:txBody>
                  <a:tcPr marL="64008" marR="64008" marT="27432" marB="27432" anchor="ctr">
                    <a:solidFill>
                      <a:srgbClr val="FFFFFF"/>
                    </a:solidFill>
                  </a:tcPr>
                </a:tc>
                <a:tc>
                  <a:txBody>
                    <a:bodyPr wrap="square"/>
                    <a:lstStyle/>
                    <a:p>
                      <a:r>
                        <a:rPr b="0" sz="1100" i="0">
                          <a:solidFill>
                            <a:srgbClr val="1A2233"/>
                          </a:solidFill>
                          <a:latin typeface="Calibri"/>
                        </a:rPr>
                        <a:t>681</a:t>
                      </a:r>
                    </a:p>
                  </a:txBody>
                  <a:tcPr marL="64008" marR="64008" marT="27432" marB="27432" anchor="ctr">
                    <a:solidFill>
                      <a:srgbClr val="FFFFFF"/>
                    </a:solidFill>
                  </a:tcPr>
                </a:tc>
                <a:tc>
                  <a:txBody>
                    <a:bodyPr wrap="square"/>
                    <a:lstStyle/>
                    <a:p>
                      <a:r>
                        <a:rPr b="0" sz="1100" i="0">
                          <a:solidFill>
                            <a:srgbClr val="1A2233"/>
                          </a:solidFill>
                          <a:latin typeface="Calibri"/>
                        </a:rPr>
                        <a:t>837</a:t>
                      </a:r>
                    </a:p>
                  </a:txBody>
                  <a:tcPr marL="64008" marR="64008" marT="27432" marB="27432" anchor="ctr">
                    <a:solidFill>
                      <a:srgbClr val="FFFFFF"/>
                    </a:solidFill>
                  </a:tcPr>
                </a:tc>
                <a:tc>
                  <a:txBody>
                    <a:bodyPr wrap="square"/>
                    <a:lstStyle/>
                    <a:p>
                      <a:r>
                        <a:rPr b="0" sz="1100" i="0">
                          <a:solidFill>
                            <a:srgbClr val="1A2233"/>
                          </a:solidFill>
                          <a:latin typeface="Calibri"/>
                        </a:rPr>
                        <a:t>940</a:t>
                      </a:r>
                    </a:p>
                  </a:txBody>
                  <a:tcPr marL="64008" marR="64008" marT="27432" marB="27432" anchor="ctr">
                    <a:solidFill>
                      <a:srgbClr val="FFFFFF"/>
                    </a:solidFill>
                  </a:tcPr>
                </a:tc>
                <a:tc>
                  <a:txBody>
                    <a:bodyPr wrap="square"/>
                    <a:lstStyle/>
                    <a:p>
                      <a:r>
                        <a:rPr b="0" sz="1100" i="0">
                          <a:solidFill>
                            <a:srgbClr val="1A2233"/>
                          </a:solidFill>
                          <a:latin typeface="Calibri"/>
                        </a:rPr>
                        <a:t>3,458</a:t>
                      </a:r>
                    </a:p>
                  </a:txBody>
                  <a:tcPr marL="64008" marR="64008" marT="27432" marB="27432" anchor="ctr">
                    <a:solidFill>
                      <a:srgbClr val="FFFFFF"/>
                    </a:solidFill>
                  </a:tcPr>
                </a:tc>
              </a:tr>
              <a:tr h="365760">
                <a:tc>
                  <a:txBody>
                    <a:bodyPr wrap="square"/>
                    <a:lstStyle/>
                    <a:p>
                      <a:r>
                        <a:rPr b="1" sz="1100" i="0">
                          <a:solidFill>
                            <a:srgbClr val="1A2233"/>
                          </a:solidFill>
                          <a:latin typeface="Calibri"/>
                        </a:rPr>
                        <a:t>Commitment fee</a:t>
                      </a:r>
                    </a:p>
                  </a:txBody>
                  <a:tcPr marL="64008" marR="64008" marT="27432" marB="27432" anchor="ctr">
                    <a:solidFill>
                      <a:srgbClr val="F3F6F9"/>
                    </a:solidFill>
                  </a:tcPr>
                </a:tc>
                <a:tc>
                  <a:txBody>
                    <a:bodyPr wrap="square"/>
                    <a:lstStyle/>
                    <a:p>
                      <a:r>
                        <a:rPr b="0" sz="1100" i="0">
                          <a:solidFill>
                            <a:srgbClr val="1A2233"/>
                          </a:solidFill>
                          <a:latin typeface="Calibri"/>
                        </a:rPr>
                        <a:t>114</a:t>
                      </a:r>
                    </a:p>
                  </a:txBody>
                  <a:tcPr marL="64008" marR="64008" marT="27432" marB="27432" anchor="ctr">
                    <a:solidFill>
                      <a:srgbClr val="F3F6F9"/>
                    </a:solidFill>
                  </a:tcPr>
                </a:tc>
                <a:tc>
                  <a:txBody>
                    <a:bodyPr wrap="square"/>
                    <a:lstStyle/>
                    <a:p>
                      <a:r>
                        <a:rPr b="0" sz="1100" i="0">
                          <a:solidFill>
                            <a:srgbClr val="1A2233"/>
                          </a:solidFill>
                          <a:latin typeface="Calibri"/>
                        </a:rPr>
                        <a:t>107</a:t>
                      </a:r>
                    </a:p>
                  </a:txBody>
                  <a:tcPr marL="64008" marR="64008" marT="27432" marB="27432" anchor="ctr">
                    <a:solidFill>
                      <a:srgbClr val="F3F6F9"/>
                    </a:solidFill>
                  </a:tcPr>
                </a:tc>
                <a:tc>
                  <a:txBody>
                    <a:bodyPr wrap="square"/>
                    <a:lstStyle/>
                    <a:p>
                      <a:r>
                        <a:rPr b="0" sz="1100" i="0">
                          <a:solidFill>
                            <a:srgbClr val="1A2233"/>
                          </a:solidFill>
                          <a:latin typeface="Calibri"/>
                        </a:rPr>
                        <a:t>97</a:t>
                      </a:r>
                    </a:p>
                  </a:txBody>
                  <a:tcPr marL="64008" marR="64008" marT="27432" marB="27432" anchor="ctr">
                    <a:solidFill>
                      <a:srgbClr val="F3F6F9"/>
                    </a:solidFill>
                  </a:tcPr>
                </a:tc>
                <a:tc>
                  <a:txBody>
                    <a:bodyPr wrap="square"/>
                    <a:lstStyle/>
                    <a:p>
                      <a:r>
                        <a:rPr b="0" sz="1100" i="0">
                          <a:solidFill>
                            <a:srgbClr val="1A2233"/>
                          </a:solidFill>
                          <a:latin typeface="Calibri"/>
                        </a:rPr>
                        <a:t>80</a:t>
                      </a:r>
                    </a:p>
                  </a:txBody>
                  <a:tcPr marL="64008" marR="64008" marT="27432" marB="27432" anchor="ctr">
                    <a:solidFill>
                      <a:srgbClr val="F3F6F9"/>
                    </a:solidFill>
                  </a:tcPr>
                </a:tc>
                <a:tc>
                  <a:txBody>
                    <a:bodyPr wrap="square"/>
                    <a:lstStyle/>
                    <a:p>
                      <a:r>
                        <a:rPr b="0" sz="1100" i="0">
                          <a:solidFill>
                            <a:srgbClr val="1A2233"/>
                          </a:solidFill>
                          <a:latin typeface="Calibri"/>
                        </a:rPr>
                        <a:t>57</a:t>
                      </a:r>
                    </a:p>
                  </a:txBody>
                  <a:tcPr marL="64008" marR="64008" marT="27432" marB="27432" anchor="ctr">
                    <a:solidFill>
                      <a:srgbClr val="F3F6F9"/>
                    </a:solidFill>
                  </a:tcPr>
                </a:tc>
                <a:tc>
                  <a:txBody>
                    <a:bodyPr wrap="square"/>
                    <a:lstStyle/>
                    <a:p>
                      <a:r>
                        <a:rPr b="0" sz="1100" i="0">
                          <a:solidFill>
                            <a:srgbClr val="1A2233"/>
                          </a:solidFill>
                          <a:latin typeface="Calibri"/>
                        </a:rPr>
                        <a:t>35</a:t>
                      </a:r>
                    </a:p>
                  </a:txBody>
                  <a:tcPr marL="64008" marR="64008" marT="27432" marB="27432" anchor="ctr">
                    <a:solidFill>
                      <a:srgbClr val="F3F6F9"/>
                    </a:solidFill>
                  </a:tcPr>
                </a:tc>
                <a:tc>
                  <a:txBody>
                    <a:bodyPr wrap="square"/>
                    <a:lstStyle/>
                    <a:p>
                      <a:r>
                        <a:rPr b="0" sz="1100" i="0">
                          <a:solidFill>
                            <a:srgbClr val="1A2233"/>
                          </a:solidFill>
                          <a:latin typeface="Calibri"/>
                        </a:rPr>
                        <a:t>18</a:t>
                      </a:r>
                    </a:p>
                  </a:txBody>
                  <a:tcPr marL="64008" marR="64008" marT="27432" marB="27432" anchor="ctr">
                    <a:solidFill>
                      <a:srgbClr val="F3F6F9"/>
                    </a:solidFill>
                  </a:tcPr>
                </a:tc>
                <a:tc>
                  <a:txBody>
                    <a:bodyPr wrap="square"/>
                    <a:lstStyle/>
                    <a:p>
                      <a:r>
                        <a:rPr b="0" sz="1100" i="0">
                          <a:solidFill>
                            <a:srgbClr val="1A2233"/>
                          </a:solidFill>
                          <a:latin typeface="Calibri"/>
                        </a:rPr>
                        <a:t>7</a:t>
                      </a:r>
                    </a:p>
                  </a:txBody>
                  <a:tcPr marL="64008" marR="64008" marT="27432" marB="27432" anchor="ctr">
                    <a:solidFill>
                      <a:srgbClr val="F3F6F9"/>
                    </a:solidFill>
                  </a:tcPr>
                </a:tc>
                <a:tc>
                  <a:txBody>
                    <a:bodyPr wrap="square"/>
                    <a:lstStyle/>
                    <a:p>
                      <a:r>
                        <a:rPr b="0" sz="1100" i="0">
                          <a:solidFill>
                            <a:srgbClr val="1A2233"/>
                          </a:solidFill>
                          <a:latin typeface="Calibri"/>
                        </a:rPr>
                        <a:t>515</a:t>
                      </a:r>
                    </a:p>
                  </a:txBody>
                  <a:tcPr marL="64008" marR="64008" marT="27432" marB="27432" anchor="ctr">
                    <a:solidFill>
                      <a:srgbClr val="F3F6F9"/>
                    </a:solidFill>
                  </a:tcPr>
                </a:tc>
              </a:tr>
              <a:tr h="365760">
                <a:tc>
                  <a:txBody>
                    <a:bodyPr wrap="square"/>
                    <a:lstStyle/>
                    <a:p>
                      <a:r>
                        <a:rPr b="1" sz="1100" i="0">
                          <a:solidFill>
                            <a:srgbClr val="1A2233"/>
                          </a:solidFill>
                          <a:latin typeface="Calibri"/>
                        </a:rPr>
                        <a:t>Total uses</a:t>
                      </a:r>
                    </a:p>
                  </a:txBody>
                  <a:tcPr marL="64008" marR="64008" marT="27432" marB="27432" anchor="ctr">
                    <a:solidFill>
                      <a:srgbClr val="FFFFFF"/>
                    </a:solidFill>
                  </a:tcPr>
                </a:tc>
                <a:tc>
                  <a:txBody>
                    <a:bodyPr wrap="square"/>
                    <a:lstStyle/>
                    <a:p>
                      <a:r>
                        <a:rPr b="0" sz="1100" i="0">
                          <a:solidFill>
                            <a:srgbClr val="1A2233"/>
                          </a:solidFill>
                          <a:latin typeface="Calibri"/>
                        </a:rPr>
                        <a:t>6,056</a:t>
                      </a:r>
                    </a:p>
                  </a:txBody>
                  <a:tcPr marL="64008" marR="64008" marT="27432" marB="27432" anchor="ctr">
                    <a:solidFill>
                      <a:srgbClr val="FFFFFF"/>
                    </a:solidFill>
                  </a:tcPr>
                </a:tc>
                <a:tc>
                  <a:txBody>
                    <a:bodyPr wrap="square"/>
                    <a:lstStyle/>
                    <a:p>
                      <a:r>
                        <a:rPr b="0" sz="1100" i="0">
                          <a:solidFill>
                            <a:srgbClr val="1A2233"/>
                          </a:solidFill>
                          <a:latin typeface="Calibri"/>
                        </a:rPr>
                        <a:t>9,652</a:t>
                      </a:r>
                    </a:p>
                  </a:txBody>
                  <a:tcPr marL="64008" marR="64008" marT="27432" marB="27432" anchor="ctr">
                    <a:solidFill>
                      <a:srgbClr val="FFFFFF"/>
                    </a:solidFill>
                  </a:tcPr>
                </a:tc>
                <a:tc>
                  <a:txBody>
                    <a:bodyPr wrap="square"/>
                    <a:lstStyle/>
                    <a:p>
                      <a:r>
                        <a:rPr b="0" sz="1100" i="0">
                          <a:solidFill>
                            <a:srgbClr val="1A2233"/>
                          </a:solidFill>
                          <a:latin typeface="Calibri"/>
                        </a:rPr>
                        <a:t>14,481</a:t>
                      </a:r>
                    </a:p>
                  </a:txBody>
                  <a:tcPr marL="64008" marR="64008" marT="27432" marB="27432" anchor="ctr">
                    <a:solidFill>
                      <a:srgbClr val="FFFFFF"/>
                    </a:solidFill>
                  </a:tcPr>
                </a:tc>
                <a:tc>
                  <a:txBody>
                    <a:bodyPr wrap="square"/>
                    <a:lstStyle/>
                    <a:p>
                      <a:r>
                        <a:rPr b="0" sz="1100" i="0">
                          <a:solidFill>
                            <a:srgbClr val="1A2233"/>
                          </a:solidFill>
                          <a:latin typeface="Calibri"/>
                        </a:rPr>
                        <a:t>19,351</a:t>
                      </a:r>
                    </a:p>
                  </a:txBody>
                  <a:tcPr marL="64008" marR="64008" marT="27432" marB="27432" anchor="ctr">
                    <a:solidFill>
                      <a:srgbClr val="FFFFFF"/>
                    </a:solidFill>
                  </a:tcPr>
                </a:tc>
                <a:tc>
                  <a:txBody>
                    <a:bodyPr wrap="square"/>
                    <a:lstStyle/>
                    <a:p>
                      <a:r>
                        <a:rPr b="0" sz="1100" i="0">
                          <a:solidFill>
                            <a:srgbClr val="1A2233"/>
                          </a:solidFill>
                          <a:latin typeface="Calibri"/>
                        </a:rPr>
                        <a:t>19,510</a:t>
                      </a:r>
                    </a:p>
                  </a:txBody>
                  <a:tcPr marL="64008" marR="64008" marT="27432" marB="27432" anchor="ctr">
                    <a:solidFill>
                      <a:srgbClr val="FFFFFF"/>
                    </a:solidFill>
                  </a:tcPr>
                </a:tc>
                <a:tc>
                  <a:txBody>
                    <a:bodyPr wrap="square"/>
                    <a:lstStyle/>
                    <a:p>
                      <a:r>
                        <a:rPr b="0" sz="1100" i="0">
                          <a:solidFill>
                            <a:srgbClr val="1A2233"/>
                          </a:solidFill>
                          <a:latin typeface="Calibri"/>
                        </a:rPr>
                        <a:t>14,943</a:t>
                      </a:r>
                    </a:p>
                  </a:txBody>
                  <a:tcPr marL="64008" marR="64008" marT="27432" marB="27432" anchor="ctr">
                    <a:solidFill>
                      <a:srgbClr val="FFFFFF"/>
                    </a:solidFill>
                  </a:tcPr>
                </a:tc>
                <a:tc>
                  <a:txBody>
                    <a:bodyPr wrap="square"/>
                    <a:lstStyle/>
                    <a:p>
                      <a:r>
                        <a:rPr b="0" sz="1100" i="0">
                          <a:solidFill>
                            <a:srgbClr val="1A2233"/>
                          </a:solidFill>
                          <a:latin typeface="Calibri"/>
                        </a:rPr>
                        <a:t>10,341</a:t>
                      </a:r>
                    </a:p>
                  </a:txBody>
                  <a:tcPr marL="64008" marR="64008" marT="27432" marB="27432" anchor="ctr">
                    <a:solidFill>
                      <a:srgbClr val="FFFFFF"/>
                    </a:solidFill>
                  </a:tcPr>
                </a:tc>
                <a:tc>
                  <a:txBody>
                    <a:bodyPr wrap="square"/>
                    <a:lstStyle/>
                    <a:p>
                      <a:r>
                        <a:rPr b="0" sz="1100" i="0">
                          <a:solidFill>
                            <a:srgbClr val="1A2233"/>
                          </a:solidFill>
                          <a:latin typeface="Calibri"/>
                        </a:rPr>
                        <a:t>5,689</a:t>
                      </a:r>
                    </a:p>
                  </a:txBody>
                  <a:tcPr marL="64008" marR="64008" marT="27432" marB="27432" anchor="ctr">
                    <a:solidFill>
                      <a:srgbClr val="FFFFFF"/>
                    </a:solidFill>
                  </a:tcPr>
                </a:tc>
                <a:tc>
                  <a:txBody>
                    <a:bodyPr wrap="square"/>
                    <a:lstStyle/>
                    <a:p>
                      <a:r>
                        <a:rPr b="0" sz="1100" i="0">
                          <a:solidFill>
                            <a:srgbClr val="1A2233"/>
                          </a:solidFill>
                          <a:latin typeface="Calibri"/>
                        </a:rPr>
                        <a:t>100,023</a:t>
                      </a:r>
                    </a:p>
                  </a:txBody>
                  <a:tcPr marL="64008" marR="64008" marT="27432" marB="27432" anchor="ctr">
                    <a:solidFill>
                      <a:srgbClr val="FFFFFF"/>
                    </a:solidFill>
                  </a:tcPr>
                </a:tc>
              </a:tr>
            </a:tbl>
          </a:graphicData>
        </a:graphic>
      </p:graphicFrame>
      <p:sp>
        <p:nvSpPr>
          <p:cNvPr id="12" name="Rectangle 11"/>
          <p:cNvSpPr/>
          <p:nvPr/>
        </p:nvSpPr>
        <p:spPr>
          <a:xfrm>
            <a:off x="548640" y="4114800"/>
            <a:ext cx="11064240" cy="73152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114800"/>
            <a:ext cx="82296" cy="73152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11480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Check: H39 = 100,022.9. If yours differs by a few hundred, check the day-count row 14 and the opening balance row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6.2: Build the cost, fee and interest blocks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Build Constr rows 17 to 39 with the inputs above and match the totals.</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Pull rows 17, 22 to 24, 28, 29</a:t>
            </a:r>
          </a:p>
          <a:p>
            <a:pPr>
              <a:spcAft>
                <a:spcPts val="300"/>
              </a:spcAft>
            </a:pPr>
            <a:r>
              <a:rPr b="0" sz="1500" i="0">
                <a:solidFill>
                  <a:srgbClr val="1A2233"/>
                </a:solidFill>
                <a:latin typeface="Calibri"/>
              </a:rPr>
              <a:t>2.  Spend (18, 19), upfront fee (25)</a:t>
            </a:r>
          </a:p>
          <a:p>
            <a:pPr>
              <a:spcAft>
                <a:spcPts val="300"/>
              </a:spcAft>
            </a:pPr>
            <a:r>
              <a:rPr b="0" sz="1500" i="0">
                <a:solidFill>
                  <a:srgbClr val="1A2233"/>
                </a:solidFill>
                <a:latin typeface="Calibri"/>
              </a:rPr>
              <a:t>3.  IDC (30, 31) and commitment fee (32): note row 30 points to row 49, which you build next</a:t>
            </a:r>
          </a:p>
          <a:p>
            <a:pPr>
              <a:spcAft>
                <a:spcPts val="300"/>
              </a:spcAft>
            </a:pPr>
            <a:r>
              <a:rPr b="0" sz="1500" i="0">
                <a:solidFill>
                  <a:srgbClr val="1A2233"/>
                </a:solidFill>
                <a:latin typeface="Calibri"/>
              </a:rPr>
              <a:t>4.  Uses rows 35 to 39</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35 min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6  |  Wed 21 Oct 2026  |  Project finance modelling I: construction and funding</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29</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12.00 – 14.00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4: Sources of funds</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Debt and equity fund the uses. Pro-rata drawdown, check, balance.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Sources of funds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2000" i="0">
                <a:solidFill>
                  <a:srgbClr val="1A2233"/>
                </a:solidFill>
                <a:latin typeface="Calibri"/>
              </a:rPr>
              <a:t>Every dollar of uses is funded by lenders (debt) or shareholders (equity). With pro-rata drawdown the split is the same in every quarter: 60% debt, 40% equity.</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Debt drawn = Gearing × Uses;  Equity drawn = Uses − Debt drawn</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Quarter 1 uses = 6,056.2 → debt 3,633.8 + equity 2,422.5</a:t>
            </a:r>
          </a:p>
          <a:p>
            <a:pPr algn="l"/>
            <a:r>
              <a:rPr b="0" sz="1600" i="0">
                <a:solidFill>
                  <a:srgbClr val="1A2233"/>
                </a:solidFill>
                <a:latin typeface="Calibri"/>
              </a:rPr>
              <a:t>Totals: uses 100,022.9 = debt 60,013.8 + equity 40,009.2</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Pro-rata is simple and transparent; lenders often prefer equity first, which we compare on Day 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Constr!J45: equity drawdown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Constr</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J45  (to CO45)</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Equity drawdown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1600" i="0">
                <a:solidFill>
                  <a:srgbClr val="141B4D"/>
                </a:solidFill>
                <a:latin typeface="Consolas"/>
              </a:rPr>
              <a:t>=IF($F$43=1,J39*(1-$F$42),MIN(J39,$F$44-SUM($I45:I45)))</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100" i="0">
                <a:solidFill>
                  <a:srgbClr val="1A2233"/>
                </a:solidFill>
                <a:latin typeface="Calibri"/>
              </a:rPr>
              <a:t>▪ If the drawdown method is 1 (pro-rata): equity = uses × (1 − gearing)</a:t>
            </a:r>
          </a:p>
          <a:p>
            <a:pPr algn="l"/>
            <a:r>
              <a:rPr b="0" sz="1100" i="0">
                <a:solidFill>
                  <a:srgbClr val="1A2233"/>
                </a:solidFill>
                <a:latin typeface="Calibri"/>
              </a:rPr>
              <a:t>▪ Otherwise (method 2, equity first): equity = uses, capped by the equity still uncalled (equity commitment − equity drawn so far)</a:t>
            </a:r>
          </a:p>
          <a:p>
            <a:pPr algn="l"/>
            <a:r>
              <a:rPr b="0" sz="1100" i="0">
                <a:solidFill>
                  <a:srgbClr val="1A2233"/>
                </a:solidFill>
                <a:latin typeface="Calibri"/>
              </a:rPr>
              <a:t>▪ </a:t>
            </a:r>
            <a:r>
              <a:rPr b="0" sz="1100" i="0">
                <a:solidFill>
                  <a:srgbClr val="0B5E82"/>
                </a:solidFill>
                <a:latin typeface="Consolas"/>
              </a:rPr>
              <a:t>SUM($I45:I45)</a:t>
            </a:r>
            <a:r>
              <a:rPr b="0" sz="1100" i="0">
                <a:solidFill>
                  <a:srgbClr val="1A2233"/>
                </a:solidFill>
                <a:latin typeface="Calibri"/>
              </a:rPr>
              <a:t> is an expanding total of previous quarters</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F42 = gearing InpC!F72</a:t>
            </a:r>
          </a:p>
          <a:p>
            <a:pPr algn="l"/>
            <a:r>
              <a:rPr b="0" sz="1300" i="0">
                <a:solidFill>
                  <a:srgbClr val="1A2233"/>
                </a:solidFill>
                <a:latin typeface="Consolas"/>
              </a:rPr>
              <a:t>F43 = method switch</a:t>
            </a:r>
          </a:p>
          <a:p>
            <a:pPr algn="l"/>
            <a:r>
              <a:rPr b="0" sz="1300" i="0">
                <a:solidFill>
                  <a:srgbClr val="1A2233"/>
                </a:solidFill>
                <a:latin typeface="Consolas"/>
              </a:rPr>
              <a:t>F44 = equity commitment</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J45:Q45,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J45:Q45,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J45 → CO45</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H45 = 40,009.2 equity; J45 = 2,422.5</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One switch changes the whole funding pattern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Constr!J46: senior debt drawdown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Constr</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J46  (to CO46)</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Senior debt drawdown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=J39-J45</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Debt = uses − equity</a:t>
            </a:r>
          </a:p>
          <a:p>
            <a:pPr algn="l"/>
            <a:r>
              <a:rPr b="0" sz="1500" i="0">
                <a:solidFill>
                  <a:srgbClr val="1A2233"/>
                </a:solidFill>
                <a:latin typeface="Calibri"/>
              </a:rPr>
              <a:t>▪ Makes sources equal uses by construction</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J46:Q46,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J46:Q46,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J46 → CO46</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H46 = 60,013.8 debt drawn</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Debt is the balancing figure after equity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Constr!J47: total sources of funds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Constr</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J47  (to CO47)</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Total sources of funds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=J45+J46</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Equity + debt</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J47:Q47,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J47:Q47,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J47 → CO47</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H47 = 100,022.9</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Total sources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Constr!J48: sources less uses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Constr</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J48  (to CO48)</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Sources less uses (check)  (check)</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=J47-J39</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Sources − uses: must be zero in every quarter</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J48:Q48,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J48:Q48,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267462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J48 → CO48</a:t>
            </a:r>
          </a:p>
        </p:txBody>
      </p:sp>
      <p:sp>
        <p:nvSpPr>
          <p:cNvPr id="24" name="Rectangle 23"/>
          <p:cNvSpPr/>
          <p:nvPr/>
        </p:nvSpPr>
        <p:spPr>
          <a:xfrm>
            <a:off x="3314700" y="5596128"/>
            <a:ext cx="267462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H48 = 0</a:t>
            </a:r>
          </a:p>
        </p:txBody>
      </p:sp>
      <p:sp>
        <p:nvSpPr>
          <p:cNvPr id="25" name="Rectangle 24"/>
          <p:cNvSpPr/>
          <p:nvPr/>
        </p:nvSpPr>
        <p:spPr>
          <a:xfrm>
            <a:off x="6080759" y="5596128"/>
            <a:ext cx="2674620" cy="749808"/>
          </a:xfrm>
          <a:prstGeom prst="rect">
            <a:avLst/>
          </a:prstGeom>
          <a:solidFill>
            <a:srgbClr val="FCE8E6"/>
          </a:solidFill>
          <a:ln w="1270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CHECK</a:t>
            </a:r>
            <a:r>
              <a:rPr b="0" sz="1200" i="0">
                <a:solidFill>
                  <a:srgbClr val="1A2233"/>
                </a:solidFill>
                <a:latin typeface="Calibri"/>
              </a:rPr>
              <a:t>  Non-zero means rows 45 or 46 are wrong</a:t>
            </a:r>
          </a:p>
        </p:txBody>
      </p:sp>
      <p:sp>
        <p:nvSpPr>
          <p:cNvPr id="26" name="Rectangle 25"/>
          <p:cNvSpPr/>
          <p:nvPr/>
        </p:nvSpPr>
        <p:spPr>
          <a:xfrm>
            <a:off x="8846819" y="5596128"/>
            <a:ext cx="267462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The most important check on this sheet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Constr!J49: senior debt balance END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Constr</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J49  (to CO49)</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Senior debt balance END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=J30+J46</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Closing debt = opening debt (row 30) + this quarter's drawdown</a:t>
            </a:r>
          </a:p>
          <a:p>
            <a:pPr algn="l"/>
            <a:r>
              <a:rPr b="0" sz="1500" i="0">
                <a:solidFill>
                  <a:srgbClr val="1A2233"/>
                </a:solidFill>
                <a:latin typeface="Calibri"/>
              </a:rPr>
              <a:t>▪ Row 30 </a:t>
            </a:r>
            <a:r>
              <a:rPr b="0" sz="1500" i="0">
                <a:solidFill>
                  <a:srgbClr val="0B5E82"/>
                </a:solidFill>
                <a:latin typeface="Consolas"/>
              </a:rPr>
              <a:t>=I49</a:t>
            </a:r>
            <a:r>
              <a:rPr b="0" sz="1500" i="0">
                <a:solidFill>
                  <a:srgbClr val="1A2233"/>
                </a:solidFill>
                <a:latin typeface="Calibri"/>
              </a:rPr>
              <a:t> links back to the previous quarter's closing balance</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J49:Q49,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J49:Q49,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J49 → CO49</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Q49 = 60,013.8 (debt at COD)</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Roll-forward again: closing = opening + additions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SOURCES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Sources of funds by quarter (US$ thousands, pro-rata)</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548640" y="1508760"/>
          <a:ext cx="10881360" cy="4297680"/>
        </p:xfrm>
        <a:graphic>
          <a:graphicData uri="http://schemas.openxmlformats.org/drawingml/2006/chart">
            <c:chart xmlns:c="http://schemas.openxmlformats.org/drawingml/2006/chart" r:id="rId5"/>
          </a:graphicData>
        </a:graphic>
      </p:graphicFrame>
      <p:sp>
        <p:nvSpPr>
          <p:cNvPr id="12" name="TextBox 11"/>
          <p:cNvSpPr txBox="1"/>
          <p:nvPr/>
        </p:nvSpPr>
        <p:spPr>
          <a:xfrm>
            <a:off x="548640" y="5852159"/>
            <a:ext cx="11064240" cy="502920"/>
          </a:xfrm>
          <a:prstGeom prst="rect">
            <a:avLst/>
          </a:prstGeom>
          <a:noFill/>
        </p:spPr>
        <p:txBody>
          <a:bodyPr wrap="square" lIns="45720" rIns="45720" tIns="27432" bIns="27432" anchor="t">
            <a:spAutoFit/>
          </a:bodyPr>
          <a:lstStyle/>
          <a:p>
            <a:pPr algn="l"/>
            <a:r>
              <a:rPr b="0" sz="1300" i="1">
                <a:solidFill>
                  <a:srgbClr val="5C6B7A"/>
                </a:solidFill>
                <a:latin typeface="Calibri"/>
              </a:rPr>
              <a:t>Debt 60% / equity 40% of total uses of 100,023. Debt balance builds to 60,014 at COD.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6.3: Build sources and prove they match uses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Build rows 42 to 49 and rows 30, 31.</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Pull F42 to F44</a:t>
            </a:r>
          </a:p>
          <a:p>
            <a:pPr>
              <a:spcAft>
                <a:spcPts val="300"/>
              </a:spcAft>
            </a:pPr>
            <a:r>
              <a:rPr b="0" sz="1500" i="0">
                <a:solidFill>
                  <a:srgbClr val="1A2233"/>
                </a:solidFill>
                <a:latin typeface="Calibri"/>
              </a:rPr>
              <a:t>2.  Equity, debt, total, check (45 to 48)</a:t>
            </a:r>
          </a:p>
          <a:p>
            <a:pPr>
              <a:spcAft>
                <a:spcPts val="300"/>
              </a:spcAft>
            </a:pPr>
            <a:r>
              <a:rPr b="0" sz="1500" i="0">
                <a:solidFill>
                  <a:srgbClr val="1A2233"/>
                </a:solidFill>
                <a:latin typeface="Calibri"/>
              </a:rPr>
              <a:t>3.  Debt balance (49) and the opening balance link (30)</a:t>
            </a:r>
          </a:p>
          <a:p>
            <a:pPr>
              <a:spcAft>
                <a:spcPts val="300"/>
              </a:spcAft>
            </a:pPr>
            <a:r>
              <a:rPr b="0" sz="1500" i="0">
                <a:solidFill>
                  <a:srgbClr val="1A2233"/>
                </a:solidFill>
                <a:latin typeface="Calibri"/>
              </a:rPr>
              <a:t>4.  Switch InpC!L133 to 2 and watch what happens, then restore to 1</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30 min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6  |  Wed 21 Oct 2026  |  Project finance modelling I: construction and funding</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38</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14.45 – 15.45</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5: Opening balances and linking to the operating model</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Three re-pointing steps connect construction to operations.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OPENING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Opening balances at financial close (COD)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35530"/>
        </p:xfrm>
        <a:graphic>
          <a:graphicData uri="http://schemas.openxmlformats.org/drawingml/2006/table">
            <a:tbl>
              <a:tblPr firstRow="1" bandRow="1">
                <a:tableStyleId>{5C22544A-7EE6-4342-B048-85BDC9FD1C3A}</a:tableStyleId>
              </a:tblPr>
              <a:tblGrid>
                <a:gridCol w="3840480"/>
                <a:gridCol w="2743200"/>
                <a:gridCol w="2377440"/>
                <a:gridCol w="2103120"/>
              </a:tblGrid>
              <a:tr h="384048">
                <a:tc>
                  <a:txBody>
                    <a:bodyPr wrap="square"/>
                    <a:lstStyle/>
                    <a:p>
                      <a:r>
                        <a:rPr b="1" sz="1300" i="0">
                          <a:solidFill>
                            <a:srgbClr val="FFFFFF"/>
                          </a:solidFill>
                          <a:latin typeface="Calibri"/>
                        </a:rPr>
                        <a:t>Item</a:t>
                      </a:r>
                    </a:p>
                  </a:txBody>
                  <a:tcPr marL="64008" marR="64008" marT="27432" marB="27432" anchor="ctr">
                    <a:solidFill>
                      <a:srgbClr val="141B4D"/>
                    </a:solidFill>
                  </a:tcPr>
                </a:tc>
                <a:tc>
                  <a:txBody>
                    <a:bodyPr wrap="square"/>
                    <a:lstStyle/>
                    <a:p>
                      <a:r>
                        <a:rPr b="1" sz="1300" i="0">
                          <a:solidFill>
                            <a:srgbClr val="FFFFFF"/>
                          </a:solidFill>
                          <a:latin typeface="Calibri"/>
                        </a:rPr>
                        <a:t>Constr cell</a:t>
                      </a:r>
                    </a:p>
                  </a:txBody>
                  <a:tcPr marL="64008" marR="64008" marT="27432" marB="27432" anchor="ctr">
                    <a:solidFill>
                      <a:srgbClr val="141B4D"/>
                    </a:solidFill>
                  </a:tcPr>
                </a:tc>
                <a:tc>
                  <a:txBody>
                    <a:bodyPr wrap="square"/>
                    <a:lstStyle/>
                    <a:p>
                      <a:r>
                        <a:rPr b="1" sz="1300" i="0">
                          <a:solidFill>
                            <a:srgbClr val="FFFFFF"/>
                          </a:solidFill>
                          <a:latin typeface="Calibri"/>
                        </a:rPr>
                        <a:t>Teaching value ($000s)</a:t>
                      </a:r>
                    </a:p>
                  </a:txBody>
                  <a:tcPr marL="64008" marR="64008" marT="27432" marB="27432" anchor="ctr">
                    <a:solidFill>
                      <a:srgbClr val="141B4D"/>
                    </a:solidFill>
                  </a:tcPr>
                </a:tc>
                <a:tc>
                  <a:txBody>
                    <a:bodyPr wrap="square"/>
                    <a:lstStyle/>
                    <a:p>
                      <a:r>
                        <a:rPr b="1" sz="1300" i="0">
                          <a:solidFill>
                            <a:srgbClr val="FFFFFF"/>
                          </a:solidFill>
                          <a:latin typeface="Calibri"/>
                        </a:rPr>
                        <a:t>Replaces</a:t>
                      </a:r>
                    </a:p>
                  </a:txBody>
                  <a:tcPr marL="64008" marR="64008" marT="27432" marB="27432" anchor="ctr">
                    <a:solidFill>
                      <a:srgbClr val="141B4D"/>
                    </a:solidFill>
                  </a:tcPr>
                </a:tc>
              </a:tr>
              <a:tr h="522478">
                <a:tc>
                  <a:txBody>
                    <a:bodyPr wrap="square"/>
                    <a:lstStyle/>
                    <a:p>
                      <a:r>
                        <a:rPr b="1" sz="1300" i="0">
                          <a:solidFill>
                            <a:srgbClr val="1A2233"/>
                          </a:solidFill>
                          <a:latin typeface="Calibri"/>
                        </a:rPr>
                        <a:t>Capitalised project cost (asset base)</a:t>
                      </a:r>
                    </a:p>
                  </a:txBody>
                  <a:tcPr marL="64008" marR="64008" marT="27432" marB="27432" anchor="ctr">
                    <a:solidFill>
                      <a:srgbClr val="FFFFFF"/>
                    </a:solidFill>
                  </a:tcPr>
                </a:tc>
                <a:tc>
                  <a:txBody>
                    <a:bodyPr wrap="square"/>
                    <a:lstStyle/>
                    <a:p>
                      <a:r>
                        <a:rPr b="0" sz="1300" i="0">
                          <a:solidFill>
                            <a:srgbClr val="1A2233"/>
                          </a:solidFill>
                          <a:latin typeface="Consolas"/>
                        </a:rPr>
                        <a:t>F52 = H39</a:t>
                      </a:r>
                    </a:p>
                  </a:txBody>
                  <a:tcPr marL="64008" marR="64008" marT="27432" marB="27432" anchor="ctr">
                    <a:solidFill>
                      <a:srgbClr val="FFFFFF"/>
                    </a:solidFill>
                  </a:tcPr>
                </a:tc>
                <a:tc>
                  <a:txBody>
                    <a:bodyPr wrap="square"/>
                    <a:lstStyle/>
                    <a:p>
                      <a:r>
                        <a:rPr b="0" sz="1300" i="0">
                          <a:solidFill>
                            <a:srgbClr val="1A2233"/>
                          </a:solidFill>
                          <a:latin typeface="Calibri"/>
                        </a:rPr>
                        <a:t>100,022.9</a:t>
                      </a:r>
                    </a:p>
                  </a:txBody>
                  <a:tcPr marL="64008" marR="64008" marT="27432" marB="27432" anchor="ctr">
                    <a:solidFill>
                      <a:srgbClr val="FFFFFF"/>
                    </a:solidFill>
                  </a:tcPr>
                </a:tc>
                <a:tc>
                  <a:txBody>
                    <a:bodyPr wrap="square"/>
                    <a:lstStyle/>
                    <a:p>
                      <a:r>
                        <a:rPr b="0" sz="1300" i="0">
                          <a:solidFill>
                            <a:srgbClr val="1A2233"/>
                          </a:solidFill>
                          <a:latin typeface="Calibri"/>
                        </a:rPr>
                        <a:t>InpC row 64: typed 100,000</a:t>
                      </a:r>
                    </a:p>
                  </a:txBody>
                  <a:tcPr marL="64008" marR="64008" marT="27432" marB="27432" anchor="ctr">
                    <a:solidFill>
                      <a:srgbClr val="FFFFFF"/>
                    </a:solidFill>
                  </a:tcPr>
                </a:tc>
              </a:tr>
              <a:tr h="522478">
                <a:tc>
                  <a:txBody>
                    <a:bodyPr wrap="square"/>
                    <a:lstStyle/>
                    <a:p>
                      <a:r>
                        <a:rPr b="1" sz="1300" i="0">
                          <a:solidFill>
                            <a:srgbClr val="1A2233"/>
                          </a:solidFill>
                          <a:latin typeface="Calibri"/>
                        </a:rPr>
                        <a:t>Senior debt at COD</a:t>
                      </a:r>
                    </a:p>
                  </a:txBody>
                  <a:tcPr marL="64008" marR="64008" marT="27432" marB="27432" anchor="ctr">
                    <a:solidFill>
                      <a:srgbClr val="F3F6F9"/>
                    </a:solidFill>
                  </a:tcPr>
                </a:tc>
                <a:tc>
                  <a:txBody>
                    <a:bodyPr wrap="square"/>
                    <a:lstStyle/>
                    <a:p>
                      <a:r>
                        <a:rPr b="0" sz="1300" i="0">
                          <a:solidFill>
                            <a:srgbClr val="1A2233"/>
                          </a:solidFill>
                          <a:latin typeface="Consolas"/>
                        </a:rPr>
                        <a:t>F53 = Q49</a:t>
                      </a:r>
                    </a:p>
                  </a:txBody>
                  <a:tcPr marL="64008" marR="64008" marT="27432" marB="27432" anchor="ctr">
                    <a:solidFill>
                      <a:srgbClr val="F3F6F9"/>
                    </a:solidFill>
                  </a:tcPr>
                </a:tc>
                <a:tc>
                  <a:txBody>
                    <a:bodyPr wrap="square"/>
                    <a:lstStyle/>
                    <a:p>
                      <a:r>
                        <a:rPr b="0" sz="1300" i="0">
                          <a:solidFill>
                            <a:srgbClr val="1A2233"/>
                          </a:solidFill>
                          <a:latin typeface="Calibri"/>
                        </a:rPr>
                        <a:t>60,013.8</a:t>
                      </a:r>
                    </a:p>
                  </a:txBody>
                  <a:tcPr marL="64008" marR="64008" marT="27432" marB="27432" anchor="ctr">
                    <a:solidFill>
                      <a:srgbClr val="F3F6F9"/>
                    </a:solidFill>
                  </a:tcPr>
                </a:tc>
                <a:tc>
                  <a:txBody>
                    <a:bodyPr wrap="square"/>
                    <a:lstStyle/>
                    <a:p>
                      <a:r>
                        <a:rPr b="0" sz="1300" i="0">
                          <a:solidFill>
                            <a:srgbClr val="1A2233"/>
                          </a:solidFill>
                          <a:latin typeface="Calibri"/>
                        </a:rPr>
                        <a:t>Debt!F11: 60% × asset base</a:t>
                      </a:r>
                    </a:p>
                  </a:txBody>
                  <a:tcPr marL="64008" marR="64008" marT="27432" marB="27432" anchor="ctr">
                    <a:solidFill>
                      <a:srgbClr val="F3F6F9"/>
                    </a:solidFill>
                  </a:tcPr>
                </a:tc>
              </a:tr>
              <a:tr h="522478">
                <a:tc>
                  <a:txBody>
                    <a:bodyPr wrap="square"/>
                    <a:lstStyle/>
                    <a:p>
                      <a:r>
                        <a:rPr b="1" sz="1300" i="0">
                          <a:solidFill>
                            <a:srgbClr val="1A2233"/>
                          </a:solidFill>
                          <a:latin typeface="Calibri"/>
                        </a:rPr>
                        <a:t>Sponsor funding at COD (equity)</a:t>
                      </a:r>
                    </a:p>
                  </a:txBody>
                  <a:tcPr marL="64008" marR="64008" marT="27432" marB="27432" anchor="ctr">
                    <a:solidFill>
                      <a:srgbClr val="FFFFFF"/>
                    </a:solidFill>
                  </a:tcPr>
                </a:tc>
                <a:tc>
                  <a:txBody>
                    <a:bodyPr wrap="square"/>
                    <a:lstStyle/>
                    <a:p>
                      <a:r>
                        <a:rPr b="0" sz="1300" i="0">
                          <a:solidFill>
                            <a:srgbClr val="1A2233"/>
                          </a:solidFill>
                          <a:latin typeface="Consolas"/>
                        </a:rPr>
                        <a:t>F54 = H45</a:t>
                      </a:r>
                    </a:p>
                  </a:txBody>
                  <a:tcPr marL="64008" marR="64008" marT="27432" marB="27432" anchor="ctr">
                    <a:solidFill>
                      <a:srgbClr val="FFFFFF"/>
                    </a:solidFill>
                  </a:tcPr>
                </a:tc>
                <a:tc>
                  <a:txBody>
                    <a:bodyPr wrap="square"/>
                    <a:lstStyle/>
                    <a:p>
                      <a:r>
                        <a:rPr b="0" sz="1300" i="0">
                          <a:solidFill>
                            <a:srgbClr val="1A2233"/>
                          </a:solidFill>
                          <a:latin typeface="Calibri"/>
                        </a:rPr>
                        <a:t>40,009.2</a:t>
                      </a:r>
                    </a:p>
                  </a:txBody>
                  <a:tcPr marL="64008" marR="64008" marT="27432" marB="27432" anchor="ctr">
                    <a:solidFill>
                      <a:srgbClr val="FFFFFF"/>
                    </a:solidFill>
                  </a:tcPr>
                </a:tc>
                <a:tc>
                  <a:txBody>
                    <a:bodyPr wrap="square"/>
                    <a:lstStyle/>
                    <a:p>
                      <a:r>
                        <a:rPr b="0" sz="1300" i="0">
                          <a:solidFill>
                            <a:srgbClr val="1A2233"/>
                          </a:solidFill>
                          <a:latin typeface="Calibri"/>
                        </a:rPr>
                        <a:t>Equity!F16: 40% × asset base</a:t>
                      </a:r>
                    </a:p>
                  </a:txBody>
                  <a:tcPr marL="64008" marR="64008" marT="27432" marB="27432" anchor="ctr">
                    <a:solidFill>
                      <a:srgbClr val="FFFFFF"/>
                    </a:solidFill>
                  </a:tcPr>
                </a:tc>
              </a:tr>
              <a:tr h="384048">
                <a:tc>
                  <a:txBody>
                    <a:bodyPr wrap="square"/>
                    <a:lstStyle/>
                    <a:p>
                      <a:r>
                        <a:rPr b="1" sz="1300" i="0">
                          <a:solidFill>
                            <a:srgbClr val="1A2233"/>
                          </a:solidFill>
                          <a:latin typeface="Calibri"/>
                        </a:rPr>
                        <a:t>Check: cost − debt − equity</a:t>
                      </a:r>
                    </a:p>
                  </a:txBody>
                  <a:tcPr marL="64008" marR="64008" marT="27432" marB="27432" anchor="ctr">
                    <a:solidFill>
                      <a:srgbClr val="F3F6F9"/>
                    </a:solidFill>
                  </a:tcPr>
                </a:tc>
                <a:tc>
                  <a:txBody>
                    <a:bodyPr wrap="square"/>
                    <a:lstStyle/>
                    <a:p>
                      <a:r>
                        <a:rPr b="0" sz="1300" i="0">
                          <a:solidFill>
                            <a:srgbClr val="1A2233"/>
                          </a:solidFill>
                          <a:latin typeface="Consolas"/>
                        </a:rPr>
                        <a:t>F55 = F52 − F53 − F54</a:t>
                      </a:r>
                    </a:p>
                  </a:txBody>
                  <a:tcPr marL="64008" marR="64008" marT="27432" marB="27432" anchor="ctr">
                    <a:solidFill>
                      <a:srgbClr val="F3F6F9"/>
                    </a:solidFill>
                  </a:tcPr>
                </a:tc>
                <a:tc>
                  <a:txBody>
                    <a:bodyPr wrap="square"/>
                    <a:lstStyle/>
                    <a:p>
                      <a:r>
                        <a:rPr b="0" sz="1300" i="0">
                          <a:solidFill>
                            <a:srgbClr val="1A2233"/>
                          </a:solidFill>
                          <a:latin typeface="Calibri"/>
                        </a:rPr>
                        <a:t>0</a:t>
                      </a:r>
                    </a:p>
                  </a:txBody>
                  <a:tcPr marL="64008" marR="64008" marT="27432" marB="27432" anchor="ctr">
                    <a:solidFill>
                      <a:srgbClr val="F3F6F9"/>
                    </a:solidFill>
                  </a:tcPr>
                </a:tc>
                <a:tc>
                  <a:txBody>
                    <a:bodyPr wrap="square"/>
                    <a:lstStyle/>
                    <a:p>
                      <a:r>
                        <a:rPr b="0" sz="1300" i="0">
                          <a:solidFill>
                            <a:srgbClr val="1A2233"/>
                          </a:solidFill>
                          <a:latin typeface="Calibri"/>
                        </a:rPr>
                        <a:t>n/a</a:t>
                      </a:r>
                    </a:p>
                  </a:txBody>
                  <a:tcPr marL="64008" marR="64008" marT="27432" marB="27432" anchor="ctr">
                    <a:solidFill>
                      <a:srgbClr val="F3F6F9"/>
                    </a:solidFill>
                  </a:tcPr>
                </a:tc>
              </a:tr>
            </a:tbl>
          </a:graphicData>
        </a:graphic>
      </p:graphicFrame>
      <p:sp>
        <p:nvSpPr>
          <p:cNvPr id="12" name="Rectangle 11"/>
          <p:cNvSpPr/>
          <p:nvPr/>
        </p:nvSpPr>
        <p:spPr>
          <a:xfrm>
            <a:off x="548640" y="4027170"/>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02717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02717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Opening balances must tie: assets = debt + equity on the first balance sheet.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OPENING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Re-point the operating model: three edits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8640" y="15453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2" name="TextBox 11"/>
          <p:cNvSpPr txBox="1"/>
          <p:nvPr/>
        </p:nvSpPr>
        <p:spPr>
          <a:xfrm>
            <a:off x="1078992" y="1508760"/>
            <a:ext cx="10378440" cy="713232"/>
          </a:xfrm>
          <a:prstGeom prst="rect">
            <a:avLst/>
          </a:prstGeom>
          <a:noFill/>
        </p:spPr>
        <p:txBody>
          <a:bodyPr wrap="square" lIns="45720" rIns="45720" tIns="27432" bIns="27432" anchor="ctr">
            <a:spAutoFit/>
          </a:bodyPr>
          <a:lstStyle/>
          <a:p>
            <a:pPr algn="l"/>
            <a:r>
              <a:rPr b="0" sz="1600" i="0">
                <a:solidFill>
                  <a:srgbClr val="1A2233"/>
                </a:solidFill>
                <a:latin typeface="Calibri"/>
              </a:rPr>
              <a:t>On </a:t>
            </a:r>
            <a:r>
              <a:rPr b="1" sz="1600" i="0">
                <a:solidFill>
                  <a:srgbClr val="1A2233"/>
                </a:solidFill>
                <a:latin typeface="Calibri"/>
              </a:rPr>
              <a:t>InpC</a:t>
            </a:r>
            <a:r>
              <a:rPr b="0" sz="1600" i="0">
                <a:solidFill>
                  <a:srgbClr val="1A2233"/>
                </a:solidFill>
                <a:latin typeface="Calibri"/>
              </a:rPr>
              <a:t>, select J64:L64 (</a:t>
            </a:r>
            <a:r>
              <a:rPr b="0" sz="1600" i="0">
                <a:solidFill>
                  <a:srgbClr val="0B5E82"/>
                </a:solidFill>
                <a:latin typeface="Consolas"/>
              </a:rPr>
              <a:t>Ctrl+G</a:t>
            </a:r>
            <a:r>
              <a:rPr b="0" sz="1600" i="0">
                <a:solidFill>
                  <a:srgbClr val="1A2233"/>
                </a:solidFill>
                <a:latin typeface="Calibri"/>
              </a:rPr>
              <a:t>, </a:t>
            </a:r>
            <a:r>
              <a:rPr b="0" sz="1600" i="0">
                <a:solidFill>
                  <a:srgbClr val="0B5E82"/>
                </a:solidFill>
                <a:latin typeface="Consolas"/>
              </a:rPr>
              <a:t>J64:L64</a:t>
            </a:r>
            <a:r>
              <a:rPr b="0" sz="1600" i="0">
                <a:solidFill>
                  <a:srgbClr val="1A2233"/>
                </a:solidFill>
                <a:latin typeface="Calibri"/>
              </a:rPr>
              <a:t>, Enter), type </a:t>
            </a:r>
            <a:r>
              <a:rPr b="0" sz="1600" i="0">
                <a:solidFill>
                  <a:srgbClr val="0B5E82"/>
                </a:solidFill>
                <a:latin typeface="Consolas"/>
              </a:rPr>
              <a:t>=Constr!$F$52</a:t>
            </a:r>
            <a:r>
              <a:rPr b="0" sz="1600" i="0">
                <a:solidFill>
                  <a:srgbClr val="1A2233"/>
                </a:solidFill>
                <a:latin typeface="Calibri"/>
              </a:rPr>
              <a:t> and press </a:t>
            </a:r>
            <a:r>
              <a:rPr b="0" sz="1600" i="0">
                <a:solidFill>
                  <a:srgbClr val="0B5E82"/>
                </a:solidFill>
                <a:latin typeface="Consolas"/>
              </a:rPr>
              <a:t>Ctrl+Enter</a:t>
            </a:r>
            <a:r>
              <a:rPr b="0" sz="1600" i="0">
                <a:solidFill>
                  <a:srgbClr val="1A2233"/>
                </a:solidFill>
                <a:latin typeface="Calibri"/>
              </a:rPr>
              <a:t>. NCA, Tax and Equity all read InpC row 64, so they update together.</a:t>
            </a:r>
          </a:p>
        </p:txBody>
      </p:sp>
      <p:sp>
        <p:nvSpPr>
          <p:cNvPr id="13" name="Oval 12"/>
          <p:cNvSpPr/>
          <p:nvPr/>
        </p:nvSpPr>
        <p:spPr>
          <a:xfrm>
            <a:off x="548640" y="2304288"/>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4" name="TextBox 13"/>
          <p:cNvSpPr txBox="1"/>
          <p:nvPr/>
        </p:nvSpPr>
        <p:spPr>
          <a:xfrm>
            <a:off x="1078992" y="2267712"/>
            <a:ext cx="10378440" cy="713232"/>
          </a:xfrm>
          <a:prstGeom prst="rect">
            <a:avLst/>
          </a:prstGeom>
          <a:noFill/>
        </p:spPr>
        <p:txBody>
          <a:bodyPr wrap="square" lIns="45720" rIns="45720" tIns="27432" bIns="27432" anchor="ctr">
            <a:spAutoFit/>
          </a:bodyPr>
          <a:lstStyle/>
          <a:p>
            <a:pPr algn="l"/>
            <a:r>
              <a:rPr b="0" sz="1600" i="0">
                <a:solidFill>
                  <a:srgbClr val="1A2233"/>
                </a:solidFill>
                <a:latin typeface="Calibri"/>
              </a:rPr>
              <a:t>On </a:t>
            </a:r>
            <a:r>
              <a:rPr b="1" sz="1600" i="0">
                <a:solidFill>
                  <a:srgbClr val="1A2233"/>
                </a:solidFill>
                <a:latin typeface="Calibri"/>
              </a:rPr>
              <a:t>Debt</a:t>
            </a:r>
            <a:r>
              <a:rPr b="0" sz="1600" i="0">
                <a:solidFill>
                  <a:srgbClr val="1A2233"/>
                </a:solidFill>
                <a:latin typeface="Calibri"/>
              </a:rPr>
              <a:t>, </a:t>
            </a:r>
            <a:r>
              <a:rPr b="0" sz="1600" i="0">
                <a:solidFill>
                  <a:srgbClr val="0B5E82"/>
                </a:solidFill>
                <a:latin typeface="Consolas"/>
              </a:rPr>
              <a:t>Ctrl+G</a:t>
            </a:r>
            <a:r>
              <a:rPr b="0" sz="1600" i="0">
                <a:solidFill>
                  <a:srgbClr val="1A2233"/>
                </a:solidFill>
                <a:latin typeface="Calibri"/>
              </a:rPr>
              <a:t> F11, type </a:t>
            </a:r>
            <a:r>
              <a:rPr b="0" sz="1600" i="0">
                <a:solidFill>
                  <a:srgbClr val="0B5E82"/>
                </a:solidFill>
                <a:latin typeface="Consolas"/>
              </a:rPr>
              <a:t>=Constr!$F$53</a:t>
            </a:r>
            <a:r>
              <a:rPr b="0" sz="1600" i="0">
                <a:solidFill>
                  <a:srgbClr val="1A2233"/>
                </a:solidFill>
                <a:latin typeface="Calibri"/>
              </a:rPr>
              <a:t>, Enter. (F10 stays as a display of the gearing input.)</a:t>
            </a:r>
          </a:p>
        </p:txBody>
      </p:sp>
      <p:sp>
        <p:nvSpPr>
          <p:cNvPr id="15" name="Oval 14"/>
          <p:cNvSpPr/>
          <p:nvPr/>
        </p:nvSpPr>
        <p:spPr>
          <a:xfrm>
            <a:off x="548640" y="3063240"/>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16" name="TextBox 15"/>
          <p:cNvSpPr txBox="1"/>
          <p:nvPr/>
        </p:nvSpPr>
        <p:spPr>
          <a:xfrm>
            <a:off x="1078992" y="3026664"/>
            <a:ext cx="10378440" cy="713232"/>
          </a:xfrm>
          <a:prstGeom prst="rect">
            <a:avLst/>
          </a:prstGeom>
          <a:noFill/>
        </p:spPr>
        <p:txBody>
          <a:bodyPr wrap="square" lIns="45720" rIns="45720" tIns="27432" bIns="27432" anchor="ctr">
            <a:spAutoFit/>
          </a:bodyPr>
          <a:lstStyle/>
          <a:p>
            <a:pPr algn="l"/>
            <a:r>
              <a:rPr b="0" sz="1600" i="0">
                <a:solidFill>
                  <a:srgbClr val="1A2233"/>
                </a:solidFill>
                <a:latin typeface="Calibri"/>
              </a:rPr>
              <a:t>On </a:t>
            </a:r>
            <a:r>
              <a:rPr b="1" sz="1600" i="0">
                <a:solidFill>
                  <a:srgbClr val="1A2233"/>
                </a:solidFill>
                <a:latin typeface="Calibri"/>
              </a:rPr>
              <a:t>Equity</a:t>
            </a:r>
            <a:r>
              <a:rPr b="0" sz="1600" i="0">
                <a:solidFill>
                  <a:srgbClr val="1A2233"/>
                </a:solidFill>
                <a:latin typeface="Calibri"/>
              </a:rPr>
              <a:t>, </a:t>
            </a:r>
            <a:r>
              <a:rPr b="0" sz="1600" i="0">
                <a:solidFill>
                  <a:srgbClr val="0B5E82"/>
                </a:solidFill>
                <a:latin typeface="Consolas"/>
              </a:rPr>
              <a:t>Ctrl+G</a:t>
            </a:r>
            <a:r>
              <a:rPr b="0" sz="1600" i="0">
                <a:solidFill>
                  <a:srgbClr val="1A2233"/>
                </a:solidFill>
                <a:latin typeface="Calibri"/>
              </a:rPr>
              <a:t> F16, type </a:t>
            </a:r>
            <a:r>
              <a:rPr b="0" sz="1600" i="0">
                <a:solidFill>
                  <a:srgbClr val="0B5E82"/>
                </a:solidFill>
                <a:latin typeface="Consolas"/>
              </a:rPr>
              <a:t>=Constr!$F$54</a:t>
            </a:r>
            <a:r>
              <a:rPr b="0" sz="1600" i="0">
                <a:solidFill>
                  <a:srgbClr val="1A2233"/>
                </a:solidFill>
                <a:latin typeface="Calibri"/>
              </a:rPr>
              <a:t> (today). Tomorrow this becomes </a:t>
            </a:r>
            <a:r>
              <a:rPr b="0" sz="1600" i="0">
                <a:solidFill>
                  <a:srgbClr val="0B5E82"/>
                </a:solidFill>
                <a:latin typeface="Consolas"/>
              </a:rPr>
              <a:t>=SHL!$F$14</a:t>
            </a:r>
            <a:r>
              <a:rPr b="0" sz="1600" i="0">
                <a:solidFill>
                  <a:srgbClr val="1A2233"/>
                </a:solidFill>
                <a:latin typeface="Calibri"/>
              </a:rPr>
              <a:t> once the shareholder loan exists.</a:t>
            </a:r>
          </a:p>
        </p:txBody>
      </p:sp>
      <p:sp>
        <p:nvSpPr>
          <p:cNvPr id="17" name="Oval 16"/>
          <p:cNvSpPr/>
          <p:nvPr/>
        </p:nvSpPr>
        <p:spPr>
          <a:xfrm>
            <a:off x="548640" y="3822192"/>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4</a:t>
            </a:r>
          </a:p>
        </p:txBody>
      </p:sp>
      <p:sp>
        <p:nvSpPr>
          <p:cNvPr id="18" name="TextBox 17"/>
          <p:cNvSpPr txBox="1"/>
          <p:nvPr/>
        </p:nvSpPr>
        <p:spPr>
          <a:xfrm>
            <a:off x="1078992" y="3785616"/>
            <a:ext cx="10378440" cy="713232"/>
          </a:xfrm>
          <a:prstGeom prst="rect">
            <a:avLst/>
          </a:prstGeom>
          <a:noFill/>
        </p:spPr>
        <p:txBody>
          <a:bodyPr wrap="square" lIns="45720" rIns="45720" tIns="27432" bIns="27432" anchor="ctr">
            <a:spAutoFit/>
          </a:bodyPr>
          <a:lstStyle/>
          <a:p>
            <a:pPr algn="l"/>
            <a:r>
              <a:rPr b="0" sz="1600" i="0">
                <a:solidFill>
                  <a:srgbClr val="1A2233"/>
                </a:solidFill>
                <a:latin typeface="Calibri"/>
              </a:rPr>
              <a:t>Press </a:t>
            </a:r>
            <a:r>
              <a:rPr b="0" sz="1600" i="0">
                <a:solidFill>
                  <a:srgbClr val="0B5E82"/>
                </a:solidFill>
                <a:latin typeface="Consolas"/>
              </a:rPr>
              <a:t>F9</a:t>
            </a:r>
            <a:r>
              <a:rPr b="0" sz="1600" i="0">
                <a:solidFill>
                  <a:srgbClr val="1A2233"/>
                </a:solidFill>
                <a:latin typeface="Calibri"/>
              </a:rPr>
              <a:t> (</a:t>
            </a:r>
            <a:r>
              <a:rPr b="0" sz="1600" i="0">
                <a:solidFill>
                  <a:srgbClr val="0B5E82"/>
                </a:solidFill>
                <a:latin typeface="Consolas"/>
              </a:rPr>
              <a:t>Fn+F9</a:t>
            </a:r>
            <a:r>
              <a:rPr b="0" sz="1600" i="0">
                <a:solidFill>
                  <a:srgbClr val="1A2233"/>
                </a:solidFill>
                <a:latin typeface="Calibri"/>
              </a:rPr>
              <a:t>) to recalculate. Check FinStat F74, F77, F80 = 0.</a:t>
            </a:r>
          </a:p>
        </p:txBody>
      </p:sp>
      <p:sp>
        <p:nvSpPr>
          <p:cNvPr id="19" name="Oval 18"/>
          <p:cNvSpPr/>
          <p:nvPr/>
        </p:nvSpPr>
        <p:spPr>
          <a:xfrm>
            <a:off x="548640" y="4581144"/>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5</a:t>
            </a:r>
          </a:p>
        </p:txBody>
      </p:sp>
      <p:sp>
        <p:nvSpPr>
          <p:cNvPr id="20" name="TextBox 19"/>
          <p:cNvSpPr txBox="1"/>
          <p:nvPr/>
        </p:nvSpPr>
        <p:spPr>
          <a:xfrm>
            <a:off x="1078992" y="4544568"/>
            <a:ext cx="10378440" cy="713232"/>
          </a:xfrm>
          <a:prstGeom prst="rect">
            <a:avLst/>
          </a:prstGeom>
          <a:noFill/>
        </p:spPr>
        <p:txBody>
          <a:bodyPr wrap="square" lIns="45720" rIns="45720" tIns="27432" bIns="27432" anchor="ctr">
            <a:spAutoFit/>
          </a:bodyPr>
          <a:lstStyle/>
          <a:p>
            <a:pPr algn="l"/>
            <a:r>
              <a:rPr b="0" sz="1600" i="0">
                <a:solidFill>
                  <a:srgbClr val="1A2233"/>
                </a:solidFill>
                <a:latin typeface="Calibri"/>
              </a:rPr>
              <a:t>Save as </a:t>
            </a:r>
            <a:r>
              <a:rPr b="0" sz="1600" i="0">
                <a:solidFill>
                  <a:srgbClr val="0B5E82"/>
                </a:solidFill>
                <a:latin typeface="Consolas"/>
              </a:rPr>
              <a:t>TrainStat_PF_v06.xlsx</a:t>
            </a:r>
            <a:r>
              <a:rPr b="0" sz="1600" i="0">
                <a:solidFill>
                  <a:srgbClr val="1A2233"/>
                </a:solidFill>
                <a:latin typeface="Calibri"/>
              </a:rPr>
              <a:t>.</a:t>
            </a:r>
          </a:p>
        </p:txBody>
      </p:sp>
      <p:sp>
        <p:nvSpPr>
          <p:cNvPr id="21" name="Rectangle 20"/>
          <p:cNvSpPr/>
          <p:nvPr/>
        </p:nvSpPr>
        <p:spPr>
          <a:xfrm>
            <a:off x="548640" y="5394960"/>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39496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39496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These are the only edits to existing sheets today. Everything else is new sheet work.</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Effect of the re-pointing (teaching inputs)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04288"/>
        </p:xfrm>
        <a:graphic>
          <a:graphicData uri="http://schemas.openxmlformats.org/drawingml/2006/table">
            <a:tbl>
              <a:tblPr firstRow="1" bandRow="1">
                <a:tableStyleId>{5C22544A-7EE6-4342-B048-85BDC9FD1C3A}</a:tableStyleId>
              </a:tblPr>
              <a:tblGrid>
                <a:gridCol w="5303520"/>
                <a:gridCol w="2743200"/>
                <a:gridCol w="3017520"/>
              </a:tblGrid>
              <a:tr h="384048">
                <a:tc>
                  <a:txBody>
                    <a:bodyPr wrap="square"/>
                    <a:lstStyle/>
                    <a:p>
                      <a:r>
                        <a:rPr b="1" sz="1300" i="0">
                          <a:solidFill>
                            <a:srgbClr val="FFFFFF"/>
                          </a:solidFill>
                          <a:latin typeface="Calibri"/>
                        </a:rPr>
                        <a:t>Item</a:t>
                      </a:r>
                    </a:p>
                  </a:txBody>
                  <a:tcPr marL="64008" marR="64008" marT="27432" marB="27432" anchor="ctr">
                    <a:solidFill>
                      <a:srgbClr val="141B4D"/>
                    </a:solidFill>
                  </a:tcPr>
                </a:tc>
                <a:tc>
                  <a:txBody>
                    <a:bodyPr wrap="square"/>
                    <a:lstStyle/>
                    <a:p>
                      <a:r>
                        <a:rPr b="1" sz="1300" i="0">
                          <a:solidFill>
                            <a:srgbClr val="FFFFFF"/>
                          </a:solidFill>
                          <a:latin typeface="Calibri"/>
                        </a:rPr>
                        <a:t>Before (start model)</a:t>
                      </a:r>
                    </a:p>
                  </a:txBody>
                  <a:tcPr marL="64008" marR="64008" marT="27432" marB="27432" anchor="ctr">
                    <a:solidFill>
                      <a:srgbClr val="141B4D"/>
                    </a:solidFill>
                  </a:tcPr>
                </a:tc>
                <a:tc>
                  <a:txBody>
                    <a:bodyPr wrap="square"/>
                    <a:lstStyle/>
                    <a:p>
                      <a:r>
                        <a:rPr b="1" sz="1300" i="0">
                          <a:solidFill>
                            <a:srgbClr val="FFFFFF"/>
                          </a:solidFill>
                          <a:latin typeface="Calibri"/>
                        </a:rPr>
                        <a:t>After (PF model)</a:t>
                      </a:r>
                    </a:p>
                  </a:txBody>
                  <a:tcPr marL="64008" marR="64008" marT="27432" marB="27432" anchor="ctr">
                    <a:solidFill>
                      <a:srgbClr val="141B4D"/>
                    </a:solidFill>
                  </a:tcPr>
                </a:tc>
              </a:tr>
              <a:tr h="384048">
                <a:tc>
                  <a:txBody>
                    <a:bodyPr wrap="square"/>
                    <a:lstStyle/>
                    <a:p>
                      <a:r>
                        <a:rPr b="1" sz="1300" i="0">
                          <a:solidFill>
                            <a:srgbClr val="1A2233"/>
                          </a:solidFill>
                          <a:latin typeface="Calibri"/>
                        </a:rPr>
                        <a:t>Non-current assets at COD</a:t>
                      </a:r>
                    </a:p>
                  </a:txBody>
                  <a:tcPr marL="64008" marR="64008" marT="27432" marB="27432" anchor="ctr">
                    <a:solidFill>
                      <a:srgbClr val="FFFFFF"/>
                    </a:solidFill>
                  </a:tcPr>
                </a:tc>
                <a:tc>
                  <a:txBody>
                    <a:bodyPr wrap="square"/>
                    <a:lstStyle/>
                    <a:p>
                      <a:r>
                        <a:rPr b="0" sz="1300" i="0">
                          <a:solidFill>
                            <a:srgbClr val="1A2233"/>
                          </a:solidFill>
                          <a:latin typeface="Calibri"/>
                        </a:rPr>
                        <a:t>100,000</a:t>
                      </a:r>
                    </a:p>
                  </a:txBody>
                  <a:tcPr marL="64008" marR="64008" marT="27432" marB="27432" anchor="ctr">
                    <a:solidFill>
                      <a:srgbClr val="FFFFFF"/>
                    </a:solidFill>
                  </a:tcPr>
                </a:tc>
                <a:tc>
                  <a:txBody>
                    <a:bodyPr wrap="square"/>
                    <a:lstStyle/>
                    <a:p>
                      <a:r>
                        <a:rPr b="0" sz="1300" i="0">
                          <a:solidFill>
                            <a:srgbClr val="1A2233"/>
                          </a:solidFill>
                          <a:latin typeface="Calibri"/>
                        </a:rPr>
                        <a:t>100,022.9</a:t>
                      </a:r>
                    </a:p>
                  </a:txBody>
                  <a:tcPr marL="64008" marR="64008" marT="27432" marB="27432" anchor="ctr">
                    <a:solidFill>
                      <a:srgbClr val="FFFFFF"/>
                    </a:solidFill>
                  </a:tcPr>
                </a:tc>
              </a:tr>
              <a:tr h="384048">
                <a:tc>
                  <a:txBody>
                    <a:bodyPr wrap="square"/>
                    <a:lstStyle/>
                    <a:p>
                      <a:r>
                        <a:rPr b="1" sz="1300" i="0">
                          <a:solidFill>
                            <a:srgbClr val="1A2233"/>
                          </a:solidFill>
                          <a:latin typeface="Calibri"/>
                        </a:rPr>
                        <a:t>Senior debt at COD</a:t>
                      </a:r>
                    </a:p>
                  </a:txBody>
                  <a:tcPr marL="64008" marR="64008" marT="27432" marB="27432" anchor="ctr">
                    <a:solidFill>
                      <a:srgbClr val="F3F6F9"/>
                    </a:solidFill>
                  </a:tcPr>
                </a:tc>
                <a:tc>
                  <a:txBody>
                    <a:bodyPr wrap="square"/>
                    <a:lstStyle/>
                    <a:p>
                      <a:r>
                        <a:rPr b="0" sz="1300" i="0">
                          <a:solidFill>
                            <a:srgbClr val="1A2233"/>
                          </a:solidFill>
                          <a:latin typeface="Calibri"/>
                        </a:rPr>
                        <a:t>60,000</a:t>
                      </a:r>
                    </a:p>
                  </a:txBody>
                  <a:tcPr marL="64008" marR="64008" marT="27432" marB="27432" anchor="ctr">
                    <a:solidFill>
                      <a:srgbClr val="F3F6F9"/>
                    </a:solidFill>
                  </a:tcPr>
                </a:tc>
                <a:tc>
                  <a:txBody>
                    <a:bodyPr wrap="square"/>
                    <a:lstStyle/>
                    <a:p>
                      <a:r>
                        <a:rPr b="0" sz="1300" i="0">
                          <a:solidFill>
                            <a:srgbClr val="1A2233"/>
                          </a:solidFill>
                          <a:latin typeface="Calibri"/>
                        </a:rPr>
                        <a:t>60,013.8</a:t>
                      </a:r>
                    </a:p>
                  </a:txBody>
                  <a:tcPr marL="64008" marR="64008" marT="27432" marB="27432" anchor="ctr">
                    <a:solidFill>
                      <a:srgbClr val="F3F6F9"/>
                    </a:solidFill>
                  </a:tcPr>
                </a:tc>
              </a:tr>
              <a:tr h="384048">
                <a:tc>
                  <a:txBody>
                    <a:bodyPr wrap="square"/>
                    <a:lstStyle/>
                    <a:p>
                      <a:r>
                        <a:rPr b="1" sz="1300" i="0">
                          <a:solidFill>
                            <a:srgbClr val="1A2233"/>
                          </a:solidFill>
                          <a:latin typeface="Calibri"/>
                        </a:rPr>
                        <a:t>Share capital at COD</a:t>
                      </a:r>
                    </a:p>
                  </a:txBody>
                  <a:tcPr marL="64008" marR="64008" marT="27432" marB="27432" anchor="ctr">
                    <a:solidFill>
                      <a:srgbClr val="FFFFFF"/>
                    </a:solidFill>
                  </a:tcPr>
                </a:tc>
                <a:tc>
                  <a:txBody>
                    <a:bodyPr wrap="square"/>
                    <a:lstStyle/>
                    <a:p>
                      <a:r>
                        <a:rPr b="0" sz="1300" i="0">
                          <a:solidFill>
                            <a:srgbClr val="1A2233"/>
                          </a:solidFill>
                          <a:latin typeface="Calibri"/>
                        </a:rPr>
                        <a:t>40,000</a:t>
                      </a:r>
                    </a:p>
                  </a:txBody>
                  <a:tcPr marL="64008" marR="64008" marT="27432" marB="27432" anchor="ctr">
                    <a:solidFill>
                      <a:srgbClr val="FFFFFF"/>
                    </a:solidFill>
                  </a:tcPr>
                </a:tc>
                <a:tc>
                  <a:txBody>
                    <a:bodyPr wrap="square"/>
                    <a:lstStyle/>
                    <a:p>
                      <a:r>
                        <a:rPr b="0" sz="1300" i="0">
                          <a:solidFill>
                            <a:srgbClr val="1A2233"/>
                          </a:solidFill>
                          <a:latin typeface="Calibri"/>
                        </a:rPr>
                        <a:t>40,009.2</a:t>
                      </a:r>
                    </a:p>
                  </a:txBody>
                  <a:tcPr marL="64008" marR="64008" marT="27432" marB="27432" anchor="ctr">
                    <a:solidFill>
                      <a:srgbClr val="FFFFFF"/>
                    </a:solidFill>
                  </a:tcPr>
                </a:tc>
              </a:tr>
              <a:tr h="384048">
                <a:tc>
                  <a:txBody>
                    <a:bodyPr wrap="square"/>
                    <a:lstStyle/>
                    <a:p>
                      <a:r>
                        <a:rPr b="1" sz="1300" i="0">
                          <a:solidFill>
                            <a:srgbClr val="1A2233"/>
                          </a:solidFill>
                          <a:latin typeface="Calibri"/>
                        </a:rPr>
                        <a:t>Annual depreciation of opening assets (15 years)</a:t>
                      </a:r>
                    </a:p>
                  </a:txBody>
                  <a:tcPr marL="64008" marR="64008" marT="27432" marB="27432" anchor="ctr">
                    <a:solidFill>
                      <a:srgbClr val="F3F6F9"/>
                    </a:solidFill>
                  </a:tcPr>
                </a:tc>
                <a:tc>
                  <a:txBody>
                    <a:bodyPr wrap="square"/>
                    <a:lstStyle/>
                    <a:p>
                      <a:r>
                        <a:rPr b="0" sz="1300" i="0">
                          <a:solidFill>
                            <a:srgbClr val="1A2233"/>
                          </a:solidFill>
                          <a:latin typeface="Calibri"/>
                        </a:rPr>
                        <a:t>6,667</a:t>
                      </a:r>
                    </a:p>
                  </a:txBody>
                  <a:tcPr marL="64008" marR="64008" marT="27432" marB="27432" anchor="ctr">
                    <a:solidFill>
                      <a:srgbClr val="F3F6F9"/>
                    </a:solidFill>
                  </a:tcPr>
                </a:tc>
                <a:tc>
                  <a:txBody>
                    <a:bodyPr wrap="square"/>
                    <a:lstStyle/>
                    <a:p>
                      <a:r>
                        <a:rPr b="0" sz="1300" i="0">
                          <a:solidFill>
                            <a:srgbClr val="1A2233"/>
                          </a:solidFill>
                          <a:latin typeface="Calibri"/>
                        </a:rPr>
                        <a:t>6,668.2</a:t>
                      </a:r>
                    </a:p>
                  </a:txBody>
                  <a:tcPr marL="64008" marR="64008" marT="27432" marB="27432" anchor="ctr">
                    <a:solidFill>
                      <a:srgbClr val="F3F6F9"/>
                    </a:solidFill>
                  </a:tcPr>
                </a:tc>
              </a:tr>
              <a:tr h="384048">
                <a:tc>
                  <a:txBody>
                    <a:bodyPr wrap="square"/>
                    <a:lstStyle/>
                    <a:p>
                      <a:r>
                        <a:rPr b="1" sz="1300" i="0">
                          <a:solidFill>
                            <a:srgbClr val="1A2233"/>
                          </a:solidFill>
                          <a:latin typeface="Calibri"/>
                        </a:rPr>
                        <a:t>Balance sheet check at COD</a:t>
                      </a:r>
                    </a:p>
                  </a:txBody>
                  <a:tcPr marL="64008" marR="64008" marT="27432" marB="27432" anchor="ctr">
                    <a:solidFill>
                      <a:srgbClr val="FFFFFF"/>
                    </a:solidFill>
                  </a:tcPr>
                </a:tc>
                <a:tc>
                  <a:txBody>
                    <a:bodyPr wrap="square"/>
                    <a:lstStyle/>
                    <a:p>
                      <a:r>
                        <a:rPr b="0" sz="1300" i="0">
                          <a:solidFill>
                            <a:srgbClr val="1A2233"/>
                          </a:solidFill>
                          <a:latin typeface="Calibri"/>
                        </a:rPr>
                        <a:t>0</a:t>
                      </a:r>
                    </a:p>
                  </a:txBody>
                  <a:tcPr marL="64008" marR="64008" marT="27432" marB="27432" anchor="ctr">
                    <a:solidFill>
                      <a:srgbClr val="FFFFFF"/>
                    </a:solidFill>
                  </a:tcPr>
                </a:tc>
                <a:tc>
                  <a:txBody>
                    <a:bodyPr wrap="square"/>
                    <a:lstStyle/>
                    <a:p>
                      <a:r>
                        <a:rPr b="0" sz="1300" i="0">
                          <a:solidFill>
                            <a:srgbClr val="1A2233"/>
                          </a:solidFill>
                          <a:latin typeface="Calibri"/>
                        </a:rPr>
                        <a:t>0</a:t>
                      </a:r>
                    </a:p>
                  </a:txBody>
                  <a:tcPr marL="64008" marR="64008" marT="27432" marB="27432" anchor="ctr">
                    <a:solidFill>
                      <a:srgbClr val="FFFFFF"/>
                    </a:solidFill>
                  </a:tcPr>
                </a:tc>
              </a:tr>
            </a:tbl>
          </a:graphicData>
        </a:graphic>
      </p:graphicFrame>
      <p:sp>
        <p:nvSpPr>
          <p:cNvPr id="12" name="Rectangle 11"/>
          <p:cNvSpPr/>
          <p:nvPr/>
        </p:nvSpPr>
        <p:spPr>
          <a:xfrm>
            <a:off x="548640" y="3995928"/>
            <a:ext cx="11064240" cy="73152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995928"/>
            <a:ext cx="82296" cy="73152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995928"/>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Depreciation rises with the higher capitalised cost, so profit and tax change slightly; FinStat checks stay at zero.</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6.4: Link, balance and explain the change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Perform the three re-pointing edits and answer: what changed in the shareholder IRR, and why?</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Record the Base-case IRR before the edits (Val!F49)</a:t>
            </a:r>
          </a:p>
          <a:p>
            <a:pPr>
              <a:spcAft>
                <a:spcPts val="300"/>
              </a:spcAft>
            </a:pPr>
            <a:r>
              <a:rPr b="0" sz="1500" i="0">
                <a:solidFill>
                  <a:srgbClr val="1A2233"/>
                </a:solidFill>
                <a:latin typeface="Calibri"/>
              </a:rPr>
              <a:t>2.  Perform the three edits</a:t>
            </a:r>
          </a:p>
          <a:p>
            <a:pPr>
              <a:spcAft>
                <a:spcPts val="300"/>
              </a:spcAft>
            </a:pPr>
            <a:r>
              <a:rPr b="0" sz="1500" i="0">
                <a:solidFill>
                  <a:srgbClr val="1A2233"/>
                </a:solidFill>
                <a:latin typeface="Calibri"/>
              </a:rPr>
              <a:t>3.  Record the IRR after</a:t>
            </a:r>
          </a:p>
          <a:p>
            <a:pPr>
              <a:spcAft>
                <a:spcPts val="300"/>
              </a:spcAft>
            </a:pPr>
            <a:r>
              <a:rPr b="0" sz="1500" i="0">
                <a:solidFill>
                  <a:srgbClr val="1A2233"/>
                </a:solidFill>
                <a:latin typeface="Calibri"/>
              </a:rPr>
              <a:t>4.  Write two sentences on why it changed (higher cost base, lower debt share?)</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20 min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6  |  Wed 21 Oct 2026  |  Project finance modelling I: construction and funding</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43</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15.45 – 17.00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6: Interest during construction: methods and circularity</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Opening balance, average balance and the algebraic fix.</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The IDC circularity</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2000" i="0">
                <a:solidFill>
                  <a:srgbClr val="1A2233"/>
                </a:solidFill>
                <a:latin typeface="Calibri"/>
              </a:rPr>
              <a:t>If interest is charged on the average of opening and closing debt, interest depends on the amount drawn this quarter; but the amount drawn depends on total uses, which include the interest. That loop is a circular reference.</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IDC = k × (Opening + g × (Cost + Fees + IDC) ÷ 2)   →   IDC = k × (Opening + g × (Cost + Fees) ÷ 2) ÷ (1 − k × g ÷ 2)</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Method 1 (opening balance): IDC = 3,458.2; total uses 100,022.9</a:t>
            </a:r>
          </a:p>
          <a:p>
            <a:pPr algn="l"/>
            <a:r>
              <a:rPr b="0" sz="1600" i="0">
                <a:solidFill>
                  <a:srgbClr val="1A2233"/>
                </a:solidFill>
                <a:latin typeface="Calibri"/>
              </a:rPr>
              <a:t>Method 2 (average balance, solved algebraically): IDC = 3,972.9; total uses 100,535.6</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Solving the equation for IDC removes the loop: no iterative calculation is needed. (k = rate ÷ 360 × days; g = gearing.)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CIRCULARITY</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Three ways to handle a circular reference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157857"/>
        </p:xfrm>
        <a:graphic>
          <a:graphicData uri="http://schemas.openxmlformats.org/drawingml/2006/table">
            <a:tbl>
              <a:tblPr firstRow="1" bandRow="1">
                <a:tableStyleId>{5C22544A-7EE6-4342-B048-85BDC9FD1C3A}</a:tableStyleId>
              </a:tblPr>
              <a:tblGrid>
                <a:gridCol w="1828800"/>
                <a:gridCol w="3657600"/>
                <a:gridCol w="2926080"/>
                <a:gridCol w="2651760"/>
              </a:tblGrid>
              <a:tr h="384048">
                <a:tc>
                  <a:txBody>
                    <a:bodyPr wrap="square"/>
                    <a:lstStyle/>
                    <a:p>
                      <a:r>
                        <a:rPr b="1" sz="1300" i="0">
                          <a:solidFill>
                            <a:srgbClr val="FFFFFF"/>
                          </a:solidFill>
                          <a:latin typeface="Calibri"/>
                        </a:rPr>
                        <a:t>Approach</a:t>
                      </a:r>
                    </a:p>
                  </a:txBody>
                  <a:tcPr marL="64008" marR="64008" marT="27432" marB="27432" anchor="ctr">
                    <a:solidFill>
                      <a:srgbClr val="141B4D"/>
                    </a:solidFill>
                  </a:tcPr>
                </a:tc>
                <a:tc>
                  <a:txBody>
                    <a:bodyPr wrap="square"/>
                    <a:lstStyle/>
                    <a:p>
                      <a:r>
                        <a:rPr b="1" sz="1300" i="0">
                          <a:solidFill>
                            <a:srgbClr val="FFFFFF"/>
                          </a:solidFill>
                          <a:latin typeface="Calibri"/>
                        </a:rPr>
                        <a:t>How</a:t>
                      </a:r>
                    </a:p>
                  </a:txBody>
                  <a:tcPr marL="64008" marR="64008" marT="27432" marB="27432" anchor="ctr">
                    <a:solidFill>
                      <a:srgbClr val="141B4D"/>
                    </a:solidFill>
                  </a:tcPr>
                </a:tc>
                <a:tc>
                  <a:txBody>
                    <a:bodyPr wrap="square"/>
                    <a:lstStyle/>
                    <a:p>
                      <a:r>
                        <a:rPr b="1" sz="1300" i="0">
                          <a:solidFill>
                            <a:srgbClr val="FFFFFF"/>
                          </a:solidFill>
                          <a:latin typeface="Calibri"/>
                        </a:rPr>
                        <a:t>Pros</a:t>
                      </a:r>
                    </a:p>
                  </a:txBody>
                  <a:tcPr marL="64008" marR="64008" marT="27432" marB="27432" anchor="ctr">
                    <a:solidFill>
                      <a:srgbClr val="141B4D"/>
                    </a:solidFill>
                  </a:tcPr>
                </a:tc>
                <a:tc>
                  <a:txBody>
                    <a:bodyPr wrap="square"/>
                    <a:lstStyle/>
                    <a:p>
                      <a:r>
                        <a:rPr b="1" sz="1300" i="0">
                          <a:solidFill>
                            <a:srgbClr val="FFFFFF"/>
                          </a:solidFill>
                          <a:latin typeface="Calibri"/>
                        </a:rPr>
                        <a:t>Cons</a:t>
                      </a:r>
                    </a:p>
                  </a:txBody>
                  <a:tcPr marL="64008" marR="64008" marT="27432" marB="27432" anchor="ctr">
                    <a:solidFill>
                      <a:srgbClr val="141B4D"/>
                    </a:solidFill>
                  </a:tcPr>
                </a:tc>
              </a:tr>
              <a:tr h="522478">
                <a:tc>
                  <a:txBody>
                    <a:bodyPr wrap="square"/>
                    <a:lstStyle/>
                    <a:p>
                      <a:r>
                        <a:rPr b="1" sz="1300" i="0">
                          <a:solidFill>
                            <a:srgbClr val="1A2233"/>
                          </a:solidFill>
                          <a:latin typeface="Calibri"/>
                        </a:rPr>
                        <a:t>Avoid</a:t>
                      </a:r>
                    </a:p>
                  </a:txBody>
                  <a:tcPr marL="64008" marR="64008" marT="27432" marB="27432" anchor="ctr">
                    <a:solidFill>
                      <a:srgbClr val="FFFFFF"/>
                    </a:solidFill>
                  </a:tcPr>
                </a:tc>
                <a:tc>
                  <a:txBody>
                    <a:bodyPr wrap="square"/>
                    <a:lstStyle/>
                    <a:p>
                      <a:r>
                        <a:rPr b="0" sz="1300" i="0">
                          <a:solidFill>
                            <a:srgbClr val="1A2233"/>
                          </a:solidFill>
                          <a:latin typeface="Calibri"/>
                        </a:rPr>
                        <a:t>Charge interest on the opening balance (our Constr)</a:t>
                      </a:r>
                    </a:p>
                  </a:txBody>
                  <a:tcPr marL="64008" marR="64008" marT="27432" marB="27432" anchor="ctr">
                    <a:solidFill>
                      <a:srgbClr val="FFFFFF"/>
                    </a:solidFill>
                  </a:tcPr>
                </a:tc>
                <a:tc>
                  <a:txBody>
                    <a:bodyPr wrap="square"/>
                    <a:lstStyle/>
                    <a:p>
                      <a:r>
                        <a:rPr b="0" sz="1300" i="0">
                          <a:solidFill>
                            <a:srgbClr val="1A2233"/>
                          </a:solidFill>
                          <a:latin typeface="Calibri"/>
                        </a:rPr>
                        <a:t>Simple, transparent</a:t>
                      </a:r>
                    </a:p>
                  </a:txBody>
                  <a:tcPr marL="64008" marR="64008" marT="27432" marB="27432" anchor="ctr">
                    <a:solidFill>
                      <a:srgbClr val="FFFFFF"/>
                    </a:solidFill>
                  </a:tcPr>
                </a:tc>
                <a:tc>
                  <a:txBody>
                    <a:bodyPr wrap="square"/>
                    <a:lstStyle/>
                    <a:p>
                      <a:r>
                        <a:rPr b="0" sz="1300" i="0">
                          <a:solidFill>
                            <a:srgbClr val="1A2233"/>
                          </a:solidFill>
                          <a:latin typeface="Calibri"/>
                        </a:rPr>
                        <a:t>Slightly understates interest</a:t>
                      </a:r>
                    </a:p>
                  </a:txBody>
                  <a:tcPr marL="64008" marR="64008" marT="27432" marB="27432" anchor="ctr">
                    <a:solidFill>
                      <a:srgbClr val="FFFFFF"/>
                    </a:solidFill>
                  </a:tcPr>
                </a:tc>
              </a:tr>
              <a:tr h="522478">
                <a:tc>
                  <a:txBody>
                    <a:bodyPr wrap="square"/>
                    <a:lstStyle/>
                    <a:p>
                      <a:r>
                        <a:rPr b="1" sz="1300" i="0">
                          <a:solidFill>
                            <a:srgbClr val="1A2233"/>
                          </a:solidFill>
                          <a:latin typeface="Calibri"/>
                        </a:rPr>
                        <a:t>Solve algebraically</a:t>
                      </a:r>
                    </a:p>
                  </a:txBody>
                  <a:tcPr marL="64008" marR="64008" marT="27432" marB="27432" anchor="ctr">
                    <a:solidFill>
                      <a:srgbClr val="F3F6F9"/>
                    </a:solidFill>
                  </a:tcPr>
                </a:tc>
                <a:tc>
                  <a:txBody>
                    <a:bodyPr wrap="square"/>
                    <a:lstStyle/>
                    <a:p>
                      <a:r>
                        <a:rPr b="0" sz="1300" i="0">
                          <a:solidFill>
                            <a:srgbClr val="1A2233"/>
                          </a:solidFill>
                          <a:latin typeface="Calibri"/>
                        </a:rPr>
                        <a:t>Rearrange the equation (previous slide)</a:t>
                      </a:r>
                    </a:p>
                  </a:txBody>
                  <a:tcPr marL="64008" marR="64008" marT="27432" marB="27432" anchor="ctr">
                    <a:solidFill>
                      <a:srgbClr val="F3F6F9"/>
                    </a:solidFill>
                  </a:tcPr>
                </a:tc>
                <a:tc>
                  <a:txBody>
                    <a:bodyPr wrap="square"/>
                    <a:lstStyle/>
                    <a:p>
                      <a:r>
                        <a:rPr b="0" sz="1300" i="0">
                          <a:solidFill>
                            <a:srgbClr val="1A2233"/>
                          </a:solidFill>
                          <a:latin typeface="Calibri"/>
                        </a:rPr>
                        <a:t>Exact for average-balance interest, no circularity</a:t>
                      </a:r>
                    </a:p>
                  </a:txBody>
                  <a:tcPr marL="64008" marR="64008" marT="27432" marB="27432" anchor="ctr">
                    <a:solidFill>
                      <a:srgbClr val="F3F6F9"/>
                    </a:solidFill>
                  </a:tcPr>
                </a:tc>
                <a:tc>
                  <a:txBody>
                    <a:bodyPr wrap="square"/>
                    <a:lstStyle/>
                    <a:p>
                      <a:r>
                        <a:rPr b="0" sz="1300" i="0">
                          <a:solidFill>
                            <a:srgbClr val="1A2233"/>
                          </a:solidFill>
                          <a:latin typeface="Calibri"/>
                        </a:rPr>
                        <a:t>Only works for simple structures</a:t>
                      </a:r>
                    </a:p>
                  </a:txBody>
                  <a:tcPr marL="64008" marR="64008" marT="27432" marB="27432" anchor="ctr">
                    <a:solidFill>
                      <a:srgbClr val="F3F6F9"/>
                    </a:solidFill>
                  </a:tcPr>
                </a:tc>
              </a:tr>
              <a:tr h="728853">
                <a:tc>
                  <a:txBody>
                    <a:bodyPr wrap="square"/>
                    <a:lstStyle/>
                    <a:p>
                      <a:r>
                        <a:rPr b="1" sz="1300" i="0">
                          <a:solidFill>
                            <a:srgbClr val="1A2233"/>
                          </a:solidFill>
                          <a:latin typeface="Calibri"/>
                        </a:rPr>
                        <a:t>Iterate</a:t>
                      </a:r>
                    </a:p>
                  </a:txBody>
                  <a:tcPr marL="64008" marR="64008" marT="27432" marB="27432" anchor="ctr">
                    <a:solidFill>
                      <a:srgbClr val="FFFFFF"/>
                    </a:solidFill>
                  </a:tcPr>
                </a:tc>
                <a:tc>
                  <a:txBody>
                    <a:bodyPr wrap="square"/>
                    <a:lstStyle/>
                    <a:p>
                      <a:r>
                        <a:rPr b="0" sz="1300" i="0">
                          <a:solidFill>
                            <a:srgbClr val="1A2233"/>
                          </a:solidFill>
                          <a:latin typeface="Calibri"/>
                        </a:rPr>
                        <a:t>Enable iterative calculation or use a copy-paste macro</a:t>
                      </a:r>
                    </a:p>
                  </a:txBody>
                  <a:tcPr marL="64008" marR="64008" marT="27432" marB="27432" anchor="ctr">
                    <a:solidFill>
                      <a:srgbClr val="FFFFFF"/>
                    </a:solidFill>
                  </a:tcPr>
                </a:tc>
                <a:tc>
                  <a:txBody>
                    <a:bodyPr wrap="square"/>
                    <a:lstStyle/>
                    <a:p>
                      <a:r>
                        <a:rPr b="0" sz="1300" i="0">
                          <a:solidFill>
                            <a:srgbClr val="1A2233"/>
                          </a:solidFill>
                          <a:latin typeface="Calibri"/>
                        </a:rPr>
                        <a:t>Handles any structure</a:t>
                      </a:r>
                    </a:p>
                  </a:txBody>
                  <a:tcPr marL="64008" marR="64008" marT="27432" marB="27432" anchor="ctr">
                    <a:solidFill>
                      <a:srgbClr val="FFFFFF"/>
                    </a:solidFill>
                  </a:tcPr>
                </a:tc>
                <a:tc>
                  <a:txBody>
                    <a:bodyPr wrap="square"/>
                    <a:lstStyle/>
                    <a:p>
                      <a:r>
                        <a:rPr b="0" sz="1300" i="0">
                          <a:solidFill>
                            <a:srgbClr val="1A2233"/>
                          </a:solidFill>
                          <a:latin typeface="Calibri"/>
                        </a:rPr>
                        <a:t>Can hide errors; slows the model; needs a circuit breaker</a:t>
                      </a:r>
                    </a:p>
                  </a:txBody>
                  <a:tcPr marL="64008" marR="64008" marT="27432" marB="27432" anchor="ctr">
                    <a:solidFill>
                      <a:srgbClr val="FFFFFF"/>
                    </a:solidFill>
                  </a:tcPr>
                </a:tc>
              </a:tr>
            </a:tbl>
          </a:graphicData>
        </a:graphic>
      </p:graphicFrame>
      <p:sp>
        <p:nvSpPr>
          <p:cNvPr id="12" name="Rectangle 11"/>
          <p:cNvSpPr/>
          <p:nvPr/>
        </p:nvSpPr>
        <p:spPr>
          <a:xfrm>
            <a:off x="548640" y="3849496"/>
            <a:ext cx="11064240" cy="82296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9496"/>
            <a:ext cx="82296" cy="82296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849496"/>
            <a:ext cx="10835640" cy="822960"/>
          </a:xfrm>
          <a:prstGeom prst="rect">
            <a:avLst/>
          </a:prstGeom>
          <a:noFill/>
        </p:spPr>
        <p:txBody>
          <a:bodyPr wrap="square" lIns="45720" rIns="45720" tIns="27432" bIns="27432" anchor="ctr">
            <a:spAutoFit/>
          </a:bodyPr>
          <a:lstStyle/>
          <a:p>
            <a:pPr algn="l"/>
            <a:r>
              <a:rPr b="0" sz="1400" i="0">
                <a:solidFill>
                  <a:srgbClr val="1A2233"/>
                </a:solidFill>
                <a:latin typeface="Calibri"/>
              </a:rPr>
              <a:t>Our rule: avoid circularity wherever the economics allow it. Tomorrow's debt sizing also avoids it by sizing on cash flow before the tax shield on interest.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COMPARISON</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IDC methods compared (teaching case)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674622"/>
        </p:xfrm>
        <a:graphic>
          <a:graphicData uri="http://schemas.openxmlformats.org/drawingml/2006/table">
            <a:tbl>
              <a:tblPr firstRow="1" bandRow="1">
                <a:tableStyleId>{5C22544A-7EE6-4342-B048-85BDC9FD1C3A}</a:tableStyleId>
              </a:tblPr>
              <a:tblGrid>
                <a:gridCol w="4023360"/>
                <a:gridCol w="1645920"/>
                <a:gridCol w="1920240"/>
                <a:gridCol w="1828800"/>
                <a:gridCol w="1645920"/>
              </a:tblGrid>
              <a:tr h="522478">
                <a:tc>
                  <a:txBody>
                    <a:bodyPr wrap="square"/>
                    <a:lstStyle/>
                    <a:p>
                      <a:r>
                        <a:rPr b="1" sz="1300" i="0">
                          <a:solidFill>
                            <a:srgbClr val="FFFFFF"/>
                          </a:solidFill>
                          <a:latin typeface="Calibri"/>
                        </a:rPr>
                        <a:t>Method</a:t>
                      </a:r>
                    </a:p>
                  </a:txBody>
                  <a:tcPr marL="64008" marR="64008" marT="27432" marB="27432" anchor="ctr">
                    <a:solidFill>
                      <a:srgbClr val="141B4D"/>
                    </a:solidFill>
                  </a:tcPr>
                </a:tc>
                <a:tc>
                  <a:txBody>
                    <a:bodyPr wrap="square"/>
                    <a:lstStyle/>
                    <a:p>
                      <a:r>
                        <a:rPr b="1" sz="1300" i="0">
                          <a:solidFill>
                            <a:srgbClr val="FFFFFF"/>
                          </a:solidFill>
                          <a:latin typeface="Calibri"/>
                        </a:rPr>
                        <a:t>IDC ($000s)</a:t>
                      </a:r>
                    </a:p>
                  </a:txBody>
                  <a:tcPr marL="64008" marR="64008" marT="27432" marB="27432" anchor="ctr">
                    <a:solidFill>
                      <a:srgbClr val="141B4D"/>
                    </a:solidFill>
                  </a:tcPr>
                </a:tc>
                <a:tc>
                  <a:txBody>
                    <a:bodyPr wrap="square"/>
                    <a:lstStyle/>
                    <a:p>
                      <a:r>
                        <a:rPr b="1" sz="1300" i="0">
                          <a:solidFill>
                            <a:srgbClr val="FFFFFF"/>
                          </a:solidFill>
                          <a:latin typeface="Calibri"/>
                        </a:rPr>
                        <a:t>Total uses ($000s)</a:t>
                      </a:r>
                    </a:p>
                  </a:txBody>
                  <a:tcPr marL="64008" marR="64008" marT="27432" marB="27432" anchor="ctr">
                    <a:solidFill>
                      <a:srgbClr val="141B4D"/>
                    </a:solidFill>
                  </a:tcPr>
                </a:tc>
                <a:tc>
                  <a:txBody>
                    <a:bodyPr wrap="square"/>
                    <a:lstStyle/>
                    <a:p>
                      <a:r>
                        <a:rPr b="1" sz="1300" i="0">
                          <a:solidFill>
                            <a:srgbClr val="FFFFFF"/>
                          </a:solidFill>
                          <a:latin typeface="Calibri"/>
                        </a:rPr>
                        <a:t>Debt at COD ($000s)</a:t>
                      </a:r>
                    </a:p>
                  </a:txBody>
                  <a:tcPr marL="64008" marR="64008" marT="27432" marB="27432" anchor="ctr">
                    <a:solidFill>
                      <a:srgbClr val="141B4D"/>
                    </a:solidFill>
                  </a:tcPr>
                </a:tc>
                <a:tc>
                  <a:txBody>
                    <a:bodyPr wrap="square"/>
                    <a:lstStyle/>
                    <a:p>
                      <a:r>
                        <a:rPr b="1" sz="1300" i="0">
                          <a:solidFill>
                            <a:srgbClr val="FFFFFF"/>
                          </a:solidFill>
                          <a:latin typeface="Calibri"/>
                        </a:rPr>
                        <a:t>Equity ($000s)</a:t>
                      </a:r>
                    </a:p>
                  </a:txBody>
                  <a:tcPr marL="64008" marR="64008" marT="27432" marB="27432" anchor="ctr">
                    <a:solidFill>
                      <a:srgbClr val="141B4D"/>
                    </a:solidFill>
                  </a:tcPr>
                </a:tc>
              </a:tr>
              <a:tr h="384048">
                <a:tc>
                  <a:txBody>
                    <a:bodyPr wrap="square"/>
                    <a:lstStyle/>
                    <a:p>
                      <a:r>
                        <a:rPr b="1" sz="1300" i="0">
                          <a:solidFill>
                            <a:srgbClr val="1A2233"/>
                          </a:solidFill>
                          <a:latin typeface="Calibri"/>
                        </a:rPr>
                        <a:t>1: opening balance (our model)</a:t>
                      </a:r>
                    </a:p>
                  </a:txBody>
                  <a:tcPr marL="64008" marR="64008" marT="27432" marB="27432" anchor="ctr">
                    <a:solidFill>
                      <a:srgbClr val="FFFFFF"/>
                    </a:solidFill>
                  </a:tcPr>
                </a:tc>
                <a:tc>
                  <a:txBody>
                    <a:bodyPr wrap="square"/>
                    <a:lstStyle/>
                    <a:p>
                      <a:r>
                        <a:rPr b="0" sz="1300" i="0">
                          <a:solidFill>
                            <a:srgbClr val="1A2233"/>
                          </a:solidFill>
                          <a:latin typeface="Calibri"/>
                        </a:rPr>
                        <a:t>3,458.2</a:t>
                      </a:r>
                    </a:p>
                  </a:txBody>
                  <a:tcPr marL="64008" marR="64008" marT="27432" marB="27432" anchor="ctr">
                    <a:solidFill>
                      <a:srgbClr val="FFFFFF"/>
                    </a:solidFill>
                  </a:tcPr>
                </a:tc>
                <a:tc>
                  <a:txBody>
                    <a:bodyPr wrap="square"/>
                    <a:lstStyle/>
                    <a:p>
                      <a:r>
                        <a:rPr b="0" sz="1300" i="0">
                          <a:solidFill>
                            <a:srgbClr val="1A2233"/>
                          </a:solidFill>
                          <a:latin typeface="Calibri"/>
                        </a:rPr>
                        <a:t>100,022.9</a:t>
                      </a:r>
                    </a:p>
                  </a:txBody>
                  <a:tcPr marL="64008" marR="64008" marT="27432" marB="27432" anchor="ctr">
                    <a:solidFill>
                      <a:srgbClr val="FFFFFF"/>
                    </a:solidFill>
                  </a:tcPr>
                </a:tc>
                <a:tc>
                  <a:txBody>
                    <a:bodyPr wrap="square"/>
                    <a:lstStyle/>
                    <a:p>
                      <a:r>
                        <a:rPr b="0" sz="1300" i="0">
                          <a:solidFill>
                            <a:srgbClr val="1A2233"/>
                          </a:solidFill>
                          <a:latin typeface="Calibri"/>
                        </a:rPr>
                        <a:t>60,013.8</a:t>
                      </a:r>
                    </a:p>
                  </a:txBody>
                  <a:tcPr marL="64008" marR="64008" marT="27432" marB="27432" anchor="ctr">
                    <a:solidFill>
                      <a:srgbClr val="FFFFFF"/>
                    </a:solidFill>
                  </a:tcPr>
                </a:tc>
                <a:tc>
                  <a:txBody>
                    <a:bodyPr wrap="square"/>
                    <a:lstStyle/>
                    <a:p>
                      <a:r>
                        <a:rPr b="0" sz="1300" i="0">
                          <a:solidFill>
                            <a:srgbClr val="1A2233"/>
                          </a:solidFill>
                          <a:latin typeface="Calibri"/>
                        </a:rPr>
                        <a:t>40,009.2</a:t>
                      </a:r>
                    </a:p>
                  </a:txBody>
                  <a:tcPr marL="64008" marR="64008" marT="27432" marB="27432" anchor="ctr">
                    <a:solidFill>
                      <a:srgbClr val="FFFFFF"/>
                    </a:solidFill>
                  </a:tcPr>
                </a:tc>
              </a:tr>
              <a:tr h="384048">
                <a:tc>
                  <a:txBody>
                    <a:bodyPr wrap="square"/>
                    <a:lstStyle/>
                    <a:p>
                      <a:r>
                        <a:rPr b="1" sz="1300" i="0">
                          <a:solidFill>
                            <a:srgbClr val="1A2233"/>
                          </a:solidFill>
                          <a:latin typeface="Calibri"/>
                        </a:rPr>
                        <a:t>2: average balance, algebraic</a:t>
                      </a:r>
                    </a:p>
                  </a:txBody>
                  <a:tcPr marL="64008" marR="64008" marT="27432" marB="27432" anchor="ctr">
                    <a:solidFill>
                      <a:srgbClr val="F3F6F9"/>
                    </a:solidFill>
                  </a:tcPr>
                </a:tc>
                <a:tc>
                  <a:txBody>
                    <a:bodyPr wrap="square"/>
                    <a:lstStyle/>
                    <a:p>
                      <a:r>
                        <a:rPr b="0" sz="1300" i="0">
                          <a:solidFill>
                            <a:srgbClr val="1A2233"/>
                          </a:solidFill>
                          <a:latin typeface="Calibri"/>
                        </a:rPr>
                        <a:t>3,972.9</a:t>
                      </a:r>
                    </a:p>
                  </a:txBody>
                  <a:tcPr marL="64008" marR="64008" marT="27432" marB="27432" anchor="ctr">
                    <a:solidFill>
                      <a:srgbClr val="F3F6F9"/>
                    </a:solidFill>
                  </a:tcPr>
                </a:tc>
                <a:tc>
                  <a:txBody>
                    <a:bodyPr wrap="square"/>
                    <a:lstStyle/>
                    <a:p>
                      <a:r>
                        <a:rPr b="0" sz="1300" i="0">
                          <a:solidFill>
                            <a:srgbClr val="1A2233"/>
                          </a:solidFill>
                          <a:latin typeface="Calibri"/>
                        </a:rPr>
                        <a:t>100,535.6</a:t>
                      </a:r>
                    </a:p>
                  </a:txBody>
                  <a:tcPr marL="64008" marR="64008" marT="27432" marB="27432" anchor="ctr">
                    <a:solidFill>
                      <a:srgbClr val="F3F6F9"/>
                    </a:solidFill>
                  </a:tcPr>
                </a:tc>
                <a:tc>
                  <a:txBody>
                    <a:bodyPr wrap="square"/>
                    <a:lstStyle/>
                    <a:p>
                      <a:r>
                        <a:rPr b="0" sz="1300" i="0">
                          <a:solidFill>
                            <a:srgbClr val="1A2233"/>
                          </a:solidFill>
                          <a:latin typeface="Calibri"/>
                        </a:rPr>
                        <a:t>60,321.3</a:t>
                      </a:r>
                    </a:p>
                  </a:txBody>
                  <a:tcPr marL="64008" marR="64008" marT="27432" marB="27432" anchor="ctr">
                    <a:solidFill>
                      <a:srgbClr val="F3F6F9"/>
                    </a:solidFill>
                  </a:tcPr>
                </a:tc>
                <a:tc>
                  <a:txBody>
                    <a:bodyPr wrap="square"/>
                    <a:lstStyle/>
                    <a:p>
                      <a:r>
                        <a:rPr b="0" sz="1300" i="0">
                          <a:solidFill>
                            <a:srgbClr val="1A2233"/>
                          </a:solidFill>
                          <a:latin typeface="Calibri"/>
                        </a:rPr>
                        <a:t>40,214.2</a:t>
                      </a:r>
                    </a:p>
                  </a:txBody>
                  <a:tcPr marL="64008" marR="64008" marT="27432" marB="27432" anchor="ctr">
                    <a:solidFill>
                      <a:srgbClr val="F3F6F9"/>
                    </a:solidFill>
                  </a:tcPr>
                </a:tc>
              </a:tr>
              <a:tr h="384048">
                <a:tc>
                  <a:txBody>
                    <a:bodyPr wrap="square"/>
                    <a:lstStyle/>
                    <a:p>
                      <a:r>
                        <a:rPr b="1" sz="1300" i="0">
                          <a:solidFill>
                            <a:srgbClr val="1A2233"/>
                          </a:solidFill>
                          <a:latin typeface="Calibri"/>
                        </a:rPr>
                        <a:t>Equity first (method switch 2 on drawdown)</a:t>
                      </a:r>
                    </a:p>
                  </a:txBody>
                  <a:tcPr marL="64008" marR="64008" marT="27432" marB="27432" anchor="ctr">
                    <a:solidFill>
                      <a:srgbClr val="FFFFFF"/>
                    </a:solidFill>
                  </a:tcPr>
                </a:tc>
                <a:tc>
                  <a:txBody>
                    <a:bodyPr wrap="square"/>
                    <a:lstStyle/>
                    <a:p>
                      <a:r>
                        <a:rPr b="0" sz="1300" i="0">
                          <a:solidFill>
                            <a:srgbClr val="1A2233"/>
                          </a:solidFill>
                          <a:latin typeface="Calibri"/>
                        </a:rPr>
                        <a:t>2,212.6</a:t>
                      </a:r>
                    </a:p>
                  </a:txBody>
                  <a:tcPr marL="64008" marR="64008" marT="27432" marB="27432" anchor="ctr">
                    <a:solidFill>
                      <a:srgbClr val="FFFFFF"/>
                    </a:solidFill>
                  </a:tcPr>
                </a:tc>
                <a:tc>
                  <a:txBody>
                    <a:bodyPr wrap="square"/>
                    <a:lstStyle/>
                    <a:p>
                      <a:r>
                        <a:rPr b="0" sz="1300" i="0">
                          <a:solidFill>
                            <a:srgbClr val="1A2233"/>
                          </a:solidFill>
                          <a:latin typeface="Calibri"/>
                        </a:rPr>
                        <a:t>98,921.1</a:t>
                      </a:r>
                    </a:p>
                  </a:txBody>
                  <a:tcPr marL="64008" marR="64008" marT="27432" marB="27432" anchor="ctr">
                    <a:solidFill>
                      <a:srgbClr val="FFFFFF"/>
                    </a:solidFill>
                  </a:tcPr>
                </a:tc>
                <a:tc>
                  <a:txBody>
                    <a:bodyPr wrap="square"/>
                    <a:lstStyle/>
                    <a:p>
                      <a:r>
                        <a:rPr b="0" sz="1300" i="0">
                          <a:solidFill>
                            <a:srgbClr val="1A2233"/>
                          </a:solidFill>
                          <a:latin typeface="Calibri"/>
                        </a:rPr>
                        <a:t>58,921.1</a:t>
                      </a:r>
                    </a:p>
                  </a:txBody>
                  <a:tcPr marL="64008" marR="64008" marT="27432" marB="27432" anchor="ctr">
                    <a:solidFill>
                      <a:srgbClr val="FFFFFF"/>
                    </a:solidFill>
                  </a:tcPr>
                </a:tc>
                <a:tc>
                  <a:txBody>
                    <a:bodyPr wrap="square"/>
                    <a:lstStyle/>
                    <a:p>
                      <a:r>
                        <a:rPr b="0" sz="1300" i="0">
                          <a:solidFill>
                            <a:srgbClr val="1A2233"/>
                          </a:solidFill>
                          <a:latin typeface="Calibri"/>
                        </a:rPr>
                        <a:t>40,000.0</a:t>
                      </a:r>
                    </a:p>
                  </a:txBody>
                  <a:tcPr marL="64008" marR="64008" marT="27432" marB="27432" anchor="ctr">
                    <a:solidFill>
                      <a:srgbClr val="FFFFFF"/>
                    </a:solidFill>
                  </a:tcPr>
                </a:tc>
              </a:tr>
            </a:tbl>
          </a:graphicData>
        </a:graphic>
      </p:graphicFrame>
      <p:sp>
        <p:nvSpPr>
          <p:cNvPr id="12" name="Rectangle 11"/>
          <p:cNvSpPr/>
          <p:nvPr/>
        </p:nvSpPr>
        <p:spPr>
          <a:xfrm>
            <a:off x="548640" y="3366262"/>
            <a:ext cx="11064240" cy="73152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366262"/>
            <a:ext cx="82296" cy="73152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366262"/>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Equity-first reduces IDC and total cost but asks sponsors to fund more earlier. Lenders often require it.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6.5: Switch the drawdown method and compare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Switch InpC!L133 between 1 and 2 and record total uses, IDC and gearing at COD.</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Method 1: record Constr!F52, H31, F53</a:t>
            </a:r>
          </a:p>
          <a:p>
            <a:pPr>
              <a:spcAft>
                <a:spcPts val="300"/>
              </a:spcAft>
            </a:pPr>
            <a:r>
              <a:rPr b="0" sz="1500" i="0">
                <a:solidFill>
                  <a:srgbClr val="1A2233"/>
                </a:solidFill>
                <a:latin typeface="Calibri"/>
              </a:rPr>
              <a:t>2.  Method 2: record the same</a:t>
            </a:r>
          </a:p>
          <a:p>
            <a:pPr>
              <a:spcAft>
                <a:spcPts val="300"/>
              </a:spcAft>
            </a:pPr>
            <a:r>
              <a:rPr b="0" sz="1500" i="0">
                <a:solidFill>
                  <a:srgbClr val="1A2233"/>
                </a:solidFill>
                <a:latin typeface="Calibri"/>
              </a:rPr>
              <a:t>3.  Explain the difference in two sentences</a:t>
            </a:r>
          </a:p>
          <a:p>
            <a:pPr>
              <a:spcAft>
                <a:spcPts val="300"/>
              </a:spcAft>
            </a:pPr>
            <a:r>
              <a:rPr b="0" sz="1500" i="0">
                <a:solidFill>
                  <a:srgbClr val="1A2233"/>
                </a:solidFill>
                <a:latin typeface="Calibri"/>
              </a:rPr>
              <a:t>4.  Restore to method 1</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15 min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CHECKPOINTS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Day 6 end-state checkpoints (teaching inputs)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127248"/>
        </p:xfrm>
        <a:graphic>
          <a:graphicData uri="http://schemas.openxmlformats.org/drawingml/2006/table">
            <a:tbl>
              <a:tblPr firstRow="1" bandRow="1">
                <a:tableStyleId>{5C22544A-7EE6-4342-B048-85BDC9FD1C3A}</a:tableStyleId>
              </a:tblPr>
              <a:tblGrid>
                <a:gridCol w="2743200"/>
                <a:gridCol w="4754880"/>
                <a:gridCol w="3566160"/>
              </a:tblGrid>
              <a:tr h="347472">
                <a:tc>
                  <a:txBody>
                    <a:bodyPr wrap="square"/>
                    <a:lstStyle/>
                    <a:p>
                      <a:r>
                        <a:rPr b="1" sz="1300" i="0">
                          <a:solidFill>
                            <a:srgbClr val="FFFFFF"/>
                          </a:solidFill>
                          <a:latin typeface="Calibri"/>
                        </a:rPr>
                        <a:t>Cell</a:t>
                      </a:r>
                    </a:p>
                  </a:txBody>
                  <a:tcPr marL="64008" marR="64008" marT="27432" marB="27432" anchor="ctr">
                    <a:solidFill>
                      <a:srgbClr val="141B4D"/>
                    </a:solidFill>
                  </a:tcPr>
                </a:tc>
                <a:tc>
                  <a:txBody>
                    <a:bodyPr wrap="square"/>
                    <a:lstStyle/>
                    <a:p>
                      <a:r>
                        <a:rPr b="1" sz="1300" i="0">
                          <a:solidFill>
                            <a:srgbClr val="FFFFFF"/>
                          </a:solidFill>
                          <a:latin typeface="Calibri"/>
                        </a:rPr>
                        <a:t>Item</a:t>
                      </a:r>
                    </a:p>
                  </a:txBody>
                  <a:tcPr marL="64008" marR="64008" marT="27432" marB="27432" anchor="ctr">
                    <a:solidFill>
                      <a:srgbClr val="141B4D"/>
                    </a:solidFill>
                  </a:tcPr>
                </a:tc>
                <a:tc>
                  <a:txBody>
                    <a:bodyPr wrap="square"/>
                    <a:lstStyle/>
                    <a:p>
                      <a:r>
                        <a:rPr b="1" sz="1300" i="0">
                          <a:solidFill>
                            <a:srgbClr val="FFFFFF"/>
                          </a:solidFill>
                          <a:latin typeface="Calibri"/>
                        </a:rPr>
                        <a:t>Value ($000s)</a:t>
                      </a:r>
                    </a:p>
                  </a:txBody>
                  <a:tcPr marL="64008" marR="64008" marT="27432" marB="27432" anchor="ctr">
                    <a:solidFill>
                      <a:srgbClr val="141B4D"/>
                    </a:solidFill>
                  </a:tcPr>
                </a:tc>
              </a:tr>
              <a:tr h="347472">
                <a:tc>
                  <a:txBody>
                    <a:bodyPr wrap="square"/>
                    <a:lstStyle/>
                    <a:p>
                      <a:r>
                        <a:rPr b="1" sz="1300" i="0">
                          <a:solidFill>
                            <a:srgbClr val="1A2233"/>
                          </a:solidFill>
                          <a:latin typeface="Calibri"/>
                        </a:rPr>
                        <a:t>Constr!H19</a:t>
                      </a:r>
                    </a:p>
                  </a:txBody>
                  <a:tcPr marL="64008" marR="64008" marT="27432" marB="27432" anchor="ctr">
                    <a:solidFill>
                      <a:srgbClr val="FFFFFF"/>
                    </a:solidFill>
                  </a:tcPr>
                </a:tc>
                <a:tc>
                  <a:txBody>
                    <a:bodyPr wrap="square"/>
                    <a:lstStyle/>
                    <a:p>
                      <a:r>
                        <a:rPr b="0" sz="1300" i="0">
                          <a:solidFill>
                            <a:srgbClr val="1A2233"/>
                          </a:solidFill>
                          <a:latin typeface="Calibri"/>
                        </a:rPr>
                        <a:t>Total hard cost</a:t>
                      </a:r>
                    </a:p>
                  </a:txBody>
                  <a:tcPr marL="64008" marR="64008" marT="27432" marB="27432" anchor="ctr">
                    <a:solidFill>
                      <a:srgbClr val="FFFFFF"/>
                    </a:solidFill>
                  </a:tcPr>
                </a:tc>
                <a:tc>
                  <a:txBody>
                    <a:bodyPr wrap="square"/>
                    <a:lstStyle/>
                    <a:p>
                      <a:r>
                        <a:rPr b="0" sz="1300" i="0">
                          <a:solidFill>
                            <a:srgbClr val="1A2233"/>
                          </a:solidFill>
                          <a:latin typeface="Calibri"/>
                        </a:rPr>
                        <a:t>94,850</a:t>
                      </a:r>
                    </a:p>
                  </a:txBody>
                  <a:tcPr marL="64008" marR="64008" marT="27432" marB="27432" anchor="ctr">
                    <a:solidFill>
                      <a:srgbClr val="FFFFFF"/>
                    </a:solidFill>
                  </a:tcPr>
                </a:tc>
              </a:tr>
              <a:tr h="347472">
                <a:tc>
                  <a:txBody>
                    <a:bodyPr wrap="square"/>
                    <a:lstStyle/>
                    <a:p>
                      <a:r>
                        <a:rPr b="1" sz="1300" i="0">
                          <a:solidFill>
                            <a:srgbClr val="1A2233"/>
                          </a:solidFill>
                          <a:latin typeface="Calibri"/>
                        </a:rPr>
                        <a:t>Constr!H25</a:t>
                      </a:r>
                    </a:p>
                  </a:txBody>
                  <a:tcPr marL="64008" marR="64008" marT="27432" marB="27432" anchor="ctr">
                    <a:solidFill>
                      <a:srgbClr val="F3F6F9"/>
                    </a:solidFill>
                  </a:tcPr>
                </a:tc>
                <a:tc>
                  <a:txBody>
                    <a:bodyPr wrap="square"/>
                    <a:lstStyle/>
                    <a:p>
                      <a:r>
                        <a:rPr b="0" sz="1300" i="0">
                          <a:solidFill>
                            <a:srgbClr val="1A2233"/>
                          </a:solidFill>
                          <a:latin typeface="Calibri"/>
                        </a:rPr>
                        <a:t>Upfront fee</a:t>
                      </a:r>
                    </a:p>
                  </a:txBody>
                  <a:tcPr marL="64008" marR="64008" marT="27432" marB="27432" anchor="ctr">
                    <a:solidFill>
                      <a:srgbClr val="F3F6F9"/>
                    </a:solidFill>
                  </a:tcPr>
                </a:tc>
                <a:tc>
                  <a:txBody>
                    <a:bodyPr wrap="square"/>
                    <a:lstStyle/>
                    <a:p>
                      <a:r>
                        <a:rPr b="0" sz="1300" i="0">
                          <a:solidFill>
                            <a:srgbClr val="1A2233"/>
                          </a:solidFill>
                          <a:latin typeface="Calibri"/>
                        </a:rPr>
                        <a:t>1,200</a:t>
                      </a:r>
                    </a:p>
                  </a:txBody>
                  <a:tcPr marL="64008" marR="64008" marT="27432" marB="27432" anchor="ctr">
                    <a:solidFill>
                      <a:srgbClr val="F3F6F9"/>
                    </a:solidFill>
                  </a:tcPr>
                </a:tc>
              </a:tr>
              <a:tr h="347472">
                <a:tc>
                  <a:txBody>
                    <a:bodyPr wrap="square"/>
                    <a:lstStyle/>
                    <a:p>
                      <a:r>
                        <a:rPr b="1" sz="1300" i="0">
                          <a:solidFill>
                            <a:srgbClr val="1A2233"/>
                          </a:solidFill>
                          <a:latin typeface="Calibri"/>
                        </a:rPr>
                        <a:t>Constr!H31</a:t>
                      </a:r>
                    </a:p>
                  </a:txBody>
                  <a:tcPr marL="64008" marR="64008" marT="27432" marB="27432" anchor="ctr">
                    <a:solidFill>
                      <a:srgbClr val="FFFFFF"/>
                    </a:solidFill>
                  </a:tcPr>
                </a:tc>
                <a:tc>
                  <a:txBody>
                    <a:bodyPr wrap="square"/>
                    <a:lstStyle/>
                    <a:p>
                      <a:r>
                        <a:rPr b="0" sz="1300" i="0">
                          <a:solidFill>
                            <a:srgbClr val="1A2233"/>
                          </a:solidFill>
                          <a:latin typeface="Calibri"/>
                        </a:rPr>
                        <a:t>IDC</a:t>
                      </a:r>
                    </a:p>
                  </a:txBody>
                  <a:tcPr marL="64008" marR="64008" marT="27432" marB="27432" anchor="ctr">
                    <a:solidFill>
                      <a:srgbClr val="FFFFFF"/>
                    </a:solidFill>
                  </a:tcPr>
                </a:tc>
                <a:tc>
                  <a:txBody>
                    <a:bodyPr wrap="square"/>
                    <a:lstStyle/>
                    <a:p>
                      <a:r>
                        <a:rPr b="0" sz="1300" i="0">
                          <a:solidFill>
                            <a:srgbClr val="1A2233"/>
                          </a:solidFill>
                          <a:latin typeface="Calibri"/>
                        </a:rPr>
                        <a:t>3,458.2</a:t>
                      </a:r>
                    </a:p>
                  </a:txBody>
                  <a:tcPr marL="64008" marR="64008" marT="27432" marB="27432" anchor="ctr">
                    <a:solidFill>
                      <a:srgbClr val="FFFFFF"/>
                    </a:solidFill>
                  </a:tcPr>
                </a:tc>
              </a:tr>
              <a:tr h="347472">
                <a:tc>
                  <a:txBody>
                    <a:bodyPr wrap="square"/>
                    <a:lstStyle/>
                    <a:p>
                      <a:r>
                        <a:rPr b="1" sz="1300" i="0">
                          <a:solidFill>
                            <a:srgbClr val="1A2233"/>
                          </a:solidFill>
                          <a:latin typeface="Calibri"/>
                        </a:rPr>
                        <a:t>Constr!H32</a:t>
                      </a:r>
                    </a:p>
                  </a:txBody>
                  <a:tcPr marL="64008" marR="64008" marT="27432" marB="27432" anchor="ctr">
                    <a:solidFill>
                      <a:srgbClr val="F3F6F9"/>
                    </a:solidFill>
                  </a:tcPr>
                </a:tc>
                <a:tc>
                  <a:txBody>
                    <a:bodyPr wrap="square"/>
                    <a:lstStyle/>
                    <a:p>
                      <a:r>
                        <a:rPr b="0" sz="1300" i="0">
                          <a:solidFill>
                            <a:srgbClr val="1A2233"/>
                          </a:solidFill>
                          <a:latin typeface="Calibri"/>
                        </a:rPr>
                        <a:t>Commitment fee</a:t>
                      </a:r>
                    </a:p>
                  </a:txBody>
                  <a:tcPr marL="64008" marR="64008" marT="27432" marB="27432" anchor="ctr">
                    <a:solidFill>
                      <a:srgbClr val="F3F6F9"/>
                    </a:solidFill>
                  </a:tcPr>
                </a:tc>
                <a:tc>
                  <a:txBody>
                    <a:bodyPr wrap="square"/>
                    <a:lstStyle/>
                    <a:p>
                      <a:r>
                        <a:rPr b="0" sz="1300" i="0">
                          <a:solidFill>
                            <a:srgbClr val="1A2233"/>
                          </a:solidFill>
                          <a:latin typeface="Calibri"/>
                        </a:rPr>
                        <a:t>514.7</a:t>
                      </a:r>
                    </a:p>
                  </a:txBody>
                  <a:tcPr marL="64008" marR="64008" marT="27432" marB="27432" anchor="ctr">
                    <a:solidFill>
                      <a:srgbClr val="F3F6F9"/>
                    </a:solidFill>
                  </a:tcPr>
                </a:tc>
              </a:tr>
              <a:tr h="347472">
                <a:tc>
                  <a:txBody>
                    <a:bodyPr wrap="square"/>
                    <a:lstStyle/>
                    <a:p>
                      <a:r>
                        <a:rPr b="1" sz="1300" i="0">
                          <a:solidFill>
                            <a:srgbClr val="1A2233"/>
                          </a:solidFill>
                          <a:latin typeface="Calibri"/>
                        </a:rPr>
                        <a:t>Constr!F52</a:t>
                      </a:r>
                    </a:p>
                  </a:txBody>
                  <a:tcPr marL="64008" marR="64008" marT="27432" marB="27432" anchor="ctr">
                    <a:solidFill>
                      <a:srgbClr val="FFFFFF"/>
                    </a:solidFill>
                  </a:tcPr>
                </a:tc>
                <a:tc>
                  <a:txBody>
                    <a:bodyPr wrap="square"/>
                    <a:lstStyle/>
                    <a:p>
                      <a:r>
                        <a:rPr b="0" sz="1300" i="0">
                          <a:solidFill>
                            <a:srgbClr val="1A2233"/>
                          </a:solidFill>
                          <a:latin typeface="Calibri"/>
                        </a:rPr>
                        <a:t>Capitalised project cost</a:t>
                      </a:r>
                    </a:p>
                  </a:txBody>
                  <a:tcPr marL="64008" marR="64008" marT="27432" marB="27432" anchor="ctr">
                    <a:solidFill>
                      <a:srgbClr val="FFFFFF"/>
                    </a:solidFill>
                  </a:tcPr>
                </a:tc>
                <a:tc>
                  <a:txBody>
                    <a:bodyPr wrap="square"/>
                    <a:lstStyle/>
                    <a:p>
                      <a:r>
                        <a:rPr b="0" sz="1300" i="0">
                          <a:solidFill>
                            <a:srgbClr val="1A2233"/>
                          </a:solidFill>
                          <a:latin typeface="Calibri"/>
                        </a:rPr>
                        <a:t>100,022.9</a:t>
                      </a:r>
                    </a:p>
                  </a:txBody>
                  <a:tcPr marL="64008" marR="64008" marT="27432" marB="27432" anchor="ctr">
                    <a:solidFill>
                      <a:srgbClr val="FFFFFF"/>
                    </a:solidFill>
                  </a:tcPr>
                </a:tc>
              </a:tr>
              <a:tr h="347472">
                <a:tc>
                  <a:txBody>
                    <a:bodyPr wrap="square"/>
                    <a:lstStyle/>
                    <a:p>
                      <a:r>
                        <a:rPr b="1" sz="1300" i="0">
                          <a:solidFill>
                            <a:srgbClr val="1A2233"/>
                          </a:solidFill>
                          <a:latin typeface="Calibri"/>
                        </a:rPr>
                        <a:t>Constr!F53</a:t>
                      </a:r>
                    </a:p>
                  </a:txBody>
                  <a:tcPr marL="64008" marR="64008" marT="27432" marB="27432" anchor="ctr">
                    <a:solidFill>
                      <a:srgbClr val="F3F6F9"/>
                    </a:solidFill>
                  </a:tcPr>
                </a:tc>
                <a:tc>
                  <a:txBody>
                    <a:bodyPr wrap="square"/>
                    <a:lstStyle/>
                    <a:p>
                      <a:r>
                        <a:rPr b="0" sz="1300" i="0">
                          <a:solidFill>
                            <a:srgbClr val="1A2233"/>
                          </a:solidFill>
                          <a:latin typeface="Calibri"/>
                        </a:rPr>
                        <a:t>Senior debt at COD</a:t>
                      </a:r>
                    </a:p>
                  </a:txBody>
                  <a:tcPr marL="64008" marR="64008" marT="27432" marB="27432" anchor="ctr">
                    <a:solidFill>
                      <a:srgbClr val="F3F6F9"/>
                    </a:solidFill>
                  </a:tcPr>
                </a:tc>
                <a:tc>
                  <a:txBody>
                    <a:bodyPr wrap="square"/>
                    <a:lstStyle/>
                    <a:p>
                      <a:r>
                        <a:rPr b="0" sz="1300" i="0">
                          <a:solidFill>
                            <a:srgbClr val="1A2233"/>
                          </a:solidFill>
                          <a:latin typeface="Calibri"/>
                        </a:rPr>
                        <a:t>60,013.8</a:t>
                      </a:r>
                    </a:p>
                  </a:txBody>
                  <a:tcPr marL="64008" marR="64008" marT="27432" marB="27432" anchor="ctr">
                    <a:solidFill>
                      <a:srgbClr val="F3F6F9"/>
                    </a:solidFill>
                  </a:tcPr>
                </a:tc>
              </a:tr>
              <a:tr h="347472">
                <a:tc>
                  <a:txBody>
                    <a:bodyPr wrap="square"/>
                    <a:lstStyle/>
                    <a:p>
                      <a:r>
                        <a:rPr b="1" sz="1300" i="0">
                          <a:solidFill>
                            <a:srgbClr val="1A2233"/>
                          </a:solidFill>
                          <a:latin typeface="Calibri"/>
                        </a:rPr>
                        <a:t>Constr!F54</a:t>
                      </a:r>
                    </a:p>
                  </a:txBody>
                  <a:tcPr marL="64008" marR="64008" marT="27432" marB="27432" anchor="ctr">
                    <a:solidFill>
                      <a:srgbClr val="FFFFFF"/>
                    </a:solidFill>
                  </a:tcPr>
                </a:tc>
                <a:tc>
                  <a:txBody>
                    <a:bodyPr wrap="square"/>
                    <a:lstStyle/>
                    <a:p>
                      <a:r>
                        <a:rPr b="0" sz="1300" i="0">
                          <a:solidFill>
                            <a:srgbClr val="1A2233"/>
                          </a:solidFill>
                          <a:latin typeface="Calibri"/>
                        </a:rPr>
                        <a:t>Sponsor funding at COD</a:t>
                      </a:r>
                    </a:p>
                  </a:txBody>
                  <a:tcPr marL="64008" marR="64008" marT="27432" marB="27432" anchor="ctr">
                    <a:solidFill>
                      <a:srgbClr val="FFFFFF"/>
                    </a:solidFill>
                  </a:tcPr>
                </a:tc>
                <a:tc>
                  <a:txBody>
                    <a:bodyPr wrap="square"/>
                    <a:lstStyle/>
                    <a:p>
                      <a:r>
                        <a:rPr b="0" sz="1300" i="0">
                          <a:solidFill>
                            <a:srgbClr val="1A2233"/>
                          </a:solidFill>
                          <a:latin typeface="Calibri"/>
                        </a:rPr>
                        <a:t>40,009.2</a:t>
                      </a:r>
                    </a:p>
                  </a:txBody>
                  <a:tcPr marL="64008" marR="64008" marT="27432" marB="27432" anchor="ctr">
                    <a:solidFill>
                      <a:srgbClr val="FFFFFF"/>
                    </a:solidFill>
                  </a:tcPr>
                </a:tc>
              </a:tr>
              <a:tr h="347472">
                <a:tc>
                  <a:txBody>
                    <a:bodyPr wrap="square"/>
                    <a:lstStyle/>
                    <a:p>
                      <a:r>
                        <a:rPr b="1" sz="1300" i="0">
                          <a:solidFill>
                            <a:srgbClr val="1A2233"/>
                          </a:solidFill>
                          <a:latin typeface="Calibri"/>
                        </a:rPr>
                        <a:t>Constr!F55</a:t>
                      </a:r>
                    </a:p>
                  </a:txBody>
                  <a:tcPr marL="64008" marR="64008" marT="27432" marB="27432" anchor="ctr">
                    <a:solidFill>
                      <a:srgbClr val="F3F6F9"/>
                    </a:solidFill>
                  </a:tcPr>
                </a:tc>
                <a:tc>
                  <a:txBody>
                    <a:bodyPr wrap="square"/>
                    <a:lstStyle/>
                    <a:p>
                      <a:r>
                        <a:rPr b="0" sz="1300" i="0">
                          <a:solidFill>
                            <a:srgbClr val="1A2233"/>
                          </a:solidFill>
                          <a:latin typeface="Calibri"/>
                        </a:rPr>
                        <a:t>Check</a:t>
                      </a:r>
                    </a:p>
                  </a:txBody>
                  <a:tcPr marL="64008" marR="64008" marT="27432" marB="27432" anchor="ctr">
                    <a:solidFill>
                      <a:srgbClr val="F3F6F9"/>
                    </a:solidFill>
                  </a:tcPr>
                </a:tc>
                <a:tc>
                  <a:txBody>
                    <a:bodyPr wrap="square"/>
                    <a:lstStyle/>
                    <a:p>
                      <a:r>
                        <a:rPr b="0" sz="1300" i="0">
                          <a:solidFill>
                            <a:srgbClr val="1A2233"/>
                          </a:solidFill>
                          <a:latin typeface="Calibri"/>
                        </a:rPr>
                        <a:t>0</a:t>
                      </a:r>
                    </a:p>
                  </a:txBody>
                  <a:tcPr marL="64008" marR="64008" marT="27432" marB="27432" anchor="ctr">
                    <a:solidFill>
                      <a:srgbClr val="F3F6F9"/>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 YOUR UNDERSTANDING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Total uses of funds in a quarter are 20,000 with 60% gearing. How much debt and equity are drawn in that quarter under pro-rata drawdown?</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12,000 debt and 8,000 equity</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8,000 debt and 12,000 equity</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20,000 debt and nothing from equity</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10,000 each</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 YOUR UNDERSTANDING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Why does IDC fall when sponsors fund equity first?</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Debt is drawn later, so less interest accrues</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The interest rate is lower</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Fees are waived</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Lenders pay the interest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6  |  Wed 21 Oct 2026  |  Project finance modelling I: construction and funding</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RECAP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What we built today</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The construction timeline (8 quarters counted back from COD)</a:t>
            </a:r>
          </a:p>
          <a:p>
            <a:pPr>
              <a:spcAft>
                <a:spcPts val="700"/>
              </a:spcAft>
            </a:pPr>
            <a:r>
              <a:rPr b="0" sz="2000" i="0">
                <a:solidFill>
                  <a:srgbClr val="1A2233"/>
                </a:solidFill>
                <a:latin typeface="Calibri"/>
              </a:rPr>
              <a:t>▪ Uses of funds: hard cost, upfront fee, IDC, commitment fee</a:t>
            </a:r>
          </a:p>
          <a:p>
            <a:pPr>
              <a:spcAft>
                <a:spcPts val="700"/>
              </a:spcAft>
            </a:pPr>
            <a:r>
              <a:rPr b="0" sz="2000" i="0">
                <a:solidFill>
                  <a:srgbClr val="1A2233"/>
                </a:solidFill>
                <a:latin typeface="Calibri"/>
              </a:rPr>
              <a:t>▪ Sources of funds: pro-rata or equity-first, with the sources = uses check</a:t>
            </a:r>
          </a:p>
          <a:p>
            <a:pPr>
              <a:spcAft>
                <a:spcPts val="700"/>
              </a:spcAft>
            </a:pPr>
            <a:r>
              <a:rPr b="0" sz="2000" i="0">
                <a:solidFill>
                  <a:srgbClr val="1A2233"/>
                </a:solidFill>
                <a:latin typeface="Calibri"/>
              </a:rPr>
              <a:t>▪ Opening balances linked to NCA, Debt and Equity</a:t>
            </a:r>
          </a:p>
          <a:p>
            <a:pPr>
              <a:spcAft>
                <a:spcPts val="700"/>
              </a:spcAft>
            </a:pPr>
            <a:r>
              <a:rPr b="0" sz="2000" i="0">
                <a:solidFill>
                  <a:srgbClr val="1A2233"/>
                </a:solidFill>
                <a:latin typeface="Calibri"/>
              </a:rPr>
              <a:t>▪ IDC methods and circularity: avoid, solve, iterate</a:t>
            </a:r>
          </a:p>
        </p:txBody>
      </p:sp>
      <p:sp>
        <p:nvSpPr>
          <p:cNvPr id="12" name="Rectangle 11"/>
          <p:cNvSpPr/>
          <p:nvPr/>
        </p:nvSpPr>
        <p:spPr>
          <a:xfrm>
            <a:off x="640080" y="5029200"/>
            <a:ext cx="10881360" cy="82296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5029200"/>
            <a:ext cx="82296" cy="82296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029200"/>
            <a:ext cx="10652760" cy="822960"/>
          </a:xfrm>
          <a:prstGeom prst="rect">
            <a:avLst/>
          </a:prstGeom>
          <a:noFill/>
        </p:spPr>
        <p:txBody>
          <a:bodyPr wrap="square" lIns="45720" rIns="45720" tIns="27432" bIns="27432" anchor="ctr">
            <a:spAutoFit/>
          </a:bodyPr>
          <a:lstStyle/>
          <a:p>
            <a:pPr algn="l"/>
            <a:r>
              <a:rPr b="0" sz="1400" i="0">
                <a:solidFill>
                  <a:srgbClr val="1A2233"/>
                </a:solidFill>
                <a:latin typeface="Calibri"/>
              </a:rPr>
              <a:t>Tomorrow (Day 7): size the debt from cash flow, sculpt repayments, add DSRA and the shareholder loan, then ratios, blended returns and optimisation.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6  |  Wed 21 Oct 2026  |  Project finance modelling I: construction and funding</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52</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15544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QUESTIONS AND FOLLOW-UP</a:t>
            </a:r>
          </a:p>
        </p:txBody>
      </p:sp>
      <p:sp>
        <p:nvSpPr>
          <p:cNvPr id="10" name="TextBox 9"/>
          <p:cNvSpPr txBox="1"/>
          <p:nvPr/>
        </p:nvSpPr>
        <p:spPr>
          <a:xfrm>
            <a:off x="731520" y="1965960"/>
            <a:ext cx="10058400" cy="914400"/>
          </a:xfrm>
          <a:prstGeom prst="rect">
            <a:avLst/>
          </a:prstGeom>
          <a:noFill/>
        </p:spPr>
        <p:txBody>
          <a:bodyPr wrap="square" lIns="45720" rIns="45720" tIns="27432" bIns="27432" anchor="t">
            <a:spAutoFit/>
          </a:bodyPr>
          <a:lstStyle/>
          <a:p>
            <a:pPr algn="l"/>
            <a:r>
              <a:rPr b="1" sz="4400" i="0">
                <a:solidFill>
                  <a:srgbClr val="FFFFFF"/>
                </a:solidFill>
                <a:latin typeface="Georgia"/>
              </a:rPr>
              <a:t>Thank you</a:t>
            </a:r>
          </a:p>
        </p:txBody>
      </p:sp>
      <p:sp>
        <p:nvSpPr>
          <p:cNvPr id="11" name="TextBox 10"/>
          <p:cNvSpPr txBox="1"/>
          <p:nvPr/>
        </p:nvSpPr>
        <p:spPr>
          <a:xfrm>
            <a:off x="731520" y="3200400"/>
            <a:ext cx="8686800" cy="2194560"/>
          </a:xfrm>
          <a:prstGeom prst="rect">
            <a:avLst/>
          </a:prstGeom>
          <a:noFill/>
        </p:spPr>
        <p:txBody>
          <a:bodyPr wrap="square" lIns="45720" rIns="45720" tIns="27432" bIns="27432" anchor="t">
            <a:spAutoFit/>
          </a:bodyPr>
          <a:lstStyle/>
          <a:p>
            <a:pPr algn="l"/>
            <a:r>
              <a:rPr b="1" sz="2000" i="0">
                <a:solidFill>
                  <a:srgbClr val="D8DEF5"/>
                </a:solidFill>
                <a:latin typeface="Calibri"/>
              </a:rPr>
              <a:t>Prof Bongo Adi</a:t>
            </a:r>
          </a:p>
          <a:p>
            <a:pPr algn="l"/>
            <a:r>
              <a:rPr b="0" sz="2000" i="0">
                <a:solidFill>
                  <a:srgbClr val="D8DEF5"/>
                </a:solidFill>
                <a:latin typeface="Calibri"/>
              </a:rPr>
              <a:t>Lagos Business School, Pan-Atlantic University</a:t>
            </a:r>
          </a:p>
          <a:p>
            <a:pPr algn="l"/>
            <a:r>
              <a:rPr b="0" sz="2000" i="0">
                <a:solidFill>
                  <a:srgbClr val="D8DEF5"/>
                </a:solidFill>
                <a:latin typeface="Calibri"/>
              </a:rPr>
              <a:t>Phone / WhatsApp:  +234 706 164 8699</a:t>
            </a:r>
          </a:p>
          <a:p>
            <a:pPr algn="l"/>
            <a:r>
              <a:rPr b="0" sz="2000" i="0">
                <a:solidFill>
                  <a:srgbClr val="D8DEF5"/>
                </a:solidFill>
                <a:latin typeface="Calibri"/>
              </a:rPr>
              <a:t>Email:  badi@lbs.edu.ng</a:t>
            </a:r>
          </a:p>
          <a:p>
            <a:pPr algn="l"/>
            <a:r>
              <a:rPr b="0" sz="2000" i="0">
                <a:solidFill>
                  <a:srgbClr val="D8DEF5"/>
                </a:solidFill>
                <a:latin typeface="Calibri"/>
              </a:rPr>
              <a:t>Fulbright email:  bongo.adi@fulbrightmail.org</a:t>
            </a:r>
          </a:p>
        </p:txBody>
      </p:sp>
      <p:pic>
        <p:nvPicPr>
          <p:cNvPr id="12" name="Picture 11" descr="mipf_hex.png"/>
          <p:cNvPicPr>
            <a:picLocks noChangeAspect="1"/>
          </p:cNvPicPr>
          <p:nvPr/>
        </p:nvPicPr>
        <p:blipFill>
          <a:blip r:embed="rId5"/>
          <a:stretch>
            <a:fillRect/>
          </a:stretch>
        </p:blipFill>
        <p:spPr>
          <a:xfrm>
            <a:off x="9418320" y="1828800"/>
            <a:ext cx="2103120" cy="2103120"/>
          </a:xfrm>
          <a:prstGeom prst="rect">
            <a:avLst/>
          </a:prstGeom>
        </p:spPr>
      </p:pic>
      <p:pic>
        <p:nvPicPr>
          <p:cNvPr id="13" name="Picture 12" descr="bongo_ai_hex_dark_256.png"/>
          <p:cNvPicPr>
            <a:picLocks noChangeAspect="1"/>
          </p:cNvPicPr>
          <p:nvPr/>
        </p:nvPicPr>
        <p:blipFill>
          <a:blip r:embed="rId4"/>
          <a:stretch>
            <a:fillRect/>
          </a:stretch>
        </p:blipFill>
        <p:spPr>
          <a:xfrm>
            <a:off x="9692640" y="4114800"/>
            <a:ext cx="1554480" cy="1554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MIPF_Day6_PF_Construction_Deck (participant edition)</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