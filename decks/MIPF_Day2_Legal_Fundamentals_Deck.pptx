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 Id="rId6"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ounded Rectangle 1"/>
          <p:cNvSpPr/>
          <p:nvPr/>
        </p:nvSpPr>
        <p:spPr>
          <a:xfrm>
            <a:off x="457200" y="411480"/>
            <a:ext cx="320040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566928" y="502920"/>
            <a:ext cx="2516682" cy="868680"/>
          </a:xfrm>
          <a:prstGeom prst="rect">
            <a:avLst/>
          </a:prstGeom>
        </p:spPr>
      </p:pic>
      <p:pic>
        <p:nvPicPr>
          <p:cNvPr id="4" name="Picture 3" descr="mipf_hex.png"/>
          <p:cNvPicPr>
            <a:picLocks noChangeAspect="1"/>
          </p:cNvPicPr>
          <p:nvPr/>
        </p:nvPicPr>
        <p:blipFill>
          <a:blip r:embed="rId3"/>
          <a:stretch>
            <a:fillRect/>
          </a:stretch>
        </p:blipFill>
        <p:spPr>
          <a:xfrm>
            <a:off x="9144000" y="457200"/>
            <a:ext cx="2377440" cy="2377440"/>
          </a:xfrm>
          <a:prstGeom prst="rect">
            <a:avLst/>
          </a:prstGeom>
        </p:spPr>
      </p:pic>
      <p:pic>
        <p:nvPicPr>
          <p:cNvPr id="5" name="Picture 4" descr="bongo_ai_hex_dark_256.png"/>
          <p:cNvPicPr>
            <a:picLocks noChangeAspect="1"/>
          </p:cNvPicPr>
          <p:nvPr/>
        </p:nvPicPr>
        <p:blipFill>
          <a:blip r:embed="rId4"/>
          <a:stretch>
            <a:fillRect/>
          </a:stretch>
        </p:blipFill>
        <p:spPr>
          <a:xfrm>
            <a:off x="10607040" y="5074920"/>
            <a:ext cx="1188720" cy="1188720"/>
          </a:xfrm>
          <a:prstGeom prst="rect">
            <a:avLst/>
          </a:prstGeom>
        </p:spPr>
      </p:pic>
      <p:sp>
        <p:nvSpPr>
          <p:cNvPr id="6" name="TextBox 5"/>
          <p:cNvSpPr txBox="1"/>
          <p:nvPr/>
        </p:nvSpPr>
        <p:spPr>
          <a:xfrm>
            <a:off x="9144000" y="6035040"/>
            <a:ext cx="1463040" cy="274320"/>
          </a:xfrm>
          <a:prstGeom prst="rect">
            <a:avLst/>
          </a:prstGeom>
          <a:noFill/>
        </p:spPr>
        <p:txBody>
          <a:bodyPr wrap="square" lIns="45720" rIns="45720" tIns="27432" bIns="27432" anchor="t">
            <a:spAutoFit/>
          </a:bodyPr>
          <a:lstStyle/>
          <a:p>
            <a:pPr algn="r"/>
            <a:r>
              <a:rPr b="0" sz="1100" i="0">
                <a:solidFill>
                  <a:srgbClr val="C9D3F5"/>
                </a:solidFill>
                <a:latin typeface="Calibri"/>
              </a:rPr>
              <a:t>bongo.ai  ·  MIPF</a:t>
            </a:r>
          </a:p>
        </p:txBody>
      </p:sp>
      <p:sp>
        <p:nvSpPr>
          <p:cNvPr id="7" name="TextBox 6"/>
          <p:cNvSpPr txBox="1"/>
          <p:nvPr/>
        </p:nvSpPr>
        <p:spPr>
          <a:xfrm>
            <a:off x="548640" y="2331720"/>
            <a:ext cx="8412480" cy="365760"/>
          </a:xfrm>
          <a:prstGeom prst="rect">
            <a:avLst/>
          </a:prstGeom>
          <a:noFill/>
        </p:spPr>
        <p:txBody>
          <a:bodyPr wrap="square" lIns="45720" rIns="45720" tIns="27432" bIns="27432" anchor="t">
            <a:spAutoFit/>
          </a:bodyPr>
          <a:lstStyle/>
          <a:p>
            <a:pPr algn="l"/>
            <a:r>
              <a:rPr b="1" sz="1400" i="0">
                <a:solidFill>
                  <a:srgbClr val="D99A2B"/>
                </a:solidFill>
                <a:latin typeface="Calibri"/>
              </a:rPr>
              <a:t>MASTERING INFRASTRUCTURE AND PROJECT FINANCE BOOT CAMP</a:t>
            </a:r>
          </a:p>
        </p:txBody>
      </p:sp>
      <p:sp>
        <p:nvSpPr>
          <p:cNvPr id="8" name="TextBox 7"/>
          <p:cNvSpPr txBox="1"/>
          <p:nvPr/>
        </p:nvSpPr>
        <p:spPr>
          <a:xfrm>
            <a:off x="548640" y="2743200"/>
            <a:ext cx="8595360" cy="1737360"/>
          </a:xfrm>
          <a:prstGeom prst="rect">
            <a:avLst/>
          </a:prstGeom>
          <a:noFill/>
        </p:spPr>
        <p:txBody>
          <a:bodyPr wrap="square" lIns="45720" rIns="45720" tIns="27432" bIns="27432" anchor="t">
            <a:spAutoFit/>
          </a:bodyPr>
          <a:lstStyle/>
          <a:p>
            <a:pPr algn="l"/>
            <a:r>
              <a:rPr b="1" sz="3400" i="0">
                <a:solidFill>
                  <a:srgbClr val="FFFFFF"/>
                </a:solidFill>
                <a:latin typeface="Georgia"/>
              </a:rPr>
              <a:t>Legal Fundamentals of Project and Infrastructure Finance</a:t>
            </a:r>
          </a:p>
        </p:txBody>
      </p:sp>
      <p:sp>
        <p:nvSpPr>
          <p:cNvPr id="9" name="TextBox 8"/>
          <p:cNvSpPr txBox="1"/>
          <p:nvPr/>
        </p:nvSpPr>
        <p:spPr>
          <a:xfrm>
            <a:off x="548640" y="4526280"/>
            <a:ext cx="8595360" cy="822960"/>
          </a:xfrm>
          <a:prstGeom prst="rect">
            <a:avLst/>
          </a:prstGeom>
          <a:noFill/>
        </p:spPr>
        <p:txBody>
          <a:bodyPr wrap="square" lIns="45720" rIns="45720" tIns="27432" bIns="27432" anchor="t">
            <a:spAutoFit/>
          </a:bodyPr>
          <a:lstStyle/>
          <a:p>
            <a:pPr algn="l"/>
            <a:r>
              <a:rPr b="0" sz="1800" i="0">
                <a:solidFill>
                  <a:srgbClr val="D8DEF5"/>
                </a:solidFill>
                <a:latin typeface="Calibri"/>
              </a:rPr>
              <a:t>Due diligence, security, negotiation and risk allocation, representations, warranties and covenants: explained from first principles, with Nigerian law anchors</a:t>
            </a:r>
          </a:p>
        </p:txBody>
      </p:sp>
      <p:sp>
        <p:nvSpPr>
          <p:cNvPr id="10" name="TextBox 9"/>
          <p:cNvSpPr txBox="1"/>
          <p:nvPr/>
        </p:nvSpPr>
        <p:spPr>
          <a:xfrm>
            <a:off x="548640" y="5669280"/>
            <a:ext cx="8595360" cy="457200"/>
          </a:xfrm>
          <a:prstGeom prst="rect">
            <a:avLst/>
          </a:prstGeom>
          <a:noFill/>
        </p:spPr>
        <p:txBody>
          <a:bodyPr wrap="square" lIns="45720" rIns="45720" tIns="27432" bIns="27432" anchor="t">
            <a:spAutoFit/>
          </a:bodyPr>
          <a:lstStyle/>
          <a:p>
            <a:pPr algn="l"/>
            <a:r>
              <a:rPr b="1" sz="1500" i="0">
                <a:solidFill>
                  <a:srgbClr val="FFFFFF"/>
                </a:solidFill>
                <a:latin typeface="Calibri"/>
              </a:rPr>
              <a:t>Thursday 15th October 2026  |  Facilitator: Michelle Chikezie, LLB, LLM</a:t>
            </a:r>
          </a:p>
        </p:txBody>
      </p:sp>
      <p:sp>
        <p:nvSpPr>
          <p:cNvPr id="11" name="TextBox 10"/>
          <p:cNvSpPr txBox="1"/>
          <p:nvPr/>
        </p:nvSpPr>
        <p:spPr>
          <a:xfrm>
            <a:off x="548640" y="6053328"/>
            <a:ext cx="10058400" cy="274320"/>
          </a:xfrm>
          <a:prstGeom prst="rect">
            <a:avLst/>
          </a:prstGeom>
          <a:noFill/>
        </p:spPr>
        <p:txBody>
          <a:bodyPr wrap="square" lIns="45720" rIns="45720" tIns="27432" bIns="27432" anchor="t">
            <a:spAutoFit/>
          </a:bodyPr>
          <a:lstStyle/>
          <a:p>
            <a:pPr algn="l"/>
            <a:r>
              <a:rPr b="0" sz="1100" i="0">
                <a:solidFill>
                  <a:srgbClr val="C9D3F5"/>
                </a:solidFill>
                <a:latin typeface="Calibri"/>
              </a:rPr>
              <a:t>Prof Bongo Adi  |  +234 706 164 8699  |  badi@lbs.edu.ng  |  bongo.adi@fulbrightmail.org</a:t>
            </a:r>
          </a:p>
        </p:txBody>
      </p:sp>
      <p:sp>
        <p:nvSpPr>
          <p:cNvPr id="12" name="Rectangle 11"/>
          <p:cNvSpPr/>
          <p:nvPr/>
        </p:nvSpPr>
        <p:spPr>
          <a:xfrm>
            <a:off x="548640" y="5532120"/>
            <a:ext cx="219456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83080"/>
            <a:ext cx="8229600" cy="320040"/>
          </a:xfrm>
          <a:prstGeom prst="rect">
            <a:avLst/>
          </a:prstGeom>
          <a:noFill/>
        </p:spPr>
        <p:txBody>
          <a:bodyPr wrap="none">
            <a:spAutoFit/>
          </a:bodyPr>
          <a:lstStyle/>
          <a:p>
            <a:r>
              <a:rPr sz="1200" b="1">
                <a:solidFill>
                  <a:srgbClr val="D99A2B"/>
                </a:solidFill>
                <a:latin typeface="Calibri"/>
              </a:rPr>
              <a:t>PARTICIPANT EDITION  ·  exercise answers and facilitator notes are withheld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PLAN FOR THE DAY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Today's timetable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066286"/>
        </p:xfrm>
        <a:graphic>
          <a:graphicData uri="http://schemas.openxmlformats.org/drawingml/2006/table">
            <a:tbl>
              <a:tblPr firstRow="1" bandRow="1">
                <a:tableStyleId>{5C22544A-7EE6-4342-B048-85BDC9FD1C3A}</a:tableStyleId>
              </a:tblPr>
              <a:tblGrid>
                <a:gridCol w="1828800"/>
                <a:gridCol w="4937760"/>
                <a:gridCol w="4297680"/>
              </a:tblGrid>
              <a:tr h="347472">
                <a:tc>
                  <a:txBody>
                    <a:bodyPr wrap="square"/>
                    <a:lstStyle/>
                    <a:p>
                      <a:r>
                        <a:rPr b="1" sz="1200" i="0">
                          <a:solidFill>
                            <a:srgbClr val="FFFFFF"/>
                          </a:solidFill>
                          <a:latin typeface="Calibri"/>
                        </a:rPr>
                        <a:t>Time</a:t>
                      </a:r>
                    </a:p>
                  </a:txBody>
                  <a:tcPr marL="64008" marR="64008" marT="27432" marB="27432" anchor="ctr">
                    <a:solidFill>
                      <a:srgbClr val="141B4D"/>
                    </a:solidFill>
                  </a:tcPr>
                </a:tc>
                <a:tc>
                  <a:txBody>
                    <a:bodyPr wrap="square"/>
                    <a:lstStyle/>
                    <a:p>
                      <a:r>
                        <a:rPr b="1" sz="1200" i="0">
                          <a:solidFill>
                            <a:srgbClr val="FFFFFF"/>
                          </a:solidFill>
                          <a:latin typeface="Calibri"/>
                        </a:rPr>
                        <a:t>Session</a:t>
                      </a:r>
                    </a:p>
                  </a:txBody>
                  <a:tcPr marL="64008" marR="64008" marT="27432" marB="27432" anchor="ctr">
                    <a:solidFill>
                      <a:srgbClr val="141B4D"/>
                    </a:solidFill>
                  </a:tcPr>
                </a:tc>
                <a:tc>
                  <a:txBody>
                    <a:bodyPr wrap="square"/>
                    <a:lstStyle/>
                    <a:p>
                      <a:r>
                        <a:rPr b="1" sz="1200" i="0">
                          <a:solidFill>
                            <a:srgbClr val="FFFFFF"/>
                          </a:solidFill>
                          <a:latin typeface="Calibri"/>
                        </a:rPr>
                        <a:t>What participants do</a:t>
                      </a:r>
                    </a:p>
                  </a:txBody>
                  <a:tcPr marL="64008" marR="64008" marT="27432" marB="27432" anchor="ctr">
                    <a:solidFill>
                      <a:srgbClr val="141B4D"/>
                    </a:solidFill>
                  </a:tcPr>
                </a:tc>
              </a:tr>
              <a:tr h="490727">
                <a:tc>
                  <a:txBody>
                    <a:bodyPr wrap="square"/>
                    <a:lstStyle/>
                    <a:p>
                      <a:r>
                        <a:rPr b="1" sz="1200" i="0">
                          <a:solidFill>
                            <a:srgbClr val="1A2233"/>
                          </a:solidFill>
                          <a:latin typeface="Calibri"/>
                        </a:rPr>
                        <a:t>09.00 – 10.00</a:t>
                      </a:r>
                    </a:p>
                  </a:txBody>
                  <a:tcPr marL="64008" marR="64008" marT="27432" marB="27432" anchor="ctr">
                    <a:solidFill>
                      <a:srgbClr val="FFFFFF"/>
                    </a:solidFill>
                  </a:tcPr>
                </a:tc>
                <a:tc>
                  <a:txBody>
                    <a:bodyPr wrap="square"/>
                    <a:lstStyle/>
                    <a:p>
                      <a:r>
                        <a:rPr b="0" sz="1200" i="0">
                          <a:solidFill>
                            <a:srgbClr val="1A2233"/>
                          </a:solidFill>
                          <a:latin typeface="Calibri"/>
                        </a:rPr>
                        <a:t>Course introduction; legal due diligence in project finance</a:t>
                      </a:r>
                    </a:p>
                  </a:txBody>
                  <a:tcPr marL="64008" marR="64008" marT="27432" marB="27432" anchor="ctr">
                    <a:solidFill>
                      <a:srgbClr val="FFFFFF"/>
                    </a:solidFill>
                  </a:tcPr>
                </a:tc>
                <a:tc>
                  <a:txBody>
                    <a:bodyPr wrap="square"/>
                    <a:lstStyle/>
                    <a:p>
                      <a:r>
                        <a:rPr b="0" sz="1200" i="0">
                          <a:solidFill>
                            <a:srgbClr val="1A2233"/>
                          </a:solidFill>
                          <a:latin typeface="Calibri"/>
                        </a:rPr>
                        <a:t>Map the contract web; run a mini due-diligence review</a:t>
                      </a:r>
                    </a:p>
                  </a:txBody>
                  <a:tcPr marL="64008" marR="64008" marT="27432" marB="27432" anchor="ctr">
                    <a:solidFill>
                      <a:srgbClr val="FFFFFF"/>
                    </a:solidFill>
                  </a:tcPr>
                </a:tc>
              </a:tr>
              <a:tr h="347472">
                <a:tc>
                  <a:txBody>
                    <a:bodyPr wrap="square"/>
                    <a:lstStyle/>
                    <a:p>
                      <a:r>
                        <a:rPr b="1" sz="1200" i="0">
                          <a:solidFill>
                            <a:srgbClr val="1A2233"/>
                          </a:solidFill>
                          <a:latin typeface="Calibri"/>
                        </a:rPr>
                        <a:t>10.00 – 11.00</a:t>
                      </a:r>
                    </a:p>
                  </a:txBody>
                  <a:tcPr marL="64008" marR="64008" marT="27432" marB="27432" anchor="ctr">
                    <a:solidFill>
                      <a:srgbClr val="F3F6F9"/>
                    </a:solidFill>
                  </a:tcPr>
                </a:tc>
                <a:tc>
                  <a:txBody>
                    <a:bodyPr wrap="square"/>
                    <a:lstStyle/>
                    <a:p>
                      <a:r>
                        <a:rPr b="0" sz="1200" i="0">
                          <a:solidFill>
                            <a:srgbClr val="1A2233"/>
                          </a:solidFill>
                          <a:latin typeface="Calibri"/>
                        </a:rPr>
                        <a:t>Security agreements</a:t>
                      </a:r>
                    </a:p>
                  </a:txBody>
                  <a:tcPr marL="64008" marR="64008" marT="27432" marB="27432" anchor="ctr">
                    <a:solidFill>
                      <a:srgbClr val="F3F6F9"/>
                    </a:solidFill>
                  </a:tcPr>
                </a:tc>
                <a:tc>
                  <a:txBody>
                    <a:bodyPr wrap="square"/>
                    <a:lstStyle/>
                    <a:p>
                      <a:r>
                        <a:rPr b="0" sz="1200" i="0">
                          <a:solidFill>
                            <a:srgbClr val="1A2233"/>
                          </a:solidFill>
                          <a:latin typeface="Calibri"/>
                        </a:rPr>
                        <a:t>Match risks to security instruments</a:t>
                      </a:r>
                    </a:p>
                  </a:txBody>
                  <a:tcPr marL="64008" marR="64008" marT="27432" marB="27432" anchor="ctr">
                    <a:solidFill>
                      <a:srgbClr val="F3F6F9"/>
                    </a:solidFill>
                  </a:tcPr>
                </a:tc>
              </a:tr>
              <a:tr h="347472">
                <a:tc>
                  <a:txBody>
                    <a:bodyPr wrap="square"/>
                    <a:lstStyle/>
                    <a:p>
                      <a:r>
                        <a:rPr b="1" sz="1200" i="0">
                          <a:solidFill>
                            <a:srgbClr val="1A2233"/>
                          </a:solidFill>
                          <a:latin typeface="Calibri"/>
                        </a:rPr>
                        <a:t>11.00 – 11.30</a:t>
                      </a:r>
                    </a:p>
                  </a:txBody>
                  <a:tcPr marL="64008" marR="64008" marT="27432" marB="27432" anchor="ctr">
                    <a:solidFill>
                      <a:srgbClr val="FFFFFF"/>
                    </a:solidFill>
                  </a:tcPr>
                </a:tc>
                <a:tc>
                  <a:txBody>
                    <a:bodyPr wrap="square"/>
                    <a:lstStyle/>
                    <a:p>
                      <a:r>
                        <a:rPr b="0" sz="1200" i="0">
                          <a:solidFill>
                            <a:srgbClr val="1A2233"/>
                          </a:solidFill>
                          <a:latin typeface="Calibri"/>
                        </a:rPr>
                        <a:t>Coffee break</a:t>
                      </a:r>
                    </a:p>
                  </a:txBody>
                  <a:tcPr marL="64008" marR="64008" marT="27432" marB="27432" anchor="ctr">
                    <a:solidFill>
                      <a:srgbClr val="FFFFFF"/>
                    </a:solidFill>
                  </a:tcPr>
                </a:tc>
                <a:tc>
                  <a:txBody>
                    <a:bodyPr wrap="square"/>
                    <a:lstStyle/>
                    <a:p/>
                  </a:txBody>
                  <a:tcPr marL="64008" marR="64008" marT="27432" marB="27432" anchor="ctr">
                    <a:solidFill>
                      <a:srgbClr val="FFFFFF"/>
                    </a:solidFill>
                  </a:tcPr>
                </a:tc>
              </a:tr>
              <a:tr h="490727">
                <a:tc>
                  <a:txBody>
                    <a:bodyPr wrap="square"/>
                    <a:lstStyle/>
                    <a:p>
                      <a:r>
                        <a:rPr b="1" sz="1200" i="0">
                          <a:solidFill>
                            <a:srgbClr val="1A2233"/>
                          </a:solidFill>
                          <a:latin typeface="Calibri"/>
                        </a:rPr>
                        <a:t>11.30 – 14.00</a:t>
                      </a:r>
                    </a:p>
                  </a:txBody>
                  <a:tcPr marL="64008" marR="64008" marT="27432" marB="27432" anchor="ctr">
                    <a:solidFill>
                      <a:srgbClr val="F3F6F9"/>
                    </a:solidFill>
                  </a:tcPr>
                </a:tc>
                <a:tc>
                  <a:txBody>
                    <a:bodyPr wrap="square"/>
                    <a:lstStyle/>
                    <a:p>
                      <a:r>
                        <a:rPr b="0" sz="1200" i="0">
                          <a:solidFill>
                            <a:srgbClr val="1A2233"/>
                          </a:solidFill>
                          <a:latin typeface="Calibri"/>
                        </a:rPr>
                        <a:t>Negotiation and risk allocation; representations, warranties and covenants</a:t>
                      </a:r>
                    </a:p>
                  </a:txBody>
                  <a:tcPr marL="64008" marR="64008" marT="27432" marB="27432" anchor="ctr">
                    <a:solidFill>
                      <a:srgbClr val="F3F6F9"/>
                    </a:solidFill>
                  </a:tcPr>
                </a:tc>
                <a:tc>
                  <a:txBody>
                    <a:bodyPr wrap="square"/>
                    <a:lstStyle/>
                    <a:p>
                      <a:r>
                        <a:rPr b="0" sz="1200" i="0">
                          <a:solidFill>
                            <a:srgbClr val="1A2233"/>
                          </a:solidFill>
                          <a:latin typeface="Calibri"/>
                        </a:rPr>
                        <a:t>Negotiation role-play; draft a covenant package</a:t>
                      </a:r>
                    </a:p>
                  </a:txBody>
                  <a:tcPr marL="64008" marR="64008" marT="27432" marB="27432" anchor="ctr">
                    <a:solidFill>
                      <a:srgbClr val="F3F6F9"/>
                    </a:solidFill>
                  </a:tcPr>
                </a:tc>
              </a:tr>
              <a:tr h="347472">
                <a:tc>
                  <a:txBody>
                    <a:bodyPr wrap="square"/>
                    <a:lstStyle/>
                    <a:p>
                      <a:r>
                        <a:rPr b="1" sz="1200" i="0">
                          <a:solidFill>
                            <a:srgbClr val="1A2233"/>
                          </a:solidFill>
                          <a:latin typeface="Calibri"/>
                        </a:rPr>
                        <a:t>14.00 – 14.45</a:t>
                      </a:r>
                    </a:p>
                  </a:txBody>
                  <a:tcPr marL="64008" marR="64008" marT="27432" marB="27432" anchor="ctr">
                    <a:solidFill>
                      <a:srgbClr val="FFFFFF"/>
                    </a:solidFill>
                  </a:tcPr>
                </a:tc>
                <a:tc>
                  <a:txBody>
                    <a:bodyPr wrap="square"/>
                    <a:lstStyle/>
                    <a:p>
                      <a:r>
                        <a:rPr b="0" sz="1200" i="0">
                          <a:solidFill>
                            <a:srgbClr val="1A2233"/>
                          </a:solidFill>
                          <a:latin typeface="Calibri"/>
                        </a:rPr>
                        <a:t>Lunch break</a:t>
                      </a:r>
                    </a:p>
                  </a:txBody>
                  <a:tcPr marL="64008" marR="64008" marT="27432" marB="27432" anchor="ctr">
                    <a:solidFill>
                      <a:srgbClr val="FFFFFF"/>
                    </a:solidFill>
                  </a:tcPr>
                </a:tc>
                <a:tc>
                  <a:txBody>
                    <a:bodyPr wrap="square"/>
                    <a:lstStyle/>
                    <a:p/>
                  </a:txBody>
                  <a:tcPr marL="64008" marR="64008" marT="27432" marB="27432" anchor="ctr">
                    <a:solidFill>
                      <a:srgbClr val="FFFFFF"/>
                    </a:solidFill>
                  </a:tcPr>
                </a:tc>
              </a:tr>
              <a:tr h="347472">
                <a:tc>
                  <a:txBody>
                    <a:bodyPr wrap="square"/>
                    <a:lstStyle/>
                    <a:p>
                      <a:r>
                        <a:rPr b="1" sz="1200" i="0">
                          <a:solidFill>
                            <a:srgbClr val="1A2233"/>
                          </a:solidFill>
                          <a:latin typeface="Calibri"/>
                        </a:rPr>
                        <a:t>14.45 – 15.30</a:t>
                      </a:r>
                    </a:p>
                  </a:txBody>
                  <a:tcPr marL="64008" marR="64008" marT="27432" marB="27432" anchor="ctr">
                    <a:solidFill>
                      <a:srgbClr val="F3F6F9"/>
                    </a:solidFill>
                  </a:tcPr>
                </a:tc>
                <a:tc>
                  <a:txBody>
                    <a:bodyPr wrap="square"/>
                    <a:lstStyle/>
                    <a:p>
                      <a:r>
                        <a:rPr b="0" sz="1200" i="0">
                          <a:solidFill>
                            <a:srgbClr val="1A2233"/>
                          </a:solidFill>
                          <a:latin typeface="Calibri"/>
                        </a:rPr>
                        <a:t>Case-study-led group session</a:t>
                      </a:r>
                    </a:p>
                  </a:txBody>
                  <a:tcPr marL="64008" marR="64008" marT="27432" marB="27432" anchor="ctr">
                    <a:solidFill>
                      <a:srgbClr val="F3F6F9"/>
                    </a:solidFill>
                  </a:tcPr>
                </a:tc>
                <a:tc>
                  <a:txBody>
                    <a:bodyPr wrap="square"/>
                    <a:lstStyle/>
                    <a:p>
                      <a:r>
                        <a:rPr b="0" sz="1200" i="0">
                          <a:solidFill>
                            <a:srgbClr val="1A2233"/>
                          </a:solidFill>
                          <a:latin typeface="Calibri"/>
                        </a:rPr>
                        <a:t>Lenders' counsel issues list for Sahel Sun</a:t>
                      </a:r>
                    </a:p>
                  </a:txBody>
                  <a:tcPr marL="64008" marR="64008" marT="27432" marB="27432" anchor="ctr">
                    <a:solidFill>
                      <a:srgbClr val="F3F6F9"/>
                    </a:solidFill>
                  </a:tcPr>
                </a:tc>
              </a:tr>
              <a:tr h="347472">
                <a:tc>
                  <a:txBody>
                    <a:bodyPr wrap="square"/>
                    <a:lstStyle/>
                    <a:p>
                      <a:r>
                        <a:rPr b="1" sz="1200" i="0">
                          <a:solidFill>
                            <a:srgbClr val="1A2233"/>
                          </a:solidFill>
                          <a:latin typeface="Calibri"/>
                        </a:rPr>
                        <a:t>15.30 – 16.30</a:t>
                      </a:r>
                    </a:p>
                  </a:txBody>
                  <a:tcPr marL="64008" marR="64008" marT="27432" marB="27432" anchor="ctr">
                    <a:solidFill>
                      <a:srgbClr val="FFFFFF"/>
                    </a:solidFill>
                  </a:tcPr>
                </a:tc>
                <a:tc>
                  <a:txBody>
                    <a:bodyPr wrap="square"/>
                    <a:lstStyle/>
                    <a:p>
                      <a:r>
                        <a:rPr b="0" sz="1200" i="0">
                          <a:solidFill>
                            <a:srgbClr val="1A2233"/>
                          </a:solidFill>
                          <a:latin typeface="Calibri"/>
                        </a:rPr>
                        <a:t>Other project finance issues; in-class assessment</a:t>
                      </a:r>
                    </a:p>
                  </a:txBody>
                  <a:tcPr marL="64008" marR="64008" marT="27432" marB="27432" anchor="ctr">
                    <a:solidFill>
                      <a:srgbClr val="FFFFFF"/>
                    </a:solidFill>
                  </a:tcPr>
                </a:tc>
                <a:tc>
                  <a:txBody>
                    <a:bodyPr wrap="square"/>
                    <a:lstStyle/>
                    <a:p>
                      <a:r>
                        <a:rPr b="0" sz="1200" i="0">
                          <a:solidFill>
                            <a:srgbClr val="1A2233"/>
                          </a:solidFill>
                          <a:latin typeface="Calibri"/>
                        </a:rPr>
                        <a:t>Short quiz and wrap-up</a:t>
                      </a:r>
                    </a:p>
                  </a:txBody>
                  <a:tcPr marL="64008" marR="64008" marT="27432" marB="27432"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OUTCOMES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Learning outcomes for Day 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Explain the legal structure of a project financing: the SPV, the contract web and the security package</a:t>
            </a:r>
          </a:p>
          <a:p>
            <a:pPr>
              <a:spcAft>
                <a:spcPts val="700"/>
              </a:spcAft>
            </a:pPr>
            <a:r>
              <a:rPr b="0" sz="2000" i="0">
                <a:solidFill>
                  <a:srgbClr val="1A2233"/>
                </a:solidFill>
                <a:latin typeface="Calibri"/>
              </a:rPr>
              <a:t>▪ Describe what legal due diligence checks and why lenders insist on it</a:t>
            </a:r>
          </a:p>
          <a:p>
            <a:pPr>
              <a:spcAft>
                <a:spcPts val="700"/>
              </a:spcAft>
            </a:pPr>
            <a:r>
              <a:rPr b="0" sz="2000" i="0">
                <a:solidFill>
                  <a:srgbClr val="1A2233"/>
                </a:solidFill>
                <a:latin typeface="Calibri"/>
              </a:rPr>
              <a:t>▪ Name the main security instruments and the Nigerian registration steps that perfect them</a:t>
            </a:r>
          </a:p>
          <a:p>
            <a:pPr>
              <a:spcAft>
                <a:spcPts val="700"/>
              </a:spcAft>
            </a:pPr>
            <a:r>
              <a:rPr b="0" sz="2000" i="0">
                <a:solidFill>
                  <a:srgbClr val="1A2233"/>
                </a:solidFill>
                <a:latin typeface="Calibri"/>
              </a:rPr>
              <a:t>▪ Allocate risks to contracts and read the key clauses (change in law, force majeure, termination, step-in)</a:t>
            </a:r>
          </a:p>
          <a:p>
            <a:pPr>
              <a:spcAft>
                <a:spcPts val="700"/>
              </a:spcAft>
            </a:pPr>
            <a:r>
              <a:rPr b="0" sz="2000" i="0">
                <a:solidFill>
                  <a:srgbClr val="1A2233"/>
                </a:solidFill>
                <a:latin typeface="Calibri"/>
              </a:rPr>
              <a:t>▪ Distinguish representations, warranties, conditions precedent, covenants and events of default</a:t>
            </a:r>
          </a:p>
          <a:p>
            <a:pPr>
              <a:spcAft>
                <a:spcPts val="700"/>
              </a:spcAft>
            </a:pPr>
            <a:r>
              <a:rPr b="0" sz="2000" i="0">
                <a:solidFill>
                  <a:srgbClr val="1A2233"/>
                </a:solidFill>
                <a:latin typeface="Calibri"/>
              </a:rPr>
              <a:t>▪ Draft a covenant package and a legal issues list for a transaction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FACULTY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Your facilitator: Michelle Chikezie, LLB, LLM</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7863840" cy="4754880"/>
          </a:xfrm>
          <a:prstGeom prst="rect">
            <a:avLst/>
          </a:prstGeom>
          <a:noFill/>
        </p:spPr>
        <p:txBody>
          <a:bodyPr wrap="square">
            <a:spAutoFit/>
          </a:bodyPr>
          <a:lstStyle/>
          <a:p>
            <a:pPr>
              <a:spcAft>
                <a:spcPts val="700"/>
              </a:spcAft>
            </a:pPr>
            <a:r>
              <a:rPr b="0" sz="1700" i="0">
                <a:solidFill>
                  <a:srgbClr val="1A2233"/>
                </a:solidFill>
                <a:latin typeface="Calibri"/>
              </a:rPr>
              <a:t>▪ Partner at G. Elias, one of Nigeria's leading business law firms</a:t>
            </a:r>
          </a:p>
          <a:p>
            <a:pPr>
              <a:spcAft>
                <a:spcPts val="700"/>
              </a:spcAft>
            </a:pPr>
            <a:r>
              <a:rPr b="0" sz="1700" i="0">
                <a:solidFill>
                  <a:srgbClr val="1A2233"/>
                </a:solidFill>
                <a:latin typeface="Calibri"/>
              </a:rPr>
              <a:t>▪ Advises on capital markets, structured finance, project finance, venture capital and private equity; acts for multinational banks, pan-African financial institutions and corporates on cross-border deals, Eurobonds and restructurings</a:t>
            </a:r>
          </a:p>
          <a:p>
            <a:pPr>
              <a:spcAft>
                <a:spcPts val="700"/>
              </a:spcAft>
            </a:pPr>
            <a:r>
              <a:rPr b="0" sz="1700" i="0">
                <a:solidFill>
                  <a:srgbClr val="1A2233"/>
                </a:solidFill>
                <a:latin typeface="Calibri"/>
              </a:rPr>
              <a:t>▪ Recognised as a Next Generation Partner (The Legal 500) and Rising Star Partner (IFLR1000); dual-qualified in Nigeria and New York State</a:t>
            </a:r>
          </a:p>
          <a:p>
            <a:pPr>
              <a:spcAft>
                <a:spcPts val="700"/>
              </a:spcAft>
            </a:pPr>
            <a:r>
              <a:rPr b="0" sz="1700" i="0">
                <a:solidFill>
                  <a:srgbClr val="1A2233"/>
                </a:solidFill>
                <a:latin typeface="Calibri"/>
              </a:rPr>
              <a:t>▪ First Class Honours, Nigerian Law School (top 0.2% nationally); LL.B. University of Lagos; LL.M. New York University; Master of International Public Policy, Johns Hopkins SAIS</a:t>
            </a:r>
          </a:p>
        </p:txBody>
      </p:sp>
      <p:pic>
        <p:nvPicPr>
          <p:cNvPr id="12" name="Picture 11" descr="chikezie.jpg"/>
          <p:cNvPicPr>
            <a:picLocks noChangeAspect="1"/>
          </p:cNvPicPr>
          <p:nvPr/>
        </p:nvPicPr>
        <p:blipFill>
          <a:blip r:embed="rId6"/>
          <a:stretch>
            <a:fillRect/>
          </a:stretch>
        </p:blipFill>
        <p:spPr>
          <a:xfrm>
            <a:off x="9052560" y="1737360"/>
            <a:ext cx="2743200" cy="2743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BRIDGE TO THE MODEL</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How legal terms show up in the financial model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39" cy="2826766"/>
        </p:xfrm>
        <a:graphic>
          <a:graphicData uri="http://schemas.openxmlformats.org/drawingml/2006/table">
            <a:tbl>
              <a:tblPr firstRow="1" bandRow="1">
                <a:tableStyleId>{5C22544A-7EE6-4342-B048-85BDC9FD1C3A}</a:tableStyleId>
              </a:tblPr>
              <a:tblGrid>
                <a:gridCol w="3749039"/>
                <a:gridCol w="4206240"/>
                <a:gridCol w="3108960"/>
              </a:tblGrid>
              <a:tr h="384048">
                <a:tc>
                  <a:txBody>
                    <a:bodyPr wrap="square"/>
                    <a:lstStyle/>
                    <a:p>
                      <a:r>
                        <a:rPr b="1" sz="1300" i="0">
                          <a:solidFill>
                            <a:srgbClr val="FFFFFF"/>
                          </a:solidFill>
                          <a:latin typeface="Calibri"/>
                        </a:rPr>
                        <a:t>Legal concept</a:t>
                      </a:r>
                    </a:p>
                  </a:txBody>
                  <a:tcPr marL="64008" marR="64008" marT="27432" marB="27432" anchor="ctr">
                    <a:solidFill>
                      <a:srgbClr val="141B4D"/>
                    </a:solidFill>
                  </a:tcPr>
                </a:tc>
                <a:tc>
                  <a:txBody>
                    <a:bodyPr wrap="square"/>
                    <a:lstStyle/>
                    <a:p>
                      <a:r>
                        <a:rPr b="1" sz="1300" i="0">
                          <a:solidFill>
                            <a:srgbClr val="FFFFFF"/>
                          </a:solidFill>
                          <a:latin typeface="Calibri"/>
                        </a:rPr>
                        <a:t>Model input or output</a:t>
                      </a:r>
                    </a:p>
                  </a:txBody>
                  <a:tcPr marL="64008" marR="64008" marT="27432" marB="27432" anchor="ctr">
                    <a:solidFill>
                      <a:srgbClr val="141B4D"/>
                    </a:solidFill>
                  </a:tcPr>
                </a:tc>
                <a:tc>
                  <a:txBody>
                    <a:bodyPr wrap="square"/>
                    <a:lstStyle/>
                    <a:p>
                      <a:r>
                        <a:rPr b="1" sz="1300" i="0">
                          <a:solidFill>
                            <a:srgbClr val="FFFFFF"/>
                          </a:solidFill>
                          <a:latin typeface="Calibri"/>
                        </a:rPr>
                        <a:t>Where</a:t>
                      </a:r>
                    </a:p>
                  </a:txBody>
                  <a:tcPr marL="64008" marR="64008" marT="27432" marB="27432" anchor="ctr">
                    <a:solidFill>
                      <a:srgbClr val="141B4D"/>
                    </a:solidFill>
                  </a:tcPr>
                </a:tc>
              </a:tr>
              <a:tr h="384048">
                <a:tc>
                  <a:txBody>
                    <a:bodyPr wrap="square"/>
                    <a:lstStyle/>
                    <a:p>
                      <a:r>
                        <a:rPr b="1" sz="1300" i="0">
                          <a:solidFill>
                            <a:srgbClr val="1A2233"/>
                          </a:solidFill>
                          <a:latin typeface="Calibri"/>
                        </a:rPr>
                        <a:t>Tenor and repayment dates</a:t>
                      </a:r>
                    </a:p>
                  </a:txBody>
                  <a:tcPr marL="64008" marR="64008" marT="27432" marB="27432" anchor="ctr">
                    <a:solidFill>
                      <a:srgbClr val="FFFFFF"/>
                    </a:solidFill>
                  </a:tcPr>
                </a:tc>
                <a:tc>
                  <a:txBody>
                    <a:bodyPr wrap="square"/>
                    <a:lstStyle/>
                    <a:p>
                      <a:r>
                        <a:rPr b="0" sz="1300" i="0">
                          <a:solidFill>
                            <a:srgbClr val="1A2233"/>
                          </a:solidFill>
                          <a:latin typeface="Calibri"/>
                        </a:rPr>
                        <a:t>Debt tenor, sculpted repayment profile</a:t>
                      </a:r>
                    </a:p>
                  </a:txBody>
                  <a:tcPr marL="64008" marR="64008" marT="27432" marB="27432" anchor="ctr">
                    <a:solidFill>
                      <a:srgbClr val="FFFFFF"/>
                    </a:solidFill>
                  </a:tcPr>
                </a:tc>
                <a:tc>
                  <a:txBody>
                    <a:bodyPr wrap="square"/>
                    <a:lstStyle/>
                    <a:p>
                      <a:r>
                        <a:rPr b="0" sz="1300" i="0">
                          <a:solidFill>
                            <a:srgbClr val="1A2233"/>
                          </a:solidFill>
                          <a:latin typeface="Calibri"/>
                        </a:rPr>
                        <a:t>InpC row 139; Sculpt</a:t>
                      </a:r>
                    </a:p>
                  </a:txBody>
                  <a:tcPr marL="64008" marR="64008" marT="27432" marB="27432" anchor="ctr">
                    <a:solidFill>
                      <a:srgbClr val="FFFFFF"/>
                    </a:solidFill>
                  </a:tcPr>
                </a:tc>
              </a:tr>
              <a:tr h="522478">
                <a:tc>
                  <a:txBody>
                    <a:bodyPr wrap="square"/>
                    <a:lstStyle/>
                    <a:p>
                      <a:r>
                        <a:rPr b="1" sz="1300" i="0">
                          <a:solidFill>
                            <a:srgbClr val="1A2233"/>
                          </a:solidFill>
                          <a:latin typeface="Calibri"/>
                        </a:rPr>
                        <a:t>Financial covenant (DSCR, lock-up)</a:t>
                      </a:r>
                    </a:p>
                  </a:txBody>
                  <a:tcPr marL="64008" marR="64008" marT="27432" marB="27432" anchor="ctr">
                    <a:solidFill>
                      <a:srgbClr val="F3F6F9"/>
                    </a:solidFill>
                  </a:tcPr>
                </a:tc>
                <a:tc>
                  <a:txBody>
                    <a:bodyPr wrap="square"/>
                    <a:lstStyle/>
                    <a:p>
                      <a:r>
                        <a:rPr b="0" sz="1300" i="0">
                          <a:solidFill>
                            <a:srgbClr val="1A2233"/>
                          </a:solidFill>
                          <a:latin typeface="Calibri"/>
                        </a:rPr>
                        <a:t>DSCR, minimum cover, dividend test</a:t>
                      </a:r>
                    </a:p>
                  </a:txBody>
                  <a:tcPr marL="64008" marR="64008" marT="27432" marB="27432" anchor="ctr">
                    <a:solidFill>
                      <a:srgbClr val="F3F6F9"/>
                    </a:solidFill>
                  </a:tcPr>
                </a:tc>
                <a:tc>
                  <a:txBody>
                    <a:bodyPr wrap="square"/>
                    <a:lstStyle/>
                    <a:p>
                      <a:r>
                        <a:rPr b="0" sz="1300" i="0">
                          <a:solidFill>
                            <a:srgbClr val="1A2233"/>
                          </a:solidFill>
                          <a:latin typeface="Calibri"/>
                        </a:rPr>
                        <a:t>FinStat DSCR block; Ratios; Equity</a:t>
                      </a:r>
                    </a:p>
                  </a:txBody>
                  <a:tcPr marL="64008" marR="64008" marT="27432" marB="27432" anchor="ctr">
                    <a:solidFill>
                      <a:srgbClr val="F3F6F9"/>
                    </a:solidFill>
                  </a:tcPr>
                </a:tc>
              </a:tr>
              <a:tr h="384048">
                <a:tc>
                  <a:txBody>
                    <a:bodyPr wrap="square"/>
                    <a:lstStyle/>
                    <a:p>
                      <a:r>
                        <a:rPr b="1" sz="1300" i="0">
                          <a:solidFill>
                            <a:srgbClr val="1A2233"/>
                          </a:solidFill>
                          <a:latin typeface="Calibri"/>
                        </a:rPr>
                        <a:t>Reserve account obligation</a:t>
                      </a:r>
                    </a:p>
                  </a:txBody>
                  <a:tcPr marL="64008" marR="64008" marT="27432" marB="27432" anchor="ctr">
                    <a:solidFill>
                      <a:srgbClr val="FFFFFF"/>
                    </a:solidFill>
                  </a:tcPr>
                </a:tc>
                <a:tc>
                  <a:txBody>
                    <a:bodyPr wrap="square"/>
                    <a:lstStyle/>
                    <a:p>
                      <a:r>
                        <a:rPr b="0" sz="1300" i="0">
                          <a:solidFill>
                            <a:srgbClr val="1A2233"/>
                          </a:solidFill>
                          <a:latin typeface="Calibri"/>
                        </a:rPr>
                        <a:t>DSRA target and balance</a:t>
                      </a:r>
                    </a:p>
                  </a:txBody>
                  <a:tcPr marL="64008" marR="64008" marT="27432" marB="27432" anchor="ctr">
                    <a:solidFill>
                      <a:srgbClr val="FFFFFF"/>
                    </a:solidFill>
                  </a:tcPr>
                </a:tc>
                <a:tc>
                  <a:txBody>
                    <a:bodyPr wrap="square"/>
                    <a:lstStyle/>
                    <a:p>
                      <a:r>
                        <a:rPr b="0" sz="1300" i="0">
                          <a:solidFill>
                            <a:srgbClr val="1A2233"/>
                          </a:solidFill>
                          <a:latin typeface="Calibri"/>
                        </a:rPr>
                        <a:t>DSRA sheet</a:t>
                      </a:r>
                    </a:p>
                  </a:txBody>
                  <a:tcPr marL="64008" marR="64008" marT="27432" marB="27432" anchor="ctr">
                    <a:solidFill>
                      <a:srgbClr val="FFFFFF"/>
                    </a:solidFill>
                  </a:tcPr>
                </a:tc>
              </a:tr>
              <a:tr h="384048">
                <a:tc>
                  <a:txBody>
                    <a:bodyPr wrap="square"/>
                    <a:lstStyle/>
                    <a:p>
                      <a:r>
                        <a:rPr b="1" sz="1300" i="0">
                          <a:solidFill>
                            <a:srgbClr val="1A2233"/>
                          </a:solidFill>
                          <a:latin typeface="Calibri"/>
                        </a:rPr>
                        <a:t>Subordination of shareholder loan</a:t>
                      </a:r>
                    </a:p>
                  </a:txBody>
                  <a:tcPr marL="64008" marR="64008" marT="27432" marB="27432" anchor="ctr">
                    <a:solidFill>
                      <a:srgbClr val="F3F6F9"/>
                    </a:solidFill>
                  </a:tcPr>
                </a:tc>
                <a:tc>
                  <a:txBody>
                    <a:bodyPr wrap="square"/>
                    <a:lstStyle/>
                    <a:p>
                      <a:r>
                        <a:rPr b="0" sz="1300" i="0">
                          <a:solidFill>
                            <a:srgbClr val="1A2233"/>
                          </a:solidFill>
                          <a:latin typeface="Calibri"/>
                        </a:rPr>
                        <a:t>Cash waterfall order</a:t>
                      </a:r>
                    </a:p>
                  </a:txBody>
                  <a:tcPr marL="64008" marR="64008" marT="27432" marB="27432" anchor="ctr">
                    <a:solidFill>
                      <a:srgbClr val="F3F6F9"/>
                    </a:solidFill>
                  </a:tcPr>
                </a:tc>
                <a:tc>
                  <a:txBody>
                    <a:bodyPr wrap="square"/>
                    <a:lstStyle/>
                    <a:p>
                      <a:r>
                        <a:rPr b="0" sz="1300" i="0">
                          <a:solidFill>
                            <a:srgbClr val="1A2233"/>
                          </a:solidFill>
                          <a:latin typeface="Calibri"/>
                        </a:rPr>
                        <a:t>SHL sheet; FinStat</a:t>
                      </a:r>
                    </a:p>
                  </a:txBody>
                  <a:tcPr marL="64008" marR="64008" marT="27432" marB="27432" anchor="ctr">
                    <a:solidFill>
                      <a:srgbClr val="F3F6F9"/>
                    </a:solidFill>
                  </a:tcPr>
                </a:tc>
              </a:tr>
              <a:tr h="384048">
                <a:tc>
                  <a:txBody>
                    <a:bodyPr wrap="square"/>
                    <a:lstStyle/>
                    <a:p>
                      <a:r>
                        <a:rPr b="1" sz="1300" i="0">
                          <a:solidFill>
                            <a:srgbClr val="1A2233"/>
                          </a:solidFill>
                          <a:latin typeface="Calibri"/>
                        </a:rPr>
                        <a:t>Upfront and commitment fees</a:t>
                      </a:r>
                    </a:p>
                  </a:txBody>
                  <a:tcPr marL="64008" marR="64008" marT="27432" marB="27432" anchor="ctr">
                    <a:solidFill>
                      <a:srgbClr val="FFFFFF"/>
                    </a:solidFill>
                  </a:tcPr>
                </a:tc>
                <a:tc>
                  <a:txBody>
                    <a:bodyPr wrap="square"/>
                    <a:lstStyle/>
                    <a:p>
                      <a:r>
                        <a:rPr b="0" sz="1300" i="0">
                          <a:solidFill>
                            <a:srgbClr val="1A2233"/>
                          </a:solidFill>
                          <a:latin typeface="Calibri"/>
                        </a:rPr>
                        <a:t>Uses of funds</a:t>
                      </a:r>
                    </a:p>
                  </a:txBody>
                  <a:tcPr marL="64008" marR="64008" marT="27432" marB="27432" anchor="ctr">
                    <a:solidFill>
                      <a:srgbClr val="FFFFFF"/>
                    </a:solidFill>
                  </a:tcPr>
                </a:tc>
                <a:tc>
                  <a:txBody>
                    <a:bodyPr wrap="square"/>
                    <a:lstStyle/>
                    <a:p>
                      <a:r>
                        <a:rPr b="0" sz="1300" i="0">
                          <a:solidFill>
                            <a:srgbClr val="1A2233"/>
                          </a:solidFill>
                          <a:latin typeface="Calibri"/>
                        </a:rPr>
                        <a:t>Constr rows 25, 32</a:t>
                      </a:r>
                    </a:p>
                  </a:txBody>
                  <a:tcPr marL="64008" marR="64008" marT="27432" marB="27432" anchor="ctr">
                    <a:solidFill>
                      <a:srgbClr val="FFFFFF"/>
                    </a:solidFill>
                  </a:tcPr>
                </a:tc>
              </a:tr>
              <a:tr h="384048">
                <a:tc>
                  <a:txBody>
                    <a:bodyPr wrap="square"/>
                    <a:lstStyle/>
                    <a:p>
                      <a:r>
                        <a:rPr b="1" sz="1300" i="0">
                          <a:solidFill>
                            <a:srgbClr val="1A2233"/>
                          </a:solidFill>
                          <a:latin typeface="Calibri"/>
                        </a:rPr>
                        <a:t>Termination compensation</a:t>
                      </a:r>
                    </a:p>
                  </a:txBody>
                  <a:tcPr marL="64008" marR="64008" marT="27432" marB="27432" anchor="ctr">
                    <a:solidFill>
                      <a:srgbClr val="F3F6F9"/>
                    </a:solidFill>
                  </a:tcPr>
                </a:tc>
                <a:tc>
                  <a:txBody>
                    <a:bodyPr wrap="square"/>
                    <a:lstStyle/>
                    <a:p>
                      <a:r>
                        <a:rPr b="0" sz="1300" i="0">
                          <a:solidFill>
                            <a:srgbClr val="1A2233"/>
                          </a:solidFill>
                          <a:latin typeface="Calibri"/>
                        </a:rPr>
                        <a:t>Debt outstanding at a given date</a:t>
                      </a:r>
                    </a:p>
                  </a:txBody>
                  <a:tcPr marL="64008" marR="64008" marT="27432" marB="27432" anchor="ctr">
                    <a:solidFill>
                      <a:srgbClr val="F3F6F9"/>
                    </a:solidFill>
                  </a:tcPr>
                </a:tc>
                <a:tc>
                  <a:txBody>
                    <a:bodyPr wrap="square"/>
                    <a:lstStyle/>
                    <a:p>
                      <a:r>
                        <a:rPr b="0" sz="1300" i="0">
                          <a:solidFill>
                            <a:srgbClr val="1A2233"/>
                          </a:solidFill>
                          <a:latin typeface="Calibri"/>
                        </a:rPr>
                        <a:t>Debt balance row</a:t>
                      </a:r>
                    </a:p>
                  </a:txBody>
                  <a:tcPr marL="64008" marR="64008" marT="27432" marB="27432" anchor="ctr">
                    <a:solidFill>
                      <a:srgbClr val="F3F6F9"/>
                    </a:solidFill>
                  </a:tcPr>
                </a:tc>
              </a:tr>
            </a:tbl>
          </a:graphicData>
        </a:graphic>
      </p:graphicFrame>
      <p:sp>
        <p:nvSpPr>
          <p:cNvPr id="12" name="Rectangle 11"/>
          <p:cNvSpPr/>
          <p:nvPr/>
        </p:nvSpPr>
        <p:spPr>
          <a:xfrm>
            <a:off x="548640" y="475488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75488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7548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Days 4 to 7 build these items in Excel. Today is about where the numbers come from.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6</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09.00 – 09.20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1: Legal vocabulary from zero</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Twelve words you need before the day makes sense.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GLOSSARY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Twelve terms, in plain English</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922776"/>
        </p:xfrm>
        <a:graphic>
          <a:graphicData uri="http://schemas.openxmlformats.org/drawingml/2006/table">
            <a:tbl>
              <a:tblPr firstRow="1" bandRow="1">
                <a:tableStyleId>{5C22544A-7EE6-4342-B048-85BDC9FD1C3A}</a:tableStyleId>
              </a:tblPr>
              <a:tblGrid>
                <a:gridCol w="2377440"/>
                <a:gridCol w="4754880"/>
                <a:gridCol w="3931920"/>
              </a:tblGrid>
              <a:tr h="301752">
                <a:tc>
                  <a:txBody>
                    <a:bodyPr wrap="square"/>
                    <a:lstStyle/>
                    <a:p>
                      <a:r>
                        <a:rPr b="1" sz="1100" i="0">
                          <a:solidFill>
                            <a:srgbClr val="FFFFFF"/>
                          </a:solidFill>
                          <a:latin typeface="Calibri"/>
                        </a:rPr>
                        <a:t>Term</a:t>
                      </a:r>
                    </a:p>
                  </a:txBody>
                  <a:tcPr marL="64008" marR="64008" marT="27432" marB="27432" anchor="ctr">
                    <a:solidFill>
                      <a:srgbClr val="141B4D"/>
                    </a:solidFill>
                  </a:tcPr>
                </a:tc>
                <a:tc>
                  <a:txBody>
                    <a:bodyPr wrap="square"/>
                    <a:lstStyle/>
                    <a:p>
                      <a:r>
                        <a:rPr b="1" sz="1100" i="0">
                          <a:solidFill>
                            <a:srgbClr val="FFFFFF"/>
                          </a:solidFill>
                          <a:latin typeface="Calibri"/>
                        </a:rPr>
                        <a:t>Plain English</a:t>
                      </a:r>
                    </a:p>
                  </a:txBody>
                  <a:tcPr marL="64008" marR="64008" marT="27432" marB="27432" anchor="ctr">
                    <a:solidFill>
                      <a:srgbClr val="141B4D"/>
                    </a:solidFill>
                  </a:tcPr>
                </a:tc>
                <a:tc>
                  <a:txBody>
                    <a:bodyPr wrap="square"/>
                    <a:lstStyle/>
                    <a:p>
                      <a:r>
                        <a:rPr b="1" sz="1100" i="0">
                          <a:solidFill>
                            <a:srgbClr val="FFFFFF"/>
                          </a:solidFill>
                          <a:latin typeface="Calibri"/>
                        </a:rPr>
                        <a:t>Example in project finance</a:t>
                      </a:r>
                    </a:p>
                  </a:txBody>
                  <a:tcPr marL="64008" marR="64008" marT="27432" marB="27432" anchor="ctr">
                    <a:solidFill>
                      <a:srgbClr val="141B4D"/>
                    </a:solidFill>
                  </a:tcPr>
                </a:tc>
              </a:tr>
              <a:tr h="301752">
                <a:tc>
                  <a:txBody>
                    <a:bodyPr wrap="square"/>
                    <a:lstStyle/>
                    <a:p>
                      <a:r>
                        <a:rPr b="1" sz="1100" i="0">
                          <a:solidFill>
                            <a:srgbClr val="1A2233"/>
                          </a:solidFill>
                          <a:latin typeface="Calibri"/>
                        </a:rPr>
                        <a:t>Contract</a:t>
                      </a:r>
                    </a:p>
                  </a:txBody>
                  <a:tcPr marL="64008" marR="64008" marT="27432" marB="27432" anchor="ctr">
                    <a:solidFill>
                      <a:srgbClr val="FFFFFF"/>
                    </a:solidFill>
                  </a:tcPr>
                </a:tc>
                <a:tc>
                  <a:txBody>
                    <a:bodyPr wrap="square"/>
                    <a:lstStyle/>
                    <a:p>
                      <a:r>
                        <a:rPr b="0" sz="1100" i="0">
                          <a:solidFill>
                            <a:srgbClr val="1A2233"/>
                          </a:solidFill>
                          <a:latin typeface="Calibri"/>
                        </a:rPr>
                        <a:t>A legally enforceable agreement</a:t>
                      </a:r>
                    </a:p>
                  </a:txBody>
                  <a:tcPr marL="64008" marR="64008" marT="27432" marB="27432" anchor="ctr">
                    <a:solidFill>
                      <a:srgbClr val="FFFFFF"/>
                    </a:solidFill>
                  </a:tcPr>
                </a:tc>
                <a:tc>
                  <a:txBody>
                    <a:bodyPr wrap="square"/>
                    <a:lstStyle/>
                    <a:p>
                      <a:r>
                        <a:rPr b="0" sz="1100" i="0">
                          <a:solidFill>
                            <a:srgbClr val="1A2233"/>
                          </a:solidFill>
                          <a:latin typeface="Calibri"/>
                        </a:rPr>
                        <a:t>Power purchase agreement (PPA)</a:t>
                      </a:r>
                    </a:p>
                  </a:txBody>
                  <a:tcPr marL="64008" marR="64008" marT="27432" marB="27432" anchor="ctr">
                    <a:solidFill>
                      <a:srgbClr val="FFFFFF"/>
                    </a:solidFill>
                  </a:tcPr>
                </a:tc>
              </a:tr>
              <a:tr h="301752">
                <a:tc>
                  <a:txBody>
                    <a:bodyPr wrap="square"/>
                    <a:lstStyle/>
                    <a:p>
                      <a:r>
                        <a:rPr b="1" sz="1100" i="0">
                          <a:solidFill>
                            <a:srgbClr val="1A2233"/>
                          </a:solidFill>
                          <a:latin typeface="Calibri"/>
                        </a:rPr>
                        <a:t>Party / counterparty</a:t>
                      </a:r>
                    </a:p>
                  </a:txBody>
                  <a:tcPr marL="64008" marR="64008" marT="27432" marB="27432" anchor="ctr">
                    <a:solidFill>
                      <a:srgbClr val="F3F6F9"/>
                    </a:solidFill>
                  </a:tcPr>
                </a:tc>
                <a:tc>
                  <a:txBody>
                    <a:bodyPr wrap="square"/>
                    <a:lstStyle/>
                    <a:p>
                      <a:r>
                        <a:rPr b="0" sz="1100" i="0">
                          <a:solidFill>
                            <a:srgbClr val="1A2233"/>
                          </a:solidFill>
                          <a:latin typeface="Calibri"/>
                        </a:rPr>
                        <a:t>A person or company that signs</a:t>
                      </a:r>
                    </a:p>
                  </a:txBody>
                  <a:tcPr marL="64008" marR="64008" marT="27432" marB="27432" anchor="ctr">
                    <a:solidFill>
                      <a:srgbClr val="F3F6F9"/>
                    </a:solidFill>
                  </a:tcPr>
                </a:tc>
                <a:tc>
                  <a:txBody>
                    <a:bodyPr wrap="square"/>
                    <a:lstStyle/>
                    <a:p>
                      <a:r>
                        <a:rPr b="0" sz="1100" i="0">
                          <a:solidFill>
                            <a:srgbClr val="1A2233"/>
                          </a:solidFill>
                          <a:latin typeface="Calibri"/>
                        </a:rPr>
                        <a:t>SPV, lender, offtaker</a:t>
                      </a:r>
                    </a:p>
                  </a:txBody>
                  <a:tcPr marL="64008" marR="64008" marT="27432" marB="27432" anchor="ctr">
                    <a:solidFill>
                      <a:srgbClr val="F3F6F9"/>
                    </a:solidFill>
                  </a:tcPr>
                </a:tc>
              </a:tr>
              <a:tr h="301752">
                <a:tc>
                  <a:txBody>
                    <a:bodyPr wrap="square"/>
                    <a:lstStyle/>
                    <a:p>
                      <a:r>
                        <a:rPr b="1" sz="1100" i="0">
                          <a:solidFill>
                            <a:srgbClr val="1A2233"/>
                          </a:solidFill>
                          <a:latin typeface="Calibri"/>
                        </a:rPr>
                        <a:t>SPV</a:t>
                      </a:r>
                    </a:p>
                  </a:txBody>
                  <a:tcPr marL="64008" marR="64008" marT="27432" marB="27432" anchor="ctr">
                    <a:solidFill>
                      <a:srgbClr val="FFFFFF"/>
                    </a:solidFill>
                  </a:tcPr>
                </a:tc>
                <a:tc>
                  <a:txBody>
                    <a:bodyPr wrap="square"/>
                    <a:lstStyle/>
                    <a:p>
                      <a:r>
                        <a:rPr b="0" sz="1100" i="0">
                          <a:solidFill>
                            <a:srgbClr val="1A2233"/>
                          </a:solidFill>
                          <a:latin typeface="Calibri"/>
                        </a:rPr>
                        <a:t>A company created only for the project</a:t>
                      </a:r>
                    </a:p>
                  </a:txBody>
                  <a:tcPr marL="64008" marR="64008" marT="27432" marB="27432" anchor="ctr">
                    <a:solidFill>
                      <a:srgbClr val="FFFFFF"/>
                    </a:solidFill>
                  </a:tcPr>
                </a:tc>
                <a:tc>
                  <a:txBody>
                    <a:bodyPr wrap="square"/>
                    <a:lstStyle/>
                    <a:p>
                      <a:r>
                        <a:rPr b="0" sz="1100" i="0">
                          <a:solidFill>
                            <a:srgbClr val="1A2233"/>
                          </a:solidFill>
                          <a:latin typeface="Calibri"/>
                        </a:rPr>
                        <a:t>Sahel Sun Power Ltd</a:t>
                      </a:r>
                    </a:p>
                  </a:txBody>
                  <a:tcPr marL="64008" marR="64008" marT="27432" marB="27432" anchor="ctr">
                    <a:solidFill>
                      <a:srgbClr val="FFFFFF"/>
                    </a:solidFill>
                  </a:tcPr>
                </a:tc>
              </a:tr>
              <a:tr h="301752">
                <a:tc>
                  <a:txBody>
                    <a:bodyPr wrap="square"/>
                    <a:lstStyle/>
                    <a:p>
                      <a:r>
                        <a:rPr b="1" sz="1100" i="0">
                          <a:solidFill>
                            <a:srgbClr val="1A2233"/>
                          </a:solidFill>
                          <a:latin typeface="Calibri"/>
                        </a:rPr>
                        <a:t>Representation</a:t>
                      </a:r>
                    </a:p>
                  </a:txBody>
                  <a:tcPr marL="64008" marR="64008" marT="27432" marB="27432" anchor="ctr">
                    <a:solidFill>
                      <a:srgbClr val="F3F6F9"/>
                    </a:solidFill>
                  </a:tcPr>
                </a:tc>
                <a:tc>
                  <a:txBody>
                    <a:bodyPr wrap="square"/>
                    <a:lstStyle/>
                    <a:p>
                      <a:r>
                        <a:rPr b="0" sz="1100" i="0">
                          <a:solidFill>
                            <a:srgbClr val="1A2233"/>
                          </a:solidFill>
                          <a:latin typeface="Calibri"/>
                        </a:rPr>
                        <a:t>A statement of fact made at signing</a:t>
                      </a:r>
                    </a:p>
                  </a:txBody>
                  <a:tcPr marL="64008" marR="64008" marT="27432" marB="27432" anchor="ctr">
                    <a:solidFill>
                      <a:srgbClr val="F3F6F9"/>
                    </a:solidFill>
                  </a:tcPr>
                </a:tc>
                <a:tc>
                  <a:txBody>
                    <a:bodyPr wrap="square"/>
                    <a:lstStyle/>
                    <a:p>
                      <a:r>
                        <a:rPr b="0" sz="1100" i="0">
                          <a:solidFill>
                            <a:srgbClr val="1A2233"/>
                          </a:solidFill>
                          <a:latin typeface="Calibri"/>
                        </a:rPr>
                        <a:t>'The company owns the land'</a:t>
                      </a:r>
                    </a:p>
                  </a:txBody>
                  <a:tcPr marL="64008" marR="64008" marT="27432" marB="27432" anchor="ctr">
                    <a:solidFill>
                      <a:srgbClr val="F3F6F9"/>
                    </a:solidFill>
                  </a:tcPr>
                </a:tc>
              </a:tr>
              <a:tr h="301752">
                <a:tc>
                  <a:txBody>
                    <a:bodyPr wrap="square"/>
                    <a:lstStyle/>
                    <a:p>
                      <a:r>
                        <a:rPr b="1" sz="1100" i="0">
                          <a:solidFill>
                            <a:srgbClr val="1A2233"/>
                          </a:solidFill>
                          <a:latin typeface="Calibri"/>
                        </a:rPr>
                        <a:t>Warranty</a:t>
                      </a:r>
                    </a:p>
                  </a:txBody>
                  <a:tcPr marL="64008" marR="64008" marT="27432" marB="27432" anchor="ctr">
                    <a:solidFill>
                      <a:srgbClr val="FFFFFF"/>
                    </a:solidFill>
                  </a:tcPr>
                </a:tc>
                <a:tc>
                  <a:txBody>
                    <a:bodyPr wrap="square"/>
                    <a:lstStyle/>
                    <a:p>
                      <a:r>
                        <a:rPr b="0" sz="1100" i="0">
                          <a:solidFill>
                            <a:srgbClr val="1A2233"/>
                          </a:solidFill>
                          <a:latin typeface="Calibri"/>
                        </a:rPr>
                        <a:t>A promise that a statement is true; damages if not</a:t>
                      </a:r>
                    </a:p>
                  </a:txBody>
                  <a:tcPr marL="64008" marR="64008" marT="27432" marB="27432" anchor="ctr">
                    <a:solidFill>
                      <a:srgbClr val="FFFFFF"/>
                    </a:solidFill>
                  </a:tcPr>
                </a:tc>
                <a:tc>
                  <a:txBody>
                    <a:bodyPr wrap="square"/>
                    <a:lstStyle/>
                    <a:p>
                      <a:r>
                        <a:rPr b="0" sz="1100" i="0">
                          <a:solidFill>
                            <a:srgbClr val="1A2233"/>
                          </a:solidFill>
                          <a:latin typeface="Calibri"/>
                        </a:rPr>
                        <a:t>'All permits are valid'</a:t>
                      </a:r>
                    </a:p>
                  </a:txBody>
                  <a:tcPr marL="64008" marR="64008" marT="27432" marB="27432" anchor="ctr">
                    <a:solidFill>
                      <a:srgbClr val="FFFFFF"/>
                    </a:solidFill>
                  </a:tcPr>
                </a:tc>
              </a:tr>
              <a:tr h="301752">
                <a:tc>
                  <a:txBody>
                    <a:bodyPr wrap="square"/>
                    <a:lstStyle/>
                    <a:p>
                      <a:r>
                        <a:rPr b="1" sz="1100" i="0">
                          <a:solidFill>
                            <a:srgbClr val="1A2233"/>
                          </a:solidFill>
                          <a:latin typeface="Calibri"/>
                        </a:rPr>
                        <a:t>Covenant</a:t>
                      </a:r>
                    </a:p>
                  </a:txBody>
                  <a:tcPr marL="64008" marR="64008" marT="27432" marB="27432" anchor="ctr">
                    <a:solidFill>
                      <a:srgbClr val="F3F6F9"/>
                    </a:solidFill>
                  </a:tcPr>
                </a:tc>
                <a:tc>
                  <a:txBody>
                    <a:bodyPr wrap="square"/>
                    <a:lstStyle/>
                    <a:p>
                      <a:r>
                        <a:rPr b="0" sz="1100" i="0">
                          <a:solidFill>
                            <a:srgbClr val="1A2233"/>
                          </a:solidFill>
                          <a:latin typeface="Calibri"/>
                        </a:rPr>
                        <a:t>A promise to do or not do something over time</a:t>
                      </a:r>
                    </a:p>
                  </a:txBody>
                  <a:tcPr marL="64008" marR="64008" marT="27432" marB="27432" anchor="ctr">
                    <a:solidFill>
                      <a:srgbClr val="F3F6F9"/>
                    </a:solidFill>
                  </a:tcPr>
                </a:tc>
                <a:tc>
                  <a:txBody>
                    <a:bodyPr wrap="square"/>
                    <a:lstStyle/>
                    <a:p>
                      <a:r>
                        <a:rPr b="0" sz="1100" i="0">
                          <a:solidFill>
                            <a:srgbClr val="1A2233"/>
                          </a:solidFill>
                          <a:latin typeface="Calibri"/>
                        </a:rPr>
                        <a:t>'Keep DSCR above 1.20x'</a:t>
                      </a:r>
                    </a:p>
                  </a:txBody>
                  <a:tcPr marL="64008" marR="64008" marT="27432" marB="27432" anchor="ctr">
                    <a:solidFill>
                      <a:srgbClr val="F3F6F9"/>
                    </a:solidFill>
                  </a:tcPr>
                </a:tc>
              </a:tr>
              <a:tr h="301752">
                <a:tc>
                  <a:txBody>
                    <a:bodyPr wrap="square"/>
                    <a:lstStyle/>
                    <a:p>
                      <a:r>
                        <a:rPr b="1" sz="1100" i="0">
                          <a:solidFill>
                            <a:srgbClr val="1A2233"/>
                          </a:solidFill>
                          <a:latin typeface="Calibri"/>
                        </a:rPr>
                        <a:t>Condition precedent (CP)</a:t>
                      </a:r>
                    </a:p>
                  </a:txBody>
                  <a:tcPr marL="64008" marR="64008" marT="27432" marB="27432" anchor="ctr">
                    <a:solidFill>
                      <a:srgbClr val="FFFFFF"/>
                    </a:solidFill>
                  </a:tcPr>
                </a:tc>
                <a:tc>
                  <a:txBody>
                    <a:bodyPr wrap="square"/>
                    <a:lstStyle/>
                    <a:p>
                      <a:r>
                        <a:rPr b="0" sz="1100" i="0">
                          <a:solidFill>
                            <a:srgbClr val="1A2233"/>
                          </a:solidFill>
                          <a:latin typeface="Calibri"/>
                        </a:rPr>
                        <a:t>A condition that must be met before an obligation starts</a:t>
                      </a:r>
                    </a:p>
                  </a:txBody>
                  <a:tcPr marL="64008" marR="64008" marT="27432" marB="27432" anchor="ctr">
                    <a:solidFill>
                      <a:srgbClr val="FFFFFF"/>
                    </a:solidFill>
                  </a:tcPr>
                </a:tc>
                <a:tc>
                  <a:txBody>
                    <a:bodyPr wrap="square"/>
                    <a:lstStyle/>
                    <a:p>
                      <a:r>
                        <a:rPr b="0" sz="1100" i="0">
                          <a:solidFill>
                            <a:srgbClr val="1A2233"/>
                          </a:solidFill>
                          <a:latin typeface="Calibri"/>
                        </a:rPr>
                        <a:t>Legal opinion delivered before first loan drawdown</a:t>
                      </a:r>
                    </a:p>
                  </a:txBody>
                  <a:tcPr marL="64008" marR="64008" marT="27432" marB="27432" anchor="ctr">
                    <a:solidFill>
                      <a:srgbClr val="FFFFFF"/>
                    </a:solidFill>
                  </a:tcPr>
                </a:tc>
              </a:tr>
              <a:tr h="301752">
                <a:tc>
                  <a:txBody>
                    <a:bodyPr wrap="square"/>
                    <a:lstStyle/>
                    <a:p>
                      <a:r>
                        <a:rPr b="1" sz="1100" i="0">
                          <a:solidFill>
                            <a:srgbClr val="1A2233"/>
                          </a:solidFill>
                          <a:latin typeface="Calibri"/>
                        </a:rPr>
                        <a:t>Event of default</a:t>
                      </a:r>
                    </a:p>
                  </a:txBody>
                  <a:tcPr marL="64008" marR="64008" marT="27432" marB="27432" anchor="ctr">
                    <a:solidFill>
                      <a:srgbClr val="F3F6F9"/>
                    </a:solidFill>
                  </a:tcPr>
                </a:tc>
                <a:tc>
                  <a:txBody>
                    <a:bodyPr wrap="square"/>
                    <a:lstStyle/>
                    <a:p>
                      <a:r>
                        <a:rPr b="0" sz="1100" i="0">
                          <a:solidFill>
                            <a:srgbClr val="1A2233"/>
                          </a:solidFill>
                          <a:latin typeface="Calibri"/>
                        </a:rPr>
                        <a:t>A breach that lets lenders act</a:t>
                      </a:r>
                    </a:p>
                  </a:txBody>
                  <a:tcPr marL="64008" marR="64008" marT="27432" marB="27432" anchor="ctr">
                    <a:solidFill>
                      <a:srgbClr val="F3F6F9"/>
                    </a:solidFill>
                  </a:tcPr>
                </a:tc>
                <a:tc>
                  <a:txBody>
                    <a:bodyPr wrap="square"/>
                    <a:lstStyle/>
                    <a:p>
                      <a:r>
                        <a:rPr b="0" sz="1100" i="0">
                          <a:solidFill>
                            <a:srgbClr val="1A2233"/>
                          </a:solidFill>
                          <a:latin typeface="Calibri"/>
                        </a:rPr>
                        <a:t>Missed payment</a:t>
                      </a:r>
                    </a:p>
                  </a:txBody>
                  <a:tcPr marL="64008" marR="64008" marT="27432" marB="27432" anchor="ctr">
                    <a:solidFill>
                      <a:srgbClr val="F3F6F9"/>
                    </a:solidFill>
                  </a:tcPr>
                </a:tc>
              </a:tr>
              <a:tr h="301752">
                <a:tc>
                  <a:txBody>
                    <a:bodyPr wrap="square"/>
                    <a:lstStyle/>
                    <a:p>
                      <a:r>
                        <a:rPr b="1" sz="1100" i="0">
                          <a:solidFill>
                            <a:srgbClr val="1A2233"/>
                          </a:solidFill>
                          <a:latin typeface="Calibri"/>
                        </a:rPr>
                        <a:t>Security</a:t>
                      </a:r>
                    </a:p>
                  </a:txBody>
                  <a:tcPr marL="64008" marR="64008" marT="27432" marB="27432" anchor="ctr">
                    <a:solidFill>
                      <a:srgbClr val="FFFFFF"/>
                    </a:solidFill>
                  </a:tcPr>
                </a:tc>
                <a:tc>
                  <a:txBody>
                    <a:bodyPr wrap="square"/>
                    <a:lstStyle/>
                    <a:p>
                      <a:r>
                        <a:rPr b="0" sz="1100" i="0">
                          <a:solidFill>
                            <a:srgbClr val="1A2233"/>
                          </a:solidFill>
                          <a:latin typeface="Calibri"/>
                        </a:rPr>
                        <a:t>Rights over assets that back a loan</a:t>
                      </a:r>
                    </a:p>
                  </a:txBody>
                  <a:tcPr marL="64008" marR="64008" marT="27432" marB="27432" anchor="ctr">
                    <a:solidFill>
                      <a:srgbClr val="FFFFFF"/>
                    </a:solidFill>
                  </a:tcPr>
                </a:tc>
                <a:tc>
                  <a:txBody>
                    <a:bodyPr wrap="square"/>
                    <a:lstStyle/>
                    <a:p>
                      <a:r>
                        <a:rPr b="0" sz="1100" i="0">
                          <a:solidFill>
                            <a:srgbClr val="1A2233"/>
                          </a:solidFill>
                          <a:latin typeface="Calibri"/>
                        </a:rPr>
                        <a:t>Mortgage, share pledge</a:t>
                      </a:r>
                    </a:p>
                  </a:txBody>
                  <a:tcPr marL="64008" marR="64008" marT="27432" marB="27432" anchor="ctr">
                    <a:solidFill>
                      <a:srgbClr val="FFFFFF"/>
                    </a:solidFill>
                  </a:tcPr>
                </a:tc>
              </a:tr>
              <a:tr h="301752">
                <a:tc>
                  <a:txBody>
                    <a:bodyPr wrap="square"/>
                    <a:lstStyle/>
                    <a:p>
                      <a:r>
                        <a:rPr b="1" sz="1100" i="0">
                          <a:solidFill>
                            <a:srgbClr val="1A2233"/>
                          </a:solidFill>
                          <a:latin typeface="Calibri"/>
                        </a:rPr>
                        <a:t>Indemnity</a:t>
                      </a:r>
                    </a:p>
                  </a:txBody>
                  <a:tcPr marL="64008" marR="64008" marT="27432" marB="27432" anchor="ctr">
                    <a:solidFill>
                      <a:srgbClr val="F3F6F9"/>
                    </a:solidFill>
                  </a:tcPr>
                </a:tc>
                <a:tc>
                  <a:txBody>
                    <a:bodyPr wrap="square"/>
                    <a:lstStyle/>
                    <a:p>
                      <a:r>
                        <a:rPr b="0" sz="1100" i="0">
                          <a:solidFill>
                            <a:srgbClr val="1A2233"/>
                          </a:solidFill>
                          <a:latin typeface="Calibri"/>
                        </a:rPr>
                        <a:t>Promise to cover another's loss</a:t>
                      </a:r>
                    </a:p>
                  </a:txBody>
                  <a:tcPr marL="64008" marR="64008" marT="27432" marB="27432" anchor="ctr">
                    <a:solidFill>
                      <a:srgbClr val="F3F6F9"/>
                    </a:solidFill>
                  </a:tcPr>
                </a:tc>
                <a:tc>
                  <a:txBody>
                    <a:bodyPr wrap="square"/>
                    <a:lstStyle/>
                    <a:p>
                      <a:r>
                        <a:rPr b="0" sz="1100" i="0">
                          <a:solidFill>
                            <a:srgbClr val="1A2233"/>
                          </a:solidFill>
                          <a:latin typeface="Calibri"/>
                        </a:rPr>
                        <a:t>Contractor indemnifies for IP claims</a:t>
                      </a:r>
                    </a:p>
                  </a:txBody>
                  <a:tcPr marL="64008" marR="64008" marT="27432" marB="27432" anchor="ctr">
                    <a:solidFill>
                      <a:srgbClr val="F3F6F9"/>
                    </a:solidFill>
                  </a:tcPr>
                </a:tc>
              </a:tr>
              <a:tr h="301752">
                <a:tc>
                  <a:txBody>
                    <a:bodyPr wrap="square"/>
                    <a:lstStyle/>
                    <a:p>
                      <a:r>
                        <a:rPr b="1" sz="1100" i="0">
                          <a:solidFill>
                            <a:srgbClr val="1A2233"/>
                          </a:solidFill>
                          <a:latin typeface="Calibri"/>
                        </a:rPr>
                        <a:t>Force majeure</a:t>
                      </a:r>
                    </a:p>
                  </a:txBody>
                  <a:tcPr marL="64008" marR="64008" marT="27432" marB="27432" anchor="ctr">
                    <a:solidFill>
                      <a:srgbClr val="FFFFFF"/>
                    </a:solidFill>
                  </a:tcPr>
                </a:tc>
                <a:tc>
                  <a:txBody>
                    <a:bodyPr wrap="square"/>
                    <a:lstStyle/>
                    <a:p>
                      <a:r>
                        <a:rPr b="0" sz="1100" i="0">
                          <a:solidFill>
                            <a:srgbClr val="1A2233"/>
                          </a:solidFill>
                          <a:latin typeface="Calibri"/>
                        </a:rPr>
                        <a:t>Event beyond control that excuses performance</a:t>
                      </a:r>
                    </a:p>
                  </a:txBody>
                  <a:tcPr marL="64008" marR="64008" marT="27432" marB="27432" anchor="ctr">
                    <a:solidFill>
                      <a:srgbClr val="FFFFFF"/>
                    </a:solidFill>
                  </a:tcPr>
                </a:tc>
                <a:tc>
                  <a:txBody>
                    <a:bodyPr wrap="square"/>
                    <a:lstStyle/>
                    <a:p>
                      <a:r>
                        <a:rPr b="0" sz="1100" i="0">
                          <a:solidFill>
                            <a:srgbClr val="1A2233"/>
                          </a:solidFill>
                          <a:latin typeface="Calibri"/>
                        </a:rPr>
                        <a:t>Flood, war</a:t>
                      </a:r>
                    </a:p>
                  </a:txBody>
                  <a:tcPr marL="64008" marR="64008" marT="27432" marB="27432" anchor="ctr">
                    <a:solidFill>
                      <a:srgbClr val="FFFFFF"/>
                    </a:solidFill>
                  </a:tcPr>
                </a:tc>
              </a:tr>
              <a:tr h="301752">
                <a:tc>
                  <a:txBody>
                    <a:bodyPr wrap="square"/>
                    <a:lstStyle/>
                    <a:p>
                      <a:r>
                        <a:rPr b="1" sz="1100" i="0">
                          <a:solidFill>
                            <a:srgbClr val="1A2233"/>
                          </a:solidFill>
                          <a:latin typeface="Calibri"/>
                        </a:rPr>
                        <a:t>Governing law</a:t>
                      </a:r>
                    </a:p>
                  </a:txBody>
                  <a:tcPr marL="64008" marR="64008" marT="27432" marB="27432" anchor="ctr">
                    <a:solidFill>
                      <a:srgbClr val="F3F6F9"/>
                    </a:solidFill>
                  </a:tcPr>
                </a:tc>
                <a:tc>
                  <a:txBody>
                    <a:bodyPr wrap="square"/>
                    <a:lstStyle/>
                    <a:p>
                      <a:r>
                        <a:rPr b="0" sz="1100" i="0">
                          <a:solidFill>
                            <a:srgbClr val="1A2233"/>
                          </a:solidFill>
                          <a:latin typeface="Calibri"/>
                        </a:rPr>
                        <a:t>Which country's law interprets the contract</a:t>
                      </a:r>
                    </a:p>
                  </a:txBody>
                  <a:tcPr marL="64008" marR="64008" marT="27432" marB="27432" anchor="ctr">
                    <a:solidFill>
                      <a:srgbClr val="F3F6F9"/>
                    </a:solidFill>
                  </a:tcPr>
                </a:tc>
                <a:tc>
                  <a:txBody>
                    <a:bodyPr wrap="square"/>
                    <a:lstStyle/>
                    <a:p>
                      <a:r>
                        <a:rPr b="0" sz="1100" i="0">
                          <a:solidFill>
                            <a:srgbClr val="1A2233"/>
                          </a:solidFill>
                          <a:latin typeface="Calibri"/>
                        </a:rPr>
                        <a:t>English law or Nigerian law</a:t>
                      </a:r>
                    </a:p>
                  </a:txBody>
                  <a:tcPr marL="64008" marR="64008" marT="27432" marB="27432" anchor="ctr">
                    <a:solidFill>
                      <a:srgbClr val="F3F6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Limited recourse and the SPV in legal terms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The SPV is a separate legal person. It signs the contracts, owns the assets and borrows the money. Lenders agree to look mainly to the project's cash flow and assets for repayment, not to the sponsors' wider balance sheet. That is 'limited recourse': the sponsors' liability is limited to what they have agreed to put in.</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Sponsors hold shares in the SPV (limited liability)</a:t>
            </a:r>
          </a:p>
          <a:p>
            <a:pPr algn="l"/>
            <a:r>
              <a:rPr b="0" sz="1600" i="0">
                <a:solidFill>
                  <a:srgbClr val="1A2233"/>
                </a:solidFill>
                <a:latin typeface="Calibri"/>
              </a:rPr>
              <a:t>Sponsors give limited promises: equity contribution, maybe completion support</a:t>
            </a:r>
          </a:p>
          <a:p>
            <a:pPr algn="l"/>
            <a:r>
              <a:rPr b="0" sz="1600" i="0">
                <a:solidFill>
                  <a:srgbClr val="1A2233"/>
                </a:solidFill>
                <a:latin typeface="Calibri"/>
              </a:rPr>
              <a:t>Lenders take security over the SPV's assets, contracts, accounts and the shares</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Limited recourse only works if the legal structure is airtight: that is why lenders' counsel spends weeks on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ARCHITECTURE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contract web around the SPV</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1645920"/>
            <a:ext cx="2103120" cy="8229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Sponsors
(shareholders)</a:t>
            </a:r>
          </a:p>
        </p:txBody>
      </p:sp>
      <p:sp>
        <p:nvSpPr>
          <p:cNvPr id="12" name="Rounded Rectangle 11"/>
          <p:cNvSpPr/>
          <p:nvPr/>
        </p:nvSpPr>
        <p:spPr>
          <a:xfrm>
            <a:off x="4572000" y="3108960"/>
            <a:ext cx="3108960" cy="91440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PROJECT COMPANY (SPV)</a:t>
            </a:r>
          </a:p>
        </p:txBody>
      </p:sp>
      <p:sp>
        <p:nvSpPr>
          <p:cNvPr id="13" name="Rounded Rectangle 12"/>
          <p:cNvSpPr/>
          <p:nvPr/>
        </p:nvSpPr>
        <p:spPr>
          <a:xfrm>
            <a:off x="8961120" y="1463040"/>
            <a:ext cx="2651760" cy="82296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Offtaker
PPA / concession</a:t>
            </a:r>
          </a:p>
        </p:txBody>
      </p:sp>
      <p:sp>
        <p:nvSpPr>
          <p:cNvPr id="14" name="Rounded Rectangle 13"/>
          <p:cNvSpPr/>
          <p:nvPr/>
        </p:nvSpPr>
        <p:spPr>
          <a:xfrm>
            <a:off x="457200" y="4389120"/>
            <a:ext cx="2377440" cy="82296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EPC contractor
builds the asset</a:t>
            </a:r>
          </a:p>
        </p:txBody>
      </p:sp>
      <p:sp>
        <p:nvSpPr>
          <p:cNvPr id="15" name="Rounded Rectangle 14"/>
          <p:cNvSpPr/>
          <p:nvPr/>
        </p:nvSpPr>
        <p:spPr>
          <a:xfrm>
            <a:off x="3291840" y="4754880"/>
            <a:ext cx="2377440" cy="82296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O&amp;M operator
runs the asset</a:t>
            </a:r>
          </a:p>
        </p:txBody>
      </p:sp>
      <p:sp>
        <p:nvSpPr>
          <p:cNvPr id="16" name="Rounded Rectangle 15"/>
          <p:cNvSpPr/>
          <p:nvPr/>
        </p:nvSpPr>
        <p:spPr>
          <a:xfrm>
            <a:off x="6217920" y="4754880"/>
            <a:ext cx="2286000" cy="82296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Supplier
fuel / inputs</a:t>
            </a:r>
          </a:p>
        </p:txBody>
      </p:sp>
      <p:sp>
        <p:nvSpPr>
          <p:cNvPr id="17" name="Rounded Rectangle 16"/>
          <p:cNvSpPr/>
          <p:nvPr/>
        </p:nvSpPr>
        <p:spPr>
          <a:xfrm>
            <a:off x="8961120" y="4206240"/>
            <a:ext cx="2651760" cy="1097280"/>
          </a:xfrm>
          <a:prstGeom prst="roundRect">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1A2233"/>
                </a:solidFill>
                <a:latin typeface="Calibri"/>
              </a:rPr>
              <a:t>Lenders
facility agreement
+ security</a:t>
            </a:r>
          </a:p>
        </p:txBody>
      </p:sp>
      <p:sp>
        <p:nvSpPr>
          <p:cNvPr id="18" name="Rounded Rectangle 17"/>
          <p:cNvSpPr/>
          <p:nvPr/>
        </p:nvSpPr>
        <p:spPr>
          <a:xfrm>
            <a:off x="3840480" y="1463040"/>
            <a:ext cx="3108960" cy="8229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Government / regulator
permits, licences</a:t>
            </a:r>
          </a:p>
        </p:txBody>
      </p:sp>
      <p:cxnSp>
        <p:nvCxnSpPr>
          <p:cNvPr id="19" name="Connector 18"/>
          <p:cNvCxnSpPr/>
          <p:nvPr/>
        </p:nvCxnSpPr>
        <p:spPr>
          <a:xfrm>
            <a:off x="2560320" y="2057400"/>
            <a:ext cx="2011680" cy="150876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500884"/>
            <a:ext cx="1280160" cy="256032"/>
          </a:xfrm>
          <a:prstGeom prst="rect">
            <a:avLst/>
          </a:prstGeom>
          <a:noFill/>
        </p:spPr>
        <p:txBody>
          <a:bodyPr wrap="square" lIns="45720" rIns="45720" tIns="27432" bIns="27432" anchor="t">
            <a:spAutoFit/>
          </a:bodyPr>
          <a:lstStyle/>
          <a:p>
            <a:pPr algn="ctr"/>
            <a:r>
              <a:rPr b="0" sz="1000" i="1">
                <a:solidFill>
                  <a:srgbClr val="5C6B7A"/>
                </a:solidFill>
                <a:latin typeface="Calibri"/>
              </a:rPr>
              <a:t>equity, SHA</a:t>
            </a:r>
          </a:p>
        </p:txBody>
      </p:sp>
      <p:cxnSp>
        <p:nvCxnSpPr>
          <p:cNvPr id="21" name="Connector 20"/>
          <p:cNvCxnSpPr/>
          <p:nvPr/>
        </p:nvCxnSpPr>
        <p:spPr>
          <a:xfrm flipH="1">
            <a:off x="7680960" y="1874520"/>
            <a:ext cx="1280160" cy="169164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863840" y="2409444"/>
            <a:ext cx="914400" cy="256032"/>
          </a:xfrm>
          <a:prstGeom prst="rect">
            <a:avLst/>
          </a:prstGeom>
          <a:noFill/>
        </p:spPr>
        <p:txBody>
          <a:bodyPr wrap="square" lIns="45720" rIns="45720" tIns="27432" bIns="27432" anchor="t">
            <a:spAutoFit/>
          </a:bodyPr>
          <a:lstStyle/>
          <a:p>
            <a:pPr algn="ctr"/>
            <a:r>
              <a:rPr b="0" sz="1000" i="1">
                <a:solidFill>
                  <a:srgbClr val="5C6B7A"/>
                </a:solidFill>
                <a:latin typeface="Calibri"/>
              </a:rPr>
              <a:t>revenue</a:t>
            </a:r>
          </a:p>
        </p:txBody>
      </p:sp>
      <p:cxnSp>
        <p:nvCxnSpPr>
          <p:cNvPr id="23" name="Connector 22"/>
          <p:cNvCxnSpPr/>
          <p:nvPr/>
        </p:nvCxnSpPr>
        <p:spPr>
          <a:xfrm flipV="1">
            <a:off x="2834640" y="3566160"/>
            <a:ext cx="1737360" cy="123444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572000" y="3566160"/>
            <a:ext cx="1097280" cy="160020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6126480" y="4023360"/>
            <a:ext cx="1234440" cy="73152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680960" y="3566160"/>
            <a:ext cx="1280160" cy="1188719"/>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49540" y="3849624"/>
            <a:ext cx="1143000" cy="256032"/>
          </a:xfrm>
          <a:prstGeom prst="rect">
            <a:avLst/>
          </a:prstGeom>
          <a:noFill/>
        </p:spPr>
        <p:txBody>
          <a:bodyPr wrap="square" lIns="45720" rIns="45720" tIns="27432" bIns="27432" anchor="t">
            <a:spAutoFit/>
          </a:bodyPr>
          <a:lstStyle/>
          <a:p>
            <a:pPr algn="ctr"/>
            <a:r>
              <a:rPr b="0" sz="1000" i="1">
                <a:solidFill>
                  <a:srgbClr val="5C6B7A"/>
                </a:solidFill>
                <a:latin typeface="Calibri"/>
              </a:rPr>
              <a:t>loan</a:t>
            </a:r>
          </a:p>
        </p:txBody>
      </p:sp>
      <p:cxnSp>
        <p:nvCxnSpPr>
          <p:cNvPr id="28" name="Connector 27"/>
          <p:cNvCxnSpPr/>
          <p:nvPr/>
        </p:nvCxnSpPr>
        <p:spPr>
          <a:xfrm>
            <a:off x="5394960" y="2286000"/>
            <a:ext cx="731520" cy="82296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5715000"/>
            <a:ext cx="11155680" cy="54864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715000"/>
            <a:ext cx="82296" cy="54864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5715000"/>
            <a:ext cx="10927080" cy="548640"/>
          </a:xfrm>
          <a:prstGeom prst="rect">
            <a:avLst/>
          </a:prstGeom>
          <a:noFill/>
        </p:spPr>
        <p:txBody>
          <a:bodyPr wrap="square" lIns="45720" rIns="45720" tIns="27432" bIns="27432" anchor="ctr">
            <a:spAutoFit/>
          </a:bodyPr>
          <a:lstStyle/>
          <a:p>
            <a:pPr algn="l"/>
            <a:r>
              <a:rPr b="0" sz="1400" i="0">
                <a:solidFill>
                  <a:srgbClr val="1A2233"/>
                </a:solidFill>
                <a:latin typeface="Calibri"/>
              </a:rPr>
              <a:t>Every arrow is a contract. Lenders review every one: any weak link can break the cash flow they rely 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DOCUMENTS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documents: purpose and the bankability question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339338"/>
        </p:xfrm>
        <a:graphic>
          <a:graphicData uri="http://schemas.openxmlformats.org/drawingml/2006/table">
            <a:tbl>
              <a:tblPr firstRow="1" bandRow="1">
                <a:tableStyleId>{5C22544A-7EE6-4342-B048-85BDC9FD1C3A}</a:tableStyleId>
              </a:tblPr>
              <a:tblGrid>
                <a:gridCol w="2743200"/>
                <a:gridCol w="3291840"/>
                <a:gridCol w="5029200"/>
              </a:tblGrid>
              <a:tr h="320040">
                <a:tc>
                  <a:txBody>
                    <a:bodyPr wrap="square"/>
                    <a:lstStyle/>
                    <a:p>
                      <a:r>
                        <a:rPr b="1" sz="1100" i="0">
                          <a:solidFill>
                            <a:srgbClr val="FFFFFF"/>
                          </a:solidFill>
                          <a:latin typeface="Calibri"/>
                        </a:rPr>
                        <a:t>Document</a:t>
                      </a:r>
                    </a:p>
                  </a:txBody>
                  <a:tcPr marL="64008" marR="64008" marT="27432" marB="27432" anchor="ctr">
                    <a:solidFill>
                      <a:srgbClr val="141B4D"/>
                    </a:solidFill>
                  </a:tcPr>
                </a:tc>
                <a:tc>
                  <a:txBody>
                    <a:bodyPr wrap="square"/>
                    <a:lstStyle/>
                    <a:p>
                      <a:r>
                        <a:rPr b="1" sz="1100" i="0">
                          <a:solidFill>
                            <a:srgbClr val="FFFFFF"/>
                          </a:solidFill>
                          <a:latin typeface="Calibri"/>
                        </a:rPr>
                        <a:t>Purpose</a:t>
                      </a:r>
                    </a:p>
                  </a:txBody>
                  <a:tcPr marL="64008" marR="64008" marT="27432" marB="27432" anchor="ctr">
                    <a:solidFill>
                      <a:srgbClr val="141B4D"/>
                    </a:solidFill>
                  </a:tcPr>
                </a:tc>
                <a:tc>
                  <a:txBody>
                    <a:bodyPr wrap="square"/>
                    <a:lstStyle/>
                    <a:p>
                      <a:r>
                        <a:rPr b="1" sz="1100" i="0">
                          <a:solidFill>
                            <a:srgbClr val="FFFFFF"/>
                          </a:solidFill>
                          <a:latin typeface="Calibri"/>
                        </a:rPr>
                        <a:t>What lenders ask</a:t>
                      </a:r>
                    </a:p>
                  </a:txBody>
                  <a:tcPr marL="64008" marR="64008" marT="27432" marB="27432" anchor="ctr">
                    <a:solidFill>
                      <a:srgbClr val="141B4D"/>
                    </a:solidFill>
                  </a:tcPr>
                </a:tc>
              </a:tr>
              <a:tr h="320040">
                <a:tc>
                  <a:txBody>
                    <a:bodyPr wrap="square"/>
                    <a:lstStyle/>
                    <a:p>
                      <a:r>
                        <a:rPr b="1" sz="1100" i="0">
                          <a:solidFill>
                            <a:srgbClr val="1A2233"/>
                          </a:solidFill>
                          <a:latin typeface="Calibri"/>
                        </a:rPr>
                        <a:t>Shareholders' agreement</a:t>
                      </a:r>
                    </a:p>
                  </a:txBody>
                  <a:tcPr marL="64008" marR="64008" marT="27432" marB="27432" anchor="ctr">
                    <a:solidFill>
                      <a:srgbClr val="FFFFFF"/>
                    </a:solidFill>
                  </a:tcPr>
                </a:tc>
                <a:tc>
                  <a:txBody>
                    <a:bodyPr wrap="square"/>
                    <a:lstStyle/>
                    <a:p>
                      <a:r>
                        <a:rPr b="0" sz="1100" i="0">
                          <a:solidFill>
                            <a:srgbClr val="1A2233"/>
                          </a:solidFill>
                          <a:latin typeface="Calibri"/>
                        </a:rPr>
                        <a:t>Governs sponsors' rights and funding</a:t>
                      </a:r>
                    </a:p>
                  </a:txBody>
                  <a:tcPr marL="64008" marR="64008" marT="27432" marB="27432" anchor="ctr">
                    <a:solidFill>
                      <a:srgbClr val="FFFFFF"/>
                    </a:solidFill>
                  </a:tcPr>
                </a:tc>
                <a:tc>
                  <a:txBody>
                    <a:bodyPr wrap="square"/>
                    <a:lstStyle/>
                    <a:p>
                      <a:r>
                        <a:rPr b="0" sz="1100" i="0">
                          <a:solidFill>
                            <a:srgbClr val="1A2233"/>
                          </a:solidFill>
                          <a:latin typeface="Calibri"/>
                        </a:rPr>
                        <a:t>Are equity commitments firm and on time?</a:t>
                      </a:r>
                    </a:p>
                  </a:txBody>
                  <a:tcPr marL="64008" marR="64008" marT="27432" marB="27432" anchor="ctr">
                    <a:solidFill>
                      <a:srgbClr val="FFFFFF"/>
                    </a:solidFill>
                  </a:tcPr>
                </a:tc>
              </a:tr>
              <a:tr h="458978">
                <a:tc>
                  <a:txBody>
                    <a:bodyPr wrap="square"/>
                    <a:lstStyle/>
                    <a:p>
                      <a:r>
                        <a:rPr b="1" sz="1100" i="0">
                          <a:solidFill>
                            <a:srgbClr val="1A2233"/>
                          </a:solidFill>
                          <a:latin typeface="Calibri"/>
                        </a:rPr>
                        <a:t>Concession / PPA / offtake</a:t>
                      </a:r>
                    </a:p>
                  </a:txBody>
                  <a:tcPr marL="64008" marR="64008" marT="27432" marB="27432" anchor="ctr">
                    <a:solidFill>
                      <a:srgbClr val="F3F6F9"/>
                    </a:solidFill>
                  </a:tcPr>
                </a:tc>
                <a:tc>
                  <a:txBody>
                    <a:bodyPr wrap="square"/>
                    <a:lstStyle/>
                    <a:p>
                      <a:r>
                        <a:rPr b="0" sz="1100" i="0">
                          <a:solidFill>
                            <a:srgbClr val="1A2233"/>
                          </a:solidFill>
                          <a:latin typeface="Calibri"/>
                        </a:rPr>
                        <a:t>Creates the revenue</a:t>
                      </a:r>
                    </a:p>
                  </a:txBody>
                  <a:tcPr marL="64008" marR="64008" marT="27432" marB="27432" anchor="ctr">
                    <a:solidFill>
                      <a:srgbClr val="F3F6F9"/>
                    </a:solidFill>
                  </a:tcPr>
                </a:tc>
                <a:tc>
                  <a:txBody>
                    <a:bodyPr wrap="square"/>
                    <a:lstStyle/>
                    <a:p>
                      <a:r>
                        <a:rPr b="0" sz="1100" i="0">
                          <a:solidFill>
                            <a:srgbClr val="1A2233"/>
                          </a:solidFill>
                          <a:latin typeface="Calibri"/>
                        </a:rPr>
                        <a:t>Is payment secure? Is tariff adjustable? Termination payment covers debt?</a:t>
                      </a:r>
                    </a:p>
                  </a:txBody>
                  <a:tcPr marL="64008" marR="64008" marT="27432" marB="27432" anchor="ctr">
                    <a:solidFill>
                      <a:srgbClr val="F3F6F9"/>
                    </a:solidFill>
                  </a:tcPr>
                </a:tc>
              </a:tr>
              <a:tr h="320040">
                <a:tc>
                  <a:txBody>
                    <a:bodyPr wrap="square"/>
                    <a:lstStyle/>
                    <a:p>
                      <a:r>
                        <a:rPr b="1" sz="1100" i="0">
                          <a:solidFill>
                            <a:srgbClr val="1A2233"/>
                          </a:solidFill>
                          <a:latin typeface="Calibri"/>
                        </a:rPr>
                        <a:t>EPC contract</a:t>
                      </a:r>
                    </a:p>
                  </a:txBody>
                  <a:tcPr marL="64008" marR="64008" marT="27432" marB="27432" anchor="ctr">
                    <a:solidFill>
                      <a:srgbClr val="FFFFFF"/>
                    </a:solidFill>
                  </a:tcPr>
                </a:tc>
                <a:tc>
                  <a:txBody>
                    <a:bodyPr wrap="square"/>
                    <a:lstStyle/>
                    <a:p>
                      <a:r>
                        <a:rPr b="0" sz="1100" i="0">
                          <a:solidFill>
                            <a:srgbClr val="1A2233"/>
                          </a:solidFill>
                          <a:latin typeface="Calibri"/>
                        </a:rPr>
                        <a:t>Fixed price, fixed date construction</a:t>
                      </a:r>
                    </a:p>
                  </a:txBody>
                  <a:tcPr marL="64008" marR="64008" marT="27432" marB="27432" anchor="ctr">
                    <a:solidFill>
                      <a:srgbClr val="FFFFFF"/>
                    </a:solidFill>
                  </a:tcPr>
                </a:tc>
                <a:tc>
                  <a:txBody>
                    <a:bodyPr wrap="square"/>
                    <a:lstStyle/>
                    <a:p>
                      <a:r>
                        <a:rPr b="0" sz="1100" i="0">
                          <a:solidFill>
                            <a:srgbClr val="1A2233"/>
                          </a:solidFill>
                          <a:latin typeface="Calibri"/>
                        </a:rPr>
                        <a:t>Liquidated damages, caps, performance bond</a:t>
                      </a:r>
                    </a:p>
                  </a:txBody>
                  <a:tcPr marL="64008" marR="64008" marT="27432" marB="27432" anchor="ctr">
                    <a:solidFill>
                      <a:srgbClr val="FFFFFF"/>
                    </a:solidFill>
                  </a:tcPr>
                </a:tc>
              </a:tr>
              <a:tr h="320040">
                <a:tc>
                  <a:txBody>
                    <a:bodyPr wrap="square"/>
                    <a:lstStyle/>
                    <a:p>
                      <a:r>
                        <a:rPr b="1" sz="1100" i="0">
                          <a:solidFill>
                            <a:srgbClr val="1A2233"/>
                          </a:solidFill>
                          <a:latin typeface="Calibri"/>
                        </a:rPr>
                        <a:t>O&amp;M agreement</a:t>
                      </a:r>
                    </a:p>
                  </a:txBody>
                  <a:tcPr marL="64008" marR="64008" marT="27432" marB="27432" anchor="ctr">
                    <a:solidFill>
                      <a:srgbClr val="F3F6F9"/>
                    </a:solidFill>
                  </a:tcPr>
                </a:tc>
                <a:tc>
                  <a:txBody>
                    <a:bodyPr wrap="square"/>
                    <a:lstStyle/>
                    <a:p>
                      <a:r>
                        <a:rPr b="0" sz="1100" i="0">
                          <a:solidFill>
                            <a:srgbClr val="1A2233"/>
                          </a:solidFill>
                          <a:latin typeface="Calibri"/>
                        </a:rPr>
                        <a:t>Operation and maintenance</a:t>
                      </a:r>
                    </a:p>
                  </a:txBody>
                  <a:tcPr marL="64008" marR="64008" marT="27432" marB="27432" anchor="ctr">
                    <a:solidFill>
                      <a:srgbClr val="F3F6F9"/>
                    </a:solidFill>
                  </a:tcPr>
                </a:tc>
                <a:tc>
                  <a:txBody>
                    <a:bodyPr wrap="square"/>
                    <a:lstStyle/>
                    <a:p>
                      <a:r>
                        <a:rPr b="0" sz="1100" i="0">
                          <a:solidFill>
                            <a:srgbClr val="1A2233"/>
                          </a:solidFill>
                          <a:latin typeface="Calibri"/>
                        </a:rPr>
                        <a:t>Performance guarantees, incentives</a:t>
                      </a:r>
                    </a:p>
                  </a:txBody>
                  <a:tcPr marL="64008" marR="64008" marT="27432" marB="27432" anchor="ctr">
                    <a:solidFill>
                      <a:srgbClr val="F3F6F9"/>
                    </a:solidFill>
                  </a:tcPr>
                </a:tc>
              </a:tr>
              <a:tr h="320040">
                <a:tc>
                  <a:txBody>
                    <a:bodyPr wrap="square"/>
                    <a:lstStyle/>
                    <a:p>
                      <a:r>
                        <a:rPr b="1" sz="1100" i="0">
                          <a:solidFill>
                            <a:srgbClr val="1A2233"/>
                          </a:solidFill>
                          <a:latin typeface="Calibri"/>
                        </a:rPr>
                        <a:t>Supply agreement</a:t>
                      </a:r>
                    </a:p>
                  </a:txBody>
                  <a:tcPr marL="64008" marR="64008" marT="27432" marB="27432" anchor="ctr">
                    <a:solidFill>
                      <a:srgbClr val="FFFFFF"/>
                    </a:solidFill>
                  </a:tcPr>
                </a:tc>
                <a:tc>
                  <a:txBody>
                    <a:bodyPr wrap="square"/>
                    <a:lstStyle/>
                    <a:p>
                      <a:r>
                        <a:rPr b="0" sz="1100" i="0">
                          <a:solidFill>
                            <a:srgbClr val="1A2233"/>
                          </a:solidFill>
                          <a:latin typeface="Calibri"/>
                        </a:rPr>
                        <a:t>Fuel or inputs</a:t>
                      </a:r>
                    </a:p>
                  </a:txBody>
                  <a:tcPr marL="64008" marR="64008" marT="27432" marB="27432" anchor="ctr">
                    <a:solidFill>
                      <a:srgbClr val="FFFFFF"/>
                    </a:solidFill>
                  </a:tcPr>
                </a:tc>
                <a:tc>
                  <a:txBody>
                    <a:bodyPr wrap="square"/>
                    <a:lstStyle/>
                    <a:p>
                      <a:r>
                        <a:rPr b="0" sz="1100" i="0">
                          <a:solidFill>
                            <a:srgbClr val="1A2233"/>
                          </a:solidFill>
                          <a:latin typeface="Calibri"/>
                        </a:rPr>
                        <a:t>Price, volume, security of supply</a:t>
                      </a:r>
                    </a:p>
                  </a:txBody>
                  <a:tcPr marL="64008" marR="64008" marT="27432" marB="27432" anchor="ctr">
                    <a:solidFill>
                      <a:srgbClr val="FFFFFF"/>
                    </a:solidFill>
                  </a:tcPr>
                </a:tc>
              </a:tr>
              <a:tr h="320040">
                <a:tc>
                  <a:txBody>
                    <a:bodyPr wrap="square"/>
                    <a:lstStyle/>
                    <a:p>
                      <a:r>
                        <a:rPr b="1" sz="1100" i="0">
                          <a:solidFill>
                            <a:srgbClr val="1A2233"/>
                          </a:solidFill>
                          <a:latin typeface="Calibri"/>
                        </a:rPr>
                        <a:t>Facility agreement</a:t>
                      </a:r>
                    </a:p>
                  </a:txBody>
                  <a:tcPr marL="64008" marR="64008" marT="27432" marB="27432" anchor="ctr">
                    <a:solidFill>
                      <a:srgbClr val="F3F6F9"/>
                    </a:solidFill>
                  </a:tcPr>
                </a:tc>
                <a:tc>
                  <a:txBody>
                    <a:bodyPr wrap="square"/>
                    <a:lstStyle/>
                    <a:p>
                      <a:r>
                        <a:rPr b="0" sz="1100" i="0">
                          <a:solidFill>
                            <a:srgbClr val="1A2233"/>
                          </a:solidFill>
                          <a:latin typeface="Calibri"/>
                        </a:rPr>
                        <a:t>The loan</a:t>
                      </a:r>
                    </a:p>
                  </a:txBody>
                  <a:tcPr marL="64008" marR="64008" marT="27432" marB="27432" anchor="ctr">
                    <a:solidFill>
                      <a:srgbClr val="F3F6F9"/>
                    </a:solidFill>
                  </a:tcPr>
                </a:tc>
                <a:tc>
                  <a:txBody>
                    <a:bodyPr wrap="square"/>
                    <a:lstStyle/>
                    <a:p>
                      <a:r>
                        <a:rPr b="0" sz="1100" i="0">
                          <a:solidFill>
                            <a:srgbClr val="1A2233"/>
                          </a:solidFill>
                          <a:latin typeface="Calibri"/>
                        </a:rPr>
                        <a:t>Terms, covenants, events of default</a:t>
                      </a:r>
                    </a:p>
                  </a:txBody>
                  <a:tcPr marL="64008" marR="64008" marT="27432" marB="27432" anchor="ctr">
                    <a:solidFill>
                      <a:srgbClr val="F3F6F9"/>
                    </a:solidFill>
                  </a:tcPr>
                </a:tc>
              </a:tr>
              <a:tr h="320040">
                <a:tc>
                  <a:txBody>
                    <a:bodyPr wrap="square"/>
                    <a:lstStyle/>
                    <a:p>
                      <a:r>
                        <a:rPr b="1" sz="1100" i="0">
                          <a:solidFill>
                            <a:srgbClr val="1A2233"/>
                          </a:solidFill>
                          <a:latin typeface="Calibri"/>
                        </a:rPr>
                        <a:t>Security documents</a:t>
                      </a:r>
                    </a:p>
                  </a:txBody>
                  <a:tcPr marL="64008" marR="64008" marT="27432" marB="27432" anchor="ctr">
                    <a:solidFill>
                      <a:srgbClr val="FFFFFF"/>
                    </a:solidFill>
                  </a:tcPr>
                </a:tc>
                <a:tc>
                  <a:txBody>
                    <a:bodyPr wrap="square"/>
                    <a:lstStyle/>
                    <a:p>
                      <a:r>
                        <a:rPr b="0" sz="1100" i="0">
                          <a:solidFill>
                            <a:srgbClr val="1A2233"/>
                          </a:solidFill>
                          <a:latin typeface="Calibri"/>
                        </a:rPr>
                        <a:t>Collateral</a:t>
                      </a:r>
                    </a:p>
                  </a:txBody>
                  <a:tcPr marL="64008" marR="64008" marT="27432" marB="27432" anchor="ctr">
                    <a:solidFill>
                      <a:srgbClr val="FFFFFF"/>
                    </a:solidFill>
                  </a:tcPr>
                </a:tc>
                <a:tc>
                  <a:txBody>
                    <a:bodyPr wrap="square"/>
                    <a:lstStyle/>
                    <a:p>
                      <a:r>
                        <a:rPr b="0" sz="1100" i="0">
                          <a:solidFill>
                            <a:srgbClr val="1A2233"/>
                          </a:solidFill>
                          <a:latin typeface="Calibri"/>
                        </a:rPr>
                        <a:t>Perfected, enforceable, ranking</a:t>
                      </a:r>
                    </a:p>
                  </a:txBody>
                  <a:tcPr marL="64008" marR="64008" marT="27432" marB="27432" anchor="ctr">
                    <a:solidFill>
                      <a:srgbClr val="FFFFFF"/>
                    </a:solidFill>
                  </a:tcPr>
                </a:tc>
              </a:tr>
              <a:tr h="320040">
                <a:tc>
                  <a:txBody>
                    <a:bodyPr wrap="square"/>
                    <a:lstStyle/>
                    <a:p>
                      <a:r>
                        <a:rPr b="1" sz="1100" i="0">
                          <a:solidFill>
                            <a:srgbClr val="1A2233"/>
                          </a:solidFill>
                          <a:latin typeface="Calibri"/>
                        </a:rPr>
                        <a:t>Direct agreements</a:t>
                      </a:r>
                    </a:p>
                  </a:txBody>
                  <a:tcPr marL="64008" marR="64008" marT="27432" marB="27432" anchor="ctr">
                    <a:solidFill>
                      <a:srgbClr val="F3F6F9"/>
                    </a:solidFill>
                  </a:tcPr>
                </a:tc>
                <a:tc>
                  <a:txBody>
                    <a:bodyPr wrap="square"/>
                    <a:lstStyle/>
                    <a:p>
                      <a:r>
                        <a:rPr b="0" sz="1100" i="0">
                          <a:solidFill>
                            <a:srgbClr val="1A2233"/>
                          </a:solidFill>
                          <a:latin typeface="Calibri"/>
                        </a:rPr>
                        <a:t>Link lenders to project contracts</a:t>
                      </a:r>
                    </a:p>
                  </a:txBody>
                  <a:tcPr marL="64008" marR="64008" marT="27432" marB="27432" anchor="ctr">
                    <a:solidFill>
                      <a:srgbClr val="F3F6F9"/>
                    </a:solidFill>
                  </a:tcPr>
                </a:tc>
                <a:tc>
                  <a:txBody>
                    <a:bodyPr wrap="square"/>
                    <a:lstStyle/>
                    <a:p>
                      <a:r>
                        <a:rPr b="0" sz="1100" i="0">
                          <a:solidFill>
                            <a:srgbClr val="1A2233"/>
                          </a:solidFill>
                          <a:latin typeface="Calibri"/>
                        </a:rPr>
                        <a:t>Step-in and cure rights</a:t>
                      </a:r>
                    </a:p>
                  </a:txBody>
                  <a:tcPr marL="64008" marR="64008" marT="27432" marB="27432" anchor="ctr">
                    <a:solidFill>
                      <a:srgbClr val="F3F6F9"/>
                    </a:solidFill>
                  </a:tcPr>
                </a:tc>
              </a:tr>
              <a:tr h="320040">
                <a:tc>
                  <a:txBody>
                    <a:bodyPr wrap="square"/>
                    <a:lstStyle/>
                    <a:p>
                      <a:r>
                        <a:rPr b="1" sz="1100" i="0">
                          <a:solidFill>
                            <a:srgbClr val="1A2233"/>
                          </a:solidFill>
                          <a:latin typeface="Calibri"/>
                        </a:rPr>
                        <a:t>Insurance</a:t>
                      </a:r>
                    </a:p>
                  </a:txBody>
                  <a:tcPr marL="64008" marR="64008" marT="27432" marB="27432" anchor="ctr">
                    <a:solidFill>
                      <a:srgbClr val="FFFFFF"/>
                    </a:solidFill>
                  </a:tcPr>
                </a:tc>
                <a:tc>
                  <a:txBody>
                    <a:bodyPr wrap="square"/>
                    <a:lstStyle/>
                    <a:p>
                      <a:r>
                        <a:rPr b="0" sz="1100" i="0">
                          <a:solidFill>
                            <a:srgbClr val="1A2233"/>
                          </a:solidFill>
                          <a:latin typeface="Calibri"/>
                        </a:rPr>
                        <a:t>Protects against loss</a:t>
                      </a:r>
                    </a:p>
                  </a:txBody>
                  <a:tcPr marL="64008" marR="64008" marT="27432" marB="27432" anchor="ctr">
                    <a:solidFill>
                      <a:srgbClr val="FFFFFF"/>
                    </a:solidFill>
                  </a:tcPr>
                </a:tc>
                <a:tc>
                  <a:txBody>
                    <a:bodyPr wrap="square"/>
                    <a:lstStyle/>
                    <a:p>
                      <a:r>
                        <a:rPr b="0" sz="1100" i="0">
                          <a:solidFill>
                            <a:srgbClr val="1A2233"/>
                          </a:solidFill>
                          <a:latin typeface="Calibri"/>
                        </a:rPr>
                        <a:t>Cover, lenders as loss payee</a:t>
                      </a:r>
                    </a:p>
                  </a:txBody>
                  <a:tcPr marL="64008" marR="64008" marT="27432" marB="27432"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11</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09.20 – 10.00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2: Legal due diligence</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What lenders' counsel checks before a loan is made.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Legal due diligence (LDD)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Legal due diligence is a structured review of the project's legal position. Lenders' lawyers check that the SPV exists and is authorised, owns or holds rights over the land and assets, holds the permits it needs, and has valid contracts. The findings go into an LDD report that lenders rely on to decide and to condition their loan.</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Purpose: no unpleasant legal surprises after financial close</a:t>
            </a:r>
          </a:p>
          <a:p>
            <a:pPr algn="l"/>
            <a:r>
              <a:rPr b="0" sz="1600" i="0">
                <a:solidFill>
                  <a:srgbClr val="1A2233"/>
                </a:solidFill>
                <a:latin typeface="Calibri"/>
              </a:rPr>
              <a:t>Output: LDD report listing findings, risks, and required fixes (CPs)</a:t>
            </a:r>
          </a:p>
          <a:p>
            <a:pPr algn="l"/>
            <a:r>
              <a:rPr b="0" sz="1600" i="0">
                <a:solidFill>
                  <a:srgbClr val="1A2233"/>
                </a:solidFill>
                <a:latin typeface="Calibri"/>
              </a:rPr>
              <a:t>Who pays: borrower, but lenders choose the counsel</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 finding in LDD is far cheaper to fix before signing than after a default.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LDD</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Scope of legal due diligence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2011680"/>
                <a:gridCol w="4572000"/>
                <a:gridCol w="4480560"/>
              </a:tblGrid>
              <a:tr h="329184">
                <a:tc>
                  <a:txBody>
                    <a:bodyPr wrap="square"/>
                    <a:lstStyle/>
                    <a:p>
                      <a:r>
                        <a:rPr b="1" sz="1100" i="0">
                          <a:solidFill>
                            <a:srgbClr val="FFFFFF"/>
                          </a:solidFill>
                          <a:latin typeface="Calibri"/>
                        </a:rPr>
                        <a:t>Area</a:t>
                      </a:r>
                    </a:p>
                  </a:txBody>
                  <a:tcPr marL="64008" marR="64008" marT="27432" marB="27432" anchor="ctr">
                    <a:solidFill>
                      <a:srgbClr val="141B4D"/>
                    </a:solidFill>
                  </a:tcPr>
                </a:tc>
                <a:tc>
                  <a:txBody>
                    <a:bodyPr wrap="square"/>
                    <a:lstStyle/>
                    <a:p>
                      <a:r>
                        <a:rPr b="1" sz="1100" i="0">
                          <a:solidFill>
                            <a:srgbClr val="FFFFFF"/>
                          </a:solidFill>
                          <a:latin typeface="Calibri"/>
                        </a:rPr>
                        <a:t>What is checked</a:t>
                      </a:r>
                    </a:p>
                  </a:txBody>
                  <a:tcPr marL="64008" marR="64008" marT="27432" marB="27432" anchor="ctr">
                    <a:solidFill>
                      <a:srgbClr val="141B4D"/>
                    </a:solidFill>
                  </a:tcPr>
                </a:tc>
                <a:tc>
                  <a:txBody>
                    <a:bodyPr wrap="square"/>
                    <a:lstStyle/>
                    <a:p>
                      <a:r>
                        <a:rPr b="1" sz="1100" i="0">
                          <a:solidFill>
                            <a:srgbClr val="FFFFFF"/>
                          </a:solidFill>
                          <a:latin typeface="Calibri"/>
                        </a:rPr>
                        <a:t>Typical red flag</a:t>
                      </a:r>
                    </a:p>
                  </a:txBody>
                  <a:tcPr marL="64008" marR="64008" marT="27432" marB="27432" anchor="ctr">
                    <a:solidFill>
                      <a:srgbClr val="141B4D"/>
                    </a:solidFill>
                  </a:tcPr>
                </a:tc>
              </a:tr>
              <a:tr h="329184">
                <a:tc>
                  <a:txBody>
                    <a:bodyPr wrap="square"/>
                    <a:lstStyle/>
                    <a:p>
                      <a:r>
                        <a:rPr b="1" sz="1100" i="0">
                          <a:solidFill>
                            <a:srgbClr val="1A2233"/>
                          </a:solidFill>
                          <a:latin typeface="Calibri"/>
                        </a:rPr>
                        <a:t>Corporate</a:t>
                      </a:r>
                    </a:p>
                  </a:txBody>
                  <a:tcPr marL="64008" marR="64008" marT="27432" marB="27432" anchor="ctr">
                    <a:solidFill>
                      <a:srgbClr val="FFFFFF"/>
                    </a:solidFill>
                  </a:tcPr>
                </a:tc>
                <a:tc>
                  <a:txBody>
                    <a:bodyPr wrap="square"/>
                    <a:lstStyle/>
                    <a:p>
                      <a:r>
                        <a:rPr b="0" sz="1100" i="0">
                          <a:solidFill>
                            <a:srgbClr val="1A2233"/>
                          </a:solidFill>
                          <a:latin typeface="Calibri"/>
                        </a:rPr>
                        <a:t>Incorporation, constitution, authority, shareholders</a:t>
                      </a:r>
                    </a:p>
                  </a:txBody>
                  <a:tcPr marL="64008" marR="64008" marT="27432" marB="27432" anchor="ctr">
                    <a:solidFill>
                      <a:srgbClr val="FFFFFF"/>
                    </a:solidFill>
                  </a:tcPr>
                </a:tc>
                <a:tc>
                  <a:txBody>
                    <a:bodyPr wrap="square"/>
                    <a:lstStyle/>
                    <a:p>
                      <a:r>
                        <a:rPr b="0" sz="1100" i="0">
                          <a:solidFill>
                            <a:srgbClr val="1A2233"/>
                          </a:solidFill>
                          <a:latin typeface="Calibri"/>
                        </a:rPr>
                        <a:t>Directors lack authority; unregistered share transfers</a:t>
                      </a:r>
                    </a:p>
                  </a:txBody>
                  <a:tcPr marL="64008" marR="64008" marT="27432" marB="27432" anchor="ctr">
                    <a:solidFill>
                      <a:srgbClr val="FFFFFF"/>
                    </a:solidFill>
                  </a:tcPr>
                </a:tc>
              </a:tr>
              <a:tr h="329184">
                <a:tc>
                  <a:txBody>
                    <a:bodyPr wrap="square"/>
                    <a:lstStyle/>
                    <a:p>
                      <a:r>
                        <a:rPr b="1" sz="1100" i="0">
                          <a:solidFill>
                            <a:srgbClr val="1A2233"/>
                          </a:solidFill>
                          <a:latin typeface="Calibri"/>
                        </a:rPr>
                        <a:t>Title and land</a:t>
                      </a:r>
                    </a:p>
                  </a:txBody>
                  <a:tcPr marL="64008" marR="64008" marT="27432" marB="27432" anchor="ctr">
                    <a:solidFill>
                      <a:srgbClr val="F3F6F9"/>
                    </a:solidFill>
                  </a:tcPr>
                </a:tc>
                <a:tc>
                  <a:txBody>
                    <a:bodyPr wrap="square"/>
                    <a:lstStyle/>
                    <a:p>
                      <a:r>
                        <a:rPr b="0" sz="1100" i="0">
                          <a:solidFill>
                            <a:srgbClr val="1A2233"/>
                          </a:solidFill>
                          <a:latin typeface="Calibri"/>
                        </a:rPr>
                        <a:t>Right to occupy and use the site; encumbrances</a:t>
                      </a:r>
                    </a:p>
                  </a:txBody>
                  <a:tcPr marL="64008" marR="64008" marT="27432" marB="27432" anchor="ctr">
                    <a:solidFill>
                      <a:srgbClr val="F3F6F9"/>
                    </a:solidFill>
                  </a:tcPr>
                </a:tc>
                <a:tc>
                  <a:txBody>
                    <a:bodyPr wrap="square"/>
                    <a:lstStyle/>
                    <a:p>
                      <a:r>
                        <a:rPr b="0" sz="1100" i="0">
                          <a:solidFill>
                            <a:srgbClr val="1A2233"/>
                          </a:solidFill>
                          <a:latin typeface="Calibri"/>
                        </a:rPr>
                        <a:t>Missing governor's consent; competing claims</a:t>
                      </a:r>
                    </a:p>
                  </a:txBody>
                  <a:tcPr marL="64008" marR="64008" marT="27432" marB="27432" anchor="ctr">
                    <a:solidFill>
                      <a:srgbClr val="F3F6F9"/>
                    </a:solidFill>
                  </a:tcPr>
                </a:tc>
              </a:tr>
              <a:tr h="329184">
                <a:tc>
                  <a:txBody>
                    <a:bodyPr wrap="square"/>
                    <a:lstStyle/>
                    <a:p>
                      <a:r>
                        <a:rPr b="1" sz="1100" i="0">
                          <a:solidFill>
                            <a:srgbClr val="1A2233"/>
                          </a:solidFill>
                          <a:latin typeface="Calibri"/>
                        </a:rPr>
                        <a:t>Permits and licences</a:t>
                      </a:r>
                    </a:p>
                  </a:txBody>
                  <a:tcPr marL="64008" marR="64008" marT="27432" marB="27432" anchor="ctr">
                    <a:solidFill>
                      <a:srgbClr val="FFFFFF"/>
                    </a:solidFill>
                  </a:tcPr>
                </a:tc>
                <a:tc>
                  <a:txBody>
                    <a:bodyPr wrap="square"/>
                    <a:lstStyle/>
                    <a:p>
                      <a:r>
                        <a:rPr b="0" sz="1100" i="0">
                          <a:solidFill>
                            <a:srgbClr val="1A2233"/>
                          </a:solidFill>
                          <a:latin typeface="Calibri"/>
                        </a:rPr>
                        <a:t>Regulatory approvals, licences</a:t>
                      </a:r>
                    </a:p>
                  </a:txBody>
                  <a:tcPr marL="64008" marR="64008" marT="27432" marB="27432" anchor="ctr">
                    <a:solidFill>
                      <a:srgbClr val="FFFFFF"/>
                    </a:solidFill>
                  </a:tcPr>
                </a:tc>
                <a:tc>
                  <a:txBody>
                    <a:bodyPr wrap="square"/>
                    <a:lstStyle/>
                    <a:p>
                      <a:r>
                        <a:rPr b="0" sz="1100" i="0">
                          <a:solidFill>
                            <a:srgbClr val="1A2233"/>
                          </a:solidFill>
                          <a:latin typeface="Calibri"/>
                        </a:rPr>
                        <a:t>Licence expires before loan maturity</a:t>
                      </a:r>
                    </a:p>
                  </a:txBody>
                  <a:tcPr marL="64008" marR="64008" marT="27432" marB="27432" anchor="ctr">
                    <a:solidFill>
                      <a:srgbClr val="FFFFFF"/>
                    </a:solidFill>
                  </a:tcPr>
                </a:tc>
              </a:tr>
              <a:tr h="329184">
                <a:tc>
                  <a:txBody>
                    <a:bodyPr wrap="square"/>
                    <a:lstStyle/>
                    <a:p>
                      <a:r>
                        <a:rPr b="1" sz="1100" i="0">
                          <a:solidFill>
                            <a:srgbClr val="1A2233"/>
                          </a:solidFill>
                          <a:latin typeface="Calibri"/>
                        </a:rPr>
                        <a:t>Project contracts</a:t>
                      </a:r>
                    </a:p>
                  </a:txBody>
                  <a:tcPr marL="64008" marR="64008" marT="27432" marB="27432" anchor="ctr">
                    <a:solidFill>
                      <a:srgbClr val="F3F6F9"/>
                    </a:solidFill>
                  </a:tcPr>
                </a:tc>
                <a:tc>
                  <a:txBody>
                    <a:bodyPr wrap="square"/>
                    <a:lstStyle/>
                    <a:p>
                      <a:r>
                        <a:rPr b="0" sz="1100" i="0">
                          <a:solidFill>
                            <a:srgbClr val="1A2233"/>
                          </a:solidFill>
                          <a:latin typeface="Calibri"/>
                        </a:rPr>
                        <a:t>Validity, term, termination, assignment</a:t>
                      </a:r>
                    </a:p>
                  </a:txBody>
                  <a:tcPr marL="64008" marR="64008" marT="27432" marB="27432" anchor="ctr">
                    <a:solidFill>
                      <a:srgbClr val="F3F6F9"/>
                    </a:solidFill>
                  </a:tcPr>
                </a:tc>
                <a:tc>
                  <a:txBody>
                    <a:bodyPr wrap="square"/>
                    <a:lstStyle/>
                    <a:p>
                      <a:r>
                        <a:rPr b="0" sz="1100" i="0">
                          <a:solidFill>
                            <a:srgbClr val="1A2233"/>
                          </a:solidFill>
                          <a:latin typeface="Calibri"/>
                        </a:rPr>
                        <a:t>Termination without compensation to lenders</a:t>
                      </a:r>
                    </a:p>
                  </a:txBody>
                  <a:tcPr marL="64008" marR="64008" marT="27432" marB="27432" anchor="ctr">
                    <a:solidFill>
                      <a:srgbClr val="F3F6F9"/>
                    </a:solidFill>
                  </a:tcPr>
                </a:tc>
              </a:tr>
              <a:tr h="329184">
                <a:tc>
                  <a:txBody>
                    <a:bodyPr wrap="square"/>
                    <a:lstStyle/>
                    <a:p>
                      <a:r>
                        <a:rPr b="1" sz="1100" i="0">
                          <a:solidFill>
                            <a:srgbClr val="1A2233"/>
                          </a:solidFill>
                          <a:latin typeface="Calibri"/>
                        </a:rPr>
                        <a:t>Financing and security</a:t>
                      </a:r>
                    </a:p>
                  </a:txBody>
                  <a:tcPr marL="64008" marR="64008" marT="27432" marB="27432" anchor="ctr">
                    <a:solidFill>
                      <a:srgbClr val="FFFFFF"/>
                    </a:solidFill>
                  </a:tcPr>
                </a:tc>
                <a:tc>
                  <a:txBody>
                    <a:bodyPr wrap="square"/>
                    <a:lstStyle/>
                    <a:p>
                      <a:r>
                        <a:rPr b="0" sz="1100" i="0">
                          <a:solidFill>
                            <a:srgbClr val="1A2233"/>
                          </a:solidFill>
                          <a:latin typeface="Calibri"/>
                        </a:rPr>
                        <a:t>Existing debt, liens</a:t>
                      </a:r>
                    </a:p>
                  </a:txBody>
                  <a:tcPr marL="64008" marR="64008" marT="27432" marB="27432" anchor="ctr">
                    <a:solidFill>
                      <a:srgbClr val="FFFFFF"/>
                    </a:solidFill>
                  </a:tcPr>
                </a:tc>
                <a:tc>
                  <a:txBody>
                    <a:bodyPr wrap="square"/>
                    <a:lstStyle/>
                    <a:p>
                      <a:r>
                        <a:rPr b="0" sz="1100" i="0">
                          <a:solidFill>
                            <a:srgbClr val="1A2233"/>
                          </a:solidFill>
                          <a:latin typeface="Calibri"/>
                        </a:rPr>
                        <a:t>Prior security over the same assets</a:t>
                      </a:r>
                    </a:p>
                  </a:txBody>
                  <a:tcPr marL="64008" marR="64008" marT="27432" marB="27432" anchor="ctr">
                    <a:solidFill>
                      <a:srgbClr val="FFFFFF"/>
                    </a:solidFill>
                  </a:tcPr>
                </a:tc>
              </a:tr>
              <a:tr h="329184">
                <a:tc>
                  <a:txBody>
                    <a:bodyPr wrap="square"/>
                    <a:lstStyle/>
                    <a:p>
                      <a:r>
                        <a:rPr b="1" sz="1100" i="0">
                          <a:solidFill>
                            <a:srgbClr val="1A2233"/>
                          </a:solidFill>
                          <a:latin typeface="Calibri"/>
                        </a:rPr>
                        <a:t>Insurance</a:t>
                      </a:r>
                    </a:p>
                  </a:txBody>
                  <a:tcPr marL="64008" marR="64008" marT="27432" marB="27432" anchor="ctr">
                    <a:solidFill>
                      <a:srgbClr val="F3F6F9"/>
                    </a:solidFill>
                  </a:tcPr>
                </a:tc>
                <a:tc>
                  <a:txBody>
                    <a:bodyPr wrap="square"/>
                    <a:lstStyle/>
                    <a:p>
                      <a:r>
                        <a:rPr b="0" sz="1100" i="0">
                          <a:solidFill>
                            <a:srgbClr val="1A2233"/>
                          </a:solidFill>
                          <a:latin typeface="Calibri"/>
                        </a:rPr>
                        <a:t>Policies and claims</a:t>
                      </a:r>
                    </a:p>
                  </a:txBody>
                  <a:tcPr marL="64008" marR="64008" marT="27432" marB="27432" anchor="ctr">
                    <a:solidFill>
                      <a:srgbClr val="F3F6F9"/>
                    </a:solidFill>
                  </a:tcPr>
                </a:tc>
                <a:tc>
                  <a:txBody>
                    <a:bodyPr wrap="square"/>
                    <a:lstStyle/>
                    <a:p>
                      <a:r>
                        <a:rPr b="0" sz="1100" i="0">
                          <a:solidFill>
                            <a:srgbClr val="1A2233"/>
                          </a:solidFill>
                          <a:latin typeface="Calibri"/>
                        </a:rPr>
                        <a:t>Gaps in construction cover</a:t>
                      </a:r>
                    </a:p>
                  </a:txBody>
                  <a:tcPr marL="64008" marR="64008" marT="27432" marB="27432" anchor="ctr">
                    <a:solidFill>
                      <a:srgbClr val="F3F6F9"/>
                    </a:solidFill>
                  </a:tcPr>
                </a:tc>
              </a:tr>
              <a:tr h="329184">
                <a:tc>
                  <a:txBody>
                    <a:bodyPr wrap="square"/>
                    <a:lstStyle/>
                    <a:p>
                      <a:r>
                        <a:rPr b="1" sz="1100" i="0">
                          <a:solidFill>
                            <a:srgbClr val="1A2233"/>
                          </a:solidFill>
                          <a:latin typeface="Calibri"/>
                        </a:rPr>
                        <a:t>Litigation and disputes</a:t>
                      </a:r>
                    </a:p>
                  </a:txBody>
                  <a:tcPr marL="64008" marR="64008" marT="27432" marB="27432" anchor="ctr">
                    <a:solidFill>
                      <a:srgbClr val="FFFFFF"/>
                    </a:solidFill>
                  </a:tcPr>
                </a:tc>
                <a:tc>
                  <a:txBody>
                    <a:bodyPr wrap="square"/>
                    <a:lstStyle/>
                    <a:p>
                      <a:r>
                        <a:rPr b="0" sz="1100" i="0">
                          <a:solidFill>
                            <a:srgbClr val="1A2233"/>
                          </a:solidFill>
                          <a:latin typeface="Calibri"/>
                        </a:rPr>
                        <a:t>Pending or threatened claims</a:t>
                      </a:r>
                    </a:p>
                  </a:txBody>
                  <a:tcPr marL="64008" marR="64008" marT="27432" marB="27432" anchor="ctr">
                    <a:solidFill>
                      <a:srgbClr val="FFFFFF"/>
                    </a:solidFill>
                  </a:tcPr>
                </a:tc>
                <a:tc>
                  <a:txBody>
                    <a:bodyPr wrap="square"/>
                    <a:lstStyle/>
                    <a:p>
                      <a:r>
                        <a:rPr b="0" sz="1100" i="0">
                          <a:solidFill>
                            <a:srgbClr val="1A2233"/>
                          </a:solidFill>
                          <a:latin typeface="Calibri"/>
                        </a:rPr>
                        <a:t>Community claims on the land</a:t>
                      </a:r>
                    </a:p>
                  </a:txBody>
                  <a:tcPr marL="64008" marR="64008" marT="27432" marB="27432" anchor="ctr">
                    <a:solidFill>
                      <a:srgbClr val="FFFFFF"/>
                    </a:solidFill>
                  </a:tcPr>
                </a:tc>
              </a:tr>
              <a:tr h="329184">
                <a:tc>
                  <a:txBody>
                    <a:bodyPr wrap="square"/>
                    <a:lstStyle/>
                    <a:p>
                      <a:r>
                        <a:rPr b="1" sz="1100" i="0">
                          <a:solidFill>
                            <a:srgbClr val="1A2233"/>
                          </a:solidFill>
                          <a:latin typeface="Calibri"/>
                        </a:rPr>
                        <a:t>Environmental and social</a:t>
                      </a:r>
                    </a:p>
                  </a:txBody>
                  <a:tcPr marL="64008" marR="64008" marT="27432" marB="27432" anchor="ctr">
                    <a:solidFill>
                      <a:srgbClr val="F3F6F9"/>
                    </a:solidFill>
                  </a:tcPr>
                </a:tc>
                <a:tc>
                  <a:txBody>
                    <a:bodyPr wrap="square"/>
                    <a:lstStyle/>
                    <a:p>
                      <a:r>
                        <a:rPr b="0" sz="1100" i="0">
                          <a:solidFill>
                            <a:srgbClr val="1A2233"/>
                          </a:solidFill>
                          <a:latin typeface="Calibri"/>
                        </a:rPr>
                        <a:t>Compliance with laws and lender standards</a:t>
                      </a:r>
                    </a:p>
                  </a:txBody>
                  <a:tcPr marL="64008" marR="64008" marT="27432" marB="27432" anchor="ctr">
                    <a:solidFill>
                      <a:srgbClr val="F3F6F9"/>
                    </a:solidFill>
                  </a:tcPr>
                </a:tc>
                <a:tc>
                  <a:txBody>
                    <a:bodyPr wrap="square"/>
                    <a:lstStyle/>
                    <a:p>
                      <a:r>
                        <a:rPr b="0" sz="1100" i="0">
                          <a:solidFill>
                            <a:srgbClr val="1A2233"/>
                          </a:solidFill>
                          <a:latin typeface="Calibri"/>
                        </a:rPr>
                        <a:t>No resettlement plan</a:t>
                      </a:r>
                    </a:p>
                  </a:txBody>
                  <a:tcPr marL="64008" marR="64008" marT="27432" marB="27432" anchor="ctr">
                    <a:solidFill>
                      <a:srgbClr val="F3F6F9"/>
                    </a:solidFill>
                  </a:tcPr>
                </a:tc>
              </a:tr>
              <a:tr h="329184">
                <a:tc>
                  <a:txBody>
                    <a:bodyPr wrap="square"/>
                    <a:lstStyle/>
                    <a:p>
                      <a:r>
                        <a:rPr b="1" sz="1100" i="0">
                          <a:solidFill>
                            <a:srgbClr val="1A2233"/>
                          </a:solidFill>
                          <a:latin typeface="Calibri"/>
                        </a:rPr>
                        <a:t>Tax and incentives</a:t>
                      </a:r>
                    </a:p>
                  </a:txBody>
                  <a:tcPr marL="64008" marR="64008" marT="27432" marB="27432" anchor="ctr">
                    <a:solidFill>
                      <a:srgbClr val="FFFFFF"/>
                    </a:solidFill>
                  </a:tcPr>
                </a:tc>
                <a:tc>
                  <a:txBody>
                    <a:bodyPr wrap="square"/>
                    <a:lstStyle/>
                    <a:p>
                      <a:r>
                        <a:rPr b="0" sz="1100" i="0">
                          <a:solidFill>
                            <a:srgbClr val="1A2233"/>
                          </a:solidFill>
                          <a:latin typeface="Calibri"/>
                        </a:rPr>
                        <a:t>Registrations, incentives</a:t>
                      </a:r>
                    </a:p>
                  </a:txBody>
                  <a:tcPr marL="64008" marR="64008" marT="27432" marB="27432" anchor="ctr">
                    <a:solidFill>
                      <a:srgbClr val="FFFFFF"/>
                    </a:solidFill>
                  </a:tcPr>
                </a:tc>
                <a:tc>
                  <a:txBody>
                    <a:bodyPr wrap="square"/>
                    <a:lstStyle/>
                    <a:p>
                      <a:r>
                        <a:rPr b="0" sz="1100" i="0">
                          <a:solidFill>
                            <a:srgbClr val="1A2233"/>
                          </a:solidFill>
                          <a:latin typeface="Calibri"/>
                        </a:rPr>
                        <a:t>Incentive not formally granted</a:t>
                      </a:r>
                    </a:p>
                  </a:txBody>
                  <a:tcPr marL="64008" marR="64008" marT="27432" marB="27432"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PROCESS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due diligence process, step by step</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509451"/>
          </a:xfrm>
          <a:prstGeom prst="rect">
            <a:avLst/>
          </a:prstGeom>
          <a:noFill/>
        </p:spPr>
        <p:txBody>
          <a:bodyPr wrap="square" lIns="45720" rIns="45720" tIns="27432" bIns="27432" anchor="ctr">
            <a:spAutoFit/>
          </a:bodyPr>
          <a:lstStyle/>
          <a:p>
            <a:pPr algn="l"/>
            <a:r>
              <a:rPr b="0" sz="1500" i="0">
                <a:solidFill>
                  <a:srgbClr val="1A2233"/>
                </a:solidFill>
                <a:latin typeface="Calibri"/>
              </a:rPr>
              <a:t>Lenders appoint counsel; scope agreed in an engagement letter</a:t>
            </a:r>
          </a:p>
        </p:txBody>
      </p:sp>
      <p:sp>
        <p:nvSpPr>
          <p:cNvPr id="13" name="Oval 12"/>
          <p:cNvSpPr/>
          <p:nvPr/>
        </p:nvSpPr>
        <p:spPr>
          <a:xfrm>
            <a:off x="548640" y="2100507"/>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063931"/>
            <a:ext cx="10378440" cy="509451"/>
          </a:xfrm>
          <a:prstGeom prst="rect">
            <a:avLst/>
          </a:prstGeom>
          <a:noFill/>
        </p:spPr>
        <p:txBody>
          <a:bodyPr wrap="square" lIns="45720" rIns="45720" tIns="27432" bIns="27432" anchor="ctr">
            <a:spAutoFit/>
          </a:bodyPr>
          <a:lstStyle/>
          <a:p>
            <a:pPr algn="l"/>
            <a:r>
              <a:rPr b="0" sz="1500" i="0">
                <a:solidFill>
                  <a:srgbClr val="1A2233"/>
                </a:solidFill>
                <a:latin typeface="Calibri"/>
              </a:rPr>
              <a:t>Borrower uploads documents to a virtual data room (VDR)</a:t>
            </a:r>
          </a:p>
        </p:txBody>
      </p:sp>
      <p:sp>
        <p:nvSpPr>
          <p:cNvPr id="15" name="Oval 14"/>
          <p:cNvSpPr/>
          <p:nvPr/>
        </p:nvSpPr>
        <p:spPr>
          <a:xfrm>
            <a:off x="548640" y="2655678"/>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619102"/>
            <a:ext cx="10378440" cy="509451"/>
          </a:xfrm>
          <a:prstGeom prst="rect">
            <a:avLst/>
          </a:prstGeom>
          <a:noFill/>
        </p:spPr>
        <p:txBody>
          <a:bodyPr wrap="square" lIns="45720" rIns="45720" tIns="27432" bIns="27432" anchor="ctr">
            <a:spAutoFit/>
          </a:bodyPr>
          <a:lstStyle/>
          <a:p>
            <a:pPr algn="l"/>
            <a:r>
              <a:rPr b="0" sz="1500" i="0">
                <a:solidFill>
                  <a:srgbClr val="1A2233"/>
                </a:solidFill>
                <a:latin typeface="Calibri"/>
              </a:rPr>
              <a:t>Counsel reviews and raises written questions (request lists)</a:t>
            </a:r>
          </a:p>
        </p:txBody>
      </p:sp>
      <p:sp>
        <p:nvSpPr>
          <p:cNvPr id="17" name="Oval 16"/>
          <p:cNvSpPr/>
          <p:nvPr/>
        </p:nvSpPr>
        <p:spPr>
          <a:xfrm>
            <a:off x="548640" y="3210850"/>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174274"/>
            <a:ext cx="10378440" cy="509451"/>
          </a:xfrm>
          <a:prstGeom prst="rect">
            <a:avLst/>
          </a:prstGeom>
          <a:noFill/>
        </p:spPr>
        <p:txBody>
          <a:bodyPr wrap="square" lIns="45720" rIns="45720" tIns="27432" bIns="27432" anchor="ctr">
            <a:spAutoFit/>
          </a:bodyPr>
          <a:lstStyle/>
          <a:p>
            <a:pPr algn="l"/>
            <a:r>
              <a:rPr b="0" sz="1500" i="0">
                <a:solidFill>
                  <a:srgbClr val="1A2233"/>
                </a:solidFill>
                <a:latin typeface="Calibri"/>
              </a:rPr>
              <a:t>Findings are classified: red (must fix), amber (manage), green (note)</a:t>
            </a:r>
          </a:p>
        </p:txBody>
      </p:sp>
      <p:sp>
        <p:nvSpPr>
          <p:cNvPr id="19" name="Oval 18"/>
          <p:cNvSpPr/>
          <p:nvPr/>
        </p:nvSpPr>
        <p:spPr>
          <a:xfrm>
            <a:off x="548640" y="3766021"/>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3729445"/>
            <a:ext cx="10378440" cy="509451"/>
          </a:xfrm>
          <a:prstGeom prst="rect">
            <a:avLst/>
          </a:prstGeom>
          <a:noFill/>
        </p:spPr>
        <p:txBody>
          <a:bodyPr wrap="square" lIns="45720" rIns="45720" tIns="27432" bIns="27432" anchor="ctr">
            <a:spAutoFit/>
          </a:bodyPr>
          <a:lstStyle/>
          <a:p>
            <a:pPr algn="l"/>
            <a:r>
              <a:rPr b="0" sz="1500" i="0">
                <a:solidFill>
                  <a:srgbClr val="1A2233"/>
                </a:solidFill>
                <a:latin typeface="Calibri"/>
              </a:rPr>
              <a:t>Draft LDD report; borrower responds with fixes</a:t>
            </a:r>
          </a:p>
        </p:txBody>
      </p:sp>
      <p:sp>
        <p:nvSpPr>
          <p:cNvPr id="21" name="Oval 20"/>
          <p:cNvSpPr/>
          <p:nvPr/>
        </p:nvSpPr>
        <p:spPr>
          <a:xfrm>
            <a:off x="548640" y="4321193"/>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284617"/>
            <a:ext cx="10378440" cy="509451"/>
          </a:xfrm>
          <a:prstGeom prst="rect">
            <a:avLst/>
          </a:prstGeom>
          <a:noFill/>
        </p:spPr>
        <p:txBody>
          <a:bodyPr wrap="square" lIns="45720" rIns="45720" tIns="27432" bIns="27432" anchor="ctr">
            <a:spAutoFit/>
          </a:bodyPr>
          <a:lstStyle/>
          <a:p>
            <a:pPr algn="l"/>
            <a:r>
              <a:rPr b="0" sz="1500" i="0">
                <a:solidFill>
                  <a:srgbClr val="1A2233"/>
                </a:solidFill>
                <a:latin typeface="Calibri"/>
              </a:rPr>
              <a:t>Final report issued; remaining items become conditions precedent or covenants</a:t>
            </a:r>
          </a:p>
        </p:txBody>
      </p:sp>
      <p:sp>
        <p:nvSpPr>
          <p:cNvPr id="23" name="Oval 22"/>
          <p:cNvSpPr/>
          <p:nvPr/>
        </p:nvSpPr>
        <p:spPr>
          <a:xfrm>
            <a:off x="548640" y="4876364"/>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7</a:t>
            </a:r>
          </a:p>
        </p:txBody>
      </p:sp>
      <p:sp>
        <p:nvSpPr>
          <p:cNvPr id="24" name="TextBox 23"/>
          <p:cNvSpPr txBox="1"/>
          <p:nvPr/>
        </p:nvSpPr>
        <p:spPr>
          <a:xfrm>
            <a:off x="1078992" y="4839788"/>
            <a:ext cx="10378440" cy="509451"/>
          </a:xfrm>
          <a:prstGeom prst="rect">
            <a:avLst/>
          </a:prstGeom>
          <a:noFill/>
        </p:spPr>
        <p:txBody>
          <a:bodyPr wrap="square" lIns="45720" rIns="45720" tIns="27432" bIns="27432" anchor="ctr">
            <a:spAutoFit/>
          </a:bodyPr>
          <a:lstStyle/>
          <a:p>
            <a:pPr algn="l"/>
            <a:r>
              <a:rPr b="0" sz="1500" i="0">
                <a:solidFill>
                  <a:srgbClr val="1A2233"/>
                </a:solidFill>
                <a:latin typeface="Calibri"/>
              </a:rPr>
              <a:t>Legal opinions delivered at signing and first drawdown</a:t>
            </a:r>
          </a:p>
        </p:txBody>
      </p:sp>
      <p:sp>
        <p:nvSpPr>
          <p:cNvPr id="25" name="Rectangle 24"/>
          <p:cNvSpPr/>
          <p:nvPr/>
        </p:nvSpPr>
        <p:spPr>
          <a:xfrm>
            <a:off x="548640" y="5486400"/>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486400"/>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48640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Keep a tracker: item, owner, status, due date. It becomes the CP checklist at financial close.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CPS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Conditions precedent: examples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901694"/>
        </p:xfrm>
        <a:graphic>
          <a:graphicData uri="http://schemas.openxmlformats.org/drawingml/2006/table">
            <a:tbl>
              <a:tblPr firstRow="1" bandRow="1">
                <a:tableStyleId>{5C22544A-7EE6-4342-B048-85BDC9FD1C3A}</a:tableStyleId>
              </a:tblPr>
              <a:tblGrid>
                <a:gridCol w="1920240"/>
                <a:gridCol w="6217920"/>
                <a:gridCol w="2926080"/>
              </a:tblGrid>
              <a:tr h="384048">
                <a:tc>
                  <a:txBody>
                    <a:bodyPr wrap="square"/>
                    <a:lstStyle/>
                    <a:p>
                      <a:r>
                        <a:rPr b="1" sz="1200" i="0">
                          <a:solidFill>
                            <a:srgbClr val="FFFFFF"/>
                          </a:solidFill>
                          <a:latin typeface="Calibri"/>
                        </a:rPr>
                        <a:t>Group</a:t>
                      </a:r>
                    </a:p>
                  </a:txBody>
                  <a:tcPr marL="64008" marR="64008" marT="27432" marB="27432" anchor="ctr">
                    <a:solidFill>
                      <a:srgbClr val="141B4D"/>
                    </a:solidFill>
                  </a:tcPr>
                </a:tc>
                <a:tc>
                  <a:txBody>
                    <a:bodyPr wrap="square"/>
                    <a:lstStyle/>
                    <a:p>
                      <a:r>
                        <a:rPr b="1" sz="1200" i="0">
                          <a:solidFill>
                            <a:srgbClr val="FFFFFF"/>
                          </a:solidFill>
                          <a:latin typeface="Calibri"/>
                        </a:rPr>
                        <a:t>Example CP</a:t>
                      </a:r>
                    </a:p>
                  </a:txBody>
                  <a:tcPr marL="64008" marR="64008" marT="27432" marB="27432" anchor="ctr">
                    <a:solidFill>
                      <a:srgbClr val="141B4D"/>
                    </a:solidFill>
                  </a:tcPr>
                </a:tc>
                <a:tc>
                  <a:txBody>
                    <a:bodyPr wrap="square"/>
                    <a:lstStyle/>
                    <a:p>
                      <a:r>
                        <a:rPr b="1" sz="1200" i="0">
                          <a:solidFill>
                            <a:srgbClr val="FFFFFF"/>
                          </a:solidFill>
                          <a:latin typeface="Calibri"/>
                        </a:rPr>
                        <a:t>Who delivers</a:t>
                      </a:r>
                    </a:p>
                  </a:txBody>
                  <a:tcPr marL="64008" marR="64008" marT="27432" marB="27432" anchor="ctr">
                    <a:solidFill>
                      <a:srgbClr val="141B4D"/>
                    </a:solidFill>
                  </a:tcPr>
                </a:tc>
              </a:tr>
              <a:tr h="490727">
                <a:tc>
                  <a:txBody>
                    <a:bodyPr wrap="square"/>
                    <a:lstStyle/>
                    <a:p>
                      <a:r>
                        <a:rPr b="1" sz="1200" i="0">
                          <a:solidFill>
                            <a:srgbClr val="1A2233"/>
                          </a:solidFill>
                          <a:latin typeface="Calibri"/>
                        </a:rPr>
                        <a:t>Corporate</a:t>
                      </a:r>
                    </a:p>
                  </a:txBody>
                  <a:tcPr marL="64008" marR="64008" marT="27432" marB="27432" anchor="ctr">
                    <a:solidFill>
                      <a:srgbClr val="FFFFFF"/>
                    </a:solidFill>
                  </a:tcPr>
                </a:tc>
                <a:tc>
                  <a:txBody>
                    <a:bodyPr wrap="square"/>
                    <a:lstStyle/>
                    <a:p>
                      <a:r>
                        <a:rPr b="0" sz="1200" i="0">
                          <a:solidFill>
                            <a:srgbClr val="1A2233"/>
                          </a:solidFill>
                          <a:latin typeface="Calibri"/>
                        </a:rPr>
                        <a:t>Board and shareholder resolutions; certified constitution; incumbency certificates</a:t>
                      </a:r>
                    </a:p>
                  </a:txBody>
                  <a:tcPr marL="64008" marR="64008" marT="27432" marB="27432" anchor="ctr">
                    <a:solidFill>
                      <a:srgbClr val="FFFFFF"/>
                    </a:solidFill>
                  </a:tcPr>
                </a:tc>
                <a:tc>
                  <a:txBody>
                    <a:bodyPr wrap="square"/>
                    <a:lstStyle/>
                    <a:p>
                      <a:r>
                        <a:rPr b="0" sz="1200" i="0">
                          <a:solidFill>
                            <a:srgbClr val="1A2233"/>
                          </a:solidFill>
                          <a:latin typeface="Calibri"/>
                        </a:rPr>
                        <a:t>SPV, sponsors</a:t>
                      </a:r>
                    </a:p>
                  </a:txBody>
                  <a:tcPr marL="64008" marR="64008" marT="27432" marB="27432" anchor="ctr">
                    <a:solidFill>
                      <a:srgbClr val="FFFFFF"/>
                    </a:solidFill>
                  </a:tcPr>
                </a:tc>
              </a:tr>
              <a:tr h="384048">
                <a:tc>
                  <a:txBody>
                    <a:bodyPr wrap="square"/>
                    <a:lstStyle/>
                    <a:p>
                      <a:r>
                        <a:rPr b="1" sz="1200" i="0">
                          <a:solidFill>
                            <a:srgbClr val="1A2233"/>
                          </a:solidFill>
                          <a:latin typeface="Calibri"/>
                        </a:rPr>
                        <a:t>Project contracts</a:t>
                      </a:r>
                    </a:p>
                  </a:txBody>
                  <a:tcPr marL="64008" marR="64008" marT="27432" marB="27432" anchor="ctr">
                    <a:solidFill>
                      <a:srgbClr val="F3F6F9"/>
                    </a:solidFill>
                  </a:tcPr>
                </a:tc>
                <a:tc>
                  <a:txBody>
                    <a:bodyPr wrap="square"/>
                    <a:lstStyle/>
                    <a:p>
                      <a:r>
                        <a:rPr b="0" sz="1200" i="0">
                          <a:solidFill>
                            <a:srgbClr val="1A2233"/>
                          </a:solidFill>
                          <a:latin typeface="Calibri"/>
                        </a:rPr>
                        <a:t>Executed PPA, EPC, O&amp;M; evidence they are in force; consents to assignment</a:t>
                      </a:r>
                    </a:p>
                  </a:txBody>
                  <a:tcPr marL="64008" marR="64008" marT="27432" marB="27432" anchor="ctr">
                    <a:solidFill>
                      <a:srgbClr val="F3F6F9"/>
                    </a:solidFill>
                  </a:tcPr>
                </a:tc>
                <a:tc>
                  <a:txBody>
                    <a:bodyPr wrap="square"/>
                    <a:lstStyle/>
                    <a:p>
                      <a:r>
                        <a:rPr b="0" sz="1200" i="0">
                          <a:solidFill>
                            <a:srgbClr val="1A2233"/>
                          </a:solidFill>
                          <a:latin typeface="Calibri"/>
                        </a:rPr>
                        <a:t>SPV, counterparties</a:t>
                      </a:r>
                    </a:p>
                  </a:txBody>
                  <a:tcPr marL="64008" marR="64008" marT="27432" marB="27432" anchor="ctr">
                    <a:solidFill>
                      <a:srgbClr val="F3F6F9"/>
                    </a:solidFill>
                  </a:tcPr>
                </a:tc>
              </a:tr>
              <a:tr h="490727">
                <a:tc>
                  <a:txBody>
                    <a:bodyPr wrap="square"/>
                    <a:lstStyle/>
                    <a:p>
                      <a:r>
                        <a:rPr b="1" sz="1200" i="0">
                          <a:solidFill>
                            <a:srgbClr val="1A2233"/>
                          </a:solidFill>
                          <a:latin typeface="Calibri"/>
                        </a:rPr>
                        <a:t>Financial</a:t>
                      </a:r>
                    </a:p>
                  </a:txBody>
                  <a:tcPr marL="64008" marR="64008" marT="27432" marB="27432" anchor="ctr">
                    <a:solidFill>
                      <a:srgbClr val="FFFFFF"/>
                    </a:solidFill>
                  </a:tcPr>
                </a:tc>
                <a:tc>
                  <a:txBody>
                    <a:bodyPr wrap="square"/>
                    <a:lstStyle/>
                    <a:p>
                      <a:r>
                        <a:rPr b="0" sz="1200" i="0">
                          <a:solidFill>
                            <a:srgbClr val="1A2233"/>
                          </a:solidFill>
                          <a:latin typeface="Calibri"/>
                        </a:rPr>
                        <a:t>Equity contribution evidence; financial model audit; insurance certificates</a:t>
                      </a:r>
                    </a:p>
                  </a:txBody>
                  <a:tcPr marL="64008" marR="64008" marT="27432" marB="27432" anchor="ctr">
                    <a:solidFill>
                      <a:srgbClr val="FFFFFF"/>
                    </a:solidFill>
                  </a:tcPr>
                </a:tc>
                <a:tc>
                  <a:txBody>
                    <a:bodyPr wrap="square"/>
                    <a:lstStyle/>
                    <a:p>
                      <a:r>
                        <a:rPr b="0" sz="1200" i="0">
                          <a:solidFill>
                            <a:srgbClr val="1A2233"/>
                          </a:solidFill>
                          <a:latin typeface="Calibri"/>
                        </a:rPr>
                        <a:t>Sponsors, advisers</a:t>
                      </a:r>
                    </a:p>
                  </a:txBody>
                  <a:tcPr marL="64008" marR="64008" marT="27432" marB="27432" anchor="ctr">
                    <a:solidFill>
                      <a:srgbClr val="FFFFFF"/>
                    </a:solidFill>
                  </a:tcPr>
                </a:tc>
              </a:tr>
              <a:tr h="384048">
                <a:tc>
                  <a:txBody>
                    <a:bodyPr wrap="square"/>
                    <a:lstStyle/>
                    <a:p>
                      <a:r>
                        <a:rPr b="1" sz="1200" i="0">
                          <a:solidFill>
                            <a:srgbClr val="1A2233"/>
                          </a:solidFill>
                          <a:latin typeface="Calibri"/>
                        </a:rPr>
                        <a:t>Legal</a:t>
                      </a:r>
                    </a:p>
                  </a:txBody>
                  <a:tcPr marL="64008" marR="64008" marT="27432" marB="27432" anchor="ctr">
                    <a:solidFill>
                      <a:srgbClr val="F3F6F9"/>
                    </a:solidFill>
                  </a:tcPr>
                </a:tc>
                <a:tc>
                  <a:txBody>
                    <a:bodyPr wrap="square"/>
                    <a:lstStyle/>
                    <a:p>
                      <a:r>
                        <a:rPr b="0" sz="1200" i="0">
                          <a:solidFill>
                            <a:srgbClr val="1A2233"/>
                          </a:solidFill>
                          <a:latin typeface="Calibri"/>
                        </a:rPr>
                        <a:t>Legal opinions on capacity, enforceability, security</a:t>
                      </a:r>
                    </a:p>
                  </a:txBody>
                  <a:tcPr marL="64008" marR="64008" marT="27432" marB="27432" anchor="ctr">
                    <a:solidFill>
                      <a:srgbClr val="F3F6F9"/>
                    </a:solidFill>
                  </a:tcPr>
                </a:tc>
                <a:tc>
                  <a:txBody>
                    <a:bodyPr wrap="square"/>
                    <a:lstStyle/>
                    <a:p>
                      <a:r>
                        <a:rPr b="0" sz="1200" i="0">
                          <a:solidFill>
                            <a:srgbClr val="1A2233"/>
                          </a:solidFill>
                          <a:latin typeface="Calibri"/>
                        </a:rPr>
                        <a:t>Counsel</a:t>
                      </a:r>
                    </a:p>
                  </a:txBody>
                  <a:tcPr marL="64008" marR="64008" marT="27432" marB="27432" anchor="ctr">
                    <a:solidFill>
                      <a:srgbClr val="F3F6F9"/>
                    </a:solidFill>
                  </a:tcPr>
                </a:tc>
              </a:tr>
              <a:tr h="384048">
                <a:tc>
                  <a:txBody>
                    <a:bodyPr wrap="square"/>
                    <a:lstStyle/>
                    <a:p>
                      <a:r>
                        <a:rPr b="1" sz="1200" i="0">
                          <a:solidFill>
                            <a:srgbClr val="1A2233"/>
                          </a:solidFill>
                          <a:latin typeface="Calibri"/>
                        </a:rPr>
                        <a:t>Security</a:t>
                      </a:r>
                    </a:p>
                  </a:txBody>
                  <a:tcPr marL="64008" marR="64008" marT="27432" marB="27432" anchor="ctr">
                    <a:solidFill>
                      <a:srgbClr val="FFFFFF"/>
                    </a:solidFill>
                  </a:tcPr>
                </a:tc>
                <a:tc>
                  <a:txBody>
                    <a:bodyPr wrap="square"/>
                    <a:lstStyle/>
                    <a:p>
                      <a:r>
                        <a:rPr b="0" sz="1200" i="0">
                          <a:solidFill>
                            <a:srgbClr val="1A2233"/>
                          </a:solidFill>
                          <a:latin typeface="Calibri"/>
                        </a:rPr>
                        <a:t>Registered mortgage and charges; share pledge; account bank letters</a:t>
                      </a:r>
                    </a:p>
                  </a:txBody>
                  <a:tcPr marL="64008" marR="64008" marT="27432" marB="27432" anchor="ctr">
                    <a:solidFill>
                      <a:srgbClr val="FFFFFF"/>
                    </a:solidFill>
                  </a:tcPr>
                </a:tc>
                <a:tc>
                  <a:txBody>
                    <a:bodyPr wrap="square"/>
                    <a:lstStyle/>
                    <a:p>
                      <a:r>
                        <a:rPr b="0" sz="1200" i="0">
                          <a:solidFill>
                            <a:srgbClr val="1A2233"/>
                          </a:solidFill>
                          <a:latin typeface="Calibri"/>
                        </a:rPr>
                        <a:t>SPV, counsel</a:t>
                      </a:r>
                    </a:p>
                  </a:txBody>
                  <a:tcPr marL="64008" marR="64008" marT="27432" marB="27432" anchor="ctr">
                    <a:solidFill>
                      <a:srgbClr val="FFFFFF"/>
                    </a:solidFill>
                  </a:tcPr>
                </a:tc>
              </a:tr>
              <a:tr h="384048">
                <a:tc>
                  <a:txBody>
                    <a:bodyPr wrap="square"/>
                    <a:lstStyle/>
                    <a:p>
                      <a:r>
                        <a:rPr b="1" sz="1200" i="0">
                          <a:solidFill>
                            <a:srgbClr val="1A2233"/>
                          </a:solidFill>
                          <a:latin typeface="Calibri"/>
                        </a:rPr>
                        <a:t>Regulatory</a:t>
                      </a:r>
                    </a:p>
                  </a:txBody>
                  <a:tcPr marL="64008" marR="64008" marT="27432" marB="27432" anchor="ctr">
                    <a:solidFill>
                      <a:srgbClr val="F3F6F9"/>
                    </a:solidFill>
                  </a:tcPr>
                </a:tc>
                <a:tc>
                  <a:txBody>
                    <a:bodyPr wrap="square"/>
                    <a:lstStyle/>
                    <a:p>
                      <a:r>
                        <a:rPr b="0" sz="1200" i="0">
                          <a:solidFill>
                            <a:srgbClr val="1A2233"/>
                          </a:solidFill>
                          <a:latin typeface="Calibri"/>
                        </a:rPr>
                        <a:t>Licences, permits, environmental approval</a:t>
                      </a:r>
                    </a:p>
                  </a:txBody>
                  <a:tcPr marL="64008" marR="64008" marT="27432" marB="27432" anchor="ctr">
                    <a:solidFill>
                      <a:srgbClr val="F3F6F9"/>
                    </a:solidFill>
                  </a:tcPr>
                </a:tc>
                <a:tc>
                  <a:txBody>
                    <a:bodyPr wrap="square"/>
                    <a:lstStyle/>
                    <a:p>
                      <a:r>
                        <a:rPr b="0" sz="1200" i="0">
                          <a:solidFill>
                            <a:srgbClr val="1A2233"/>
                          </a:solidFill>
                          <a:latin typeface="Calibri"/>
                        </a:rPr>
                        <a:t>SPV</a:t>
                      </a:r>
                    </a:p>
                  </a:txBody>
                  <a:tcPr marL="64008" marR="64008" marT="27432" marB="27432" anchor="ctr">
                    <a:solidFill>
                      <a:srgbClr val="F3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2.1: Mini due-diligence review: Sahel Sun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Read the five facts below and decide whether each is red, amber or green for lenders, and what fix you would require.</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The site is held under a statutory right of occupancy; no consent has yet been obtained for the mortgage</a:t>
            </a:r>
          </a:p>
          <a:p>
            <a:pPr>
              <a:spcAft>
                <a:spcPts val="300"/>
              </a:spcAft>
            </a:pPr>
            <a:r>
              <a:rPr b="0" sz="1500" i="0">
                <a:solidFill>
                  <a:srgbClr val="1A2233"/>
                </a:solidFill>
                <a:latin typeface="Calibri"/>
              </a:rPr>
              <a:t>2.  The PPA lets the offtaker terminate for convenience with no payment</a:t>
            </a:r>
          </a:p>
          <a:p>
            <a:pPr>
              <a:spcAft>
                <a:spcPts val="300"/>
              </a:spcAft>
            </a:pPr>
            <a:r>
              <a:rPr b="0" sz="1500" i="0">
                <a:solidFill>
                  <a:srgbClr val="1A2233"/>
                </a:solidFill>
                <a:latin typeface="Calibri"/>
              </a:rPr>
              <a:t>3.  The EPC contractor's liability cap is 5% of contract price</a:t>
            </a:r>
          </a:p>
          <a:p>
            <a:pPr>
              <a:spcAft>
                <a:spcPts val="300"/>
              </a:spcAft>
            </a:pPr>
            <a:r>
              <a:rPr b="0" sz="1500" i="0">
                <a:solidFill>
                  <a:srgbClr val="1A2233"/>
                </a:solidFill>
                <a:latin typeface="Calibri"/>
              </a:rPr>
              <a:t>4.  The generation licence expires in year 12; the loan matures in year 15</a:t>
            </a:r>
          </a:p>
          <a:p>
            <a:pPr>
              <a:spcAft>
                <a:spcPts val="300"/>
              </a:spcAft>
            </a:pPr>
            <a:r>
              <a:rPr b="0" sz="1500" i="0">
                <a:solidFill>
                  <a:srgbClr val="1A2233"/>
                </a:solidFill>
                <a:latin typeface="Calibri"/>
              </a:rPr>
              <a:t>5.  A community group has threatened proceedings over resettlement</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PROCUREMENT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Procurement and contracting: where documents come from</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24325"/>
        </p:xfrm>
        <a:graphic>
          <a:graphicData uri="http://schemas.openxmlformats.org/drawingml/2006/table">
            <a:tbl>
              <a:tblPr firstRow="1" bandRow="1">
                <a:tableStyleId>{5C22544A-7EE6-4342-B048-85BDC9FD1C3A}</a:tableStyleId>
              </a:tblPr>
              <a:tblGrid>
                <a:gridCol w="3017520"/>
                <a:gridCol w="4206240"/>
                <a:gridCol w="3840480"/>
              </a:tblGrid>
              <a:tr h="384048">
                <a:tc>
                  <a:txBody>
                    <a:bodyPr wrap="square"/>
                    <a:lstStyle/>
                    <a:p>
                      <a:r>
                        <a:rPr b="1" sz="1200" i="0">
                          <a:solidFill>
                            <a:srgbClr val="FFFFFF"/>
                          </a:solidFill>
                          <a:latin typeface="Calibri"/>
                        </a:rPr>
                        <a:t>Stage (PPP)</a:t>
                      </a:r>
                    </a:p>
                  </a:txBody>
                  <a:tcPr marL="64008" marR="64008" marT="27432" marB="27432" anchor="ctr">
                    <a:solidFill>
                      <a:srgbClr val="141B4D"/>
                    </a:solidFill>
                  </a:tcPr>
                </a:tc>
                <a:tc>
                  <a:txBody>
                    <a:bodyPr wrap="square"/>
                    <a:lstStyle/>
                    <a:p>
                      <a:r>
                        <a:rPr b="1" sz="1200" i="0">
                          <a:solidFill>
                            <a:srgbClr val="FFFFFF"/>
                          </a:solidFill>
                          <a:latin typeface="Calibri"/>
                        </a:rPr>
                        <a:t>What happens</a:t>
                      </a:r>
                    </a:p>
                  </a:txBody>
                  <a:tcPr marL="64008" marR="64008" marT="27432" marB="27432" anchor="ctr">
                    <a:solidFill>
                      <a:srgbClr val="141B4D"/>
                    </a:solidFill>
                  </a:tcPr>
                </a:tc>
                <a:tc>
                  <a:txBody>
                    <a:bodyPr wrap="square"/>
                    <a:lstStyle/>
                    <a:p>
                      <a:r>
                        <a:rPr b="1" sz="1200" i="0">
                          <a:solidFill>
                            <a:srgbClr val="FFFFFF"/>
                          </a:solidFill>
                          <a:latin typeface="Calibri"/>
                        </a:rPr>
                        <a:t>Legal point</a:t>
                      </a:r>
                    </a:p>
                  </a:txBody>
                  <a:tcPr marL="64008" marR="64008" marT="27432" marB="27432" anchor="ctr">
                    <a:solidFill>
                      <a:srgbClr val="141B4D"/>
                    </a:solidFill>
                  </a:tcPr>
                </a:tc>
              </a:tr>
              <a:tr h="490727">
                <a:tc>
                  <a:txBody>
                    <a:bodyPr wrap="square"/>
                    <a:lstStyle/>
                    <a:p>
                      <a:r>
                        <a:rPr b="1" sz="1200" i="0">
                          <a:solidFill>
                            <a:srgbClr val="1A2233"/>
                          </a:solidFill>
                          <a:latin typeface="Calibri"/>
                        </a:rPr>
                        <a:t>Project identification and outline business case</a:t>
                      </a:r>
                    </a:p>
                  </a:txBody>
                  <a:tcPr marL="64008" marR="64008" marT="27432" marB="27432" anchor="ctr">
                    <a:solidFill>
                      <a:srgbClr val="FFFFFF"/>
                    </a:solidFill>
                  </a:tcPr>
                </a:tc>
                <a:tc>
                  <a:txBody>
                    <a:bodyPr wrap="square"/>
                    <a:lstStyle/>
                    <a:p>
                      <a:r>
                        <a:rPr b="0" sz="1200" i="0">
                          <a:solidFill>
                            <a:srgbClr val="1A2233"/>
                          </a:solidFill>
                          <a:latin typeface="Calibri"/>
                        </a:rPr>
                        <a:t>Need and options assessed</a:t>
                      </a:r>
                    </a:p>
                  </a:txBody>
                  <a:tcPr marL="64008" marR="64008" marT="27432" marB="27432" anchor="ctr">
                    <a:solidFill>
                      <a:srgbClr val="FFFFFF"/>
                    </a:solidFill>
                  </a:tcPr>
                </a:tc>
                <a:tc>
                  <a:txBody>
                    <a:bodyPr wrap="square"/>
                    <a:lstStyle/>
                    <a:p>
                      <a:r>
                        <a:rPr b="0" sz="1200" i="0">
                          <a:solidFill>
                            <a:srgbClr val="1A2233"/>
                          </a:solidFill>
                          <a:latin typeface="Calibri"/>
                        </a:rPr>
                        <a:t>Authority to proceed</a:t>
                      </a:r>
                    </a:p>
                  </a:txBody>
                  <a:tcPr marL="64008" marR="64008" marT="27432" marB="27432" anchor="ctr">
                    <a:solidFill>
                      <a:srgbClr val="FFFFFF"/>
                    </a:solidFill>
                  </a:tcPr>
                </a:tc>
              </a:tr>
              <a:tr h="490727">
                <a:tc>
                  <a:txBody>
                    <a:bodyPr wrap="square"/>
                    <a:lstStyle/>
                    <a:p>
                      <a:r>
                        <a:rPr b="1" sz="1200" i="0">
                          <a:solidFill>
                            <a:srgbClr val="1A2233"/>
                          </a:solidFill>
                          <a:latin typeface="Calibri"/>
                        </a:rPr>
                        <a:t>Full business case and approvals</a:t>
                      </a:r>
                    </a:p>
                  </a:txBody>
                  <a:tcPr marL="64008" marR="64008" marT="27432" marB="27432" anchor="ctr">
                    <a:solidFill>
                      <a:srgbClr val="F3F6F9"/>
                    </a:solidFill>
                  </a:tcPr>
                </a:tc>
                <a:tc>
                  <a:txBody>
                    <a:bodyPr wrap="square"/>
                    <a:lstStyle/>
                    <a:p>
                      <a:r>
                        <a:rPr b="0" sz="1200" i="0">
                          <a:solidFill>
                            <a:srgbClr val="1A2233"/>
                          </a:solidFill>
                          <a:latin typeface="Calibri"/>
                        </a:rPr>
                        <a:t>Value for money, affordability, risk allocation</a:t>
                      </a:r>
                    </a:p>
                  </a:txBody>
                  <a:tcPr marL="64008" marR="64008" marT="27432" marB="27432" anchor="ctr">
                    <a:solidFill>
                      <a:srgbClr val="F3F6F9"/>
                    </a:solidFill>
                  </a:tcPr>
                </a:tc>
                <a:tc>
                  <a:txBody>
                    <a:bodyPr wrap="square"/>
                    <a:lstStyle/>
                    <a:p>
                      <a:r>
                        <a:rPr b="0" sz="1200" i="0">
                          <a:solidFill>
                            <a:srgbClr val="1A2233"/>
                          </a:solidFill>
                          <a:latin typeface="Calibri"/>
                        </a:rPr>
                        <a:t>Regulatory approvals (e.g. ICRC at federal level)</a:t>
                      </a:r>
                    </a:p>
                  </a:txBody>
                  <a:tcPr marL="64008" marR="64008" marT="27432" marB="27432" anchor="ctr">
                    <a:solidFill>
                      <a:srgbClr val="F3F6F9"/>
                    </a:solidFill>
                  </a:tcPr>
                </a:tc>
              </a:tr>
              <a:tr h="490727">
                <a:tc>
                  <a:txBody>
                    <a:bodyPr wrap="square"/>
                    <a:lstStyle/>
                    <a:p>
                      <a:r>
                        <a:rPr b="1" sz="1200" i="0">
                          <a:solidFill>
                            <a:srgbClr val="1A2233"/>
                          </a:solidFill>
                          <a:latin typeface="Calibri"/>
                        </a:rPr>
                        <a:t>Procurement</a:t>
                      </a:r>
                    </a:p>
                  </a:txBody>
                  <a:tcPr marL="64008" marR="64008" marT="27432" marB="27432" anchor="ctr">
                    <a:solidFill>
                      <a:srgbClr val="FFFFFF"/>
                    </a:solidFill>
                  </a:tcPr>
                </a:tc>
                <a:tc>
                  <a:txBody>
                    <a:bodyPr wrap="square"/>
                    <a:lstStyle/>
                    <a:p>
                      <a:r>
                        <a:rPr b="0" sz="1200" i="0">
                          <a:solidFill>
                            <a:srgbClr val="1A2233"/>
                          </a:solidFill>
                          <a:latin typeface="Calibri"/>
                        </a:rPr>
                        <a:t>Tender, bid evaluation</a:t>
                      </a:r>
                    </a:p>
                  </a:txBody>
                  <a:tcPr marL="64008" marR="64008" marT="27432" marB="27432" anchor="ctr">
                    <a:solidFill>
                      <a:srgbClr val="FFFFFF"/>
                    </a:solidFill>
                  </a:tcPr>
                </a:tc>
                <a:tc>
                  <a:txBody>
                    <a:bodyPr wrap="square"/>
                    <a:lstStyle/>
                    <a:p>
                      <a:r>
                        <a:rPr b="0" sz="1200" i="0">
                          <a:solidFill>
                            <a:srgbClr val="1A2233"/>
                          </a:solidFill>
                          <a:latin typeface="Calibri"/>
                        </a:rPr>
                        <a:t>Transparency; compliance with procurement rules</a:t>
                      </a:r>
                    </a:p>
                  </a:txBody>
                  <a:tcPr marL="64008" marR="64008" marT="27432" marB="27432" anchor="ctr">
                    <a:solidFill>
                      <a:srgbClr val="FFFFFF"/>
                    </a:solidFill>
                  </a:tcPr>
                </a:tc>
              </a:tr>
              <a:tr h="384048">
                <a:tc>
                  <a:txBody>
                    <a:bodyPr wrap="square"/>
                    <a:lstStyle/>
                    <a:p>
                      <a:r>
                        <a:rPr b="1" sz="1200" i="0">
                          <a:solidFill>
                            <a:srgbClr val="1A2233"/>
                          </a:solidFill>
                          <a:latin typeface="Calibri"/>
                        </a:rPr>
                        <a:t>Contract negotiation</a:t>
                      </a:r>
                    </a:p>
                  </a:txBody>
                  <a:tcPr marL="64008" marR="64008" marT="27432" marB="27432" anchor="ctr">
                    <a:solidFill>
                      <a:srgbClr val="F3F6F9"/>
                    </a:solidFill>
                  </a:tcPr>
                </a:tc>
                <a:tc>
                  <a:txBody>
                    <a:bodyPr wrap="square"/>
                    <a:lstStyle/>
                    <a:p>
                      <a:r>
                        <a:rPr b="0" sz="1200" i="0">
                          <a:solidFill>
                            <a:srgbClr val="1A2233"/>
                          </a:solidFill>
                          <a:latin typeface="Calibri"/>
                        </a:rPr>
                        <a:t>Concession, PPA, financing term sheet</a:t>
                      </a:r>
                    </a:p>
                  </a:txBody>
                  <a:tcPr marL="64008" marR="64008" marT="27432" marB="27432" anchor="ctr">
                    <a:solidFill>
                      <a:srgbClr val="F3F6F9"/>
                    </a:solidFill>
                  </a:tcPr>
                </a:tc>
                <a:tc>
                  <a:txBody>
                    <a:bodyPr wrap="square"/>
                    <a:lstStyle/>
                    <a:p>
                      <a:r>
                        <a:rPr b="0" sz="1200" i="0">
                          <a:solidFill>
                            <a:srgbClr val="1A2233"/>
                          </a:solidFill>
                          <a:latin typeface="Calibri"/>
                        </a:rPr>
                        <a:t>Allocation of risk; bankability</a:t>
                      </a:r>
                    </a:p>
                  </a:txBody>
                  <a:tcPr marL="64008" marR="64008" marT="27432" marB="27432" anchor="ctr">
                    <a:solidFill>
                      <a:srgbClr val="F3F6F9"/>
                    </a:solidFill>
                  </a:tcPr>
                </a:tc>
              </a:tr>
              <a:tr h="384048">
                <a:tc>
                  <a:txBody>
                    <a:bodyPr wrap="square"/>
                    <a:lstStyle/>
                    <a:p>
                      <a:r>
                        <a:rPr b="1" sz="1200" i="0">
                          <a:solidFill>
                            <a:srgbClr val="1A2233"/>
                          </a:solidFill>
                          <a:latin typeface="Calibri"/>
                        </a:rPr>
                        <a:t>Financial close</a:t>
                      </a:r>
                    </a:p>
                  </a:txBody>
                  <a:tcPr marL="64008" marR="64008" marT="27432" marB="27432" anchor="ctr">
                    <a:solidFill>
                      <a:srgbClr val="FFFFFF"/>
                    </a:solidFill>
                  </a:tcPr>
                </a:tc>
                <a:tc>
                  <a:txBody>
                    <a:bodyPr wrap="square"/>
                    <a:lstStyle/>
                    <a:p>
                      <a:r>
                        <a:rPr b="0" sz="1200" i="0">
                          <a:solidFill>
                            <a:srgbClr val="1A2233"/>
                          </a:solidFill>
                          <a:latin typeface="Calibri"/>
                        </a:rPr>
                        <a:t>Contracts effective; first drawdown</a:t>
                      </a:r>
                    </a:p>
                  </a:txBody>
                  <a:tcPr marL="64008" marR="64008" marT="27432" marB="27432" anchor="ctr">
                    <a:solidFill>
                      <a:srgbClr val="FFFFFF"/>
                    </a:solidFill>
                  </a:tcPr>
                </a:tc>
                <a:tc>
                  <a:txBody>
                    <a:bodyPr wrap="square"/>
                    <a:lstStyle/>
                    <a:p>
                      <a:r>
                        <a:rPr b="0" sz="1200" i="0">
                          <a:solidFill>
                            <a:srgbClr val="1A2233"/>
                          </a:solidFill>
                          <a:latin typeface="Calibri"/>
                        </a:rPr>
                        <a:t>All CPs satisfied</a:t>
                      </a:r>
                    </a:p>
                  </a:txBody>
                  <a:tcPr marL="64008" marR="64008" marT="27432" marB="27432" anchor="ctr">
                    <a:solidFill>
                      <a:srgbClr val="FFFFFF"/>
                    </a:solidFill>
                  </a:tcPr>
                </a:tc>
              </a:tr>
            </a:tbl>
          </a:graphicData>
        </a:graphic>
      </p:graphicFrame>
      <p:sp>
        <p:nvSpPr>
          <p:cNvPr id="12" name="Rectangle 11"/>
          <p:cNvSpPr/>
          <p:nvPr/>
        </p:nvSpPr>
        <p:spPr>
          <a:xfrm>
            <a:off x="548640" y="4389120"/>
            <a:ext cx="11064240" cy="109728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389120"/>
            <a:ext cx="82296" cy="109728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389120"/>
            <a:ext cx="10835640" cy="1097280"/>
          </a:xfrm>
          <a:prstGeom prst="rect">
            <a:avLst/>
          </a:prstGeom>
          <a:noFill/>
        </p:spPr>
        <p:txBody>
          <a:bodyPr wrap="square" lIns="45720" rIns="45720" tIns="27432" bIns="27432" anchor="ctr">
            <a:spAutoFit/>
          </a:bodyPr>
          <a:lstStyle/>
          <a:p>
            <a:pPr algn="l"/>
            <a:r>
              <a:rPr b="0" sz="1400" i="0">
                <a:solidFill>
                  <a:srgbClr val="1A2233"/>
                </a:solidFill>
                <a:latin typeface="Calibri"/>
              </a:rPr>
              <a:t>Federal PPPs follow the ICRC Act 2005; the ICRC issued new PPP guidelines in 2025 reported to decentralise some approvals and require financial-model review. Statute positions are summarised from published commentary and official sources and must be confirmed against the current text with Nigerian counsel before any transaction use.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Which finding in due diligence is most likely a 'red' item for lenders?</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PPA allows termination for convenience with no payment to lenders</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typographical error in a board minute</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Office rent due next year</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Slight delay in the data room index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19</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10.00 – 11.00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3: Security agreements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How lenders protect themselves if things go wrong.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is security?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Security gives a lender a legal claim over specific assets that ranks ahead of ordinary creditors if the borrower fails. It is separate from the promise to repay: the loan says 'pay me'; the security says 'and if you do not, I can take and sell these assets'.</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Security is only as good as its </a:t>
            </a:r>
            <a:r>
              <a:rPr b="1" sz="1600" i="0">
                <a:solidFill>
                  <a:srgbClr val="1A2233"/>
                </a:solidFill>
                <a:latin typeface="Calibri"/>
              </a:rPr>
              <a:t>validity</a:t>
            </a:r>
            <a:r>
              <a:rPr b="0" sz="1600" i="0">
                <a:solidFill>
                  <a:srgbClr val="1A2233"/>
                </a:solidFill>
                <a:latin typeface="Calibri"/>
              </a:rPr>
              <a:t> (created properly), </a:t>
            </a:r>
            <a:r>
              <a:rPr b="1" sz="1600" i="0">
                <a:solidFill>
                  <a:srgbClr val="1A2233"/>
                </a:solidFill>
                <a:latin typeface="Calibri"/>
              </a:rPr>
              <a:t>perfection</a:t>
            </a:r>
            <a:r>
              <a:rPr b="0" sz="1600" i="0">
                <a:solidFill>
                  <a:srgbClr val="1A2233"/>
                </a:solidFill>
                <a:latin typeface="Calibri"/>
              </a:rPr>
              <a:t> (registered so others are on notice) and </a:t>
            </a:r>
            <a:r>
              <a:rPr b="1" sz="1600" i="0">
                <a:solidFill>
                  <a:srgbClr val="1A2233"/>
                </a:solidFill>
                <a:latin typeface="Calibri"/>
              </a:rPr>
              <a:t>ranking</a:t>
            </a:r>
            <a:r>
              <a:rPr b="0" sz="1600" i="0">
                <a:solidFill>
                  <a:srgbClr val="1A2233"/>
                </a:solidFill>
                <a:latin typeface="Calibri"/>
              </a:rPr>
              <a:t> (priority over other creditors)</a:t>
            </a:r>
          </a:p>
          <a:p>
            <a:pPr algn="l"/>
            <a:r>
              <a:rPr b="0" sz="1600" i="0">
                <a:solidFill>
                  <a:srgbClr val="1A2233"/>
                </a:solidFill>
                <a:latin typeface="Calibri"/>
              </a:rPr>
              <a:t>A guarantee is a promise by a third party; security is rights over assets</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In project finance there is rarely enough hard collateral, so lenders take security over everything: assets, contracts, accounts and shares.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PACKAGE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security package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96051"/>
        </p:xfrm>
        <a:graphic>
          <a:graphicData uri="http://schemas.openxmlformats.org/drawingml/2006/table">
            <a:tbl>
              <a:tblPr firstRow="1" bandRow="1">
                <a:tableStyleId>{5C22544A-7EE6-4342-B048-85BDC9FD1C3A}</a:tableStyleId>
              </a:tblPr>
              <a:tblGrid>
                <a:gridCol w="3657600"/>
                <a:gridCol w="3474720"/>
                <a:gridCol w="3931920"/>
              </a:tblGrid>
              <a:tr h="347472">
                <a:tc>
                  <a:txBody>
                    <a:bodyPr wrap="square"/>
                    <a:lstStyle/>
                    <a:p>
                      <a:r>
                        <a:rPr b="1" sz="1200" i="0">
                          <a:solidFill>
                            <a:srgbClr val="FFFFFF"/>
                          </a:solidFill>
                          <a:latin typeface="Calibri"/>
                        </a:rPr>
                        <a:t>Security</a:t>
                      </a:r>
                    </a:p>
                  </a:txBody>
                  <a:tcPr marL="64008" marR="64008" marT="27432" marB="27432" anchor="ctr">
                    <a:solidFill>
                      <a:srgbClr val="141B4D"/>
                    </a:solidFill>
                  </a:tcPr>
                </a:tc>
                <a:tc>
                  <a:txBody>
                    <a:bodyPr wrap="square"/>
                    <a:lstStyle/>
                    <a:p>
                      <a:r>
                        <a:rPr b="1" sz="1200" i="0">
                          <a:solidFill>
                            <a:srgbClr val="FFFFFF"/>
                          </a:solidFill>
                          <a:latin typeface="Calibri"/>
                        </a:rPr>
                        <a:t>Over what</a:t>
                      </a:r>
                    </a:p>
                  </a:txBody>
                  <a:tcPr marL="64008" marR="64008" marT="27432" marB="27432" anchor="ctr">
                    <a:solidFill>
                      <a:srgbClr val="141B4D"/>
                    </a:solidFill>
                  </a:tcPr>
                </a:tc>
                <a:tc>
                  <a:txBody>
                    <a:bodyPr wrap="square"/>
                    <a:lstStyle/>
                    <a:p>
                      <a:r>
                        <a:rPr b="1" sz="1200" i="0">
                          <a:solidFill>
                            <a:srgbClr val="FFFFFF"/>
                          </a:solidFill>
                          <a:latin typeface="Calibri"/>
                        </a:rPr>
                        <a:t>Why lenders want it</a:t>
                      </a:r>
                    </a:p>
                  </a:txBody>
                  <a:tcPr marL="64008" marR="64008" marT="27432" marB="27432" anchor="ctr">
                    <a:solidFill>
                      <a:srgbClr val="141B4D"/>
                    </a:solidFill>
                  </a:tcPr>
                </a:tc>
              </a:tr>
              <a:tr h="490727">
                <a:tc>
                  <a:txBody>
                    <a:bodyPr wrap="square"/>
                    <a:lstStyle/>
                    <a:p>
                      <a:r>
                        <a:rPr b="1" sz="1200" i="0">
                          <a:solidFill>
                            <a:srgbClr val="1A2233"/>
                          </a:solidFill>
                          <a:latin typeface="Calibri"/>
                        </a:rPr>
                        <a:t>Mortgage / legal charge over land and fixed assets</a:t>
                      </a:r>
                    </a:p>
                  </a:txBody>
                  <a:tcPr marL="64008" marR="64008" marT="27432" marB="27432" anchor="ctr">
                    <a:solidFill>
                      <a:srgbClr val="FFFFFF"/>
                    </a:solidFill>
                  </a:tcPr>
                </a:tc>
                <a:tc>
                  <a:txBody>
                    <a:bodyPr wrap="square"/>
                    <a:lstStyle/>
                    <a:p>
                      <a:r>
                        <a:rPr b="0" sz="1200" i="0">
                          <a:solidFill>
                            <a:srgbClr val="1A2233"/>
                          </a:solidFill>
                          <a:latin typeface="Calibri"/>
                        </a:rPr>
                        <a:t>Site, buildings, plant</a:t>
                      </a:r>
                    </a:p>
                  </a:txBody>
                  <a:tcPr marL="64008" marR="64008" marT="27432" marB="27432" anchor="ctr">
                    <a:solidFill>
                      <a:srgbClr val="FFFFFF"/>
                    </a:solidFill>
                  </a:tcPr>
                </a:tc>
                <a:tc>
                  <a:txBody>
                    <a:bodyPr wrap="square"/>
                    <a:lstStyle/>
                    <a:p>
                      <a:r>
                        <a:rPr b="0" sz="1200" i="0">
                          <a:solidFill>
                            <a:srgbClr val="1A2233"/>
                          </a:solidFill>
                          <a:latin typeface="Calibri"/>
                        </a:rPr>
                        <a:t>Right to sell the assets</a:t>
                      </a:r>
                    </a:p>
                  </a:txBody>
                  <a:tcPr marL="64008" marR="64008" marT="27432" marB="27432" anchor="ctr">
                    <a:solidFill>
                      <a:srgbClr val="FFFFFF"/>
                    </a:solidFill>
                  </a:tcPr>
                </a:tc>
              </a:tr>
              <a:tr h="490727">
                <a:tc>
                  <a:txBody>
                    <a:bodyPr wrap="square"/>
                    <a:lstStyle/>
                    <a:p>
                      <a:r>
                        <a:rPr b="1" sz="1200" i="0">
                          <a:solidFill>
                            <a:srgbClr val="1A2233"/>
                          </a:solidFill>
                          <a:latin typeface="Calibri"/>
                        </a:rPr>
                        <a:t>Debenture (fixed and floating charge)</a:t>
                      </a:r>
                    </a:p>
                  </a:txBody>
                  <a:tcPr marL="64008" marR="64008" marT="27432" marB="27432" anchor="ctr">
                    <a:solidFill>
                      <a:srgbClr val="F3F6F9"/>
                    </a:solidFill>
                  </a:tcPr>
                </a:tc>
                <a:tc>
                  <a:txBody>
                    <a:bodyPr wrap="square"/>
                    <a:lstStyle/>
                    <a:p>
                      <a:r>
                        <a:rPr b="0" sz="1200" i="0">
                          <a:solidFill>
                            <a:srgbClr val="1A2233"/>
                          </a:solidFill>
                          <a:latin typeface="Calibri"/>
                        </a:rPr>
                        <a:t>All assets of the SPV, present and future</a:t>
                      </a:r>
                    </a:p>
                  </a:txBody>
                  <a:tcPr marL="64008" marR="64008" marT="27432" marB="27432" anchor="ctr">
                    <a:solidFill>
                      <a:srgbClr val="F3F6F9"/>
                    </a:solidFill>
                  </a:tcPr>
                </a:tc>
                <a:tc>
                  <a:txBody>
                    <a:bodyPr wrap="square"/>
                    <a:lstStyle/>
                    <a:p>
                      <a:r>
                        <a:rPr b="0" sz="1200" i="0">
                          <a:solidFill>
                            <a:srgbClr val="1A2233"/>
                          </a:solidFill>
                          <a:latin typeface="Calibri"/>
                        </a:rPr>
                        <a:t>Catch-all; floating charge covers stock and cash</a:t>
                      </a:r>
                    </a:p>
                  </a:txBody>
                  <a:tcPr marL="64008" marR="64008" marT="27432" marB="27432" anchor="ctr">
                    <a:solidFill>
                      <a:srgbClr val="F3F6F9"/>
                    </a:solidFill>
                  </a:tcPr>
                </a:tc>
              </a:tr>
              <a:tr h="490727">
                <a:tc>
                  <a:txBody>
                    <a:bodyPr wrap="square"/>
                    <a:lstStyle/>
                    <a:p>
                      <a:r>
                        <a:rPr b="1" sz="1200" i="0">
                          <a:solidFill>
                            <a:srgbClr val="1A2233"/>
                          </a:solidFill>
                          <a:latin typeface="Calibri"/>
                        </a:rPr>
                        <a:t>Assignment of project contracts and receivables</a:t>
                      </a:r>
                    </a:p>
                  </a:txBody>
                  <a:tcPr marL="64008" marR="64008" marT="27432" marB="27432" anchor="ctr">
                    <a:solidFill>
                      <a:srgbClr val="FFFFFF"/>
                    </a:solidFill>
                  </a:tcPr>
                </a:tc>
                <a:tc>
                  <a:txBody>
                    <a:bodyPr wrap="square"/>
                    <a:lstStyle/>
                    <a:p>
                      <a:r>
                        <a:rPr b="0" sz="1200" i="0">
                          <a:solidFill>
                            <a:srgbClr val="1A2233"/>
                          </a:solidFill>
                          <a:latin typeface="Calibri"/>
                        </a:rPr>
                        <a:t>PPA, EPC, O&amp;M, insurance, revenues</a:t>
                      </a:r>
                    </a:p>
                  </a:txBody>
                  <a:tcPr marL="64008" marR="64008" marT="27432" marB="27432" anchor="ctr">
                    <a:solidFill>
                      <a:srgbClr val="FFFFFF"/>
                    </a:solidFill>
                  </a:tcPr>
                </a:tc>
                <a:tc>
                  <a:txBody>
                    <a:bodyPr wrap="square"/>
                    <a:lstStyle/>
                    <a:p>
                      <a:r>
                        <a:rPr b="0" sz="1200" i="0">
                          <a:solidFill>
                            <a:srgbClr val="1A2233"/>
                          </a:solidFill>
                          <a:latin typeface="Calibri"/>
                        </a:rPr>
                        <a:t>Lenders can take over the revenue stream</a:t>
                      </a:r>
                    </a:p>
                  </a:txBody>
                  <a:tcPr marL="64008" marR="64008" marT="27432" marB="27432" anchor="ctr">
                    <a:solidFill>
                      <a:srgbClr val="FFFFFF"/>
                    </a:solidFill>
                  </a:tcPr>
                </a:tc>
              </a:tr>
              <a:tr h="347472">
                <a:tc>
                  <a:txBody>
                    <a:bodyPr wrap="square"/>
                    <a:lstStyle/>
                    <a:p>
                      <a:r>
                        <a:rPr b="1" sz="1200" i="0">
                          <a:solidFill>
                            <a:srgbClr val="1A2233"/>
                          </a:solidFill>
                          <a:latin typeface="Calibri"/>
                        </a:rPr>
                        <a:t>Charge over bank accounts</a:t>
                      </a:r>
                    </a:p>
                  </a:txBody>
                  <a:tcPr marL="64008" marR="64008" marT="27432" marB="27432" anchor="ctr">
                    <a:solidFill>
                      <a:srgbClr val="F3F6F9"/>
                    </a:solidFill>
                  </a:tcPr>
                </a:tc>
                <a:tc>
                  <a:txBody>
                    <a:bodyPr wrap="square"/>
                    <a:lstStyle/>
                    <a:p>
                      <a:r>
                        <a:rPr b="0" sz="1200" i="0">
                          <a:solidFill>
                            <a:srgbClr val="1A2233"/>
                          </a:solidFill>
                          <a:latin typeface="Calibri"/>
                        </a:rPr>
                        <a:t>Project accounts incl. DSRA</a:t>
                      </a:r>
                    </a:p>
                  </a:txBody>
                  <a:tcPr marL="64008" marR="64008" marT="27432" marB="27432" anchor="ctr">
                    <a:solidFill>
                      <a:srgbClr val="F3F6F9"/>
                    </a:solidFill>
                  </a:tcPr>
                </a:tc>
                <a:tc>
                  <a:txBody>
                    <a:bodyPr wrap="square"/>
                    <a:lstStyle/>
                    <a:p>
                      <a:r>
                        <a:rPr b="0" sz="1200" i="0">
                          <a:solidFill>
                            <a:srgbClr val="1A2233"/>
                          </a:solidFill>
                          <a:latin typeface="Calibri"/>
                        </a:rPr>
                        <a:t>Control of cash</a:t>
                      </a:r>
                    </a:p>
                  </a:txBody>
                  <a:tcPr marL="64008" marR="64008" marT="27432" marB="27432" anchor="ctr">
                    <a:solidFill>
                      <a:srgbClr val="F3F6F9"/>
                    </a:solidFill>
                  </a:tcPr>
                </a:tc>
              </a:tr>
              <a:tr h="490727">
                <a:tc>
                  <a:txBody>
                    <a:bodyPr wrap="square"/>
                    <a:lstStyle/>
                    <a:p>
                      <a:r>
                        <a:rPr b="1" sz="1200" i="0">
                          <a:solidFill>
                            <a:srgbClr val="1A2233"/>
                          </a:solidFill>
                          <a:latin typeface="Calibri"/>
                        </a:rPr>
                        <a:t>Share pledge</a:t>
                      </a:r>
                    </a:p>
                  </a:txBody>
                  <a:tcPr marL="64008" marR="64008" marT="27432" marB="27432" anchor="ctr">
                    <a:solidFill>
                      <a:srgbClr val="FFFFFF"/>
                    </a:solidFill>
                  </a:tcPr>
                </a:tc>
                <a:tc>
                  <a:txBody>
                    <a:bodyPr wrap="square"/>
                    <a:lstStyle/>
                    <a:p>
                      <a:r>
                        <a:rPr b="0" sz="1200" i="0">
                          <a:solidFill>
                            <a:srgbClr val="1A2233"/>
                          </a:solidFill>
                          <a:latin typeface="Calibri"/>
                        </a:rPr>
                        <a:t>Sponsors' shares in the SPV</a:t>
                      </a:r>
                    </a:p>
                  </a:txBody>
                  <a:tcPr marL="64008" marR="64008" marT="27432" marB="27432" anchor="ctr">
                    <a:solidFill>
                      <a:srgbClr val="FFFFFF"/>
                    </a:solidFill>
                  </a:tcPr>
                </a:tc>
                <a:tc>
                  <a:txBody>
                    <a:bodyPr wrap="square"/>
                    <a:lstStyle/>
                    <a:p>
                      <a:r>
                        <a:rPr b="0" sz="1200" i="0">
                          <a:solidFill>
                            <a:srgbClr val="1A2233"/>
                          </a:solidFill>
                          <a:latin typeface="Calibri"/>
                        </a:rPr>
                        <a:t>Change control of the company without insolvency</a:t>
                      </a:r>
                    </a:p>
                  </a:txBody>
                  <a:tcPr marL="64008" marR="64008" marT="27432" marB="27432" anchor="ctr">
                    <a:solidFill>
                      <a:srgbClr val="FFFFFF"/>
                    </a:solidFill>
                  </a:tcPr>
                </a:tc>
              </a:tr>
              <a:tr h="490727">
                <a:tc>
                  <a:txBody>
                    <a:bodyPr wrap="square"/>
                    <a:lstStyle/>
                    <a:p>
                      <a:r>
                        <a:rPr b="1" sz="1200" i="0">
                          <a:solidFill>
                            <a:srgbClr val="1A2233"/>
                          </a:solidFill>
                          <a:latin typeface="Calibri"/>
                        </a:rPr>
                        <a:t>Direct agreements</a:t>
                      </a:r>
                    </a:p>
                  </a:txBody>
                  <a:tcPr marL="64008" marR="64008" marT="27432" marB="27432" anchor="ctr">
                    <a:solidFill>
                      <a:srgbClr val="F3F6F9"/>
                    </a:solidFill>
                  </a:tcPr>
                </a:tc>
                <a:tc>
                  <a:txBody>
                    <a:bodyPr wrap="square"/>
                    <a:lstStyle/>
                    <a:p>
                      <a:r>
                        <a:rPr b="0" sz="1200" i="0">
                          <a:solidFill>
                            <a:srgbClr val="1A2233"/>
                          </a:solidFill>
                          <a:latin typeface="Calibri"/>
                        </a:rPr>
                        <a:t>Contracts between lenders and counterparties</a:t>
                      </a:r>
                    </a:p>
                  </a:txBody>
                  <a:tcPr marL="64008" marR="64008" marT="27432" marB="27432" anchor="ctr">
                    <a:solidFill>
                      <a:srgbClr val="F3F6F9"/>
                    </a:solidFill>
                  </a:tcPr>
                </a:tc>
                <a:tc>
                  <a:txBody>
                    <a:bodyPr wrap="square"/>
                    <a:lstStyle/>
                    <a:p>
                      <a:r>
                        <a:rPr b="0" sz="1200" i="0">
                          <a:solidFill>
                            <a:srgbClr val="1A2233"/>
                          </a:solidFill>
                          <a:latin typeface="Calibri"/>
                        </a:rPr>
                        <a:t>Step-in and cure rights</a:t>
                      </a:r>
                    </a:p>
                  </a:txBody>
                  <a:tcPr marL="64008" marR="64008" marT="27432" marB="27432" anchor="ctr">
                    <a:solidFill>
                      <a:srgbClr val="F3F6F9"/>
                    </a:solidFill>
                  </a:tcPr>
                </a:tc>
              </a:tr>
              <a:tr h="347472">
                <a:tc>
                  <a:txBody>
                    <a:bodyPr wrap="square"/>
                    <a:lstStyle/>
                    <a:p>
                      <a:r>
                        <a:rPr b="1" sz="1200" i="0">
                          <a:solidFill>
                            <a:srgbClr val="1A2233"/>
                          </a:solidFill>
                          <a:latin typeface="Calibri"/>
                        </a:rPr>
                        <a:t>Insurance assignment</a:t>
                      </a:r>
                    </a:p>
                  </a:txBody>
                  <a:tcPr marL="64008" marR="64008" marT="27432" marB="27432" anchor="ctr">
                    <a:solidFill>
                      <a:srgbClr val="FFFFFF"/>
                    </a:solidFill>
                  </a:tcPr>
                </a:tc>
                <a:tc>
                  <a:txBody>
                    <a:bodyPr wrap="square"/>
                    <a:lstStyle/>
                    <a:p>
                      <a:r>
                        <a:rPr b="0" sz="1200" i="0">
                          <a:solidFill>
                            <a:srgbClr val="1A2233"/>
                          </a:solidFill>
                          <a:latin typeface="Calibri"/>
                        </a:rPr>
                        <a:t>Policies and proceeds</a:t>
                      </a:r>
                    </a:p>
                  </a:txBody>
                  <a:tcPr marL="64008" marR="64008" marT="27432" marB="27432" anchor="ctr">
                    <a:solidFill>
                      <a:srgbClr val="FFFFFF"/>
                    </a:solidFill>
                  </a:tcPr>
                </a:tc>
                <a:tc>
                  <a:txBody>
                    <a:bodyPr wrap="square"/>
                    <a:lstStyle/>
                    <a:p>
                      <a:r>
                        <a:rPr b="0" sz="1200" i="0">
                          <a:solidFill>
                            <a:srgbClr val="1A2233"/>
                          </a:solidFill>
                          <a:latin typeface="Calibri"/>
                        </a:rPr>
                        <a:t>Rebuilding funds</a:t>
                      </a:r>
                    </a:p>
                  </a:txBody>
                  <a:tcPr marL="64008" marR="64008"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SECURITY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Security pyramid: from fixed assets to control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40480" y="1554480"/>
            <a:ext cx="4389120" cy="82296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Share pledge
control of the SPV</a:t>
            </a:r>
          </a:p>
        </p:txBody>
      </p:sp>
      <p:sp>
        <p:nvSpPr>
          <p:cNvPr id="12" name="Rounded Rectangle 11"/>
          <p:cNvSpPr/>
          <p:nvPr/>
        </p:nvSpPr>
        <p:spPr>
          <a:xfrm>
            <a:off x="2926080" y="2560320"/>
            <a:ext cx="6217920" cy="82296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Assignment of contracts and revenue
PPA, EPC, O&amp;M, insurance</a:t>
            </a:r>
          </a:p>
        </p:txBody>
      </p:sp>
      <p:sp>
        <p:nvSpPr>
          <p:cNvPr id="13" name="Rounded Rectangle 12"/>
          <p:cNvSpPr/>
          <p:nvPr/>
        </p:nvSpPr>
        <p:spPr>
          <a:xfrm>
            <a:off x="2011680" y="3566160"/>
            <a:ext cx="8046720" cy="8229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Charges over accounts and receivables</a:t>
            </a:r>
          </a:p>
        </p:txBody>
      </p:sp>
      <p:sp>
        <p:nvSpPr>
          <p:cNvPr id="14" name="Rounded Rectangle 13"/>
          <p:cNvSpPr/>
          <p:nvPr/>
        </p:nvSpPr>
        <p:spPr>
          <a:xfrm>
            <a:off x="1097280" y="4572000"/>
            <a:ext cx="9875520" cy="822960"/>
          </a:xfrm>
          <a:prstGeom prst="roundRect">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1A2233"/>
                </a:solidFill>
                <a:latin typeface="Calibri"/>
              </a:rPr>
              <a:t>Mortgage / debenture over land, plant and all other assets</a:t>
            </a:r>
          </a:p>
        </p:txBody>
      </p:sp>
      <p:sp>
        <p:nvSpPr>
          <p:cNvPr id="15" name="Rectangle 14"/>
          <p:cNvSpPr/>
          <p:nvPr/>
        </p:nvSpPr>
        <p:spPr>
          <a:xfrm>
            <a:off x="548640" y="5577840"/>
            <a:ext cx="11064240" cy="5943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577840"/>
            <a:ext cx="82296" cy="5943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577840"/>
            <a:ext cx="10835640" cy="594360"/>
          </a:xfrm>
          <a:prstGeom prst="rect">
            <a:avLst/>
          </a:prstGeom>
          <a:noFill/>
        </p:spPr>
        <p:txBody>
          <a:bodyPr wrap="square" lIns="45720" rIns="45720" tIns="27432" bIns="27432" anchor="ctr">
            <a:spAutoFit/>
          </a:bodyPr>
          <a:lstStyle/>
          <a:p>
            <a:pPr algn="l"/>
            <a:r>
              <a:rPr b="0" sz="1400" i="0">
                <a:solidFill>
                  <a:srgbClr val="1A2233"/>
                </a:solidFill>
                <a:latin typeface="Calibri"/>
              </a:rPr>
              <a:t>Typical order of practical value: shares and contracts first (they keep the project running); land and plant second.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NIGERIA</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Perfecting security in Nigeria: registration anchors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578354"/>
        </p:xfrm>
        <a:graphic>
          <a:graphicData uri="http://schemas.openxmlformats.org/drawingml/2006/table">
            <a:tbl>
              <a:tblPr firstRow="1" bandRow="1">
                <a:tableStyleId>{5C22544A-7EE6-4342-B048-85BDC9FD1C3A}</a:tableStyleId>
              </a:tblPr>
              <a:tblGrid>
                <a:gridCol w="2560320"/>
                <a:gridCol w="5303520"/>
                <a:gridCol w="3200400"/>
              </a:tblGrid>
              <a:tr h="502920">
                <a:tc>
                  <a:txBody>
                    <a:bodyPr wrap="square"/>
                    <a:lstStyle/>
                    <a:p>
                      <a:r>
                        <a:rPr b="1" sz="1100" i="0">
                          <a:solidFill>
                            <a:srgbClr val="FFFFFF"/>
                          </a:solidFill>
                          <a:latin typeface="Calibri"/>
                        </a:rPr>
                        <a:t>Asset</a:t>
                      </a:r>
                    </a:p>
                  </a:txBody>
                  <a:tcPr marL="64008" marR="64008" marT="27432" marB="27432" anchor="ctr">
                    <a:solidFill>
                      <a:srgbClr val="141B4D"/>
                    </a:solidFill>
                  </a:tcPr>
                </a:tc>
                <a:tc>
                  <a:txBody>
                    <a:bodyPr wrap="square"/>
                    <a:lstStyle/>
                    <a:p>
                      <a:r>
                        <a:rPr b="1" sz="1100" i="0">
                          <a:solidFill>
                            <a:srgbClr val="FFFFFF"/>
                          </a:solidFill>
                          <a:latin typeface="Calibri"/>
                        </a:rPr>
                        <a:t>Step</a:t>
                      </a:r>
                    </a:p>
                  </a:txBody>
                  <a:tcPr marL="64008" marR="64008" marT="27432" marB="27432" anchor="ctr">
                    <a:solidFill>
                      <a:srgbClr val="141B4D"/>
                    </a:solidFill>
                  </a:tcPr>
                </a:tc>
                <a:tc>
                  <a:txBody>
                    <a:bodyPr wrap="square"/>
                    <a:lstStyle/>
                    <a:p>
                      <a:r>
                        <a:rPr b="1" sz="1100" i="0">
                          <a:solidFill>
                            <a:srgbClr val="FFFFFF"/>
                          </a:solidFill>
                          <a:latin typeface="Calibri"/>
                        </a:rPr>
                        <a:t>Source and note</a:t>
                      </a:r>
                    </a:p>
                  </a:txBody>
                  <a:tcPr marL="64008" marR="64008" marT="27432" marB="27432" anchor="ctr">
                    <a:solidFill>
                      <a:srgbClr val="141B4D"/>
                    </a:solidFill>
                  </a:tcPr>
                </a:tc>
              </a:tr>
              <a:tr h="633603">
                <a:tc>
                  <a:txBody>
                    <a:bodyPr wrap="square"/>
                    <a:lstStyle/>
                    <a:p>
                      <a:r>
                        <a:rPr b="1" sz="1100" i="0">
                          <a:solidFill>
                            <a:srgbClr val="1A2233"/>
                          </a:solidFill>
                          <a:latin typeface="Calibri"/>
                        </a:rPr>
                        <a:t>Land (statutory right of occupancy)</a:t>
                      </a:r>
                    </a:p>
                  </a:txBody>
                  <a:tcPr marL="64008" marR="64008" marT="27432" marB="27432" anchor="ctr">
                    <a:solidFill>
                      <a:srgbClr val="FFFFFF"/>
                    </a:solidFill>
                  </a:tcPr>
                </a:tc>
                <a:tc>
                  <a:txBody>
                    <a:bodyPr wrap="square"/>
                    <a:lstStyle/>
                    <a:p>
                      <a:r>
                        <a:rPr b="0" sz="1100" i="0">
                          <a:solidFill>
                            <a:srgbClr val="1A2233"/>
                          </a:solidFill>
                          <a:latin typeface="Calibri"/>
                        </a:rPr>
                        <a:t>Governor's consent to mortgage or assignment (Land Use Act s.22); transactions not in line with the Act may be void (s.26)</a:t>
                      </a:r>
                    </a:p>
                  </a:txBody>
                  <a:tcPr marL="64008" marR="64008" marT="27432" marB="27432" anchor="ctr">
                    <a:solidFill>
                      <a:srgbClr val="FFFFFF"/>
                    </a:solidFill>
                  </a:tcPr>
                </a:tc>
                <a:tc>
                  <a:txBody>
                    <a:bodyPr wrap="square"/>
                    <a:lstStyle/>
                    <a:p>
                      <a:r>
                        <a:rPr b="0" sz="1100" i="0">
                          <a:solidFill>
                            <a:srgbClr val="1A2233"/>
                          </a:solidFill>
                          <a:latin typeface="Calibri"/>
                        </a:rPr>
                        <a:t>Courts have enforced the consent requirement; check current law and equitable-mortgage position</a:t>
                      </a:r>
                    </a:p>
                  </a:txBody>
                  <a:tcPr marL="64008" marR="64008" marT="27432" marB="27432" anchor="ctr">
                    <a:solidFill>
                      <a:srgbClr val="FFFFFF"/>
                    </a:solidFill>
                  </a:tcPr>
                </a:tc>
              </a:tr>
              <a:tr h="808228">
                <a:tc>
                  <a:txBody>
                    <a:bodyPr wrap="square"/>
                    <a:lstStyle/>
                    <a:p>
                      <a:r>
                        <a:rPr b="1" sz="1100" i="0">
                          <a:solidFill>
                            <a:srgbClr val="1A2233"/>
                          </a:solidFill>
                          <a:latin typeface="Calibri"/>
                        </a:rPr>
                        <a:t>Company assets (fixed and floating charges)</a:t>
                      </a:r>
                    </a:p>
                  </a:txBody>
                  <a:tcPr marL="64008" marR="64008" marT="27432" marB="27432" anchor="ctr">
                    <a:solidFill>
                      <a:srgbClr val="F3F6F9"/>
                    </a:solidFill>
                  </a:tcPr>
                </a:tc>
                <a:tc>
                  <a:txBody>
                    <a:bodyPr wrap="square"/>
                    <a:lstStyle/>
                    <a:p>
                      <a:r>
                        <a:rPr b="0" sz="1100" i="0">
                          <a:solidFill>
                            <a:srgbClr val="1A2233"/>
                          </a:solidFill>
                          <a:latin typeface="Calibri"/>
                        </a:rPr>
                        <a:t>Register the charge with the Corporate Affairs Commission within the statutory period (90 days under the earlier Act; CAMA 2020 carries the regime forward with changes, including registration of negative pledges and capped fees)</a:t>
                      </a:r>
                    </a:p>
                  </a:txBody>
                  <a:tcPr marL="64008" marR="64008" marT="27432" marB="27432" anchor="ctr">
                    <a:solidFill>
                      <a:srgbClr val="F3F6F9"/>
                    </a:solidFill>
                  </a:tcPr>
                </a:tc>
                <a:tc>
                  <a:txBody>
                    <a:bodyPr wrap="square"/>
                    <a:lstStyle/>
                    <a:p>
                      <a:r>
                        <a:rPr b="0" sz="1100" i="0">
                          <a:solidFill>
                            <a:srgbClr val="1A2233"/>
                          </a:solidFill>
                          <a:latin typeface="Calibri"/>
                        </a:rPr>
                        <a:t>Late registration can make the charge void against a liquidator and other creditors</a:t>
                      </a:r>
                    </a:p>
                  </a:txBody>
                  <a:tcPr marL="64008" marR="64008" marT="27432" marB="27432" anchor="ctr">
                    <a:solidFill>
                      <a:srgbClr val="F3F6F9"/>
                    </a:solidFill>
                  </a:tcPr>
                </a:tc>
              </a:tr>
              <a:tr h="633603">
                <a:tc>
                  <a:txBody>
                    <a:bodyPr wrap="square"/>
                    <a:lstStyle/>
                    <a:p>
                      <a:r>
                        <a:rPr b="1" sz="1100" i="0">
                          <a:solidFill>
                            <a:srgbClr val="1A2233"/>
                          </a:solidFill>
                          <a:latin typeface="Calibri"/>
                        </a:rPr>
                        <a:t>Movable assets (e.g. equipment, receivables)</a:t>
                      </a:r>
                    </a:p>
                  </a:txBody>
                  <a:tcPr marL="64008" marR="64008" marT="27432" marB="27432" anchor="ctr">
                    <a:solidFill>
                      <a:srgbClr val="FFFFFF"/>
                    </a:solidFill>
                  </a:tcPr>
                </a:tc>
                <a:tc>
                  <a:txBody>
                    <a:bodyPr wrap="square"/>
                    <a:lstStyle/>
                    <a:p>
                      <a:r>
                        <a:rPr b="0" sz="1100" i="0">
                          <a:solidFill>
                            <a:srgbClr val="1A2233"/>
                          </a:solidFill>
                          <a:latin typeface="Calibri"/>
                        </a:rPr>
                        <a:t>File a financing statement on the National Collateral Registry under the Secured Transactions in Movable Assets Act 2017</a:t>
                      </a:r>
                    </a:p>
                  </a:txBody>
                  <a:tcPr marL="64008" marR="64008" marT="27432" marB="27432" anchor="ctr">
                    <a:solidFill>
                      <a:srgbClr val="FFFFFF"/>
                    </a:solidFill>
                  </a:tcPr>
                </a:tc>
                <a:tc>
                  <a:txBody>
                    <a:bodyPr wrap="square"/>
                    <a:lstStyle/>
                    <a:p>
                      <a:r>
                        <a:rPr b="0" sz="1100" i="0">
                          <a:solidFill>
                            <a:srgbClr val="1A2233"/>
                          </a:solidFill>
                          <a:latin typeface="Calibri"/>
                        </a:rPr>
                        <a:t>Registration makes the interest effective against others; priority follows order of registration</a:t>
                      </a:r>
                    </a:p>
                  </a:txBody>
                  <a:tcPr marL="64008" marR="64008" marT="27432" marB="27432" anchor="ctr">
                    <a:solidFill>
                      <a:srgbClr val="FFFFFF"/>
                    </a:solidFill>
                  </a:tcPr>
                </a:tc>
              </a:tr>
            </a:tbl>
          </a:graphicData>
        </a:graphic>
      </p:graphicFrame>
      <p:sp>
        <p:nvSpPr>
          <p:cNvPr id="12" name="Rectangle 11"/>
          <p:cNvSpPr/>
          <p:nvPr/>
        </p:nvSpPr>
        <p:spPr>
          <a:xfrm>
            <a:off x="548640" y="5212080"/>
            <a:ext cx="11064240" cy="822960"/>
          </a:xfrm>
          <a:prstGeom prst="rect">
            <a:avLst/>
          </a:prstGeom>
          <a:solidFill>
            <a:srgbClr val="FCE8E6"/>
          </a:solidFill>
          <a:ln w="15240">
            <a:solidFill>
              <a:srgbClr val="B326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212080"/>
            <a:ext cx="82296" cy="82296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21208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Statute positions are summarised from published commentary and official sources and must be confirmed against the current text with Nigerian counsel before any transaction use.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DIRECT AGREEMENTS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Direct agreements: linking lenders to the project contracts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24325"/>
        </p:xfrm>
        <a:graphic>
          <a:graphicData uri="http://schemas.openxmlformats.org/drawingml/2006/table">
            <a:tbl>
              <a:tblPr firstRow="1" bandRow="1">
                <a:tableStyleId>{5C22544A-7EE6-4342-B048-85BDC9FD1C3A}</a:tableStyleId>
              </a:tblPr>
              <a:tblGrid>
                <a:gridCol w="2926080"/>
                <a:gridCol w="4023360"/>
                <a:gridCol w="4114800"/>
              </a:tblGrid>
              <a:tr h="384048">
                <a:tc>
                  <a:txBody>
                    <a:bodyPr wrap="square"/>
                    <a:lstStyle/>
                    <a:p>
                      <a:r>
                        <a:rPr b="1" sz="1200" i="0">
                          <a:solidFill>
                            <a:srgbClr val="FFFFFF"/>
                          </a:solidFill>
                          <a:latin typeface="Calibri"/>
                        </a:rPr>
                        <a:t>Feature</a:t>
                      </a:r>
                    </a:p>
                  </a:txBody>
                  <a:tcPr marL="64008" marR="64008" marT="27432" marB="27432" anchor="ctr">
                    <a:solidFill>
                      <a:srgbClr val="141B4D"/>
                    </a:solidFill>
                  </a:tcPr>
                </a:tc>
                <a:tc>
                  <a:txBody>
                    <a:bodyPr wrap="square"/>
                    <a:lstStyle/>
                    <a:p>
                      <a:r>
                        <a:rPr b="1" sz="1200" i="0">
                          <a:solidFill>
                            <a:srgbClr val="FFFFFF"/>
                          </a:solidFill>
                          <a:latin typeface="Calibri"/>
                        </a:rPr>
                        <a:t>What it does</a:t>
                      </a:r>
                    </a:p>
                  </a:txBody>
                  <a:tcPr marL="64008" marR="64008" marT="27432" marB="27432" anchor="ctr">
                    <a:solidFill>
                      <a:srgbClr val="141B4D"/>
                    </a:solidFill>
                  </a:tcPr>
                </a:tc>
                <a:tc>
                  <a:txBody>
                    <a:bodyPr wrap="square"/>
                    <a:lstStyle/>
                    <a:p>
                      <a:r>
                        <a:rPr b="1" sz="1200" i="0">
                          <a:solidFill>
                            <a:srgbClr val="FFFFFF"/>
                          </a:solidFill>
                          <a:latin typeface="Calibri"/>
                        </a:rPr>
                        <a:t>Why it matters</a:t>
                      </a:r>
                    </a:p>
                  </a:txBody>
                  <a:tcPr marL="64008" marR="64008" marT="27432" marB="27432" anchor="ctr">
                    <a:solidFill>
                      <a:srgbClr val="141B4D"/>
                    </a:solidFill>
                  </a:tcPr>
                </a:tc>
              </a:tr>
              <a:tr h="490727">
                <a:tc>
                  <a:txBody>
                    <a:bodyPr wrap="square"/>
                    <a:lstStyle/>
                    <a:p>
                      <a:r>
                        <a:rPr b="1" sz="1200" i="0">
                          <a:solidFill>
                            <a:srgbClr val="1A2233"/>
                          </a:solidFill>
                          <a:latin typeface="Calibri"/>
                        </a:rPr>
                        <a:t>Consent to assignment</a:t>
                      </a:r>
                    </a:p>
                  </a:txBody>
                  <a:tcPr marL="64008" marR="64008" marT="27432" marB="27432" anchor="ctr">
                    <a:solidFill>
                      <a:srgbClr val="FFFFFF"/>
                    </a:solidFill>
                  </a:tcPr>
                </a:tc>
                <a:tc>
                  <a:txBody>
                    <a:bodyPr wrap="square"/>
                    <a:lstStyle/>
                    <a:p>
                      <a:r>
                        <a:rPr b="0" sz="1200" i="0">
                          <a:solidFill>
                            <a:srgbClr val="1A2233"/>
                          </a:solidFill>
                          <a:latin typeface="Calibri"/>
                        </a:rPr>
                        <a:t>Counterparty agrees the SPV's rights are assigned to lenders</a:t>
                      </a:r>
                    </a:p>
                  </a:txBody>
                  <a:tcPr marL="64008" marR="64008" marT="27432" marB="27432" anchor="ctr">
                    <a:solidFill>
                      <a:srgbClr val="FFFFFF"/>
                    </a:solidFill>
                  </a:tcPr>
                </a:tc>
                <a:tc>
                  <a:txBody>
                    <a:bodyPr wrap="square"/>
                    <a:lstStyle/>
                    <a:p>
                      <a:r>
                        <a:rPr b="0" sz="1200" i="0">
                          <a:solidFill>
                            <a:srgbClr val="1A2233"/>
                          </a:solidFill>
                          <a:latin typeface="Calibri"/>
                        </a:rPr>
                        <a:t>Counterparty cannot later challenge the assignment</a:t>
                      </a:r>
                    </a:p>
                  </a:txBody>
                  <a:tcPr marL="64008" marR="64008" marT="27432" marB="27432" anchor="ctr">
                    <a:solidFill>
                      <a:srgbClr val="FFFFFF"/>
                    </a:solidFill>
                  </a:tcPr>
                </a:tc>
              </a:tr>
              <a:tr h="490727">
                <a:tc>
                  <a:txBody>
                    <a:bodyPr wrap="square"/>
                    <a:lstStyle/>
                    <a:p>
                      <a:r>
                        <a:rPr b="1" sz="1200" i="0">
                          <a:solidFill>
                            <a:srgbClr val="1A2233"/>
                          </a:solidFill>
                          <a:latin typeface="Calibri"/>
                        </a:rPr>
                        <a:t>Notice of default and cure period</a:t>
                      </a:r>
                    </a:p>
                  </a:txBody>
                  <a:tcPr marL="64008" marR="64008" marT="27432" marB="27432" anchor="ctr">
                    <a:solidFill>
                      <a:srgbClr val="F3F6F9"/>
                    </a:solidFill>
                  </a:tcPr>
                </a:tc>
                <a:tc>
                  <a:txBody>
                    <a:bodyPr wrap="square"/>
                    <a:lstStyle/>
                    <a:p>
                      <a:r>
                        <a:rPr b="0" sz="1200" i="0">
                          <a:solidFill>
                            <a:srgbClr val="1A2233"/>
                          </a:solidFill>
                          <a:latin typeface="Calibri"/>
                        </a:rPr>
                        <a:t>Counterparty must warn lenders before terminating</a:t>
                      </a:r>
                    </a:p>
                  </a:txBody>
                  <a:tcPr marL="64008" marR="64008" marT="27432" marB="27432" anchor="ctr">
                    <a:solidFill>
                      <a:srgbClr val="F3F6F9"/>
                    </a:solidFill>
                  </a:tcPr>
                </a:tc>
                <a:tc>
                  <a:txBody>
                    <a:bodyPr wrap="square"/>
                    <a:lstStyle/>
                    <a:p>
                      <a:r>
                        <a:rPr b="0" sz="1200" i="0">
                          <a:solidFill>
                            <a:srgbClr val="1A2233"/>
                          </a:solidFill>
                          <a:latin typeface="Calibri"/>
                        </a:rPr>
                        <a:t>Lenders get time to fix the problem</a:t>
                      </a:r>
                    </a:p>
                  </a:txBody>
                  <a:tcPr marL="64008" marR="64008" marT="27432" marB="27432" anchor="ctr">
                    <a:solidFill>
                      <a:srgbClr val="F3F6F9"/>
                    </a:solidFill>
                  </a:tcPr>
                </a:tc>
              </a:tr>
              <a:tr h="490727">
                <a:tc>
                  <a:txBody>
                    <a:bodyPr wrap="square"/>
                    <a:lstStyle/>
                    <a:p>
                      <a:r>
                        <a:rPr b="1" sz="1200" i="0">
                          <a:solidFill>
                            <a:srgbClr val="1A2233"/>
                          </a:solidFill>
                          <a:latin typeface="Calibri"/>
                        </a:rPr>
                        <a:t>Step-in rights</a:t>
                      </a:r>
                    </a:p>
                  </a:txBody>
                  <a:tcPr marL="64008" marR="64008" marT="27432" marB="27432" anchor="ctr">
                    <a:solidFill>
                      <a:srgbClr val="FFFFFF"/>
                    </a:solidFill>
                  </a:tcPr>
                </a:tc>
                <a:tc>
                  <a:txBody>
                    <a:bodyPr wrap="square"/>
                    <a:lstStyle/>
                    <a:p>
                      <a:r>
                        <a:rPr b="0" sz="1200" i="0">
                          <a:solidFill>
                            <a:srgbClr val="1A2233"/>
                          </a:solidFill>
                          <a:latin typeface="Calibri"/>
                        </a:rPr>
                        <a:t>Lenders (or a nominee) may take over the SPV's position</a:t>
                      </a:r>
                    </a:p>
                  </a:txBody>
                  <a:tcPr marL="64008" marR="64008" marT="27432" marB="27432" anchor="ctr">
                    <a:solidFill>
                      <a:srgbClr val="FFFFFF"/>
                    </a:solidFill>
                  </a:tcPr>
                </a:tc>
                <a:tc>
                  <a:txBody>
                    <a:bodyPr wrap="square"/>
                    <a:lstStyle/>
                    <a:p>
                      <a:r>
                        <a:rPr b="0" sz="1200" i="0">
                          <a:solidFill>
                            <a:srgbClr val="1A2233"/>
                          </a:solidFill>
                          <a:latin typeface="Calibri"/>
                        </a:rPr>
                        <a:t>Keeps the project running instead of terminating</a:t>
                      </a:r>
                    </a:p>
                  </a:txBody>
                  <a:tcPr marL="64008" marR="64008" marT="27432" marB="27432" anchor="ctr">
                    <a:solidFill>
                      <a:srgbClr val="FFFFFF"/>
                    </a:solidFill>
                  </a:tcPr>
                </a:tc>
              </a:tr>
              <a:tr h="384048">
                <a:tc>
                  <a:txBody>
                    <a:bodyPr wrap="square"/>
                    <a:lstStyle/>
                    <a:p>
                      <a:r>
                        <a:rPr b="1" sz="1200" i="0">
                          <a:solidFill>
                            <a:srgbClr val="1A2233"/>
                          </a:solidFill>
                          <a:latin typeface="Calibri"/>
                        </a:rPr>
                        <a:t>Novation</a:t>
                      </a:r>
                    </a:p>
                  </a:txBody>
                  <a:tcPr marL="64008" marR="64008" marT="27432" marB="27432" anchor="ctr">
                    <a:solidFill>
                      <a:srgbClr val="F3F6F9"/>
                    </a:solidFill>
                  </a:tcPr>
                </a:tc>
                <a:tc>
                  <a:txBody>
                    <a:bodyPr wrap="square"/>
                    <a:lstStyle/>
                    <a:p>
                      <a:r>
                        <a:rPr b="0" sz="1200" i="0">
                          <a:solidFill>
                            <a:srgbClr val="1A2233"/>
                          </a:solidFill>
                          <a:latin typeface="Calibri"/>
                        </a:rPr>
                        <a:t>A substitute company replaces the SPV</a:t>
                      </a:r>
                    </a:p>
                  </a:txBody>
                  <a:tcPr marL="64008" marR="64008" marT="27432" marB="27432" anchor="ctr">
                    <a:solidFill>
                      <a:srgbClr val="F3F6F9"/>
                    </a:solidFill>
                  </a:tcPr>
                </a:tc>
                <a:tc>
                  <a:txBody>
                    <a:bodyPr wrap="square"/>
                    <a:lstStyle/>
                    <a:p>
                      <a:r>
                        <a:rPr b="0" sz="1200" i="0">
                          <a:solidFill>
                            <a:srgbClr val="1A2233"/>
                          </a:solidFill>
                          <a:latin typeface="Calibri"/>
                        </a:rPr>
                        <a:t>Allows a clean transfer to a new owner</a:t>
                      </a:r>
                    </a:p>
                  </a:txBody>
                  <a:tcPr marL="64008" marR="64008" marT="27432" marB="27432" anchor="ctr">
                    <a:solidFill>
                      <a:srgbClr val="F3F6F9"/>
                    </a:solidFill>
                  </a:tcPr>
                </a:tc>
              </a:tr>
              <a:tr h="384048">
                <a:tc>
                  <a:txBody>
                    <a:bodyPr wrap="square"/>
                    <a:lstStyle/>
                    <a:p>
                      <a:r>
                        <a:rPr b="1" sz="1200" i="0">
                          <a:solidFill>
                            <a:srgbClr val="1A2233"/>
                          </a:solidFill>
                          <a:latin typeface="Calibri"/>
                        </a:rPr>
                        <a:t>Payment direction</a:t>
                      </a:r>
                    </a:p>
                  </a:txBody>
                  <a:tcPr marL="64008" marR="64008" marT="27432" marB="27432" anchor="ctr">
                    <a:solidFill>
                      <a:srgbClr val="FFFFFF"/>
                    </a:solidFill>
                  </a:tcPr>
                </a:tc>
                <a:tc>
                  <a:txBody>
                    <a:bodyPr wrap="square"/>
                    <a:lstStyle/>
                    <a:p>
                      <a:r>
                        <a:rPr b="0" sz="1200" i="0">
                          <a:solidFill>
                            <a:srgbClr val="1A2233"/>
                          </a:solidFill>
                          <a:latin typeface="Calibri"/>
                        </a:rPr>
                        <a:t>Counterparty pays into a project account</a:t>
                      </a:r>
                    </a:p>
                  </a:txBody>
                  <a:tcPr marL="64008" marR="64008" marT="27432" marB="27432" anchor="ctr">
                    <a:solidFill>
                      <a:srgbClr val="FFFFFF"/>
                    </a:solidFill>
                  </a:tcPr>
                </a:tc>
                <a:tc>
                  <a:txBody>
                    <a:bodyPr wrap="square"/>
                    <a:lstStyle/>
                    <a:p>
                      <a:r>
                        <a:rPr b="0" sz="1200" i="0">
                          <a:solidFill>
                            <a:srgbClr val="1A2233"/>
                          </a:solidFill>
                          <a:latin typeface="Calibri"/>
                        </a:rPr>
                        <a:t>Cash goes where lenders control it</a:t>
                      </a:r>
                    </a:p>
                  </a:txBody>
                  <a:tcPr marL="64008" marR="64008" marT="27432" marB="27432"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RANKING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Ranking, security trustee and intercreditor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581148"/>
        </p:xfrm>
        <a:graphic>
          <a:graphicData uri="http://schemas.openxmlformats.org/drawingml/2006/table">
            <a:tbl>
              <a:tblPr firstRow="1" bandRow="1">
                <a:tableStyleId>{5C22544A-7EE6-4342-B048-85BDC9FD1C3A}</a:tableStyleId>
              </a:tblPr>
              <a:tblGrid>
                <a:gridCol w="2743200"/>
                <a:gridCol w="3840480"/>
                <a:gridCol w="4480560"/>
              </a:tblGrid>
              <a:tr h="384048">
                <a:tc>
                  <a:txBody>
                    <a:bodyPr wrap="square"/>
                    <a:lstStyle/>
                    <a:p>
                      <a:r>
                        <a:rPr b="1" sz="1300" i="0">
                          <a:solidFill>
                            <a:srgbClr val="FFFFFF"/>
                          </a:solidFill>
                          <a:latin typeface="Calibri"/>
                        </a:rPr>
                        <a:t>Concept</a:t>
                      </a:r>
                    </a:p>
                  </a:txBody>
                  <a:tcPr marL="64008" marR="64008" marT="27432" marB="27432" anchor="ctr">
                    <a:solidFill>
                      <a:srgbClr val="141B4D"/>
                    </a:solidFill>
                  </a:tcPr>
                </a:tc>
                <a:tc>
                  <a:txBody>
                    <a:bodyPr wrap="square"/>
                    <a:lstStyle/>
                    <a:p>
                      <a:r>
                        <a:rPr b="1" sz="1300" i="0">
                          <a:solidFill>
                            <a:srgbClr val="FFFFFF"/>
                          </a:solidFill>
                          <a:latin typeface="Calibri"/>
                        </a:rPr>
                        <a:t>Meaning</a:t>
                      </a:r>
                    </a:p>
                  </a:txBody>
                  <a:tcPr marL="64008" marR="64008" marT="27432" marB="27432" anchor="ctr">
                    <a:solidFill>
                      <a:srgbClr val="141B4D"/>
                    </a:solidFill>
                  </a:tcPr>
                </a:tc>
                <a:tc>
                  <a:txBody>
                    <a:bodyPr wrap="square"/>
                    <a:lstStyle/>
                    <a:p>
                      <a:r>
                        <a:rPr b="1" sz="1300" i="0">
                          <a:solidFill>
                            <a:srgbClr val="FFFFFF"/>
                          </a:solidFill>
                          <a:latin typeface="Calibri"/>
                        </a:rPr>
                        <a:t>Example</a:t>
                      </a:r>
                    </a:p>
                  </a:txBody>
                  <a:tcPr marL="64008" marR="64008" marT="27432" marB="27432" anchor="ctr">
                    <a:solidFill>
                      <a:srgbClr val="141B4D"/>
                    </a:solidFill>
                  </a:tcPr>
                </a:tc>
              </a:tr>
              <a:tr h="384048">
                <a:tc>
                  <a:txBody>
                    <a:bodyPr wrap="square"/>
                    <a:lstStyle/>
                    <a:p>
                      <a:r>
                        <a:rPr b="1" sz="1300" i="0">
                          <a:solidFill>
                            <a:srgbClr val="1A2233"/>
                          </a:solidFill>
                          <a:latin typeface="Calibri"/>
                        </a:rPr>
                        <a:t>Pari passu</a:t>
                      </a:r>
                    </a:p>
                  </a:txBody>
                  <a:tcPr marL="64008" marR="64008" marT="27432" marB="27432" anchor="ctr">
                    <a:solidFill>
                      <a:srgbClr val="FFFFFF"/>
                    </a:solidFill>
                  </a:tcPr>
                </a:tc>
                <a:tc>
                  <a:txBody>
                    <a:bodyPr wrap="square"/>
                    <a:lstStyle/>
                    <a:p>
                      <a:r>
                        <a:rPr b="0" sz="1300" i="0">
                          <a:solidFill>
                            <a:srgbClr val="1A2233"/>
                          </a:solidFill>
                          <a:latin typeface="Calibri"/>
                        </a:rPr>
                        <a:t>Equal ranking</a:t>
                      </a:r>
                    </a:p>
                  </a:txBody>
                  <a:tcPr marL="64008" marR="64008" marT="27432" marB="27432" anchor="ctr">
                    <a:solidFill>
                      <a:srgbClr val="FFFFFF"/>
                    </a:solidFill>
                  </a:tcPr>
                </a:tc>
                <a:tc>
                  <a:txBody>
                    <a:bodyPr wrap="square"/>
                    <a:lstStyle/>
                    <a:p>
                      <a:r>
                        <a:rPr b="0" sz="1300" i="0">
                          <a:solidFill>
                            <a:srgbClr val="1A2233"/>
                          </a:solidFill>
                          <a:latin typeface="Calibri"/>
                        </a:rPr>
                        <a:t>Two senior lenders share losses pro rata</a:t>
                      </a:r>
                    </a:p>
                  </a:txBody>
                  <a:tcPr marL="64008" marR="64008" marT="27432" marB="27432" anchor="ctr">
                    <a:solidFill>
                      <a:srgbClr val="FFFFFF"/>
                    </a:solidFill>
                  </a:tcPr>
                </a:tc>
              </a:tr>
              <a:tr h="384048">
                <a:tc>
                  <a:txBody>
                    <a:bodyPr wrap="square"/>
                    <a:lstStyle/>
                    <a:p>
                      <a:r>
                        <a:rPr b="1" sz="1300" i="0">
                          <a:solidFill>
                            <a:srgbClr val="1A2233"/>
                          </a:solidFill>
                          <a:latin typeface="Calibri"/>
                        </a:rPr>
                        <a:t>Senior / subordinated</a:t>
                      </a:r>
                    </a:p>
                  </a:txBody>
                  <a:tcPr marL="64008" marR="64008" marT="27432" marB="27432" anchor="ctr">
                    <a:solidFill>
                      <a:srgbClr val="F3F6F9"/>
                    </a:solidFill>
                  </a:tcPr>
                </a:tc>
                <a:tc>
                  <a:txBody>
                    <a:bodyPr wrap="square"/>
                    <a:lstStyle/>
                    <a:p>
                      <a:r>
                        <a:rPr b="0" sz="1300" i="0">
                          <a:solidFill>
                            <a:srgbClr val="1A2233"/>
                          </a:solidFill>
                          <a:latin typeface="Calibri"/>
                        </a:rPr>
                        <a:t>Senior is paid first</a:t>
                      </a:r>
                    </a:p>
                  </a:txBody>
                  <a:tcPr marL="64008" marR="64008" marT="27432" marB="27432" anchor="ctr">
                    <a:solidFill>
                      <a:srgbClr val="F3F6F9"/>
                    </a:solidFill>
                  </a:tcPr>
                </a:tc>
                <a:tc>
                  <a:txBody>
                    <a:bodyPr wrap="square"/>
                    <a:lstStyle/>
                    <a:p>
                      <a:r>
                        <a:rPr b="0" sz="1300" i="0">
                          <a:solidFill>
                            <a:srgbClr val="1A2233"/>
                          </a:solidFill>
                          <a:latin typeface="Calibri"/>
                        </a:rPr>
                        <a:t>Shareholder loan is subordinated to senior debt</a:t>
                      </a:r>
                    </a:p>
                  </a:txBody>
                  <a:tcPr marL="64008" marR="64008" marT="27432" marB="27432" anchor="ctr">
                    <a:solidFill>
                      <a:srgbClr val="F3F6F9"/>
                    </a:solidFill>
                  </a:tcPr>
                </a:tc>
              </a:tr>
              <a:tr h="522478">
                <a:tc>
                  <a:txBody>
                    <a:bodyPr wrap="square"/>
                    <a:lstStyle/>
                    <a:p>
                      <a:r>
                        <a:rPr b="1" sz="1300" i="0">
                          <a:solidFill>
                            <a:srgbClr val="1A2233"/>
                          </a:solidFill>
                          <a:latin typeface="Calibri"/>
                        </a:rPr>
                        <a:t>Security trustee</a:t>
                      </a:r>
                    </a:p>
                  </a:txBody>
                  <a:tcPr marL="64008" marR="64008" marT="27432" marB="27432" anchor="ctr">
                    <a:solidFill>
                      <a:srgbClr val="FFFFFF"/>
                    </a:solidFill>
                  </a:tcPr>
                </a:tc>
                <a:tc>
                  <a:txBody>
                    <a:bodyPr wrap="square"/>
                    <a:lstStyle/>
                    <a:p>
                      <a:r>
                        <a:rPr b="0" sz="1300" i="0">
                          <a:solidFill>
                            <a:srgbClr val="1A2233"/>
                          </a:solidFill>
                          <a:latin typeface="Calibri"/>
                        </a:rPr>
                        <a:t>One entity holds security for all lenders</a:t>
                      </a:r>
                    </a:p>
                  </a:txBody>
                  <a:tcPr marL="64008" marR="64008" marT="27432" marB="27432" anchor="ctr">
                    <a:solidFill>
                      <a:srgbClr val="FFFFFF"/>
                    </a:solidFill>
                  </a:tcPr>
                </a:tc>
                <a:tc>
                  <a:txBody>
                    <a:bodyPr wrap="square"/>
                    <a:lstStyle/>
                    <a:p>
                      <a:r>
                        <a:rPr b="0" sz="1300" i="0">
                          <a:solidFill>
                            <a:srgbClr val="1A2233"/>
                          </a:solidFill>
                          <a:latin typeface="Calibri"/>
                        </a:rPr>
                        <a:t>Avoids registering many mortgages; speeds enforcement</a:t>
                      </a:r>
                    </a:p>
                  </a:txBody>
                  <a:tcPr marL="64008" marR="64008" marT="27432" marB="27432" anchor="ctr">
                    <a:solidFill>
                      <a:srgbClr val="FFFFFF"/>
                    </a:solidFill>
                  </a:tcPr>
                </a:tc>
              </a:tr>
              <a:tr h="384048">
                <a:tc>
                  <a:txBody>
                    <a:bodyPr wrap="square"/>
                    <a:lstStyle/>
                    <a:p>
                      <a:r>
                        <a:rPr b="1" sz="1300" i="0">
                          <a:solidFill>
                            <a:srgbClr val="1A2233"/>
                          </a:solidFill>
                          <a:latin typeface="Calibri"/>
                        </a:rPr>
                        <a:t>Intercreditor agreement</a:t>
                      </a:r>
                    </a:p>
                  </a:txBody>
                  <a:tcPr marL="64008" marR="64008" marT="27432" marB="27432" anchor="ctr">
                    <a:solidFill>
                      <a:srgbClr val="F3F6F9"/>
                    </a:solidFill>
                  </a:tcPr>
                </a:tc>
                <a:tc>
                  <a:txBody>
                    <a:bodyPr wrap="square"/>
                    <a:lstStyle/>
                    <a:p>
                      <a:r>
                        <a:rPr b="0" sz="1300" i="0">
                          <a:solidFill>
                            <a:srgbClr val="1A2233"/>
                          </a:solidFill>
                          <a:latin typeface="Calibri"/>
                        </a:rPr>
                        <a:t>Rules between lenders</a:t>
                      </a:r>
                    </a:p>
                  </a:txBody>
                  <a:tcPr marL="64008" marR="64008" marT="27432" marB="27432" anchor="ctr">
                    <a:solidFill>
                      <a:srgbClr val="F3F6F9"/>
                    </a:solidFill>
                  </a:tcPr>
                </a:tc>
                <a:tc>
                  <a:txBody>
                    <a:bodyPr wrap="square"/>
                    <a:lstStyle/>
                    <a:p>
                      <a:r>
                        <a:rPr b="0" sz="1300" i="0">
                          <a:solidFill>
                            <a:srgbClr val="1A2233"/>
                          </a:solidFill>
                          <a:latin typeface="Calibri"/>
                        </a:rPr>
                        <a:t>Voting, standstill, enforcement decisions</a:t>
                      </a:r>
                    </a:p>
                  </a:txBody>
                  <a:tcPr marL="64008" marR="64008" marT="27432" marB="27432" anchor="ctr">
                    <a:solidFill>
                      <a:srgbClr val="F3F6F9"/>
                    </a:solidFill>
                  </a:tcPr>
                </a:tc>
              </a:tr>
              <a:tr h="522478">
                <a:tc>
                  <a:txBody>
                    <a:bodyPr wrap="square"/>
                    <a:lstStyle/>
                    <a:p>
                      <a:r>
                        <a:rPr b="1" sz="1300" i="0">
                          <a:solidFill>
                            <a:srgbClr val="1A2233"/>
                          </a:solidFill>
                          <a:latin typeface="Calibri"/>
                        </a:rPr>
                        <a:t>Accounts waterfall</a:t>
                      </a:r>
                    </a:p>
                  </a:txBody>
                  <a:tcPr marL="64008" marR="64008" marT="27432" marB="27432" anchor="ctr">
                    <a:solidFill>
                      <a:srgbClr val="FFFFFF"/>
                    </a:solidFill>
                  </a:tcPr>
                </a:tc>
                <a:tc>
                  <a:txBody>
                    <a:bodyPr wrap="square"/>
                    <a:lstStyle/>
                    <a:p>
                      <a:r>
                        <a:rPr b="0" sz="1300" i="0">
                          <a:solidFill>
                            <a:srgbClr val="1A2233"/>
                          </a:solidFill>
                          <a:latin typeface="Calibri"/>
                        </a:rPr>
                        <a:t>Order of cash use</a:t>
                      </a:r>
                    </a:p>
                  </a:txBody>
                  <a:tcPr marL="64008" marR="64008" marT="27432" marB="27432" anchor="ctr">
                    <a:solidFill>
                      <a:srgbClr val="FFFFFF"/>
                    </a:solidFill>
                  </a:tcPr>
                </a:tc>
                <a:tc>
                  <a:txBody>
                    <a:bodyPr wrap="square"/>
                    <a:lstStyle/>
                    <a:p>
                      <a:r>
                        <a:rPr b="0" sz="1300" i="0">
                          <a:solidFill>
                            <a:srgbClr val="1A2233"/>
                          </a:solidFill>
                          <a:latin typeface="Calibri"/>
                        </a:rPr>
                        <a:t>Opex → senior debt service → DSRA → subordinated → dividends</a:t>
                      </a:r>
                    </a:p>
                  </a:txBody>
                  <a:tcPr marL="64008" marR="64008" marT="27432" marB="27432" anchor="ctr">
                    <a:solidFill>
                      <a:srgbClr val="FFFFFF"/>
                    </a:solidFill>
                  </a:tcPr>
                </a:tc>
              </a:tr>
            </a:tbl>
          </a:graphicData>
        </a:graphic>
      </p:graphicFrame>
      <p:sp>
        <p:nvSpPr>
          <p:cNvPr id="12" name="Rectangle 11"/>
          <p:cNvSpPr/>
          <p:nvPr/>
        </p:nvSpPr>
        <p:spPr>
          <a:xfrm>
            <a:off x="548640" y="429768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9768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976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model's cash waterfall (Day 7) is the legal waterfall in numbers.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2.2: Match each risk to the security that answers it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Match the lender worry on the left to the best instrument on the right.</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A. Sponsors might sell the SPV to a weak buyer → ?</a:t>
            </a:r>
          </a:p>
          <a:p>
            <a:pPr>
              <a:spcAft>
                <a:spcPts val="300"/>
              </a:spcAft>
            </a:pPr>
            <a:r>
              <a:rPr b="0" sz="1500" i="0">
                <a:solidFill>
                  <a:srgbClr val="1A2233"/>
                </a:solidFill>
                <a:latin typeface="Calibri"/>
              </a:rPr>
              <a:t>2.  B. Offtaker pays into the wrong account → ?</a:t>
            </a:r>
          </a:p>
          <a:p>
            <a:pPr>
              <a:spcAft>
                <a:spcPts val="300"/>
              </a:spcAft>
            </a:pPr>
            <a:r>
              <a:rPr b="0" sz="1500" i="0">
                <a:solidFill>
                  <a:srgbClr val="1A2233"/>
                </a:solidFill>
                <a:latin typeface="Calibri"/>
              </a:rPr>
              <a:t>3.  C. Counterparty terminates the PPA suddenly → ?</a:t>
            </a:r>
          </a:p>
          <a:p>
            <a:pPr>
              <a:spcAft>
                <a:spcPts val="300"/>
              </a:spcAft>
            </a:pPr>
            <a:r>
              <a:rPr b="0" sz="1500" i="0">
                <a:solidFill>
                  <a:srgbClr val="1A2233"/>
                </a:solidFill>
                <a:latin typeface="Calibri"/>
              </a:rPr>
              <a:t>4.  D. Equipment is sold to a third party → ?</a:t>
            </a:r>
          </a:p>
          <a:p>
            <a:pPr>
              <a:spcAft>
                <a:spcPts val="300"/>
              </a:spcAft>
            </a:pPr>
            <a:r>
              <a:rPr b="0" sz="1500" i="0">
                <a:solidFill>
                  <a:srgbClr val="1A2233"/>
                </a:solidFill>
                <a:latin typeface="Calibri"/>
              </a:rPr>
              <a:t>5.  E. A second lender takes a charge over the same asset → ?</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10 min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27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11.30 – 12.45</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4: Negotiation and risk allocation</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Who bears each risk, and in which clause?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Negotiation in project finance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A financing is negotiated between parties with different interests. Sponsors want low cost, flexibility and limited recourse. Lenders want predictability and control. Offtakers want low prices. Each clause moves risk from one party to another, and each shift changes the model.</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Start with the term sheet: price, tenor, security, key covenants</a:t>
            </a:r>
          </a:p>
          <a:p>
            <a:pPr algn="l"/>
            <a:r>
              <a:rPr b="0" sz="1600" i="0">
                <a:solidFill>
                  <a:srgbClr val="1A2233"/>
                </a:solidFill>
                <a:latin typeface="Calibri"/>
              </a:rPr>
              <a:t>Move to documents: the lawyers turn the term sheet into clauses</a:t>
            </a:r>
          </a:p>
          <a:p>
            <a:pPr algn="l"/>
            <a:r>
              <a:rPr b="0" sz="1600" i="0">
                <a:solidFill>
                  <a:srgbClr val="1A2233"/>
                </a:solidFill>
                <a:latin typeface="Calibri"/>
              </a:rPr>
              <a:t>Resolve with trade-offs: concede low-value points to win high-value ones</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Know your walk-away point (best alternative) and the other side's interests before you start.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RISK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Risk allocation: legal instruments for each risk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22244"/>
        </p:xfrm>
        <a:graphic>
          <a:graphicData uri="http://schemas.openxmlformats.org/drawingml/2006/table">
            <a:tbl>
              <a:tblPr firstRow="1" bandRow="1">
                <a:tableStyleId>{5C22544A-7EE6-4342-B048-85BDC9FD1C3A}</a:tableStyleId>
              </a:tblPr>
              <a:tblGrid>
                <a:gridCol w="2468880"/>
                <a:gridCol w="3017520"/>
                <a:gridCol w="5577840"/>
              </a:tblGrid>
              <a:tr h="329184">
                <a:tc>
                  <a:txBody>
                    <a:bodyPr wrap="square"/>
                    <a:lstStyle/>
                    <a:p>
                      <a:r>
                        <a:rPr b="1" sz="1100" i="0">
                          <a:solidFill>
                            <a:srgbClr val="FFFFFF"/>
                          </a:solidFill>
                          <a:latin typeface="Calibri"/>
                        </a:rPr>
                        <a:t>Risk</a:t>
                      </a:r>
                    </a:p>
                  </a:txBody>
                  <a:tcPr marL="64008" marR="64008" marT="27432" marB="27432" anchor="ctr">
                    <a:solidFill>
                      <a:srgbClr val="141B4D"/>
                    </a:solidFill>
                  </a:tcPr>
                </a:tc>
                <a:tc>
                  <a:txBody>
                    <a:bodyPr wrap="square"/>
                    <a:lstStyle/>
                    <a:p>
                      <a:r>
                        <a:rPr b="1" sz="1100" i="0">
                          <a:solidFill>
                            <a:srgbClr val="FFFFFF"/>
                          </a:solidFill>
                          <a:latin typeface="Calibri"/>
                        </a:rPr>
                        <a:t>Primary holder</a:t>
                      </a:r>
                    </a:p>
                  </a:txBody>
                  <a:tcPr marL="64008" marR="64008" marT="27432" marB="27432" anchor="ctr">
                    <a:solidFill>
                      <a:srgbClr val="141B4D"/>
                    </a:solidFill>
                  </a:tcPr>
                </a:tc>
                <a:tc>
                  <a:txBody>
                    <a:bodyPr wrap="square"/>
                    <a:lstStyle/>
                    <a:p>
                      <a:r>
                        <a:rPr b="1" sz="1100" i="0">
                          <a:solidFill>
                            <a:srgbClr val="FFFFFF"/>
                          </a:solidFill>
                          <a:latin typeface="Calibri"/>
                        </a:rPr>
                        <a:t>Instrument in the documents</a:t>
                      </a:r>
                    </a:p>
                  </a:txBody>
                  <a:tcPr marL="64008" marR="64008" marT="27432" marB="27432" anchor="ctr">
                    <a:solidFill>
                      <a:srgbClr val="141B4D"/>
                    </a:solidFill>
                  </a:tcPr>
                </a:tc>
              </a:tr>
              <a:tr h="458978">
                <a:tc>
                  <a:txBody>
                    <a:bodyPr wrap="square"/>
                    <a:lstStyle/>
                    <a:p>
                      <a:r>
                        <a:rPr b="1" sz="1100" i="0">
                          <a:solidFill>
                            <a:srgbClr val="1A2233"/>
                          </a:solidFill>
                          <a:latin typeface="Calibri"/>
                        </a:rPr>
                        <a:t>Construction cost and delay</a:t>
                      </a:r>
                    </a:p>
                  </a:txBody>
                  <a:tcPr marL="64008" marR="64008" marT="27432" marB="27432" anchor="ctr">
                    <a:solidFill>
                      <a:srgbClr val="FFFFFF"/>
                    </a:solidFill>
                  </a:tcPr>
                </a:tc>
                <a:tc>
                  <a:txBody>
                    <a:bodyPr wrap="square"/>
                    <a:lstStyle/>
                    <a:p>
                      <a:r>
                        <a:rPr b="0" sz="1100" i="0">
                          <a:solidFill>
                            <a:srgbClr val="1A2233"/>
                          </a:solidFill>
                          <a:latin typeface="Calibri"/>
                        </a:rPr>
                        <a:t>EPC contractor (then sponsors)</a:t>
                      </a:r>
                    </a:p>
                  </a:txBody>
                  <a:tcPr marL="64008" marR="64008" marT="27432" marB="27432" anchor="ctr">
                    <a:solidFill>
                      <a:srgbClr val="FFFFFF"/>
                    </a:solidFill>
                  </a:tcPr>
                </a:tc>
                <a:tc>
                  <a:txBody>
                    <a:bodyPr wrap="square"/>
                    <a:lstStyle/>
                    <a:p>
                      <a:r>
                        <a:rPr b="0" sz="1100" i="0">
                          <a:solidFill>
                            <a:srgbClr val="1A2233"/>
                          </a:solidFill>
                          <a:latin typeface="Calibri"/>
                        </a:rPr>
                        <a:t>Fixed-price date-certain EPC, liquidated damages, performance bond, completion guarantee</a:t>
                      </a:r>
                    </a:p>
                  </a:txBody>
                  <a:tcPr marL="64008" marR="64008" marT="27432" marB="27432" anchor="ctr">
                    <a:solidFill>
                      <a:srgbClr val="FFFFFF"/>
                    </a:solidFill>
                  </a:tcPr>
                </a:tc>
              </a:tr>
              <a:tr h="329184">
                <a:tc>
                  <a:txBody>
                    <a:bodyPr wrap="square"/>
                    <a:lstStyle/>
                    <a:p>
                      <a:r>
                        <a:rPr b="1" sz="1100" i="0">
                          <a:solidFill>
                            <a:srgbClr val="1A2233"/>
                          </a:solidFill>
                          <a:latin typeface="Calibri"/>
                        </a:rPr>
                        <a:t>Operating performance</a:t>
                      </a:r>
                    </a:p>
                  </a:txBody>
                  <a:tcPr marL="64008" marR="64008" marT="27432" marB="27432" anchor="ctr">
                    <a:solidFill>
                      <a:srgbClr val="F3F6F9"/>
                    </a:solidFill>
                  </a:tcPr>
                </a:tc>
                <a:tc>
                  <a:txBody>
                    <a:bodyPr wrap="square"/>
                    <a:lstStyle/>
                    <a:p>
                      <a:r>
                        <a:rPr b="0" sz="1100" i="0">
                          <a:solidFill>
                            <a:srgbClr val="1A2233"/>
                          </a:solidFill>
                          <a:latin typeface="Calibri"/>
                        </a:rPr>
                        <a:t>O&amp;M operator / SPV</a:t>
                      </a:r>
                    </a:p>
                  </a:txBody>
                  <a:tcPr marL="64008" marR="64008" marT="27432" marB="27432" anchor="ctr">
                    <a:solidFill>
                      <a:srgbClr val="F3F6F9"/>
                    </a:solidFill>
                  </a:tcPr>
                </a:tc>
                <a:tc>
                  <a:txBody>
                    <a:bodyPr wrap="square"/>
                    <a:lstStyle/>
                    <a:p>
                      <a:r>
                        <a:rPr b="0" sz="1100" i="0">
                          <a:solidFill>
                            <a:srgbClr val="1A2233"/>
                          </a:solidFill>
                          <a:latin typeface="Calibri"/>
                        </a:rPr>
                        <a:t>O&amp;M agreement with performance guarantees</a:t>
                      </a:r>
                    </a:p>
                  </a:txBody>
                  <a:tcPr marL="64008" marR="64008" marT="27432" marB="27432" anchor="ctr">
                    <a:solidFill>
                      <a:srgbClr val="F3F6F9"/>
                    </a:solidFill>
                  </a:tcPr>
                </a:tc>
              </a:tr>
              <a:tr h="329184">
                <a:tc>
                  <a:txBody>
                    <a:bodyPr wrap="square"/>
                    <a:lstStyle/>
                    <a:p>
                      <a:r>
                        <a:rPr b="1" sz="1100" i="0">
                          <a:solidFill>
                            <a:srgbClr val="1A2233"/>
                          </a:solidFill>
                          <a:latin typeface="Calibri"/>
                        </a:rPr>
                        <a:t>Offtaker payment</a:t>
                      </a:r>
                    </a:p>
                  </a:txBody>
                  <a:tcPr marL="64008" marR="64008" marT="27432" marB="27432" anchor="ctr">
                    <a:solidFill>
                      <a:srgbClr val="FFFFFF"/>
                    </a:solidFill>
                  </a:tcPr>
                </a:tc>
                <a:tc>
                  <a:txBody>
                    <a:bodyPr wrap="square"/>
                    <a:lstStyle/>
                    <a:p>
                      <a:r>
                        <a:rPr b="0" sz="1100" i="0">
                          <a:solidFill>
                            <a:srgbClr val="1A2233"/>
                          </a:solidFill>
                          <a:latin typeface="Calibri"/>
                        </a:rPr>
                        <a:t>Offtaker, backed by a guarantor</a:t>
                      </a:r>
                    </a:p>
                  </a:txBody>
                  <a:tcPr marL="64008" marR="64008" marT="27432" marB="27432" anchor="ctr">
                    <a:solidFill>
                      <a:srgbClr val="FFFFFF"/>
                    </a:solidFill>
                  </a:tcPr>
                </a:tc>
                <a:tc>
                  <a:txBody>
                    <a:bodyPr wrap="square"/>
                    <a:lstStyle/>
                    <a:p>
                      <a:r>
                        <a:rPr b="0" sz="1100" i="0">
                          <a:solidFill>
                            <a:srgbClr val="1A2233"/>
                          </a:solidFill>
                          <a:latin typeface="Calibri"/>
                        </a:rPr>
                        <a:t>Take-or-pay PPA, letter of credit, escrow, government support agreement</a:t>
                      </a:r>
                    </a:p>
                  </a:txBody>
                  <a:tcPr marL="64008" marR="64008" marT="27432" marB="27432" anchor="ctr">
                    <a:solidFill>
                      <a:srgbClr val="FFFFFF"/>
                    </a:solidFill>
                  </a:tcPr>
                </a:tc>
              </a:tr>
              <a:tr h="458978">
                <a:tc>
                  <a:txBody>
                    <a:bodyPr wrap="square"/>
                    <a:lstStyle/>
                    <a:p>
                      <a:r>
                        <a:rPr b="1" sz="1100" i="0">
                          <a:solidFill>
                            <a:srgbClr val="1A2233"/>
                          </a:solidFill>
                          <a:latin typeface="Calibri"/>
                        </a:rPr>
                        <a:t>Currency</a:t>
                      </a:r>
                    </a:p>
                  </a:txBody>
                  <a:tcPr marL="64008" marR="64008" marT="27432" marB="27432" anchor="ctr">
                    <a:solidFill>
                      <a:srgbClr val="F3F6F9"/>
                    </a:solidFill>
                  </a:tcPr>
                </a:tc>
                <a:tc>
                  <a:txBody>
                    <a:bodyPr wrap="square"/>
                    <a:lstStyle/>
                    <a:p>
                      <a:r>
                        <a:rPr b="0" sz="1100" i="0">
                          <a:solidFill>
                            <a:srgbClr val="1A2233"/>
                          </a:solidFill>
                          <a:latin typeface="Calibri"/>
                        </a:rPr>
                        <a:t>Offtaker (tariff pass-through) or lenders</a:t>
                      </a:r>
                    </a:p>
                  </a:txBody>
                  <a:tcPr marL="64008" marR="64008" marT="27432" marB="27432" anchor="ctr">
                    <a:solidFill>
                      <a:srgbClr val="F3F6F9"/>
                    </a:solidFill>
                  </a:tcPr>
                </a:tc>
                <a:tc>
                  <a:txBody>
                    <a:bodyPr wrap="square"/>
                    <a:lstStyle/>
                    <a:p>
                      <a:r>
                        <a:rPr b="0" sz="1100" i="0">
                          <a:solidFill>
                            <a:srgbClr val="1A2233"/>
                          </a:solidFill>
                          <a:latin typeface="Calibri"/>
                        </a:rPr>
                        <a:t>Tariff indexation, local-currency loan, hedging</a:t>
                      </a:r>
                    </a:p>
                  </a:txBody>
                  <a:tcPr marL="64008" marR="64008" marT="27432" marB="27432" anchor="ctr">
                    <a:solidFill>
                      <a:srgbClr val="F3F6F9"/>
                    </a:solidFill>
                  </a:tcPr>
                </a:tc>
              </a:tr>
              <a:tr h="329184">
                <a:tc>
                  <a:txBody>
                    <a:bodyPr wrap="square"/>
                    <a:lstStyle/>
                    <a:p>
                      <a:r>
                        <a:rPr b="1" sz="1100" i="0">
                          <a:solidFill>
                            <a:srgbClr val="1A2233"/>
                          </a:solidFill>
                          <a:latin typeface="Calibri"/>
                        </a:rPr>
                        <a:t>Change in law</a:t>
                      </a:r>
                    </a:p>
                  </a:txBody>
                  <a:tcPr marL="64008" marR="64008" marT="27432" marB="27432" anchor="ctr">
                    <a:solidFill>
                      <a:srgbClr val="FFFFFF"/>
                    </a:solidFill>
                  </a:tcPr>
                </a:tc>
                <a:tc>
                  <a:txBody>
                    <a:bodyPr wrap="square"/>
                    <a:lstStyle/>
                    <a:p>
                      <a:r>
                        <a:rPr b="0" sz="1100" i="0">
                          <a:solidFill>
                            <a:srgbClr val="1A2233"/>
                          </a:solidFill>
                          <a:latin typeface="Calibri"/>
                        </a:rPr>
                        <a:t>Government / offtaker</a:t>
                      </a:r>
                    </a:p>
                  </a:txBody>
                  <a:tcPr marL="64008" marR="64008" marT="27432" marB="27432" anchor="ctr">
                    <a:solidFill>
                      <a:srgbClr val="FFFFFF"/>
                    </a:solidFill>
                  </a:tcPr>
                </a:tc>
                <a:tc>
                  <a:txBody>
                    <a:bodyPr wrap="square"/>
                    <a:lstStyle/>
                    <a:p>
                      <a:r>
                        <a:rPr b="0" sz="1100" i="0">
                          <a:solidFill>
                            <a:srgbClr val="1A2233"/>
                          </a:solidFill>
                          <a:latin typeface="Calibri"/>
                        </a:rPr>
                        <a:t>Change-in-law clause with tariff adjustment or compensation</a:t>
                      </a:r>
                    </a:p>
                  </a:txBody>
                  <a:tcPr marL="64008" marR="64008" marT="27432" marB="27432" anchor="ctr">
                    <a:solidFill>
                      <a:srgbClr val="FFFFFF"/>
                    </a:solidFill>
                  </a:tcPr>
                </a:tc>
              </a:tr>
              <a:tr h="329184">
                <a:tc>
                  <a:txBody>
                    <a:bodyPr wrap="square"/>
                    <a:lstStyle/>
                    <a:p>
                      <a:r>
                        <a:rPr b="1" sz="1100" i="0">
                          <a:solidFill>
                            <a:srgbClr val="1A2233"/>
                          </a:solidFill>
                          <a:latin typeface="Calibri"/>
                        </a:rPr>
                        <a:t>Political and expropriation</a:t>
                      </a:r>
                    </a:p>
                  </a:txBody>
                  <a:tcPr marL="64008" marR="64008" marT="27432" marB="27432" anchor="ctr">
                    <a:solidFill>
                      <a:srgbClr val="F3F6F9"/>
                    </a:solidFill>
                  </a:tcPr>
                </a:tc>
                <a:tc>
                  <a:txBody>
                    <a:bodyPr wrap="square"/>
                    <a:lstStyle/>
                    <a:p>
                      <a:r>
                        <a:rPr b="0" sz="1100" i="0">
                          <a:solidFill>
                            <a:srgbClr val="1A2233"/>
                          </a:solidFill>
                          <a:latin typeface="Calibri"/>
                        </a:rPr>
                        <a:t>Government / insurers</a:t>
                      </a:r>
                    </a:p>
                  </a:txBody>
                  <a:tcPr marL="64008" marR="64008" marT="27432" marB="27432" anchor="ctr">
                    <a:solidFill>
                      <a:srgbClr val="F3F6F9"/>
                    </a:solidFill>
                  </a:tcPr>
                </a:tc>
                <a:tc>
                  <a:txBody>
                    <a:bodyPr wrap="square"/>
                    <a:lstStyle/>
                    <a:p>
                      <a:r>
                        <a:rPr b="0" sz="1100" i="0">
                          <a:solidFill>
                            <a:srgbClr val="1A2233"/>
                          </a:solidFill>
                          <a:latin typeface="Calibri"/>
                        </a:rPr>
                        <a:t>Termination payment, political risk insurance, treaty protection</a:t>
                      </a:r>
                    </a:p>
                  </a:txBody>
                  <a:tcPr marL="64008" marR="64008" marT="27432" marB="27432" anchor="ctr">
                    <a:solidFill>
                      <a:srgbClr val="F3F6F9"/>
                    </a:solidFill>
                  </a:tcPr>
                </a:tc>
              </a:tr>
              <a:tr h="329184">
                <a:tc>
                  <a:txBody>
                    <a:bodyPr wrap="square"/>
                    <a:lstStyle/>
                    <a:p>
                      <a:r>
                        <a:rPr b="1" sz="1100" i="0">
                          <a:solidFill>
                            <a:srgbClr val="1A2233"/>
                          </a:solidFill>
                          <a:latin typeface="Calibri"/>
                        </a:rPr>
                        <a:t>Force majeure</a:t>
                      </a:r>
                    </a:p>
                  </a:txBody>
                  <a:tcPr marL="64008" marR="64008" marT="27432" marB="27432" anchor="ctr">
                    <a:solidFill>
                      <a:srgbClr val="FFFFFF"/>
                    </a:solidFill>
                  </a:tcPr>
                </a:tc>
                <a:tc>
                  <a:txBody>
                    <a:bodyPr wrap="square"/>
                    <a:lstStyle/>
                    <a:p>
                      <a:r>
                        <a:rPr b="0" sz="1100" i="0">
                          <a:solidFill>
                            <a:srgbClr val="1A2233"/>
                          </a:solidFill>
                          <a:latin typeface="Calibri"/>
                        </a:rPr>
                        <a:t>Shared</a:t>
                      </a:r>
                    </a:p>
                  </a:txBody>
                  <a:tcPr marL="64008" marR="64008" marT="27432" marB="27432" anchor="ctr">
                    <a:solidFill>
                      <a:srgbClr val="FFFFFF"/>
                    </a:solidFill>
                  </a:tcPr>
                </a:tc>
                <a:tc>
                  <a:txBody>
                    <a:bodyPr wrap="square"/>
                    <a:lstStyle/>
                    <a:p>
                      <a:r>
                        <a:rPr b="0" sz="1100" i="0">
                          <a:solidFill>
                            <a:srgbClr val="1A2233"/>
                          </a:solidFill>
                          <a:latin typeface="Calibri"/>
                        </a:rPr>
                        <a:t>Natural: relief and insurance. Political: compensation</a:t>
                      </a:r>
                    </a:p>
                  </a:txBody>
                  <a:tcPr marL="64008" marR="64008" marT="27432" marB="27432" anchor="ctr">
                    <a:solidFill>
                      <a:srgbClr val="FFFFFF"/>
                    </a:solidFill>
                  </a:tcPr>
                </a:tc>
              </a:tr>
              <a:tr h="329184">
                <a:tc>
                  <a:txBody>
                    <a:bodyPr wrap="square"/>
                    <a:lstStyle/>
                    <a:p>
                      <a:r>
                        <a:rPr b="1" sz="1100" i="0">
                          <a:solidFill>
                            <a:srgbClr val="1A2233"/>
                          </a:solidFill>
                          <a:latin typeface="Calibri"/>
                        </a:rPr>
                        <a:t>Resource and demand</a:t>
                      </a:r>
                    </a:p>
                  </a:txBody>
                  <a:tcPr marL="64008" marR="64008" marT="27432" marB="27432" anchor="ctr">
                    <a:solidFill>
                      <a:srgbClr val="F3F6F9"/>
                    </a:solidFill>
                  </a:tcPr>
                </a:tc>
                <a:tc>
                  <a:txBody>
                    <a:bodyPr wrap="square"/>
                    <a:lstStyle/>
                    <a:p>
                      <a:r>
                        <a:rPr b="0" sz="1100" i="0">
                          <a:solidFill>
                            <a:srgbClr val="1A2233"/>
                          </a:solidFill>
                          <a:latin typeface="Calibri"/>
                        </a:rPr>
                        <a:t>Sponsors / offtaker</a:t>
                      </a:r>
                    </a:p>
                  </a:txBody>
                  <a:tcPr marL="64008" marR="64008" marT="27432" marB="27432" anchor="ctr">
                    <a:solidFill>
                      <a:srgbClr val="F3F6F9"/>
                    </a:solidFill>
                  </a:tcPr>
                </a:tc>
                <a:tc>
                  <a:txBody>
                    <a:bodyPr wrap="square"/>
                    <a:lstStyle/>
                    <a:p>
                      <a:r>
                        <a:rPr b="0" sz="1100" i="0">
                          <a:solidFill>
                            <a:srgbClr val="1A2233"/>
                          </a:solidFill>
                          <a:latin typeface="Calibri"/>
                        </a:rPr>
                        <a:t>Minimum payments, availability payments, P90 sizing</a:t>
                      </a:r>
                    </a:p>
                  </a:txBody>
                  <a:tcPr marL="64008" marR="64008" marT="27432" marB="27432" anchor="ctr">
                    <a:solidFill>
                      <a:srgbClr val="F3F6F9"/>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CLAUSES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Key clauses lenders focus on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352796"/>
        </p:xfrm>
        <a:graphic>
          <a:graphicData uri="http://schemas.openxmlformats.org/drawingml/2006/table">
            <a:tbl>
              <a:tblPr firstRow="1" bandRow="1">
                <a:tableStyleId>{5C22544A-7EE6-4342-B048-85BDC9FD1C3A}</a:tableStyleId>
              </a:tblPr>
              <a:tblGrid>
                <a:gridCol w="2926080"/>
                <a:gridCol w="3931920"/>
                <a:gridCol w="4206240"/>
              </a:tblGrid>
              <a:tr h="347472">
                <a:tc>
                  <a:txBody>
                    <a:bodyPr wrap="square"/>
                    <a:lstStyle/>
                    <a:p>
                      <a:r>
                        <a:rPr b="1" sz="1200" i="0">
                          <a:solidFill>
                            <a:srgbClr val="FFFFFF"/>
                          </a:solidFill>
                          <a:latin typeface="Calibri"/>
                        </a:rPr>
                        <a:t>Clause</a:t>
                      </a:r>
                    </a:p>
                  </a:txBody>
                  <a:tcPr marL="64008" marR="64008" marT="27432" marB="27432" anchor="ctr">
                    <a:solidFill>
                      <a:srgbClr val="141B4D"/>
                    </a:solidFill>
                  </a:tcPr>
                </a:tc>
                <a:tc>
                  <a:txBody>
                    <a:bodyPr wrap="square"/>
                    <a:lstStyle/>
                    <a:p>
                      <a:r>
                        <a:rPr b="1" sz="1200" i="0">
                          <a:solidFill>
                            <a:srgbClr val="FFFFFF"/>
                          </a:solidFill>
                          <a:latin typeface="Calibri"/>
                        </a:rPr>
                        <a:t>What it says</a:t>
                      </a:r>
                    </a:p>
                  </a:txBody>
                  <a:tcPr marL="64008" marR="64008" marT="27432" marB="27432" anchor="ctr">
                    <a:solidFill>
                      <a:srgbClr val="141B4D"/>
                    </a:solidFill>
                  </a:tcPr>
                </a:tc>
                <a:tc>
                  <a:txBody>
                    <a:bodyPr wrap="square"/>
                    <a:lstStyle/>
                    <a:p>
                      <a:r>
                        <a:rPr b="1" sz="1200" i="0">
                          <a:solidFill>
                            <a:srgbClr val="FFFFFF"/>
                          </a:solidFill>
                          <a:latin typeface="Calibri"/>
                        </a:rPr>
                        <a:t>Lender concern</a:t>
                      </a:r>
                    </a:p>
                  </a:txBody>
                  <a:tcPr marL="64008" marR="64008" marT="27432" marB="27432" anchor="ctr">
                    <a:solidFill>
                      <a:srgbClr val="141B4D"/>
                    </a:solidFill>
                  </a:tcPr>
                </a:tc>
              </a:tr>
              <a:tr h="490727">
                <a:tc>
                  <a:txBody>
                    <a:bodyPr wrap="square"/>
                    <a:lstStyle/>
                    <a:p>
                      <a:r>
                        <a:rPr b="1" sz="1200" i="0">
                          <a:solidFill>
                            <a:srgbClr val="1A2233"/>
                          </a:solidFill>
                          <a:latin typeface="Calibri"/>
                        </a:rPr>
                        <a:t>Change in law</a:t>
                      </a:r>
                    </a:p>
                  </a:txBody>
                  <a:tcPr marL="64008" marR="64008" marT="27432" marB="27432" anchor="ctr">
                    <a:solidFill>
                      <a:srgbClr val="FFFFFF"/>
                    </a:solidFill>
                  </a:tcPr>
                </a:tc>
                <a:tc>
                  <a:txBody>
                    <a:bodyPr wrap="square"/>
                    <a:lstStyle/>
                    <a:p>
                      <a:r>
                        <a:rPr b="0" sz="1200" i="0">
                          <a:solidFill>
                            <a:srgbClr val="1A2233"/>
                          </a:solidFill>
                          <a:latin typeface="Calibri"/>
                        </a:rPr>
                        <a:t>If law changes after signing, the cost is adjusted or relieved</a:t>
                      </a:r>
                    </a:p>
                  </a:txBody>
                  <a:tcPr marL="64008" marR="64008" marT="27432" marB="27432" anchor="ctr">
                    <a:solidFill>
                      <a:srgbClr val="FFFFFF"/>
                    </a:solidFill>
                  </a:tcPr>
                </a:tc>
                <a:tc>
                  <a:txBody>
                    <a:bodyPr wrap="square"/>
                    <a:lstStyle/>
                    <a:p>
                      <a:r>
                        <a:rPr b="0" sz="1200" i="0">
                          <a:solidFill>
                            <a:srgbClr val="1A2233"/>
                          </a:solidFill>
                          <a:latin typeface="Calibri"/>
                        </a:rPr>
                        <a:t>Does it protect cash flow?</a:t>
                      </a:r>
                    </a:p>
                  </a:txBody>
                  <a:tcPr marL="64008" marR="64008" marT="27432" marB="27432" anchor="ctr">
                    <a:solidFill>
                      <a:srgbClr val="FFFFFF"/>
                    </a:solidFill>
                  </a:tcPr>
                </a:tc>
              </a:tr>
              <a:tr h="490727">
                <a:tc>
                  <a:txBody>
                    <a:bodyPr wrap="square"/>
                    <a:lstStyle/>
                    <a:p>
                      <a:r>
                        <a:rPr b="1" sz="1200" i="0">
                          <a:solidFill>
                            <a:srgbClr val="1A2233"/>
                          </a:solidFill>
                          <a:latin typeface="Calibri"/>
                        </a:rPr>
                        <a:t>Force majeure</a:t>
                      </a:r>
                    </a:p>
                  </a:txBody>
                  <a:tcPr marL="64008" marR="64008" marT="27432" marB="27432" anchor="ctr">
                    <a:solidFill>
                      <a:srgbClr val="F3F6F9"/>
                    </a:solidFill>
                  </a:tcPr>
                </a:tc>
                <a:tc>
                  <a:txBody>
                    <a:bodyPr wrap="square"/>
                    <a:lstStyle/>
                    <a:p>
                      <a:r>
                        <a:rPr b="0" sz="1200" i="0">
                          <a:solidFill>
                            <a:srgbClr val="1A2233"/>
                          </a:solidFill>
                          <a:latin typeface="Calibri"/>
                        </a:rPr>
                        <a:t>Excuses performance for events beyond control</a:t>
                      </a:r>
                    </a:p>
                  </a:txBody>
                  <a:tcPr marL="64008" marR="64008" marT="27432" marB="27432" anchor="ctr">
                    <a:solidFill>
                      <a:srgbClr val="F3F6F9"/>
                    </a:solidFill>
                  </a:tcPr>
                </a:tc>
                <a:tc>
                  <a:txBody>
                    <a:bodyPr wrap="square"/>
                    <a:lstStyle/>
                    <a:p>
                      <a:r>
                        <a:rPr b="0" sz="1200" i="0">
                          <a:solidFill>
                            <a:srgbClr val="1A2233"/>
                          </a:solidFill>
                          <a:latin typeface="Calibri"/>
                        </a:rPr>
                        <a:t>Narrow definition; limited duration; payment obligations not excused</a:t>
                      </a:r>
                    </a:p>
                  </a:txBody>
                  <a:tcPr marL="64008" marR="64008" marT="27432" marB="27432" anchor="ctr">
                    <a:solidFill>
                      <a:srgbClr val="F3F6F9"/>
                    </a:solidFill>
                  </a:tcPr>
                </a:tc>
              </a:tr>
              <a:tr h="490727">
                <a:tc>
                  <a:txBody>
                    <a:bodyPr wrap="square"/>
                    <a:lstStyle/>
                    <a:p>
                      <a:r>
                        <a:rPr b="1" sz="1200" i="0">
                          <a:solidFill>
                            <a:srgbClr val="1A2233"/>
                          </a:solidFill>
                          <a:latin typeface="Calibri"/>
                        </a:rPr>
                        <a:t>Termination and compensation</a:t>
                      </a:r>
                    </a:p>
                  </a:txBody>
                  <a:tcPr marL="64008" marR="64008" marT="27432" marB="27432" anchor="ctr">
                    <a:solidFill>
                      <a:srgbClr val="FFFFFF"/>
                    </a:solidFill>
                  </a:tcPr>
                </a:tc>
                <a:tc>
                  <a:txBody>
                    <a:bodyPr wrap="square"/>
                    <a:lstStyle/>
                    <a:p>
                      <a:r>
                        <a:rPr b="0" sz="1200" i="0">
                          <a:solidFill>
                            <a:srgbClr val="1A2233"/>
                          </a:solidFill>
                          <a:latin typeface="Calibri"/>
                        </a:rPr>
                        <a:t>When and how the contract ends, and what is paid</a:t>
                      </a:r>
                    </a:p>
                  </a:txBody>
                  <a:tcPr marL="64008" marR="64008" marT="27432" marB="27432" anchor="ctr">
                    <a:solidFill>
                      <a:srgbClr val="FFFFFF"/>
                    </a:solidFill>
                  </a:tcPr>
                </a:tc>
                <a:tc>
                  <a:txBody>
                    <a:bodyPr wrap="square"/>
                    <a:lstStyle/>
                    <a:p>
                      <a:r>
                        <a:rPr b="0" sz="1200" i="0">
                          <a:solidFill>
                            <a:srgbClr val="1A2233"/>
                          </a:solidFill>
                          <a:latin typeface="Calibri"/>
                        </a:rPr>
                        <a:t>Payment at least covers outstanding senior debt</a:t>
                      </a:r>
                    </a:p>
                  </a:txBody>
                  <a:tcPr marL="64008" marR="64008" marT="27432" marB="27432" anchor="ctr">
                    <a:solidFill>
                      <a:srgbClr val="FFFFFF"/>
                    </a:solidFill>
                  </a:tcPr>
                </a:tc>
              </a:tr>
              <a:tr h="490727">
                <a:tc>
                  <a:txBody>
                    <a:bodyPr wrap="square"/>
                    <a:lstStyle/>
                    <a:p>
                      <a:r>
                        <a:rPr b="1" sz="1200" i="0">
                          <a:solidFill>
                            <a:srgbClr val="1A2233"/>
                          </a:solidFill>
                          <a:latin typeface="Calibri"/>
                        </a:rPr>
                        <a:t>Liquidated damages</a:t>
                      </a:r>
                    </a:p>
                  </a:txBody>
                  <a:tcPr marL="64008" marR="64008" marT="27432" marB="27432" anchor="ctr">
                    <a:solidFill>
                      <a:srgbClr val="F3F6F9"/>
                    </a:solidFill>
                  </a:tcPr>
                </a:tc>
                <a:tc>
                  <a:txBody>
                    <a:bodyPr wrap="square"/>
                    <a:lstStyle/>
                    <a:p>
                      <a:r>
                        <a:rPr b="0" sz="1200" i="0">
                          <a:solidFill>
                            <a:srgbClr val="1A2233"/>
                          </a:solidFill>
                          <a:latin typeface="Calibri"/>
                        </a:rPr>
                        <a:t>Fixed compensation for delay or underperformance</a:t>
                      </a:r>
                    </a:p>
                  </a:txBody>
                  <a:tcPr marL="64008" marR="64008" marT="27432" marB="27432" anchor="ctr">
                    <a:solidFill>
                      <a:srgbClr val="F3F6F9"/>
                    </a:solidFill>
                  </a:tcPr>
                </a:tc>
                <a:tc>
                  <a:txBody>
                    <a:bodyPr wrap="square"/>
                    <a:lstStyle/>
                    <a:p>
                      <a:r>
                        <a:rPr b="0" sz="1200" i="0">
                          <a:solidFill>
                            <a:srgbClr val="1A2233"/>
                          </a:solidFill>
                          <a:latin typeface="Calibri"/>
                        </a:rPr>
                        <a:t>Cap high enough; securable</a:t>
                      </a:r>
                    </a:p>
                  </a:txBody>
                  <a:tcPr marL="64008" marR="64008" marT="27432" marB="27432" anchor="ctr">
                    <a:solidFill>
                      <a:srgbClr val="F3F6F9"/>
                    </a:solidFill>
                  </a:tcPr>
                </a:tc>
              </a:tr>
              <a:tr h="347472">
                <a:tc>
                  <a:txBody>
                    <a:bodyPr wrap="square"/>
                    <a:lstStyle/>
                    <a:p>
                      <a:r>
                        <a:rPr b="1" sz="1200" i="0">
                          <a:solidFill>
                            <a:srgbClr val="1A2233"/>
                          </a:solidFill>
                          <a:latin typeface="Calibri"/>
                        </a:rPr>
                        <a:t>Limitation of liability</a:t>
                      </a:r>
                    </a:p>
                  </a:txBody>
                  <a:tcPr marL="64008" marR="64008" marT="27432" marB="27432" anchor="ctr">
                    <a:solidFill>
                      <a:srgbClr val="FFFFFF"/>
                    </a:solidFill>
                  </a:tcPr>
                </a:tc>
                <a:tc>
                  <a:txBody>
                    <a:bodyPr wrap="square"/>
                    <a:lstStyle/>
                    <a:p>
                      <a:r>
                        <a:rPr b="0" sz="1200" i="0">
                          <a:solidFill>
                            <a:srgbClr val="1A2233"/>
                          </a:solidFill>
                          <a:latin typeface="Calibri"/>
                        </a:rPr>
                        <a:t>Caps on damages</a:t>
                      </a:r>
                    </a:p>
                  </a:txBody>
                  <a:tcPr marL="64008" marR="64008" marT="27432" marB="27432" anchor="ctr">
                    <a:solidFill>
                      <a:srgbClr val="FFFFFF"/>
                    </a:solidFill>
                  </a:tcPr>
                </a:tc>
                <a:tc>
                  <a:txBody>
                    <a:bodyPr wrap="square"/>
                    <a:lstStyle/>
                    <a:p>
                      <a:r>
                        <a:rPr b="0" sz="1200" i="0">
                          <a:solidFill>
                            <a:srgbClr val="1A2233"/>
                          </a:solidFill>
                          <a:latin typeface="Calibri"/>
                        </a:rPr>
                        <a:t>Cap too low for the risk</a:t>
                      </a:r>
                    </a:p>
                  </a:txBody>
                  <a:tcPr marL="64008" marR="64008" marT="27432" marB="27432" anchor="ctr">
                    <a:solidFill>
                      <a:srgbClr val="FFFFFF"/>
                    </a:solidFill>
                  </a:tcPr>
                </a:tc>
              </a:tr>
              <a:tr h="347472">
                <a:tc>
                  <a:txBody>
                    <a:bodyPr wrap="square"/>
                    <a:lstStyle/>
                    <a:p>
                      <a:r>
                        <a:rPr b="1" sz="1200" i="0">
                          <a:solidFill>
                            <a:srgbClr val="1A2233"/>
                          </a:solidFill>
                          <a:latin typeface="Calibri"/>
                        </a:rPr>
                        <a:t>Assignment and change of control</a:t>
                      </a:r>
                    </a:p>
                  </a:txBody>
                  <a:tcPr marL="64008" marR="64008" marT="27432" marB="27432" anchor="ctr">
                    <a:solidFill>
                      <a:srgbClr val="F3F6F9"/>
                    </a:solidFill>
                  </a:tcPr>
                </a:tc>
                <a:tc>
                  <a:txBody>
                    <a:bodyPr wrap="square"/>
                    <a:lstStyle/>
                    <a:p>
                      <a:r>
                        <a:rPr b="0" sz="1200" i="0">
                          <a:solidFill>
                            <a:srgbClr val="1A2233"/>
                          </a:solidFill>
                          <a:latin typeface="Calibri"/>
                        </a:rPr>
                        <a:t>Who can transfer rights</a:t>
                      </a:r>
                    </a:p>
                  </a:txBody>
                  <a:tcPr marL="64008" marR="64008" marT="27432" marB="27432" anchor="ctr">
                    <a:solidFill>
                      <a:srgbClr val="F3F6F9"/>
                    </a:solidFill>
                  </a:tcPr>
                </a:tc>
                <a:tc>
                  <a:txBody>
                    <a:bodyPr wrap="square"/>
                    <a:lstStyle/>
                    <a:p>
                      <a:r>
                        <a:rPr b="0" sz="1200" i="0">
                          <a:solidFill>
                            <a:srgbClr val="1A2233"/>
                          </a:solidFill>
                          <a:latin typeface="Calibri"/>
                        </a:rPr>
                        <a:t>Lenders' security must be assignable</a:t>
                      </a:r>
                    </a:p>
                  </a:txBody>
                  <a:tcPr marL="64008" marR="64008" marT="27432" marB="27432" anchor="ctr">
                    <a:solidFill>
                      <a:srgbClr val="F3F6F9"/>
                    </a:solidFill>
                  </a:tcPr>
                </a:tc>
              </a:tr>
              <a:tr h="347472">
                <a:tc>
                  <a:txBody>
                    <a:bodyPr wrap="square"/>
                    <a:lstStyle/>
                    <a:p>
                      <a:r>
                        <a:rPr b="1" sz="1200" i="0">
                          <a:solidFill>
                            <a:srgbClr val="1A2233"/>
                          </a:solidFill>
                          <a:latin typeface="Calibri"/>
                        </a:rPr>
                        <a:t>Dispute resolution</a:t>
                      </a:r>
                    </a:p>
                  </a:txBody>
                  <a:tcPr marL="64008" marR="64008" marT="27432" marB="27432" anchor="ctr">
                    <a:solidFill>
                      <a:srgbClr val="FFFFFF"/>
                    </a:solidFill>
                  </a:tcPr>
                </a:tc>
                <a:tc>
                  <a:txBody>
                    <a:bodyPr wrap="square"/>
                    <a:lstStyle/>
                    <a:p>
                      <a:r>
                        <a:rPr b="0" sz="1200" i="0">
                          <a:solidFill>
                            <a:srgbClr val="1A2233"/>
                          </a:solidFill>
                          <a:latin typeface="Calibri"/>
                        </a:rPr>
                        <a:t>Forum and rules</a:t>
                      </a:r>
                    </a:p>
                  </a:txBody>
                  <a:tcPr marL="64008" marR="64008" marT="27432" marB="27432" anchor="ctr">
                    <a:solidFill>
                      <a:srgbClr val="FFFFFF"/>
                    </a:solidFill>
                  </a:tcPr>
                </a:tc>
                <a:tc>
                  <a:txBody>
                    <a:bodyPr wrap="square"/>
                    <a:lstStyle/>
                    <a:p>
                      <a:r>
                        <a:rPr b="0" sz="1200" i="0">
                          <a:solidFill>
                            <a:srgbClr val="1A2233"/>
                          </a:solidFill>
                          <a:latin typeface="Calibri"/>
                        </a:rPr>
                        <a:t>Neutral, enforceable</a:t>
                      </a:r>
                    </a:p>
                  </a:txBody>
                  <a:tcPr marL="64008" marR="64008" marT="27432" marB="27432"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DISPUTES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Dispute resolution: why arbitration is common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3017520"/>
                <a:gridCol w="3657600"/>
                <a:gridCol w="4389120"/>
              </a:tblGrid>
              <a:tr h="384048">
                <a:tc>
                  <a:txBody>
                    <a:bodyPr wrap="square"/>
                    <a:lstStyle/>
                    <a:p>
                      <a:r>
                        <a:rPr b="1" sz="1300" i="0">
                          <a:solidFill>
                            <a:srgbClr val="FFFFFF"/>
                          </a:solidFill>
                          <a:latin typeface="Calibri"/>
                        </a:rPr>
                        <a:t>Feature</a:t>
                      </a:r>
                    </a:p>
                  </a:txBody>
                  <a:tcPr marL="64008" marR="64008" marT="27432" marB="27432" anchor="ctr">
                    <a:solidFill>
                      <a:srgbClr val="141B4D"/>
                    </a:solidFill>
                  </a:tcPr>
                </a:tc>
                <a:tc>
                  <a:txBody>
                    <a:bodyPr wrap="square"/>
                    <a:lstStyle/>
                    <a:p>
                      <a:r>
                        <a:rPr b="1" sz="1300" i="0">
                          <a:solidFill>
                            <a:srgbClr val="FFFFFF"/>
                          </a:solidFill>
                          <a:latin typeface="Calibri"/>
                        </a:rPr>
                        <a:t>Court litigation</a:t>
                      </a:r>
                    </a:p>
                  </a:txBody>
                  <a:tcPr marL="64008" marR="64008" marT="27432" marB="27432" anchor="ctr">
                    <a:solidFill>
                      <a:srgbClr val="141B4D"/>
                    </a:solidFill>
                  </a:tcPr>
                </a:tc>
                <a:tc>
                  <a:txBody>
                    <a:bodyPr wrap="square"/>
                    <a:lstStyle/>
                    <a:p>
                      <a:r>
                        <a:rPr b="1" sz="1300" i="0">
                          <a:solidFill>
                            <a:srgbClr val="FFFFFF"/>
                          </a:solidFill>
                          <a:latin typeface="Calibri"/>
                        </a:rPr>
                        <a:t>International arbitration</a:t>
                      </a:r>
                    </a:p>
                  </a:txBody>
                  <a:tcPr marL="64008" marR="64008" marT="27432" marB="27432" anchor="ctr">
                    <a:solidFill>
                      <a:srgbClr val="141B4D"/>
                    </a:solidFill>
                  </a:tcPr>
                </a:tc>
              </a:tr>
              <a:tr h="384048">
                <a:tc>
                  <a:txBody>
                    <a:bodyPr wrap="square"/>
                    <a:lstStyle/>
                    <a:p>
                      <a:r>
                        <a:rPr b="1" sz="1300" i="0">
                          <a:solidFill>
                            <a:srgbClr val="1A2233"/>
                          </a:solidFill>
                          <a:latin typeface="Calibri"/>
                        </a:rPr>
                        <a:t>Neutrality</a:t>
                      </a:r>
                    </a:p>
                  </a:txBody>
                  <a:tcPr marL="64008" marR="64008" marT="27432" marB="27432" anchor="ctr">
                    <a:solidFill>
                      <a:srgbClr val="FFFFFF"/>
                    </a:solidFill>
                  </a:tcPr>
                </a:tc>
                <a:tc>
                  <a:txBody>
                    <a:bodyPr wrap="square"/>
                    <a:lstStyle/>
                    <a:p>
                      <a:r>
                        <a:rPr b="0" sz="1300" i="0">
                          <a:solidFill>
                            <a:srgbClr val="1A2233"/>
                          </a:solidFill>
                          <a:latin typeface="Calibri"/>
                        </a:rPr>
                        <a:t>Local courts</a:t>
                      </a:r>
                    </a:p>
                  </a:txBody>
                  <a:tcPr marL="64008" marR="64008" marT="27432" marB="27432" anchor="ctr">
                    <a:solidFill>
                      <a:srgbClr val="FFFFFF"/>
                    </a:solidFill>
                  </a:tcPr>
                </a:tc>
                <a:tc>
                  <a:txBody>
                    <a:bodyPr wrap="square"/>
                    <a:lstStyle/>
                    <a:p>
                      <a:r>
                        <a:rPr b="0" sz="1300" i="0">
                          <a:solidFill>
                            <a:srgbClr val="1A2233"/>
                          </a:solidFill>
                          <a:latin typeface="Calibri"/>
                        </a:rPr>
                        <a:t>Neutral seat and tribunal</a:t>
                      </a:r>
                    </a:p>
                  </a:txBody>
                  <a:tcPr marL="64008" marR="64008" marT="27432" marB="27432" anchor="ctr">
                    <a:solidFill>
                      <a:srgbClr val="FFFFFF"/>
                    </a:solidFill>
                  </a:tcPr>
                </a:tc>
              </a:tr>
              <a:tr h="384048">
                <a:tc>
                  <a:txBody>
                    <a:bodyPr wrap="square"/>
                    <a:lstStyle/>
                    <a:p>
                      <a:r>
                        <a:rPr b="1" sz="1300" i="0">
                          <a:solidFill>
                            <a:srgbClr val="1A2233"/>
                          </a:solidFill>
                          <a:latin typeface="Calibri"/>
                        </a:rPr>
                        <a:t>Enforcement abroad</a:t>
                      </a:r>
                    </a:p>
                  </a:txBody>
                  <a:tcPr marL="64008" marR="64008" marT="27432" marB="27432" anchor="ctr">
                    <a:solidFill>
                      <a:srgbClr val="F3F6F9"/>
                    </a:solidFill>
                  </a:tcPr>
                </a:tc>
                <a:tc>
                  <a:txBody>
                    <a:bodyPr wrap="square"/>
                    <a:lstStyle/>
                    <a:p>
                      <a:r>
                        <a:rPr b="0" sz="1300" i="0">
                          <a:solidFill>
                            <a:srgbClr val="1A2233"/>
                          </a:solidFill>
                          <a:latin typeface="Calibri"/>
                        </a:rPr>
                        <a:t>Limited treaties</a:t>
                      </a:r>
                    </a:p>
                  </a:txBody>
                  <a:tcPr marL="64008" marR="64008" marT="27432" marB="27432" anchor="ctr">
                    <a:solidFill>
                      <a:srgbClr val="F3F6F9"/>
                    </a:solidFill>
                  </a:tcPr>
                </a:tc>
                <a:tc>
                  <a:txBody>
                    <a:bodyPr wrap="square"/>
                    <a:lstStyle/>
                    <a:p>
                      <a:r>
                        <a:rPr b="0" sz="1300" i="0">
                          <a:solidFill>
                            <a:srgbClr val="1A2233"/>
                          </a:solidFill>
                          <a:latin typeface="Calibri"/>
                        </a:rPr>
                        <a:t>New York Convention in 170+ states</a:t>
                      </a:r>
                    </a:p>
                  </a:txBody>
                  <a:tcPr marL="64008" marR="64008" marT="27432" marB="27432" anchor="ctr">
                    <a:solidFill>
                      <a:srgbClr val="F3F6F9"/>
                    </a:solidFill>
                  </a:tcPr>
                </a:tc>
              </a:tr>
              <a:tr h="384048">
                <a:tc>
                  <a:txBody>
                    <a:bodyPr wrap="square"/>
                    <a:lstStyle/>
                    <a:p>
                      <a:r>
                        <a:rPr b="1" sz="1300" i="0">
                          <a:solidFill>
                            <a:srgbClr val="1A2233"/>
                          </a:solidFill>
                          <a:latin typeface="Calibri"/>
                        </a:rPr>
                        <a:t>Confidentiality</a:t>
                      </a:r>
                    </a:p>
                  </a:txBody>
                  <a:tcPr marL="64008" marR="64008" marT="27432" marB="27432" anchor="ctr">
                    <a:solidFill>
                      <a:srgbClr val="FFFFFF"/>
                    </a:solidFill>
                  </a:tcPr>
                </a:tc>
                <a:tc>
                  <a:txBody>
                    <a:bodyPr wrap="square"/>
                    <a:lstStyle/>
                    <a:p>
                      <a:r>
                        <a:rPr b="0" sz="1300" i="0">
                          <a:solidFill>
                            <a:srgbClr val="1A2233"/>
                          </a:solidFill>
                          <a:latin typeface="Calibri"/>
                        </a:rPr>
                        <a:t>Public</a:t>
                      </a:r>
                    </a:p>
                  </a:txBody>
                  <a:tcPr marL="64008" marR="64008" marT="27432" marB="27432" anchor="ctr">
                    <a:solidFill>
                      <a:srgbClr val="FFFFFF"/>
                    </a:solidFill>
                  </a:tcPr>
                </a:tc>
                <a:tc>
                  <a:txBody>
                    <a:bodyPr wrap="square"/>
                    <a:lstStyle/>
                    <a:p>
                      <a:r>
                        <a:rPr b="0" sz="1300" i="0">
                          <a:solidFill>
                            <a:srgbClr val="1A2233"/>
                          </a:solidFill>
                          <a:latin typeface="Calibri"/>
                        </a:rPr>
                        <a:t>Private</a:t>
                      </a:r>
                    </a:p>
                  </a:txBody>
                  <a:tcPr marL="64008" marR="64008" marT="27432" marB="27432" anchor="ctr">
                    <a:solidFill>
                      <a:srgbClr val="FFFFFF"/>
                    </a:solidFill>
                  </a:tcPr>
                </a:tc>
              </a:tr>
              <a:tr h="384048">
                <a:tc>
                  <a:txBody>
                    <a:bodyPr wrap="square"/>
                    <a:lstStyle/>
                    <a:p>
                      <a:r>
                        <a:rPr b="1" sz="1300" i="0">
                          <a:solidFill>
                            <a:srgbClr val="1A2233"/>
                          </a:solidFill>
                          <a:latin typeface="Calibri"/>
                        </a:rPr>
                        <a:t>Speed and expertise</a:t>
                      </a:r>
                    </a:p>
                  </a:txBody>
                  <a:tcPr marL="64008" marR="64008" marT="27432" marB="27432" anchor="ctr">
                    <a:solidFill>
                      <a:srgbClr val="F3F6F9"/>
                    </a:solidFill>
                  </a:tcPr>
                </a:tc>
                <a:tc>
                  <a:txBody>
                    <a:bodyPr wrap="square"/>
                    <a:lstStyle/>
                    <a:p>
                      <a:r>
                        <a:rPr b="0" sz="1300" i="0">
                          <a:solidFill>
                            <a:srgbClr val="1A2233"/>
                          </a:solidFill>
                          <a:latin typeface="Calibri"/>
                        </a:rPr>
                        <a:t>Variable</a:t>
                      </a:r>
                    </a:p>
                  </a:txBody>
                  <a:tcPr marL="64008" marR="64008" marT="27432" marB="27432" anchor="ctr">
                    <a:solidFill>
                      <a:srgbClr val="F3F6F9"/>
                    </a:solidFill>
                  </a:tcPr>
                </a:tc>
                <a:tc>
                  <a:txBody>
                    <a:bodyPr wrap="square"/>
                    <a:lstStyle/>
                    <a:p>
                      <a:r>
                        <a:rPr b="0" sz="1300" i="0">
                          <a:solidFill>
                            <a:srgbClr val="1A2233"/>
                          </a:solidFill>
                          <a:latin typeface="Calibri"/>
                        </a:rPr>
                        <a:t>Specialist arbitrators; fixed rules</a:t>
                      </a:r>
                    </a:p>
                  </a:txBody>
                  <a:tcPr marL="64008" marR="64008" marT="27432" marB="27432" anchor="ctr">
                    <a:solidFill>
                      <a:srgbClr val="F3F6F9"/>
                    </a:solidFill>
                  </a:tcPr>
                </a:tc>
              </a:tr>
              <a:tr h="384048">
                <a:tc>
                  <a:txBody>
                    <a:bodyPr wrap="square"/>
                    <a:lstStyle/>
                    <a:p>
                      <a:r>
                        <a:rPr b="1" sz="1300" i="0">
                          <a:solidFill>
                            <a:srgbClr val="1A2233"/>
                          </a:solidFill>
                          <a:latin typeface="Calibri"/>
                        </a:rPr>
                        <a:t>Cost</a:t>
                      </a:r>
                    </a:p>
                  </a:txBody>
                  <a:tcPr marL="64008" marR="64008" marT="27432" marB="27432" anchor="ctr">
                    <a:solidFill>
                      <a:srgbClr val="FFFFFF"/>
                    </a:solidFill>
                  </a:tcPr>
                </a:tc>
                <a:tc>
                  <a:txBody>
                    <a:bodyPr wrap="square"/>
                    <a:lstStyle/>
                    <a:p>
                      <a:r>
                        <a:rPr b="0" sz="1300" i="0">
                          <a:solidFill>
                            <a:srgbClr val="1A2233"/>
                          </a:solidFill>
                          <a:latin typeface="Calibri"/>
                        </a:rPr>
                        <a:t>Lower filing costs</a:t>
                      </a:r>
                    </a:p>
                  </a:txBody>
                  <a:tcPr marL="64008" marR="64008" marT="27432" marB="27432" anchor="ctr">
                    <a:solidFill>
                      <a:srgbClr val="FFFFFF"/>
                    </a:solidFill>
                  </a:tcPr>
                </a:tc>
                <a:tc>
                  <a:txBody>
                    <a:bodyPr wrap="square"/>
                    <a:lstStyle/>
                    <a:p>
                      <a:r>
                        <a:rPr b="0" sz="1300" i="0">
                          <a:solidFill>
                            <a:srgbClr val="1A2233"/>
                          </a:solidFill>
                          <a:latin typeface="Calibri"/>
                        </a:rPr>
                        <a:t>Higher fees</a:t>
                      </a:r>
                    </a:p>
                  </a:txBody>
                  <a:tcPr marL="64008" marR="64008" marT="27432" marB="27432" anchor="ctr">
                    <a:solidFill>
                      <a:srgbClr val="FFFFFF"/>
                    </a:solidFill>
                  </a:tcPr>
                </a:tc>
              </a:tr>
            </a:tbl>
          </a:graphicData>
        </a:graphic>
      </p:graphicFrame>
      <p:sp>
        <p:nvSpPr>
          <p:cNvPr id="12" name="Rectangle 11"/>
          <p:cNvSpPr/>
          <p:nvPr/>
        </p:nvSpPr>
        <p:spPr>
          <a:xfrm>
            <a:off x="548640" y="3995928"/>
            <a:ext cx="11064240" cy="12801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95928"/>
            <a:ext cx="82296" cy="12801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95928"/>
            <a:ext cx="1083564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Nigeria's Arbitration and Mediation Act 2023 reportedly requires courts to stay proceedings brought in breach of an arbitration agreement, limits award challenges to Model Law-type grounds, provides for emergency arbitrators and domesticates the New York Convention. Statute positions are summarised from published commentary and official sources and must be confirmed against the current text with Nigerian counsel before any transaction use.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Exercise 2.3: Negotiation role-play: the PPA termination payment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In groups of three (sponsor, lender, offtaker) negotiate what the offtaker pays if it terminates early.</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Sponsor: wants debt plus equity plus a return</a:t>
            </a:r>
          </a:p>
          <a:p>
            <a:pPr>
              <a:spcAft>
                <a:spcPts val="300"/>
              </a:spcAft>
            </a:pPr>
            <a:r>
              <a:rPr b="0" sz="1500" i="0">
                <a:solidFill>
                  <a:srgbClr val="1A2233"/>
                </a:solidFill>
                <a:latin typeface="Calibri"/>
              </a:rPr>
              <a:t>2.  Lender: wants at least the outstanding senior debt and costs</a:t>
            </a:r>
          </a:p>
          <a:p>
            <a:pPr>
              <a:spcAft>
                <a:spcPts val="300"/>
              </a:spcAft>
            </a:pPr>
            <a:r>
              <a:rPr b="0" sz="1500" i="0">
                <a:solidFill>
                  <a:srgbClr val="1A2233"/>
                </a:solidFill>
                <a:latin typeface="Calibri"/>
              </a:rPr>
              <a:t>3.  Offtaker: wants to pay as little as possible</a:t>
            </a:r>
          </a:p>
          <a:p>
            <a:pPr>
              <a:spcAft>
                <a:spcPts val="300"/>
              </a:spcAft>
            </a:pPr>
            <a:r>
              <a:rPr b="0" sz="1500" i="0">
                <a:solidFill>
                  <a:srgbClr val="1A2233"/>
                </a:solidFill>
                <a:latin typeface="Calibri"/>
              </a:rPr>
              <a:t>4.  Agree a formula in 10 minutes and write it in one line</a:t>
            </a:r>
          </a:p>
          <a:p>
            <a:pPr>
              <a:spcAft>
                <a:spcPts val="300"/>
              </a:spcAft>
            </a:pPr>
            <a:r>
              <a:rPr b="0" sz="1500" i="0">
                <a:solidFill>
                  <a:srgbClr val="1A2233"/>
                </a:solidFill>
                <a:latin typeface="Calibri"/>
              </a:rPr>
              <a:t>5.  Report one concession each side made</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20 min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PREPARATION</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Setting up a negotiation: preparation checklist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88336"/>
        </p:xfrm>
        <a:graphic>
          <a:graphicData uri="http://schemas.openxmlformats.org/drawingml/2006/table">
            <a:tbl>
              <a:tblPr firstRow="1" bandRow="1">
                <a:tableStyleId>{5C22544A-7EE6-4342-B048-85BDC9FD1C3A}</a:tableStyleId>
              </a:tblPr>
              <a:tblGrid>
                <a:gridCol w="914400"/>
                <a:gridCol w="10149840"/>
              </a:tblGrid>
              <a:tr h="384048">
                <a:tc>
                  <a:txBody>
                    <a:bodyPr wrap="square"/>
                    <a:lstStyle/>
                    <a:p>
                      <a:r>
                        <a:rPr b="1" sz="1300" i="0">
                          <a:solidFill>
                            <a:srgbClr val="FFFFFF"/>
                          </a:solidFill>
                          <a:latin typeface="Calibri"/>
                        </a:rPr>
                        <a:t>Step</a:t>
                      </a:r>
                    </a:p>
                  </a:txBody>
                  <a:tcPr marL="64008" marR="64008" marT="27432" marB="27432" anchor="ctr">
                    <a:solidFill>
                      <a:srgbClr val="141B4D"/>
                    </a:solidFill>
                  </a:tcPr>
                </a:tc>
                <a:tc>
                  <a:txBody>
                    <a:bodyPr wrap="square"/>
                    <a:lstStyle/>
                    <a:p>
                      <a:r>
                        <a:rPr b="1" sz="1300" i="0">
                          <a:solidFill>
                            <a:srgbClr val="FFFFFF"/>
                          </a:solidFill>
                          <a:latin typeface="Calibri"/>
                        </a:rPr>
                        <a:t>Question</a:t>
                      </a:r>
                    </a:p>
                  </a:txBody>
                  <a:tcPr marL="64008" marR="64008" marT="27432" marB="27432" anchor="ctr">
                    <a:solidFill>
                      <a:srgbClr val="141B4D"/>
                    </a:solidFill>
                  </a:tcPr>
                </a:tc>
              </a:tr>
              <a:tr h="384048">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What are our must-haves, nice-to-haves and give-aways?</a:t>
                      </a:r>
                    </a:p>
                  </a:txBody>
                  <a:tcPr marL="64008" marR="64008" marT="27432" marB="27432" anchor="ctr">
                    <a:solidFill>
                      <a:srgbClr val="FFFFFF"/>
                    </a:solidFill>
                  </a:tcPr>
                </a:tc>
              </a:tr>
              <a:tr h="384048">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What does the other side need, and why?</a:t>
                      </a:r>
                    </a:p>
                  </a:txBody>
                  <a:tcPr marL="64008" marR="64008" marT="27432" marB="27432" anchor="ctr">
                    <a:solidFill>
                      <a:srgbClr val="F3F6F9"/>
                    </a:solidFill>
                  </a:tcPr>
                </a:tc>
              </a:tr>
              <a:tr h="384048">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What is our walk-away alternative?</a:t>
                      </a:r>
                    </a:p>
                  </a:txBody>
                  <a:tcPr marL="64008" marR="64008" marT="27432" marB="27432" anchor="ctr">
                    <a:solidFill>
                      <a:srgbClr val="FFFFFF"/>
                    </a:solidFill>
                  </a:tcPr>
                </a:tc>
              </a:tr>
              <a:tr h="384048">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Which clauses move the model most (price, tenor, covenants)?</a:t>
                      </a:r>
                    </a:p>
                  </a:txBody>
                  <a:tcPr marL="64008" marR="64008" marT="27432" marB="27432" anchor="ctr">
                    <a:solidFill>
                      <a:srgbClr val="F3F6F9"/>
                    </a:solidFill>
                  </a:tcPr>
                </a:tc>
              </a:tr>
              <a:tr h="384048">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Who has authority to concede, and how fast?</a:t>
                      </a:r>
                    </a:p>
                  </a:txBody>
                  <a:tcPr marL="64008" marR="64008" marT="27432" marB="27432" anchor="ctr">
                    <a:solidFill>
                      <a:srgbClr val="FFFFFF"/>
                    </a:solidFill>
                  </a:tcPr>
                </a:tc>
              </a:tr>
              <a:tr h="384048">
                <a:tc>
                  <a:txBody>
                    <a:bodyPr wrap="square"/>
                    <a:lstStyle/>
                    <a:p>
                      <a:r>
                        <a:rPr b="1" sz="1300" i="0">
                          <a:solidFill>
                            <a:srgbClr val="1A2233"/>
                          </a:solidFill>
                          <a:latin typeface="Calibri"/>
                        </a:rPr>
                        <a:t>6</a:t>
                      </a:r>
                    </a:p>
                  </a:txBody>
                  <a:tcPr marL="64008" marR="64008" marT="27432" marB="27432" anchor="ctr">
                    <a:solidFill>
                      <a:srgbClr val="F3F6F9"/>
                    </a:solidFill>
                  </a:tcPr>
                </a:tc>
                <a:tc>
                  <a:txBody>
                    <a:bodyPr wrap="square"/>
                    <a:lstStyle/>
                    <a:p>
                      <a:r>
                        <a:rPr b="0" sz="1300" i="0">
                          <a:solidFill>
                            <a:srgbClr val="1A2233"/>
                          </a:solidFill>
                          <a:latin typeface="Calibri"/>
                        </a:rPr>
                        <a:t>How will we record agreements (issues list, mark-ups)?</a:t>
                      </a:r>
                    </a:p>
                  </a:txBody>
                  <a:tcPr marL="64008" marR="64008" marT="27432" marB="27432" anchor="ctr">
                    <a:solidFill>
                      <a:srgbClr val="F3F6F9"/>
                    </a:solidFill>
                  </a:tcPr>
                </a:tc>
              </a:tr>
            </a:tbl>
          </a:graphicData>
        </a:graphic>
      </p:graphicFrame>
      <p:sp>
        <p:nvSpPr>
          <p:cNvPr id="12" name="Rectangle 11"/>
          <p:cNvSpPr/>
          <p:nvPr/>
        </p:nvSpPr>
        <p:spPr>
          <a:xfrm>
            <a:off x="548640" y="4379976"/>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379976"/>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379976"/>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 negotiation tracker with 'agreed / open / escalate' status keeps hundreds of points under control.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34</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12.45 – 14.00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5: Representations, warranties and covenants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Statements, promises and the consequences of breaking them.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Five ideas, kept apart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517646"/>
        </p:xfrm>
        <a:graphic>
          <a:graphicData uri="http://schemas.openxmlformats.org/drawingml/2006/table">
            <a:tbl>
              <a:tblPr firstRow="1" bandRow="1">
                <a:tableStyleId>{5C22544A-7EE6-4342-B048-85BDC9FD1C3A}</a:tableStyleId>
              </a:tblPr>
              <a:tblGrid>
                <a:gridCol w="2560320"/>
                <a:gridCol w="4937760"/>
                <a:gridCol w="3566160"/>
              </a:tblGrid>
              <a:tr h="384048">
                <a:tc>
                  <a:txBody>
                    <a:bodyPr wrap="square"/>
                    <a:lstStyle/>
                    <a:p>
                      <a:r>
                        <a:rPr b="1" sz="1200" i="0">
                          <a:solidFill>
                            <a:srgbClr val="FFFFFF"/>
                          </a:solidFill>
                          <a:latin typeface="Calibri"/>
                        </a:rPr>
                        <a:t>Idea</a:t>
                      </a:r>
                    </a:p>
                  </a:txBody>
                  <a:tcPr marL="64008" marR="64008" marT="27432" marB="27432" anchor="ctr">
                    <a:solidFill>
                      <a:srgbClr val="141B4D"/>
                    </a:solidFill>
                  </a:tcPr>
                </a:tc>
                <a:tc>
                  <a:txBody>
                    <a:bodyPr wrap="square"/>
                    <a:lstStyle/>
                    <a:p>
                      <a:r>
                        <a:rPr b="1" sz="1200" i="0">
                          <a:solidFill>
                            <a:srgbClr val="FFFFFF"/>
                          </a:solidFill>
                          <a:latin typeface="Calibri"/>
                        </a:rPr>
                        <a:t>When it applies</a:t>
                      </a:r>
                    </a:p>
                  </a:txBody>
                  <a:tcPr marL="64008" marR="64008" marT="27432" marB="27432" anchor="ctr">
                    <a:solidFill>
                      <a:srgbClr val="141B4D"/>
                    </a:solidFill>
                  </a:tcPr>
                </a:tc>
                <a:tc>
                  <a:txBody>
                    <a:bodyPr wrap="square"/>
                    <a:lstStyle/>
                    <a:p>
                      <a:r>
                        <a:rPr b="1" sz="1200" i="0">
                          <a:solidFill>
                            <a:srgbClr val="FFFFFF"/>
                          </a:solidFill>
                          <a:latin typeface="Calibri"/>
                        </a:rPr>
                        <a:t>If untrue / breached</a:t>
                      </a:r>
                    </a:p>
                  </a:txBody>
                  <a:tcPr marL="64008" marR="64008" marT="27432" marB="27432" anchor="ctr">
                    <a:solidFill>
                      <a:srgbClr val="141B4D"/>
                    </a:solidFill>
                  </a:tcPr>
                </a:tc>
              </a:tr>
              <a:tr h="490727">
                <a:tc>
                  <a:txBody>
                    <a:bodyPr wrap="square"/>
                    <a:lstStyle/>
                    <a:p>
                      <a:r>
                        <a:rPr b="1" sz="1200" i="0">
                          <a:solidFill>
                            <a:srgbClr val="1A2233"/>
                          </a:solidFill>
                          <a:latin typeface="Calibri"/>
                        </a:rPr>
                        <a:t>Representation</a:t>
                      </a:r>
                    </a:p>
                  </a:txBody>
                  <a:tcPr marL="64008" marR="64008" marT="27432" marB="27432" anchor="ctr">
                    <a:solidFill>
                      <a:srgbClr val="FFFFFF"/>
                    </a:solidFill>
                  </a:tcPr>
                </a:tc>
                <a:tc>
                  <a:txBody>
                    <a:bodyPr wrap="square"/>
                    <a:lstStyle/>
                    <a:p>
                      <a:r>
                        <a:rPr b="0" sz="1200" i="0">
                          <a:solidFill>
                            <a:srgbClr val="1A2233"/>
                          </a:solidFill>
                          <a:latin typeface="Calibri"/>
                        </a:rPr>
                        <a:t>A statement of fact when the contract is signed (and repeated at each drawdown)</a:t>
                      </a:r>
                    </a:p>
                  </a:txBody>
                  <a:tcPr marL="64008" marR="64008" marT="27432" marB="27432" anchor="ctr">
                    <a:solidFill>
                      <a:srgbClr val="FFFFFF"/>
                    </a:solidFill>
                  </a:tcPr>
                </a:tc>
                <a:tc>
                  <a:txBody>
                    <a:bodyPr wrap="square"/>
                    <a:lstStyle/>
                    <a:p>
                      <a:r>
                        <a:rPr b="0" sz="1200" i="0">
                          <a:solidFill>
                            <a:srgbClr val="1A2233"/>
                          </a:solidFill>
                          <a:latin typeface="Calibri"/>
                        </a:rPr>
                        <a:t>May allow termination or damages for misrepresentation</a:t>
                      </a:r>
                    </a:p>
                  </a:txBody>
                  <a:tcPr marL="64008" marR="64008" marT="27432" marB="27432" anchor="ctr">
                    <a:solidFill>
                      <a:srgbClr val="FFFFFF"/>
                    </a:solidFill>
                  </a:tcPr>
                </a:tc>
              </a:tr>
              <a:tr h="384048">
                <a:tc>
                  <a:txBody>
                    <a:bodyPr wrap="square"/>
                    <a:lstStyle/>
                    <a:p>
                      <a:r>
                        <a:rPr b="1" sz="1200" i="0">
                          <a:solidFill>
                            <a:srgbClr val="1A2233"/>
                          </a:solidFill>
                          <a:latin typeface="Calibri"/>
                        </a:rPr>
                        <a:t>Warranty</a:t>
                      </a:r>
                    </a:p>
                  </a:txBody>
                  <a:tcPr marL="64008" marR="64008" marT="27432" marB="27432" anchor="ctr">
                    <a:solidFill>
                      <a:srgbClr val="F3F6F9"/>
                    </a:solidFill>
                  </a:tcPr>
                </a:tc>
                <a:tc>
                  <a:txBody>
                    <a:bodyPr wrap="square"/>
                    <a:lstStyle/>
                    <a:p>
                      <a:r>
                        <a:rPr b="0" sz="1200" i="0">
                          <a:solidFill>
                            <a:srgbClr val="1A2233"/>
                          </a:solidFill>
                          <a:latin typeface="Calibri"/>
                        </a:rPr>
                        <a:t>A contractual promise that a fact is true</a:t>
                      </a:r>
                    </a:p>
                  </a:txBody>
                  <a:tcPr marL="64008" marR="64008" marT="27432" marB="27432" anchor="ctr">
                    <a:solidFill>
                      <a:srgbClr val="F3F6F9"/>
                    </a:solidFill>
                  </a:tcPr>
                </a:tc>
                <a:tc>
                  <a:txBody>
                    <a:bodyPr wrap="square"/>
                    <a:lstStyle/>
                    <a:p>
                      <a:r>
                        <a:rPr b="0" sz="1200" i="0">
                          <a:solidFill>
                            <a:srgbClr val="1A2233"/>
                          </a:solidFill>
                          <a:latin typeface="Calibri"/>
                        </a:rPr>
                        <a:t>Damages (and often an event of default)</a:t>
                      </a:r>
                    </a:p>
                  </a:txBody>
                  <a:tcPr marL="64008" marR="64008" marT="27432" marB="27432" anchor="ctr">
                    <a:solidFill>
                      <a:srgbClr val="F3F6F9"/>
                    </a:solidFill>
                  </a:tcPr>
                </a:tc>
              </a:tr>
              <a:tr h="384048">
                <a:tc>
                  <a:txBody>
                    <a:bodyPr wrap="square"/>
                    <a:lstStyle/>
                    <a:p>
                      <a:r>
                        <a:rPr b="1" sz="1200" i="0">
                          <a:solidFill>
                            <a:srgbClr val="1A2233"/>
                          </a:solidFill>
                          <a:latin typeface="Calibri"/>
                        </a:rPr>
                        <a:t>Condition precedent</a:t>
                      </a:r>
                    </a:p>
                  </a:txBody>
                  <a:tcPr marL="64008" marR="64008" marT="27432" marB="27432" anchor="ctr">
                    <a:solidFill>
                      <a:srgbClr val="FFFFFF"/>
                    </a:solidFill>
                  </a:tcPr>
                </a:tc>
                <a:tc>
                  <a:txBody>
                    <a:bodyPr wrap="square"/>
                    <a:lstStyle/>
                    <a:p>
                      <a:r>
                        <a:rPr b="0" sz="1200" i="0">
                          <a:solidFill>
                            <a:srgbClr val="1A2233"/>
                          </a:solidFill>
                          <a:latin typeface="Calibri"/>
                        </a:rPr>
                        <a:t>Must be satisfied before an obligation starts</a:t>
                      </a:r>
                    </a:p>
                  </a:txBody>
                  <a:tcPr marL="64008" marR="64008" marT="27432" marB="27432" anchor="ctr">
                    <a:solidFill>
                      <a:srgbClr val="FFFFFF"/>
                    </a:solidFill>
                  </a:tcPr>
                </a:tc>
                <a:tc>
                  <a:txBody>
                    <a:bodyPr wrap="square"/>
                    <a:lstStyle/>
                    <a:p>
                      <a:r>
                        <a:rPr b="0" sz="1200" i="0">
                          <a:solidFill>
                            <a:srgbClr val="1A2233"/>
                          </a:solidFill>
                          <a:latin typeface="Calibri"/>
                        </a:rPr>
                        <a:t>Lender need not lend</a:t>
                      </a:r>
                    </a:p>
                  </a:txBody>
                  <a:tcPr marL="64008" marR="64008" marT="27432" marB="27432" anchor="ctr">
                    <a:solidFill>
                      <a:srgbClr val="FFFFFF"/>
                    </a:solidFill>
                  </a:tcPr>
                </a:tc>
              </a:tr>
              <a:tr h="490727">
                <a:tc>
                  <a:txBody>
                    <a:bodyPr wrap="square"/>
                    <a:lstStyle/>
                    <a:p>
                      <a:r>
                        <a:rPr b="1" sz="1200" i="0">
                          <a:solidFill>
                            <a:srgbClr val="1A2233"/>
                          </a:solidFill>
                          <a:latin typeface="Calibri"/>
                        </a:rPr>
                        <a:t>Covenant</a:t>
                      </a:r>
                    </a:p>
                  </a:txBody>
                  <a:tcPr marL="64008" marR="64008" marT="27432" marB="27432" anchor="ctr">
                    <a:solidFill>
                      <a:srgbClr val="F3F6F9"/>
                    </a:solidFill>
                  </a:tcPr>
                </a:tc>
                <a:tc>
                  <a:txBody>
                    <a:bodyPr wrap="square"/>
                    <a:lstStyle/>
                    <a:p>
                      <a:r>
                        <a:rPr b="0" sz="1200" i="0">
                          <a:solidFill>
                            <a:srgbClr val="1A2233"/>
                          </a:solidFill>
                          <a:latin typeface="Calibri"/>
                        </a:rPr>
                        <a:t>Ongoing promise to do (positive) or not do (negative) something</a:t>
                      </a:r>
                    </a:p>
                  </a:txBody>
                  <a:tcPr marL="64008" marR="64008" marT="27432" marB="27432" anchor="ctr">
                    <a:solidFill>
                      <a:srgbClr val="F3F6F9"/>
                    </a:solidFill>
                  </a:tcPr>
                </a:tc>
                <a:tc>
                  <a:txBody>
                    <a:bodyPr wrap="square"/>
                    <a:lstStyle/>
                    <a:p>
                      <a:r>
                        <a:rPr b="0" sz="1200" i="0">
                          <a:solidFill>
                            <a:srgbClr val="1A2233"/>
                          </a:solidFill>
                          <a:latin typeface="Calibri"/>
                        </a:rPr>
                        <a:t>Event of default after any cure period</a:t>
                      </a:r>
                    </a:p>
                  </a:txBody>
                  <a:tcPr marL="64008" marR="64008" marT="27432" marB="27432" anchor="ctr">
                    <a:solidFill>
                      <a:srgbClr val="F3F6F9"/>
                    </a:solidFill>
                  </a:tcPr>
                </a:tc>
              </a:tr>
              <a:tr h="384048">
                <a:tc>
                  <a:txBody>
                    <a:bodyPr wrap="square"/>
                    <a:lstStyle/>
                    <a:p>
                      <a:r>
                        <a:rPr b="1" sz="1200" i="0">
                          <a:solidFill>
                            <a:srgbClr val="1A2233"/>
                          </a:solidFill>
                          <a:latin typeface="Calibri"/>
                        </a:rPr>
                        <a:t>Event of default</a:t>
                      </a:r>
                    </a:p>
                  </a:txBody>
                  <a:tcPr marL="64008" marR="64008" marT="27432" marB="27432" anchor="ctr">
                    <a:solidFill>
                      <a:srgbClr val="FFFFFF"/>
                    </a:solidFill>
                  </a:tcPr>
                </a:tc>
                <a:tc>
                  <a:txBody>
                    <a:bodyPr wrap="square"/>
                    <a:lstStyle/>
                    <a:p>
                      <a:r>
                        <a:rPr b="0" sz="1200" i="0">
                          <a:solidFill>
                            <a:srgbClr val="1A2233"/>
                          </a:solidFill>
                          <a:latin typeface="Calibri"/>
                        </a:rPr>
                        <a:t>Defined breach that triggers remedies</a:t>
                      </a:r>
                    </a:p>
                  </a:txBody>
                  <a:tcPr marL="64008" marR="64008" marT="27432" marB="27432" anchor="ctr">
                    <a:solidFill>
                      <a:srgbClr val="FFFFFF"/>
                    </a:solidFill>
                  </a:tcPr>
                </a:tc>
                <a:tc>
                  <a:txBody>
                    <a:bodyPr wrap="square"/>
                    <a:lstStyle/>
                    <a:p>
                      <a:r>
                        <a:rPr b="0" sz="1200" i="0">
                          <a:solidFill>
                            <a:srgbClr val="1A2233"/>
                          </a:solidFill>
                          <a:latin typeface="Calibri"/>
                        </a:rPr>
                        <a:t>Acceleration, enforcement</a:t>
                      </a:r>
                    </a:p>
                  </a:txBody>
                  <a:tcPr marL="64008" marR="64008" marT="27432" marB="27432" anchor="ctr">
                    <a:solidFill>
                      <a:srgbClr val="FFFFFF"/>
                    </a:solidFill>
                  </a:tcPr>
                </a:tc>
              </a:tr>
            </a:tbl>
          </a:graphicData>
        </a:graphic>
      </p:graphicFrame>
      <p:sp>
        <p:nvSpPr>
          <p:cNvPr id="12" name="Rectangle 11"/>
          <p:cNvSpPr/>
          <p:nvPr/>
        </p:nvSpPr>
        <p:spPr>
          <a:xfrm>
            <a:off x="548640" y="4297680"/>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97680"/>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9768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In loan agreements, 'representations and warranties' are usually used together and repeated at set dates.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REPS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Typical representations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127248"/>
        </p:xfrm>
        <a:graphic>
          <a:graphicData uri="http://schemas.openxmlformats.org/drawingml/2006/table">
            <a:tbl>
              <a:tblPr firstRow="1" bandRow="1">
                <a:tableStyleId>{5C22544A-7EE6-4342-B048-85BDC9FD1C3A}</a:tableStyleId>
              </a:tblPr>
              <a:tblGrid>
                <a:gridCol w="2743200"/>
                <a:gridCol w="8321040"/>
              </a:tblGrid>
              <a:tr h="347472">
                <a:tc>
                  <a:txBody>
                    <a:bodyPr wrap="square"/>
                    <a:lstStyle/>
                    <a:p>
                      <a:r>
                        <a:rPr b="1" sz="1200" i="0">
                          <a:solidFill>
                            <a:srgbClr val="FFFFFF"/>
                          </a:solidFill>
                          <a:latin typeface="Calibri"/>
                        </a:rPr>
                        <a:t>Group</a:t>
                      </a:r>
                    </a:p>
                  </a:txBody>
                  <a:tcPr marL="64008" marR="64008" marT="27432" marB="27432" anchor="ctr">
                    <a:solidFill>
                      <a:srgbClr val="141B4D"/>
                    </a:solidFill>
                  </a:tcPr>
                </a:tc>
                <a:tc>
                  <a:txBody>
                    <a:bodyPr wrap="square"/>
                    <a:lstStyle/>
                    <a:p>
                      <a:r>
                        <a:rPr b="1" sz="1200" i="0">
                          <a:solidFill>
                            <a:srgbClr val="FFFFFF"/>
                          </a:solidFill>
                          <a:latin typeface="Calibri"/>
                        </a:rPr>
                        <a:t>Examples</a:t>
                      </a:r>
                    </a:p>
                  </a:txBody>
                  <a:tcPr marL="64008" marR="64008" marT="27432" marB="27432" anchor="ctr">
                    <a:solidFill>
                      <a:srgbClr val="141B4D"/>
                    </a:solidFill>
                  </a:tcPr>
                </a:tc>
              </a:tr>
              <a:tr h="347472">
                <a:tc>
                  <a:txBody>
                    <a:bodyPr wrap="square"/>
                    <a:lstStyle/>
                    <a:p>
                      <a:r>
                        <a:rPr b="1" sz="1200" i="0">
                          <a:solidFill>
                            <a:srgbClr val="1A2233"/>
                          </a:solidFill>
                          <a:latin typeface="Calibri"/>
                        </a:rPr>
                        <a:t>Status and capacity</a:t>
                      </a:r>
                    </a:p>
                  </a:txBody>
                  <a:tcPr marL="64008" marR="64008" marT="27432" marB="27432" anchor="ctr">
                    <a:solidFill>
                      <a:srgbClr val="FFFFFF"/>
                    </a:solidFill>
                  </a:tcPr>
                </a:tc>
                <a:tc>
                  <a:txBody>
                    <a:bodyPr wrap="square"/>
                    <a:lstStyle/>
                    <a:p>
                      <a:r>
                        <a:rPr b="0" sz="1200" i="0">
                          <a:solidFill>
                            <a:srgbClr val="1A2233"/>
                          </a:solidFill>
                          <a:latin typeface="Calibri"/>
                        </a:rPr>
                        <a:t>SPV is properly incorporated; has power and authority to sign</a:t>
                      </a:r>
                    </a:p>
                  </a:txBody>
                  <a:tcPr marL="64008" marR="64008" marT="27432" marB="27432" anchor="ctr">
                    <a:solidFill>
                      <a:srgbClr val="FFFFFF"/>
                    </a:solidFill>
                  </a:tcPr>
                </a:tc>
              </a:tr>
              <a:tr h="347472">
                <a:tc>
                  <a:txBody>
                    <a:bodyPr wrap="square"/>
                    <a:lstStyle/>
                    <a:p>
                      <a:r>
                        <a:rPr b="1" sz="1200" i="0">
                          <a:solidFill>
                            <a:srgbClr val="1A2233"/>
                          </a:solidFill>
                          <a:latin typeface="Calibri"/>
                        </a:rPr>
                        <a:t>Validity</a:t>
                      </a:r>
                    </a:p>
                  </a:txBody>
                  <a:tcPr marL="64008" marR="64008" marT="27432" marB="27432" anchor="ctr">
                    <a:solidFill>
                      <a:srgbClr val="F3F6F9"/>
                    </a:solidFill>
                  </a:tcPr>
                </a:tc>
                <a:tc>
                  <a:txBody>
                    <a:bodyPr wrap="square"/>
                    <a:lstStyle/>
                    <a:p>
                      <a:r>
                        <a:rPr b="0" sz="1200" i="0">
                          <a:solidFill>
                            <a:srgbClr val="1A2233"/>
                          </a:solidFill>
                          <a:latin typeface="Calibri"/>
                        </a:rPr>
                        <a:t>Obligations are legal, binding and enforceable</a:t>
                      </a:r>
                    </a:p>
                  </a:txBody>
                  <a:tcPr marL="64008" marR="64008" marT="27432" marB="27432" anchor="ctr">
                    <a:solidFill>
                      <a:srgbClr val="F3F6F9"/>
                    </a:solidFill>
                  </a:tcPr>
                </a:tc>
              </a:tr>
              <a:tr h="347472">
                <a:tc>
                  <a:txBody>
                    <a:bodyPr wrap="square"/>
                    <a:lstStyle/>
                    <a:p>
                      <a:r>
                        <a:rPr b="1" sz="1200" i="0">
                          <a:solidFill>
                            <a:srgbClr val="1A2233"/>
                          </a:solidFill>
                          <a:latin typeface="Calibri"/>
                        </a:rPr>
                        <a:t>No conflict</a:t>
                      </a:r>
                    </a:p>
                  </a:txBody>
                  <a:tcPr marL="64008" marR="64008" marT="27432" marB="27432" anchor="ctr">
                    <a:solidFill>
                      <a:srgbClr val="FFFFFF"/>
                    </a:solidFill>
                  </a:tcPr>
                </a:tc>
                <a:tc>
                  <a:txBody>
                    <a:bodyPr wrap="square"/>
                    <a:lstStyle/>
                    <a:p>
                      <a:r>
                        <a:rPr b="0" sz="1200" i="0">
                          <a:solidFill>
                            <a:srgbClr val="1A2233"/>
                          </a:solidFill>
                          <a:latin typeface="Calibri"/>
                        </a:rPr>
                        <a:t>Signing does not breach law, constitution or other contracts</a:t>
                      </a:r>
                    </a:p>
                  </a:txBody>
                  <a:tcPr marL="64008" marR="64008" marT="27432" marB="27432" anchor="ctr">
                    <a:solidFill>
                      <a:srgbClr val="FFFFFF"/>
                    </a:solidFill>
                  </a:tcPr>
                </a:tc>
              </a:tr>
              <a:tr h="347472">
                <a:tc>
                  <a:txBody>
                    <a:bodyPr wrap="square"/>
                    <a:lstStyle/>
                    <a:p>
                      <a:r>
                        <a:rPr b="1" sz="1200" i="0">
                          <a:solidFill>
                            <a:srgbClr val="1A2233"/>
                          </a:solidFill>
                          <a:latin typeface="Calibri"/>
                        </a:rPr>
                        <a:t>Consents</a:t>
                      </a:r>
                    </a:p>
                  </a:txBody>
                  <a:tcPr marL="64008" marR="64008" marT="27432" marB="27432" anchor="ctr">
                    <a:solidFill>
                      <a:srgbClr val="F3F6F9"/>
                    </a:solidFill>
                  </a:tcPr>
                </a:tc>
                <a:tc>
                  <a:txBody>
                    <a:bodyPr wrap="square"/>
                    <a:lstStyle/>
                    <a:p>
                      <a:r>
                        <a:rPr b="0" sz="1200" i="0">
                          <a:solidFill>
                            <a:srgbClr val="1A2233"/>
                          </a:solidFill>
                          <a:latin typeface="Calibri"/>
                        </a:rPr>
                        <a:t>All permits and approvals obtained and in force</a:t>
                      </a:r>
                    </a:p>
                  </a:txBody>
                  <a:tcPr marL="64008" marR="64008" marT="27432" marB="27432" anchor="ctr">
                    <a:solidFill>
                      <a:srgbClr val="F3F6F9"/>
                    </a:solidFill>
                  </a:tcPr>
                </a:tc>
              </a:tr>
              <a:tr h="347472">
                <a:tc>
                  <a:txBody>
                    <a:bodyPr wrap="square"/>
                    <a:lstStyle/>
                    <a:p>
                      <a:r>
                        <a:rPr b="1" sz="1200" i="0">
                          <a:solidFill>
                            <a:srgbClr val="1A2233"/>
                          </a:solidFill>
                          <a:latin typeface="Calibri"/>
                        </a:rPr>
                        <a:t>Financial information</a:t>
                      </a:r>
                    </a:p>
                  </a:txBody>
                  <a:tcPr marL="64008" marR="64008" marT="27432" marB="27432" anchor="ctr">
                    <a:solidFill>
                      <a:srgbClr val="FFFFFF"/>
                    </a:solidFill>
                  </a:tcPr>
                </a:tc>
                <a:tc>
                  <a:txBody>
                    <a:bodyPr wrap="square"/>
                    <a:lstStyle/>
                    <a:p>
                      <a:r>
                        <a:rPr b="0" sz="1200" i="0">
                          <a:solidFill>
                            <a:srgbClr val="1A2233"/>
                          </a:solidFill>
                          <a:latin typeface="Calibri"/>
                        </a:rPr>
                        <a:t>Accounts and model give a true and fair view; no material adverse change</a:t>
                      </a:r>
                    </a:p>
                  </a:txBody>
                  <a:tcPr marL="64008" marR="64008" marT="27432" marB="27432" anchor="ctr">
                    <a:solidFill>
                      <a:srgbClr val="FFFFFF"/>
                    </a:solidFill>
                  </a:tcPr>
                </a:tc>
              </a:tr>
              <a:tr h="347472">
                <a:tc>
                  <a:txBody>
                    <a:bodyPr wrap="square"/>
                    <a:lstStyle/>
                    <a:p>
                      <a:r>
                        <a:rPr b="1" sz="1200" i="0">
                          <a:solidFill>
                            <a:srgbClr val="1A2233"/>
                          </a:solidFill>
                          <a:latin typeface="Calibri"/>
                        </a:rPr>
                        <a:t>No default or litigation</a:t>
                      </a:r>
                    </a:p>
                  </a:txBody>
                  <a:tcPr marL="64008" marR="64008" marT="27432" marB="27432" anchor="ctr">
                    <a:solidFill>
                      <a:srgbClr val="F3F6F9"/>
                    </a:solidFill>
                  </a:tcPr>
                </a:tc>
                <a:tc>
                  <a:txBody>
                    <a:bodyPr wrap="square"/>
                    <a:lstStyle/>
                    <a:p>
                      <a:r>
                        <a:rPr b="0" sz="1200" i="0">
                          <a:solidFill>
                            <a:srgbClr val="1A2233"/>
                          </a:solidFill>
                          <a:latin typeface="Calibri"/>
                        </a:rPr>
                        <a:t>No default; no pending claims that could have a material adverse effect</a:t>
                      </a:r>
                    </a:p>
                  </a:txBody>
                  <a:tcPr marL="64008" marR="64008" marT="27432" marB="27432" anchor="ctr">
                    <a:solidFill>
                      <a:srgbClr val="F3F6F9"/>
                    </a:solidFill>
                  </a:tcPr>
                </a:tc>
              </a:tr>
              <a:tr h="347472">
                <a:tc>
                  <a:txBody>
                    <a:bodyPr wrap="square"/>
                    <a:lstStyle/>
                    <a:p>
                      <a:r>
                        <a:rPr b="1" sz="1200" i="0">
                          <a:solidFill>
                            <a:srgbClr val="1A2233"/>
                          </a:solidFill>
                          <a:latin typeface="Calibri"/>
                        </a:rPr>
                        <a:t>Ownership and title</a:t>
                      </a:r>
                    </a:p>
                  </a:txBody>
                  <a:tcPr marL="64008" marR="64008" marT="27432" marB="27432" anchor="ctr">
                    <a:solidFill>
                      <a:srgbClr val="FFFFFF"/>
                    </a:solidFill>
                  </a:tcPr>
                </a:tc>
                <a:tc>
                  <a:txBody>
                    <a:bodyPr wrap="square"/>
                    <a:lstStyle/>
                    <a:p>
                      <a:r>
                        <a:rPr b="0" sz="1200" i="0">
                          <a:solidFill>
                            <a:srgbClr val="1A2233"/>
                          </a:solidFill>
                          <a:latin typeface="Calibri"/>
                        </a:rPr>
                        <a:t>SPV owns the assets; no other security</a:t>
                      </a:r>
                    </a:p>
                  </a:txBody>
                  <a:tcPr marL="64008" marR="64008" marT="27432" marB="27432" anchor="ctr">
                    <a:solidFill>
                      <a:srgbClr val="FFFFFF"/>
                    </a:solidFill>
                  </a:tcPr>
                </a:tc>
              </a:tr>
              <a:tr h="347472">
                <a:tc>
                  <a:txBody>
                    <a:bodyPr wrap="square"/>
                    <a:lstStyle/>
                    <a:p>
                      <a:r>
                        <a:rPr b="1" sz="1200" i="0">
                          <a:solidFill>
                            <a:srgbClr val="1A2233"/>
                          </a:solidFill>
                          <a:latin typeface="Calibri"/>
                        </a:rPr>
                        <a:t>Compliance</a:t>
                      </a:r>
                    </a:p>
                  </a:txBody>
                  <a:tcPr marL="64008" marR="64008" marT="27432" marB="27432" anchor="ctr">
                    <a:solidFill>
                      <a:srgbClr val="F3F6F9"/>
                    </a:solidFill>
                  </a:tcPr>
                </a:tc>
                <a:tc>
                  <a:txBody>
                    <a:bodyPr wrap="square"/>
                    <a:lstStyle/>
                    <a:p>
                      <a:r>
                        <a:rPr b="0" sz="1200" i="0">
                          <a:solidFill>
                            <a:srgbClr val="1A2233"/>
                          </a:solidFill>
                          <a:latin typeface="Calibri"/>
                        </a:rPr>
                        <a:t>Sanctions, anti-corruption and environmental laws complied with</a:t>
                      </a:r>
                    </a:p>
                  </a:txBody>
                  <a:tcPr marL="64008" marR="64008" marT="27432" marB="27432" anchor="ctr">
                    <a:solidFill>
                      <a:srgbClr val="F3F6F9"/>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COVENANTS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Covenants: positive, negative, financial, information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420108"/>
        </p:xfrm>
        <a:graphic>
          <a:graphicData uri="http://schemas.openxmlformats.org/drawingml/2006/table">
            <a:tbl>
              <a:tblPr firstRow="1" bandRow="1">
                <a:tableStyleId>{5C22544A-7EE6-4342-B048-85BDC9FD1C3A}</a:tableStyleId>
              </a:tblPr>
              <a:tblGrid>
                <a:gridCol w="2377440"/>
                <a:gridCol w="8686800"/>
              </a:tblGrid>
              <a:tr h="457200">
                <a:tc>
                  <a:txBody>
                    <a:bodyPr wrap="square"/>
                    <a:lstStyle/>
                    <a:p>
                      <a:r>
                        <a:rPr b="1" sz="1200" i="0">
                          <a:solidFill>
                            <a:srgbClr val="FFFFFF"/>
                          </a:solidFill>
                          <a:latin typeface="Calibri"/>
                        </a:rPr>
                        <a:t>Type</a:t>
                      </a:r>
                    </a:p>
                  </a:txBody>
                  <a:tcPr marL="64008" marR="64008" marT="27432" marB="27432" anchor="ctr">
                    <a:solidFill>
                      <a:srgbClr val="141B4D"/>
                    </a:solidFill>
                  </a:tcPr>
                </a:tc>
                <a:tc>
                  <a:txBody>
                    <a:bodyPr wrap="square"/>
                    <a:lstStyle/>
                    <a:p>
                      <a:r>
                        <a:rPr b="1" sz="1200" i="0">
                          <a:solidFill>
                            <a:srgbClr val="FFFFFF"/>
                          </a:solidFill>
                          <a:latin typeface="Calibri"/>
                        </a:rPr>
                        <a:t>Examples</a:t>
                      </a:r>
                    </a:p>
                  </a:txBody>
                  <a:tcPr marL="64008" marR="64008" marT="27432" marB="27432" anchor="ctr">
                    <a:solidFill>
                      <a:srgbClr val="141B4D"/>
                    </a:solidFill>
                  </a:tcPr>
                </a:tc>
              </a:tr>
              <a:tr h="490727">
                <a:tc>
                  <a:txBody>
                    <a:bodyPr wrap="square"/>
                    <a:lstStyle/>
                    <a:p>
                      <a:r>
                        <a:rPr b="1" sz="1200" i="0">
                          <a:solidFill>
                            <a:srgbClr val="1A2233"/>
                          </a:solidFill>
                          <a:latin typeface="Calibri"/>
                        </a:rPr>
                        <a:t>Positive (do)</a:t>
                      </a:r>
                    </a:p>
                  </a:txBody>
                  <a:tcPr marL="64008" marR="64008" marT="27432" marB="27432" anchor="ctr">
                    <a:solidFill>
                      <a:srgbClr val="FFFFFF"/>
                    </a:solidFill>
                  </a:tcPr>
                </a:tc>
                <a:tc>
                  <a:txBody>
                    <a:bodyPr wrap="square"/>
                    <a:lstStyle/>
                    <a:p>
                      <a:r>
                        <a:rPr b="0" sz="1200" i="0">
                          <a:solidFill>
                            <a:srgbClr val="1A2233"/>
                          </a:solidFill>
                          <a:latin typeface="Calibri"/>
                        </a:rPr>
                        <a:t>Complete the project on time; maintain insurance; maintain permits; keep accounts; pay taxes; comply with law</a:t>
                      </a:r>
                    </a:p>
                  </a:txBody>
                  <a:tcPr marL="64008" marR="64008" marT="27432" marB="27432" anchor="ctr">
                    <a:solidFill>
                      <a:srgbClr val="FFFFFF"/>
                    </a:solidFill>
                  </a:tcPr>
                </a:tc>
              </a:tr>
              <a:tr h="490727">
                <a:tc>
                  <a:txBody>
                    <a:bodyPr wrap="square"/>
                    <a:lstStyle/>
                    <a:p>
                      <a:r>
                        <a:rPr b="1" sz="1200" i="0">
                          <a:solidFill>
                            <a:srgbClr val="1A2233"/>
                          </a:solidFill>
                          <a:latin typeface="Calibri"/>
                        </a:rPr>
                        <a:t>Negative (do not)</a:t>
                      </a:r>
                    </a:p>
                  </a:txBody>
                  <a:tcPr marL="64008" marR="64008" marT="27432" marB="27432" anchor="ctr">
                    <a:solidFill>
                      <a:srgbClr val="F3F6F9"/>
                    </a:solidFill>
                  </a:tcPr>
                </a:tc>
                <a:tc>
                  <a:txBody>
                    <a:bodyPr wrap="square"/>
                    <a:lstStyle/>
                    <a:p>
                      <a:r>
                        <a:rPr b="0" sz="1200" i="0">
                          <a:solidFill>
                            <a:srgbClr val="1A2233"/>
                          </a:solidFill>
                          <a:latin typeface="Calibri"/>
                        </a:rPr>
                        <a:t>No other debt; no other security; no change of business; no sale of assets; no distributions outside the waterfall</a:t>
                      </a:r>
                    </a:p>
                  </a:txBody>
                  <a:tcPr marL="64008" marR="64008" marT="27432" marB="27432" anchor="ctr">
                    <a:solidFill>
                      <a:srgbClr val="F3F6F9"/>
                    </a:solidFill>
                  </a:tcPr>
                </a:tc>
              </a:tr>
              <a:tr h="490727">
                <a:tc>
                  <a:txBody>
                    <a:bodyPr wrap="square"/>
                    <a:lstStyle/>
                    <a:p>
                      <a:r>
                        <a:rPr b="1" sz="1200" i="0">
                          <a:solidFill>
                            <a:srgbClr val="1A2233"/>
                          </a:solidFill>
                          <a:latin typeface="Calibri"/>
                        </a:rPr>
                        <a:t>Financial</a:t>
                      </a:r>
                    </a:p>
                  </a:txBody>
                  <a:tcPr marL="64008" marR="64008" marT="27432" marB="27432" anchor="ctr">
                    <a:solidFill>
                      <a:srgbClr val="FFFFFF"/>
                    </a:solidFill>
                  </a:tcPr>
                </a:tc>
                <a:tc>
                  <a:txBody>
                    <a:bodyPr wrap="square"/>
                    <a:lstStyle/>
                    <a:p>
                      <a:r>
                        <a:rPr b="0" sz="1200" i="0">
                          <a:solidFill>
                            <a:srgbClr val="1A2233"/>
                          </a:solidFill>
                          <a:latin typeface="Calibri"/>
                        </a:rPr>
                        <a:t>Minimum DSCR (e.g. 1.20x, illustrative); minimum LLCR; maximum gearing; distribution lock-up if DSCR &lt; trigger</a:t>
                      </a:r>
                    </a:p>
                  </a:txBody>
                  <a:tcPr marL="64008" marR="64008" marT="27432" marB="27432" anchor="ctr">
                    <a:solidFill>
                      <a:srgbClr val="FFFFFF"/>
                    </a:solidFill>
                  </a:tcPr>
                </a:tc>
              </a:tr>
              <a:tr h="490727">
                <a:tc>
                  <a:txBody>
                    <a:bodyPr wrap="square"/>
                    <a:lstStyle/>
                    <a:p>
                      <a:r>
                        <a:rPr b="1" sz="1200" i="0">
                          <a:solidFill>
                            <a:srgbClr val="1A2233"/>
                          </a:solidFill>
                          <a:latin typeface="Calibri"/>
                        </a:rPr>
                        <a:t>Information</a:t>
                      </a:r>
                    </a:p>
                  </a:txBody>
                  <a:tcPr marL="64008" marR="64008" marT="27432" marB="27432" anchor="ctr">
                    <a:solidFill>
                      <a:srgbClr val="F3F6F9"/>
                    </a:solidFill>
                  </a:tcPr>
                </a:tc>
                <a:tc>
                  <a:txBody>
                    <a:bodyPr wrap="square"/>
                    <a:lstStyle/>
                    <a:p>
                      <a:r>
                        <a:rPr b="0" sz="1200" i="0">
                          <a:solidFill>
                            <a:srgbClr val="1A2233"/>
                          </a:solidFill>
                          <a:latin typeface="Calibri"/>
                        </a:rPr>
                        <a:t>Annual audited accounts; quarterly management accounts; operating reports; model updates; prompt notice of default</a:t>
                      </a:r>
                    </a:p>
                  </a:txBody>
                  <a:tcPr marL="64008" marR="64008" marT="27432" marB="27432" anchor="ctr">
                    <a:solidFill>
                      <a:srgbClr val="F3F6F9"/>
                    </a:solidFill>
                  </a:tcPr>
                </a:tc>
              </a:tr>
            </a:tbl>
          </a:graphicData>
        </a:graphic>
      </p:graphicFrame>
      <p:sp>
        <p:nvSpPr>
          <p:cNvPr id="12" name="Rectangle 11"/>
          <p:cNvSpPr/>
          <p:nvPr/>
        </p:nvSpPr>
        <p:spPr>
          <a:xfrm>
            <a:off x="548640" y="4297680"/>
            <a:ext cx="11064240" cy="68580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97680"/>
            <a:ext cx="82296" cy="685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9768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Financial covenants link directly to the model: DSCR, LLCR and gearing are calculated from the same rows you built.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DEFAULT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Events of default and remedies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79776"/>
        </p:xfrm>
        <a:graphic>
          <a:graphicData uri="http://schemas.openxmlformats.org/drawingml/2006/table">
            <a:tbl>
              <a:tblPr firstRow="1" bandRow="1">
                <a:tableStyleId>{5C22544A-7EE6-4342-B048-85BDC9FD1C3A}</a:tableStyleId>
              </a:tblPr>
              <a:tblGrid>
                <a:gridCol w="2743200"/>
                <a:gridCol w="4206240"/>
                <a:gridCol w="4114800"/>
              </a:tblGrid>
              <a:tr h="347472">
                <a:tc>
                  <a:txBody>
                    <a:bodyPr wrap="square"/>
                    <a:lstStyle/>
                    <a:p>
                      <a:r>
                        <a:rPr b="1" sz="1200" i="0">
                          <a:solidFill>
                            <a:srgbClr val="FFFFFF"/>
                          </a:solidFill>
                          <a:latin typeface="Calibri"/>
                        </a:rPr>
                        <a:t>Event</a:t>
                      </a:r>
                    </a:p>
                  </a:txBody>
                  <a:tcPr marL="64008" marR="64008" marT="27432" marB="27432" anchor="ctr">
                    <a:solidFill>
                      <a:srgbClr val="141B4D"/>
                    </a:solidFill>
                  </a:tcPr>
                </a:tc>
                <a:tc>
                  <a:txBody>
                    <a:bodyPr wrap="square"/>
                    <a:lstStyle/>
                    <a:p>
                      <a:r>
                        <a:rPr b="1" sz="1200" i="0">
                          <a:solidFill>
                            <a:srgbClr val="FFFFFF"/>
                          </a:solidFill>
                          <a:latin typeface="Calibri"/>
                        </a:rPr>
                        <a:t>Example</a:t>
                      </a:r>
                    </a:p>
                  </a:txBody>
                  <a:tcPr marL="64008" marR="64008" marT="27432" marB="27432" anchor="ctr">
                    <a:solidFill>
                      <a:srgbClr val="141B4D"/>
                    </a:solidFill>
                  </a:tcPr>
                </a:tc>
                <a:tc>
                  <a:txBody>
                    <a:bodyPr wrap="square"/>
                    <a:lstStyle/>
                    <a:p>
                      <a:r>
                        <a:rPr b="1" sz="1200" i="0">
                          <a:solidFill>
                            <a:srgbClr val="FFFFFF"/>
                          </a:solidFill>
                          <a:latin typeface="Calibri"/>
                        </a:rPr>
                        <a:t>Typical cure</a:t>
                      </a:r>
                    </a:p>
                  </a:txBody>
                  <a:tcPr marL="64008" marR="64008" marT="27432" marB="27432" anchor="ctr">
                    <a:solidFill>
                      <a:srgbClr val="141B4D"/>
                    </a:solidFill>
                  </a:tcPr>
                </a:tc>
              </a:tr>
              <a:tr h="347472">
                <a:tc>
                  <a:txBody>
                    <a:bodyPr wrap="square"/>
                    <a:lstStyle/>
                    <a:p>
                      <a:r>
                        <a:rPr b="1" sz="1200" i="0">
                          <a:solidFill>
                            <a:srgbClr val="1A2233"/>
                          </a:solidFill>
                          <a:latin typeface="Calibri"/>
                        </a:rPr>
                        <a:t>Non-payment</a:t>
                      </a:r>
                    </a:p>
                  </a:txBody>
                  <a:tcPr marL="64008" marR="64008" marT="27432" marB="27432" anchor="ctr">
                    <a:solidFill>
                      <a:srgbClr val="FFFFFF"/>
                    </a:solidFill>
                  </a:tcPr>
                </a:tc>
                <a:tc>
                  <a:txBody>
                    <a:bodyPr wrap="square"/>
                    <a:lstStyle/>
                    <a:p>
                      <a:r>
                        <a:rPr b="0" sz="1200" i="0">
                          <a:solidFill>
                            <a:srgbClr val="1A2233"/>
                          </a:solidFill>
                          <a:latin typeface="Calibri"/>
                        </a:rPr>
                        <a:t>Missed principal or interest</a:t>
                      </a:r>
                    </a:p>
                  </a:txBody>
                  <a:tcPr marL="64008" marR="64008" marT="27432" marB="27432" anchor="ctr">
                    <a:solidFill>
                      <a:srgbClr val="FFFFFF"/>
                    </a:solidFill>
                  </a:tcPr>
                </a:tc>
                <a:tc>
                  <a:txBody>
                    <a:bodyPr wrap="square"/>
                    <a:lstStyle/>
                    <a:p>
                      <a:r>
                        <a:rPr b="0" sz="1200" i="0">
                          <a:solidFill>
                            <a:srgbClr val="1A2233"/>
                          </a:solidFill>
                          <a:latin typeface="Calibri"/>
                        </a:rPr>
                        <a:t>Short grace period (a few business days)</a:t>
                      </a:r>
                    </a:p>
                  </a:txBody>
                  <a:tcPr marL="64008" marR="64008" marT="27432" marB="27432" anchor="ctr">
                    <a:solidFill>
                      <a:srgbClr val="FFFFFF"/>
                    </a:solidFill>
                  </a:tcPr>
                </a:tc>
              </a:tr>
              <a:tr h="347472">
                <a:tc>
                  <a:txBody>
                    <a:bodyPr wrap="square"/>
                    <a:lstStyle/>
                    <a:p>
                      <a:r>
                        <a:rPr b="1" sz="1200" i="0">
                          <a:solidFill>
                            <a:srgbClr val="1A2233"/>
                          </a:solidFill>
                          <a:latin typeface="Calibri"/>
                        </a:rPr>
                        <a:t>Breach of covenant</a:t>
                      </a:r>
                    </a:p>
                  </a:txBody>
                  <a:tcPr marL="64008" marR="64008" marT="27432" marB="27432" anchor="ctr">
                    <a:solidFill>
                      <a:srgbClr val="F3F6F9"/>
                    </a:solidFill>
                  </a:tcPr>
                </a:tc>
                <a:tc>
                  <a:txBody>
                    <a:bodyPr wrap="square"/>
                    <a:lstStyle/>
                    <a:p>
                      <a:r>
                        <a:rPr b="0" sz="1200" i="0">
                          <a:solidFill>
                            <a:srgbClr val="1A2233"/>
                          </a:solidFill>
                          <a:latin typeface="Calibri"/>
                        </a:rPr>
                        <a:t>DSCR below default level</a:t>
                      </a:r>
                    </a:p>
                  </a:txBody>
                  <a:tcPr marL="64008" marR="64008" marT="27432" marB="27432" anchor="ctr">
                    <a:solidFill>
                      <a:srgbClr val="F3F6F9"/>
                    </a:solidFill>
                  </a:tcPr>
                </a:tc>
                <a:tc>
                  <a:txBody>
                    <a:bodyPr wrap="square"/>
                    <a:lstStyle/>
                    <a:p>
                      <a:r>
                        <a:rPr b="0" sz="1200" i="0">
                          <a:solidFill>
                            <a:srgbClr val="1A2233"/>
                          </a:solidFill>
                          <a:latin typeface="Calibri"/>
                        </a:rPr>
                        <a:t>Equity cure or remedy period</a:t>
                      </a:r>
                    </a:p>
                  </a:txBody>
                  <a:tcPr marL="64008" marR="64008" marT="27432" marB="27432" anchor="ctr">
                    <a:solidFill>
                      <a:srgbClr val="F3F6F9"/>
                    </a:solidFill>
                  </a:tcPr>
                </a:tc>
              </a:tr>
              <a:tr h="347472">
                <a:tc>
                  <a:txBody>
                    <a:bodyPr wrap="square"/>
                    <a:lstStyle/>
                    <a:p>
                      <a:r>
                        <a:rPr b="1" sz="1200" i="0">
                          <a:solidFill>
                            <a:srgbClr val="1A2233"/>
                          </a:solidFill>
                          <a:latin typeface="Calibri"/>
                        </a:rPr>
                        <a:t>Misrepresentation</a:t>
                      </a:r>
                    </a:p>
                  </a:txBody>
                  <a:tcPr marL="64008" marR="64008" marT="27432" marB="27432" anchor="ctr">
                    <a:solidFill>
                      <a:srgbClr val="FFFFFF"/>
                    </a:solidFill>
                  </a:tcPr>
                </a:tc>
                <a:tc>
                  <a:txBody>
                    <a:bodyPr wrap="square"/>
                    <a:lstStyle/>
                    <a:p>
                      <a:r>
                        <a:rPr b="0" sz="1200" i="0">
                          <a:solidFill>
                            <a:srgbClr val="1A2233"/>
                          </a:solidFill>
                          <a:latin typeface="Calibri"/>
                        </a:rPr>
                        <a:t>False statement in the model</a:t>
                      </a:r>
                    </a:p>
                  </a:txBody>
                  <a:tcPr marL="64008" marR="64008" marT="27432" marB="27432" anchor="ctr">
                    <a:solidFill>
                      <a:srgbClr val="FFFFFF"/>
                    </a:solidFill>
                  </a:tcPr>
                </a:tc>
                <a:tc>
                  <a:txBody>
                    <a:bodyPr wrap="square"/>
                    <a:lstStyle/>
                    <a:p>
                      <a:r>
                        <a:rPr b="0" sz="1200" i="0">
                          <a:solidFill>
                            <a:srgbClr val="1A2233"/>
                          </a:solidFill>
                          <a:latin typeface="Calibri"/>
                        </a:rPr>
                        <a:t>Rectify if capable</a:t>
                      </a:r>
                    </a:p>
                  </a:txBody>
                  <a:tcPr marL="64008" marR="64008" marT="27432" marB="27432" anchor="ctr">
                    <a:solidFill>
                      <a:srgbClr val="FFFFFF"/>
                    </a:solidFill>
                  </a:tcPr>
                </a:tc>
              </a:tr>
              <a:tr h="347472">
                <a:tc>
                  <a:txBody>
                    <a:bodyPr wrap="square"/>
                    <a:lstStyle/>
                    <a:p>
                      <a:r>
                        <a:rPr b="1" sz="1200" i="0">
                          <a:solidFill>
                            <a:srgbClr val="1A2233"/>
                          </a:solidFill>
                          <a:latin typeface="Calibri"/>
                        </a:rPr>
                        <a:t>Cross-default</a:t>
                      </a:r>
                    </a:p>
                  </a:txBody>
                  <a:tcPr marL="64008" marR="64008" marT="27432" marB="27432" anchor="ctr">
                    <a:solidFill>
                      <a:srgbClr val="F3F6F9"/>
                    </a:solidFill>
                  </a:tcPr>
                </a:tc>
                <a:tc>
                  <a:txBody>
                    <a:bodyPr wrap="square"/>
                    <a:lstStyle/>
                    <a:p>
                      <a:r>
                        <a:rPr b="0" sz="1200" i="0">
                          <a:solidFill>
                            <a:srgbClr val="1A2233"/>
                          </a:solidFill>
                          <a:latin typeface="Calibri"/>
                        </a:rPr>
                        <a:t>Default under another material contract</a:t>
                      </a:r>
                    </a:p>
                  </a:txBody>
                  <a:tcPr marL="64008" marR="64008" marT="27432" marB="27432" anchor="ctr">
                    <a:solidFill>
                      <a:srgbClr val="F3F6F9"/>
                    </a:solidFill>
                  </a:tcPr>
                </a:tc>
                <a:tc>
                  <a:txBody>
                    <a:bodyPr wrap="square"/>
                    <a:lstStyle/>
                    <a:p>
                      <a:r>
                        <a:rPr b="0" sz="1200" i="0">
                          <a:solidFill>
                            <a:srgbClr val="1A2233"/>
                          </a:solidFill>
                          <a:latin typeface="Calibri"/>
                        </a:rPr>
                        <a:t>Remedy or waiver</a:t>
                      </a:r>
                    </a:p>
                  </a:txBody>
                  <a:tcPr marL="64008" marR="64008" marT="27432" marB="27432" anchor="ctr">
                    <a:solidFill>
                      <a:srgbClr val="F3F6F9"/>
                    </a:solidFill>
                  </a:tcPr>
                </a:tc>
              </a:tr>
              <a:tr h="347472">
                <a:tc>
                  <a:txBody>
                    <a:bodyPr wrap="square"/>
                    <a:lstStyle/>
                    <a:p>
                      <a:r>
                        <a:rPr b="1" sz="1200" i="0">
                          <a:solidFill>
                            <a:srgbClr val="1A2233"/>
                          </a:solidFill>
                          <a:latin typeface="Calibri"/>
                        </a:rPr>
                        <a:t>Insolvency</a:t>
                      </a:r>
                    </a:p>
                  </a:txBody>
                  <a:tcPr marL="64008" marR="64008" marT="27432" marB="27432" anchor="ctr">
                    <a:solidFill>
                      <a:srgbClr val="FFFFFF"/>
                    </a:solidFill>
                  </a:tcPr>
                </a:tc>
                <a:tc>
                  <a:txBody>
                    <a:bodyPr wrap="square"/>
                    <a:lstStyle/>
                    <a:p>
                      <a:r>
                        <a:rPr b="0" sz="1200" i="0">
                          <a:solidFill>
                            <a:srgbClr val="1A2233"/>
                          </a:solidFill>
                          <a:latin typeface="Calibri"/>
                        </a:rPr>
                        <a:t>Winding up, administration</a:t>
                      </a:r>
                    </a:p>
                  </a:txBody>
                  <a:tcPr marL="64008" marR="64008" marT="27432" marB="27432" anchor="ctr">
                    <a:solidFill>
                      <a:srgbClr val="FFFFFF"/>
                    </a:solidFill>
                  </a:tcPr>
                </a:tc>
                <a:tc>
                  <a:txBody>
                    <a:bodyPr wrap="square"/>
                    <a:lstStyle/>
                    <a:p>
                      <a:r>
                        <a:rPr b="0" sz="1200" i="0">
                          <a:solidFill>
                            <a:srgbClr val="1A2233"/>
                          </a:solidFill>
                          <a:latin typeface="Calibri"/>
                        </a:rPr>
                        <a:t>None</a:t>
                      </a:r>
                    </a:p>
                  </a:txBody>
                  <a:tcPr marL="64008" marR="64008" marT="27432" marB="27432" anchor="ctr">
                    <a:solidFill>
                      <a:srgbClr val="FFFFFF"/>
                    </a:solidFill>
                  </a:tcPr>
                </a:tc>
              </a:tr>
              <a:tr h="347472">
                <a:tc>
                  <a:txBody>
                    <a:bodyPr wrap="square"/>
                    <a:lstStyle/>
                    <a:p>
                      <a:r>
                        <a:rPr b="1" sz="1200" i="0">
                          <a:solidFill>
                            <a:srgbClr val="1A2233"/>
                          </a:solidFill>
                          <a:latin typeface="Calibri"/>
                        </a:rPr>
                        <a:t>Project events</a:t>
                      </a:r>
                    </a:p>
                  </a:txBody>
                  <a:tcPr marL="64008" marR="64008" marT="27432" marB="27432" anchor="ctr">
                    <a:solidFill>
                      <a:srgbClr val="F3F6F9"/>
                    </a:solidFill>
                  </a:tcPr>
                </a:tc>
                <a:tc>
                  <a:txBody>
                    <a:bodyPr wrap="square"/>
                    <a:lstStyle/>
                    <a:p>
                      <a:r>
                        <a:rPr b="0" sz="1200" i="0">
                          <a:solidFill>
                            <a:srgbClr val="1A2233"/>
                          </a:solidFill>
                          <a:latin typeface="Calibri"/>
                        </a:rPr>
                        <a:t>Abandonment, loss of licence, expropriation</a:t>
                      </a:r>
                    </a:p>
                  </a:txBody>
                  <a:tcPr marL="64008" marR="64008" marT="27432" marB="27432" anchor="ctr">
                    <a:solidFill>
                      <a:srgbClr val="F3F6F9"/>
                    </a:solidFill>
                  </a:tcPr>
                </a:tc>
                <a:tc>
                  <a:txBody>
                    <a:bodyPr wrap="square"/>
                    <a:lstStyle/>
                    <a:p>
                      <a:r>
                        <a:rPr b="0" sz="1200" i="0">
                          <a:solidFill>
                            <a:srgbClr val="1A2233"/>
                          </a:solidFill>
                          <a:latin typeface="Calibri"/>
                        </a:rPr>
                        <a:t>Negotiated</a:t>
                      </a:r>
                    </a:p>
                  </a:txBody>
                  <a:tcPr marL="64008" marR="64008" marT="27432" marB="27432" anchor="ctr">
                    <a:solidFill>
                      <a:srgbClr val="F3F6F9"/>
                    </a:solidFill>
                  </a:tcPr>
                </a:tc>
              </a:tr>
              <a:tr h="347472">
                <a:tc>
                  <a:txBody>
                    <a:bodyPr wrap="square"/>
                    <a:lstStyle/>
                    <a:p>
                      <a:r>
                        <a:rPr b="1" sz="1200" i="0">
                          <a:solidFill>
                            <a:srgbClr val="1A2233"/>
                          </a:solidFill>
                          <a:latin typeface="Calibri"/>
                        </a:rPr>
                        <a:t>Material adverse change</a:t>
                      </a:r>
                    </a:p>
                  </a:txBody>
                  <a:tcPr marL="64008" marR="64008" marT="27432" marB="27432" anchor="ctr">
                    <a:solidFill>
                      <a:srgbClr val="FFFFFF"/>
                    </a:solidFill>
                  </a:tcPr>
                </a:tc>
                <a:tc>
                  <a:txBody>
                    <a:bodyPr wrap="square"/>
                    <a:lstStyle/>
                    <a:p>
                      <a:r>
                        <a:rPr b="0" sz="1200" i="0">
                          <a:solidFill>
                            <a:srgbClr val="1A2233"/>
                          </a:solidFill>
                          <a:latin typeface="Calibri"/>
                        </a:rPr>
                        <a:t>Event that harms ability to repay</a:t>
                      </a:r>
                    </a:p>
                  </a:txBody>
                  <a:tcPr marL="64008" marR="64008" marT="27432" marB="27432" anchor="ctr">
                    <a:solidFill>
                      <a:srgbClr val="FFFFFF"/>
                    </a:solidFill>
                  </a:tcPr>
                </a:tc>
                <a:tc>
                  <a:txBody>
                    <a:bodyPr wrap="square"/>
                    <a:lstStyle/>
                    <a:p>
                      <a:r>
                        <a:rPr b="0" sz="1200" i="0">
                          <a:solidFill>
                            <a:srgbClr val="1A2233"/>
                          </a:solidFill>
                          <a:latin typeface="Calibri"/>
                        </a:rPr>
                        <a:t>Lender judgement; often litigated</a:t>
                      </a:r>
                    </a:p>
                  </a:txBody>
                  <a:tcPr marL="64008" marR="64008" marT="27432" marB="27432"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REMEDIES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lenders can do after an event of default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586740"/>
          </a:xfrm>
          <a:prstGeom prst="rect">
            <a:avLst/>
          </a:prstGeom>
          <a:noFill/>
        </p:spPr>
        <p:txBody>
          <a:bodyPr wrap="square" lIns="45720" rIns="45720" tIns="27432" bIns="27432" anchor="ctr">
            <a:spAutoFit/>
          </a:bodyPr>
          <a:lstStyle/>
          <a:p>
            <a:pPr algn="l"/>
            <a:r>
              <a:rPr b="0" sz="1500" i="0">
                <a:solidFill>
                  <a:srgbClr val="1A2233"/>
                </a:solidFill>
                <a:latin typeface="Calibri"/>
              </a:rPr>
              <a:t>Reservation of rights: write to the borrower; no waiver</a:t>
            </a:r>
          </a:p>
        </p:txBody>
      </p:sp>
      <p:sp>
        <p:nvSpPr>
          <p:cNvPr id="13" name="Oval 12"/>
          <p:cNvSpPr/>
          <p:nvPr/>
        </p:nvSpPr>
        <p:spPr>
          <a:xfrm>
            <a:off x="548640" y="217779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41220"/>
            <a:ext cx="10378440" cy="586740"/>
          </a:xfrm>
          <a:prstGeom prst="rect">
            <a:avLst/>
          </a:prstGeom>
          <a:noFill/>
        </p:spPr>
        <p:txBody>
          <a:bodyPr wrap="square" lIns="45720" rIns="45720" tIns="27432" bIns="27432" anchor="ctr">
            <a:spAutoFit/>
          </a:bodyPr>
          <a:lstStyle/>
          <a:p>
            <a:pPr algn="l"/>
            <a:r>
              <a:rPr b="0" sz="1500" i="0">
                <a:solidFill>
                  <a:srgbClr val="1A2233"/>
                </a:solidFill>
                <a:latin typeface="Calibri"/>
              </a:rPr>
              <a:t>Standstill / waiver discussions: negotiate a fix</a:t>
            </a:r>
          </a:p>
        </p:txBody>
      </p:sp>
      <p:sp>
        <p:nvSpPr>
          <p:cNvPr id="15" name="Oval 14"/>
          <p:cNvSpPr/>
          <p:nvPr/>
        </p:nvSpPr>
        <p:spPr>
          <a:xfrm>
            <a:off x="548640" y="281025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773680"/>
            <a:ext cx="10378440" cy="586740"/>
          </a:xfrm>
          <a:prstGeom prst="rect">
            <a:avLst/>
          </a:prstGeom>
          <a:noFill/>
        </p:spPr>
        <p:txBody>
          <a:bodyPr wrap="square" lIns="45720" rIns="45720" tIns="27432" bIns="27432" anchor="ctr">
            <a:spAutoFit/>
          </a:bodyPr>
          <a:lstStyle/>
          <a:p>
            <a:pPr algn="l"/>
            <a:r>
              <a:rPr b="0" sz="1500" i="0">
                <a:solidFill>
                  <a:srgbClr val="1A2233"/>
                </a:solidFill>
                <a:latin typeface="Calibri"/>
              </a:rPr>
              <a:t>Cash controls: block dividends; trap cash</a:t>
            </a:r>
          </a:p>
        </p:txBody>
      </p:sp>
      <p:sp>
        <p:nvSpPr>
          <p:cNvPr id="17" name="Oval 16"/>
          <p:cNvSpPr/>
          <p:nvPr/>
        </p:nvSpPr>
        <p:spPr>
          <a:xfrm>
            <a:off x="548640" y="344271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06140"/>
            <a:ext cx="10378440" cy="586740"/>
          </a:xfrm>
          <a:prstGeom prst="rect">
            <a:avLst/>
          </a:prstGeom>
          <a:noFill/>
        </p:spPr>
        <p:txBody>
          <a:bodyPr wrap="square" lIns="45720" rIns="45720" tIns="27432" bIns="27432" anchor="ctr">
            <a:spAutoFit/>
          </a:bodyPr>
          <a:lstStyle/>
          <a:p>
            <a:pPr algn="l"/>
            <a:r>
              <a:rPr b="0" sz="1500" i="0">
                <a:solidFill>
                  <a:srgbClr val="1A2233"/>
                </a:solidFill>
                <a:latin typeface="Calibri"/>
              </a:rPr>
              <a:t>Acceleration: demand immediate repayment</a:t>
            </a:r>
          </a:p>
        </p:txBody>
      </p:sp>
      <p:sp>
        <p:nvSpPr>
          <p:cNvPr id="19" name="Oval 18"/>
          <p:cNvSpPr/>
          <p:nvPr/>
        </p:nvSpPr>
        <p:spPr>
          <a:xfrm>
            <a:off x="548640" y="407517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38600"/>
            <a:ext cx="10378440" cy="586740"/>
          </a:xfrm>
          <a:prstGeom prst="rect">
            <a:avLst/>
          </a:prstGeom>
          <a:noFill/>
        </p:spPr>
        <p:txBody>
          <a:bodyPr wrap="square" lIns="45720" rIns="45720" tIns="27432" bIns="27432" anchor="ctr">
            <a:spAutoFit/>
          </a:bodyPr>
          <a:lstStyle/>
          <a:p>
            <a:pPr algn="l"/>
            <a:r>
              <a:rPr b="0" sz="1500" i="0">
                <a:solidFill>
                  <a:srgbClr val="1A2233"/>
                </a:solidFill>
                <a:latin typeface="Calibri"/>
              </a:rPr>
              <a:t>Step-in: take over the project through direct agreements</a:t>
            </a:r>
          </a:p>
        </p:txBody>
      </p:sp>
      <p:sp>
        <p:nvSpPr>
          <p:cNvPr id="21" name="Oval 20"/>
          <p:cNvSpPr/>
          <p:nvPr/>
        </p:nvSpPr>
        <p:spPr>
          <a:xfrm>
            <a:off x="548640" y="47076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671060"/>
            <a:ext cx="10378440" cy="586740"/>
          </a:xfrm>
          <a:prstGeom prst="rect">
            <a:avLst/>
          </a:prstGeom>
          <a:noFill/>
        </p:spPr>
        <p:txBody>
          <a:bodyPr wrap="square" lIns="45720" rIns="45720" tIns="27432" bIns="27432" anchor="ctr">
            <a:spAutoFit/>
          </a:bodyPr>
          <a:lstStyle/>
          <a:p>
            <a:pPr algn="l"/>
            <a:r>
              <a:rPr b="0" sz="1500" i="0">
                <a:solidFill>
                  <a:srgbClr val="1A2233"/>
                </a:solidFill>
                <a:latin typeface="Calibri"/>
              </a:rPr>
              <a:t>Enforcement of security: sell assets or shares, usually through the security trustee</a:t>
            </a:r>
          </a:p>
        </p:txBody>
      </p:sp>
      <p:sp>
        <p:nvSpPr>
          <p:cNvPr id="23" name="Rectangle 22"/>
          <p:cNvSpPr/>
          <p:nvPr/>
        </p:nvSpPr>
        <p:spPr>
          <a:xfrm>
            <a:off x="548640" y="539496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39496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39496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Lenders prefer a working project to a forced sale: step-in and restructuring are used before enforcement.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RESTRUCTURING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Renegotiation, revision and restructuring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79776"/>
        </p:xfrm>
        <a:graphic>
          <a:graphicData uri="http://schemas.openxmlformats.org/drawingml/2006/table">
            <a:tbl>
              <a:tblPr firstRow="1" bandRow="1">
                <a:tableStyleId>{5C22544A-7EE6-4342-B048-85BDC9FD1C3A}</a:tableStyleId>
              </a:tblPr>
              <a:tblGrid>
                <a:gridCol w="2468880"/>
                <a:gridCol w="4297680"/>
                <a:gridCol w="4297680"/>
              </a:tblGrid>
              <a:tr h="347472">
                <a:tc>
                  <a:txBody>
                    <a:bodyPr wrap="square"/>
                    <a:lstStyle/>
                    <a:p>
                      <a:r>
                        <a:rPr b="1" sz="1200" i="0">
                          <a:solidFill>
                            <a:srgbClr val="FFFFFF"/>
                          </a:solidFill>
                          <a:latin typeface="Calibri"/>
                        </a:rPr>
                        <a:t>Option</a:t>
                      </a:r>
                    </a:p>
                  </a:txBody>
                  <a:tcPr marL="64008" marR="64008" marT="27432" marB="27432" anchor="ctr">
                    <a:solidFill>
                      <a:srgbClr val="141B4D"/>
                    </a:solidFill>
                  </a:tcPr>
                </a:tc>
                <a:tc>
                  <a:txBody>
                    <a:bodyPr wrap="square"/>
                    <a:lstStyle/>
                    <a:p>
                      <a:r>
                        <a:rPr b="1" sz="1200" i="0">
                          <a:solidFill>
                            <a:srgbClr val="FFFFFF"/>
                          </a:solidFill>
                          <a:latin typeface="Calibri"/>
                        </a:rPr>
                        <a:t>How it works</a:t>
                      </a:r>
                    </a:p>
                  </a:txBody>
                  <a:tcPr marL="64008" marR="64008" marT="27432" marB="27432" anchor="ctr">
                    <a:solidFill>
                      <a:srgbClr val="141B4D"/>
                    </a:solidFill>
                  </a:tcPr>
                </a:tc>
                <a:tc>
                  <a:txBody>
                    <a:bodyPr wrap="square"/>
                    <a:lstStyle/>
                    <a:p>
                      <a:r>
                        <a:rPr b="1" sz="1200" i="0">
                          <a:solidFill>
                            <a:srgbClr val="FFFFFF"/>
                          </a:solidFill>
                          <a:latin typeface="Calibri"/>
                        </a:rPr>
                        <a:t>Effect on cash flow / model</a:t>
                      </a:r>
                    </a:p>
                  </a:txBody>
                  <a:tcPr marL="64008" marR="64008" marT="27432" marB="27432" anchor="ctr">
                    <a:solidFill>
                      <a:srgbClr val="141B4D"/>
                    </a:solidFill>
                  </a:tcPr>
                </a:tc>
              </a:tr>
              <a:tr h="347472">
                <a:tc>
                  <a:txBody>
                    <a:bodyPr wrap="square"/>
                    <a:lstStyle/>
                    <a:p>
                      <a:r>
                        <a:rPr b="1" sz="1200" i="0">
                          <a:solidFill>
                            <a:srgbClr val="1A2233"/>
                          </a:solidFill>
                          <a:latin typeface="Calibri"/>
                        </a:rPr>
                        <a:t>Waiver</a:t>
                      </a:r>
                    </a:p>
                  </a:txBody>
                  <a:tcPr marL="64008" marR="64008" marT="27432" marB="27432" anchor="ctr">
                    <a:solidFill>
                      <a:srgbClr val="FFFFFF"/>
                    </a:solidFill>
                  </a:tcPr>
                </a:tc>
                <a:tc>
                  <a:txBody>
                    <a:bodyPr wrap="square"/>
                    <a:lstStyle/>
                    <a:p>
                      <a:r>
                        <a:rPr b="0" sz="1200" i="0">
                          <a:solidFill>
                            <a:srgbClr val="1A2233"/>
                          </a:solidFill>
                          <a:latin typeface="Calibri"/>
                        </a:rPr>
                        <a:t>Lender agrees not to act on a breach</a:t>
                      </a:r>
                    </a:p>
                  </a:txBody>
                  <a:tcPr marL="64008" marR="64008" marT="27432" marB="27432" anchor="ctr">
                    <a:solidFill>
                      <a:srgbClr val="FFFFFF"/>
                    </a:solidFill>
                  </a:tcPr>
                </a:tc>
                <a:tc>
                  <a:txBody>
                    <a:bodyPr wrap="square"/>
                    <a:lstStyle/>
                    <a:p>
                      <a:r>
                        <a:rPr b="0" sz="1200" i="0">
                          <a:solidFill>
                            <a:srgbClr val="1A2233"/>
                          </a:solidFill>
                          <a:latin typeface="Calibri"/>
                        </a:rPr>
                        <a:t>None, but terms may tighten</a:t>
                      </a:r>
                    </a:p>
                  </a:txBody>
                  <a:tcPr marL="64008" marR="64008" marT="27432" marB="27432" anchor="ctr">
                    <a:solidFill>
                      <a:srgbClr val="FFFFFF"/>
                    </a:solidFill>
                  </a:tcPr>
                </a:tc>
              </a:tr>
              <a:tr h="347472">
                <a:tc>
                  <a:txBody>
                    <a:bodyPr wrap="square"/>
                    <a:lstStyle/>
                    <a:p>
                      <a:r>
                        <a:rPr b="1" sz="1200" i="0">
                          <a:solidFill>
                            <a:srgbClr val="1A2233"/>
                          </a:solidFill>
                          <a:latin typeface="Calibri"/>
                        </a:rPr>
                        <a:t>Reprofile</a:t>
                      </a:r>
                    </a:p>
                  </a:txBody>
                  <a:tcPr marL="64008" marR="64008" marT="27432" marB="27432" anchor="ctr">
                    <a:solidFill>
                      <a:srgbClr val="F3F6F9"/>
                    </a:solidFill>
                  </a:tcPr>
                </a:tc>
                <a:tc>
                  <a:txBody>
                    <a:bodyPr wrap="square"/>
                    <a:lstStyle/>
                    <a:p>
                      <a:r>
                        <a:rPr b="0" sz="1200" i="0">
                          <a:solidFill>
                            <a:srgbClr val="1A2233"/>
                          </a:solidFill>
                          <a:latin typeface="Calibri"/>
                        </a:rPr>
                        <a:t>Move principal repayments later</a:t>
                      </a:r>
                    </a:p>
                  </a:txBody>
                  <a:tcPr marL="64008" marR="64008" marT="27432" marB="27432" anchor="ctr">
                    <a:solidFill>
                      <a:srgbClr val="F3F6F9"/>
                    </a:solidFill>
                  </a:tcPr>
                </a:tc>
                <a:tc>
                  <a:txBody>
                    <a:bodyPr wrap="square"/>
                    <a:lstStyle/>
                    <a:p>
                      <a:r>
                        <a:rPr b="0" sz="1200" i="0">
                          <a:solidFill>
                            <a:srgbClr val="1A2233"/>
                          </a:solidFill>
                          <a:latin typeface="Calibri"/>
                        </a:rPr>
                        <a:t>Debt service lower now, higher later</a:t>
                      </a:r>
                    </a:p>
                  </a:txBody>
                  <a:tcPr marL="64008" marR="64008" marT="27432" marB="27432" anchor="ctr">
                    <a:solidFill>
                      <a:srgbClr val="F3F6F9"/>
                    </a:solidFill>
                  </a:tcPr>
                </a:tc>
              </a:tr>
              <a:tr h="347472">
                <a:tc>
                  <a:txBody>
                    <a:bodyPr wrap="square"/>
                    <a:lstStyle/>
                    <a:p>
                      <a:r>
                        <a:rPr b="1" sz="1200" i="0">
                          <a:solidFill>
                            <a:srgbClr val="1A2233"/>
                          </a:solidFill>
                          <a:latin typeface="Calibri"/>
                        </a:rPr>
                        <a:t>Extend tenor</a:t>
                      </a:r>
                    </a:p>
                  </a:txBody>
                  <a:tcPr marL="64008" marR="64008" marT="27432" marB="27432" anchor="ctr">
                    <a:solidFill>
                      <a:srgbClr val="FFFFFF"/>
                    </a:solidFill>
                  </a:tcPr>
                </a:tc>
                <a:tc>
                  <a:txBody>
                    <a:bodyPr wrap="square"/>
                    <a:lstStyle/>
                    <a:p>
                      <a:r>
                        <a:rPr b="0" sz="1200" i="0">
                          <a:solidFill>
                            <a:srgbClr val="1A2233"/>
                          </a:solidFill>
                          <a:latin typeface="Calibri"/>
                        </a:rPr>
                        <a:t>Longer loan life</a:t>
                      </a:r>
                    </a:p>
                  </a:txBody>
                  <a:tcPr marL="64008" marR="64008" marT="27432" marB="27432" anchor="ctr">
                    <a:solidFill>
                      <a:srgbClr val="FFFFFF"/>
                    </a:solidFill>
                  </a:tcPr>
                </a:tc>
                <a:tc>
                  <a:txBody>
                    <a:bodyPr wrap="square"/>
                    <a:lstStyle/>
                    <a:p>
                      <a:r>
                        <a:rPr b="0" sz="1200" i="0">
                          <a:solidFill>
                            <a:srgbClr val="1A2233"/>
                          </a:solidFill>
                          <a:latin typeface="Calibri"/>
                        </a:rPr>
                        <a:t>Lower annual debt service; more interest</a:t>
                      </a:r>
                    </a:p>
                  </a:txBody>
                  <a:tcPr marL="64008" marR="64008" marT="27432" marB="27432" anchor="ctr">
                    <a:solidFill>
                      <a:srgbClr val="FFFFFF"/>
                    </a:solidFill>
                  </a:tcPr>
                </a:tc>
              </a:tr>
              <a:tr h="347472">
                <a:tc>
                  <a:txBody>
                    <a:bodyPr wrap="square"/>
                    <a:lstStyle/>
                    <a:p>
                      <a:r>
                        <a:rPr b="1" sz="1200" i="0">
                          <a:solidFill>
                            <a:srgbClr val="1A2233"/>
                          </a:solidFill>
                          <a:latin typeface="Calibri"/>
                        </a:rPr>
                        <a:t>Capitalise interest</a:t>
                      </a:r>
                    </a:p>
                  </a:txBody>
                  <a:tcPr marL="64008" marR="64008" marT="27432" marB="27432" anchor="ctr">
                    <a:solidFill>
                      <a:srgbClr val="F3F6F9"/>
                    </a:solidFill>
                  </a:tcPr>
                </a:tc>
                <a:tc>
                  <a:txBody>
                    <a:bodyPr wrap="square"/>
                    <a:lstStyle/>
                    <a:p>
                      <a:r>
                        <a:rPr b="0" sz="1200" i="0">
                          <a:solidFill>
                            <a:srgbClr val="1A2233"/>
                          </a:solidFill>
                          <a:latin typeface="Calibri"/>
                        </a:rPr>
                        <a:t>Unpaid interest added to principal</a:t>
                      </a:r>
                    </a:p>
                  </a:txBody>
                  <a:tcPr marL="64008" marR="64008" marT="27432" marB="27432" anchor="ctr">
                    <a:solidFill>
                      <a:srgbClr val="F3F6F9"/>
                    </a:solidFill>
                  </a:tcPr>
                </a:tc>
                <a:tc>
                  <a:txBody>
                    <a:bodyPr wrap="square"/>
                    <a:lstStyle/>
                    <a:p>
                      <a:r>
                        <a:rPr b="0" sz="1200" i="0">
                          <a:solidFill>
                            <a:srgbClr val="1A2233"/>
                          </a:solidFill>
                          <a:latin typeface="Calibri"/>
                        </a:rPr>
                        <a:t>Debt balance grows</a:t>
                      </a:r>
                    </a:p>
                  </a:txBody>
                  <a:tcPr marL="64008" marR="64008" marT="27432" marB="27432" anchor="ctr">
                    <a:solidFill>
                      <a:srgbClr val="F3F6F9"/>
                    </a:solidFill>
                  </a:tcPr>
                </a:tc>
              </a:tr>
              <a:tr h="347472">
                <a:tc>
                  <a:txBody>
                    <a:bodyPr wrap="square"/>
                    <a:lstStyle/>
                    <a:p>
                      <a:r>
                        <a:rPr b="1" sz="1200" i="0">
                          <a:solidFill>
                            <a:srgbClr val="1A2233"/>
                          </a:solidFill>
                          <a:latin typeface="Calibri"/>
                        </a:rPr>
                        <a:t>Cash sweep</a:t>
                      </a:r>
                    </a:p>
                  </a:txBody>
                  <a:tcPr marL="64008" marR="64008" marT="27432" marB="27432" anchor="ctr">
                    <a:solidFill>
                      <a:srgbClr val="FFFFFF"/>
                    </a:solidFill>
                  </a:tcPr>
                </a:tc>
                <a:tc>
                  <a:txBody>
                    <a:bodyPr wrap="square"/>
                    <a:lstStyle/>
                    <a:p>
                      <a:r>
                        <a:rPr b="0" sz="1200" i="0">
                          <a:solidFill>
                            <a:srgbClr val="1A2233"/>
                          </a:solidFill>
                          <a:latin typeface="Calibri"/>
                        </a:rPr>
                        <a:t>Excess cash prepays debt</a:t>
                      </a:r>
                    </a:p>
                  </a:txBody>
                  <a:tcPr marL="64008" marR="64008" marT="27432" marB="27432" anchor="ctr">
                    <a:solidFill>
                      <a:srgbClr val="FFFFFF"/>
                    </a:solidFill>
                  </a:tcPr>
                </a:tc>
                <a:tc>
                  <a:txBody>
                    <a:bodyPr wrap="square"/>
                    <a:lstStyle/>
                    <a:p>
                      <a:r>
                        <a:rPr b="0" sz="1200" i="0">
                          <a:solidFill>
                            <a:srgbClr val="1A2233"/>
                          </a:solidFill>
                          <a:latin typeface="Calibri"/>
                        </a:rPr>
                        <a:t>Faster repayment, lower dividends</a:t>
                      </a:r>
                    </a:p>
                  </a:txBody>
                  <a:tcPr marL="64008" marR="64008" marT="27432" marB="27432" anchor="ctr">
                    <a:solidFill>
                      <a:srgbClr val="FFFFFF"/>
                    </a:solidFill>
                  </a:tcPr>
                </a:tc>
              </a:tr>
              <a:tr h="347472">
                <a:tc>
                  <a:txBody>
                    <a:bodyPr wrap="square"/>
                    <a:lstStyle/>
                    <a:p>
                      <a:r>
                        <a:rPr b="1" sz="1200" i="0">
                          <a:solidFill>
                            <a:srgbClr val="1A2233"/>
                          </a:solidFill>
                          <a:latin typeface="Calibri"/>
                        </a:rPr>
                        <a:t>Equity cure</a:t>
                      </a:r>
                    </a:p>
                  </a:txBody>
                  <a:tcPr marL="64008" marR="64008" marT="27432" marB="27432" anchor="ctr">
                    <a:solidFill>
                      <a:srgbClr val="F3F6F9"/>
                    </a:solidFill>
                  </a:tcPr>
                </a:tc>
                <a:tc>
                  <a:txBody>
                    <a:bodyPr wrap="square"/>
                    <a:lstStyle/>
                    <a:p>
                      <a:r>
                        <a:rPr b="0" sz="1200" i="0">
                          <a:solidFill>
                            <a:srgbClr val="1A2233"/>
                          </a:solidFill>
                          <a:latin typeface="Calibri"/>
                        </a:rPr>
                        <a:t>Sponsors inject cash</a:t>
                      </a:r>
                    </a:p>
                  </a:txBody>
                  <a:tcPr marL="64008" marR="64008" marT="27432" marB="27432" anchor="ctr">
                    <a:solidFill>
                      <a:srgbClr val="F3F6F9"/>
                    </a:solidFill>
                  </a:tcPr>
                </a:tc>
                <a:tc>
                  <a:txBody>
                    <a:bodyPr wrap="square"/>
                    <a:lstStyle/>
                    <a:p>
                      <a:r>
                        <a:rPr b="0" sz="1200" i="0">
                          <a:solidFill>
                            <a:srgbClr val="1A2233"/>
                          </a:solidFill>
                          <a:latin typeface="Calibri"/>
                        </a:rPr>
                        <a:t>Raises cash and equity</a:t>
                      </a:r>
                    </a:p>
                  </a:txBody>
                  <a:tcPr marL="64008" marR="64008" marT="27432" marB="27432" anchor="ctr">
                    <a:solidFill>
                      <a:srgbClr val="F3F6F9"/>
                    </a:solidFill>
                  </a:tcPr>
                </a:tc>
              </a:tr>
              <a:tr h="347472">
                <a:tc>
                  <a:txBody>
                    <a:bodyPr wrap="square"/>
                    <a:lstStyle/>
                    <a:p>
                      <a:r>
                        <a:rPr b="1" sz="1200" i="0">
                          <a:solidFill>
                            <a:srgbClr val="1A2233"/>
                          </a:solidFill>
                          <a:latin typeface="Calibri"/>
                        </a:rPr>
                        <a:t>Tariff or contract revision</a:t>
                      </a:r>
                    </a:p>
                  </a:txBody>
                  <a:tcPr marL="64008" marR="64008" marT="27432" marB="27432" anchor="ctr">
                    <a:solidFill>
                      <a:srgbClr val="FFFFFF"/>
                    </a:solidFill>
                  </a:tcPr>
                </a:tc>
                <a:tc>
                  <a:txBody>
                    <a:bodyPr wrap="square"/>
                    <a:lstStyle/>
                    <a:p>
                      <a:r>
                        <a:rPr b="0" sz="1200" i="0">
                          <a:solidFill>
                            <a:srgbClr val="1A2233"/>
                          </a:solidFill>
                          <a:latin typeface="Calibri"/>
                        </a:rPr>
                        <a:t>Renegotiate PPA terms</a:t>
                      </a:r>
                    </a:p>
                  </a:txBody>
                  <a:tcPr marL="64008" marR="64008" marT="27432" marB="27432" anchor="ctr">
                    <a:solidFill>
                      <a:srgbClr val="FFFFFF"/>
                    </a:solidFill>
                  </a:tcPr>
                </a:tc>
                <a:tc>
                  <a:txBody>
                    <a:bodyPr wrap="square"/>
                    <a:lstStyle/>
                    <a:p>
                      <a:r>
                        <a:rPr b="0" sz="1200" i="0">
                          <a:solidFill>
                            <a:srgbClr val="1A2233"/>
                          </a:solidFill>
                          <a:latin typeface="Calibri"/>
                        </a:rPr>
                        <a:t>Revenue changes</a:t>
                      </a:r>
                    </a:p>
                  </a:txBody>
                  <a:tcPr marL="64008" marR="64008" marT="27432" marB="27432" anchor="ctr">
                    <a:solidFill>
                      <a:srgbClr val="FFFFFF"/>
                    </a:solidFill>
                  </a:tcPr>
                </a:tc>
              </a:tr>
            </a:tbl>
          </a:graphicData>
        </a:graphic>
      </p:graphicFrame>
      <p:sp>
        <p:nvSpPr>
          <p:cNvPr id="12" name="Rectangle 11"/>
          <p:cNvSpPr/>
          <p:nvPr/>
        </p:nvSpPr>
        <p:spPr>
          <a:xfrm>
            <a:off x="548640" y="475488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75488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7548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Each option is a change to inputs in the model: tenor, profile, equity injection (InpS rows 22 and 23).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2.4: Draft a covenant package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For Sahel Sun draft one positive, one negative, one financial and one information covenant, plus the consequence if breached.</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Use plain English; one sentence each</a:t>
            </a:r>
          </a:p>
          <a:p>
            <a:pPr>
              <a:spcAft>
                <a:spcPts val="300"/>
              </a:spcAft>
            </a:pPr>
            <a:r>
              <a:rPr b="0" sz="1500" i="0">
                <a:solidFill>
                  <a:srgbClr val="1A2233"/>
                </a:solidFill>
                <a:latin typeface="Calibri"/>
              </a:rPr>
              <a:t>2.  Financial covenant: choose a ratio, a level and a test frequency</a:t>
            </a:r>
          </a:p>
          <a:p>
            <a:pPr>
              <a:spcAft>
                <a:spcPts val="300"/>
              </a:spcAft>
            </a:pPr>
            <a:r>
              <a:rPr b="0" sz="1500" i="0">
                <a:solidFill>
                  <a:srgbClr val="1A2233"/>
                </a:solidFill>
                <a:latin typeface="Calibri"/>
              </a:rPr>
              <a:t>3.  State the cure period or remedy</a:t>
            </a:r>
          </a:p>
          <a:p>
            <a:pPr>
              <a:spcAft>
                <a:spcPts val="300"/>
              </a:spcAft>
            </a:pPr>
            <a:r>
              <a:rPr b="0" sz="1500" i="0">
                <a:solidFill>
                  <a:srgbClr val="1A2233"/>
                </a:solidFill>
                <a:latin typeface="Calibri"/>
              </a:rPr>
              <a:t>4.  Swap with a neighbour and challenge each other's covenants</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representation that the SPV has all required licences is repeated at each drawdown because:</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Facts can change between signing and drawdown, and lenders must be sure at the time money moves</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is a formality with no legal effect</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replaces due diligence</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is only needed for the first drawdown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14.45 – 15.30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6: Case-study-led group session</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Lenders' counsel for Project Sahel Sun.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CASE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case: facts for lenders' counsel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Project Sahel Sun: 50 MW solar plant, Kano State (fictional); total cost US$55m; 20-year PPA with a state-licensed offtaker</a:t>
            </a:r>
          </a:p>
          <a:p>
            <a:pPr>
              <a:spcAft>
                <a:spcPts val="700"/>
              </a:spcAft>
            </a:pPr>
            <a:r>
              <a:rPr b="0" sz="2000" i="0">
                <a:solidFill>
                  <a:srgbClr val="1A2233"/>
                </a:solidFill>
                <a:latin typeface="Calibri"/>
              </a:rPr>
              <a:t>▪ Sponsors: a foreign developer (60%) and a Nigerian company (40%); SPV incorporated in Nigeria</a:t>
            </a:r>
          </a:p>
          <a:p>
            <a:pPr>
              <a:spcAft>
                <a:spcPts val="700"/>
              </a:spcAft>
            </a:pPr>
            <a:r>
              <a:rPr b="0" sz="2000" i="0">
                <a:solidFill>
                  <a:srgbClr val="1A2233"/>
                </a:solidFill>
                <a:latin typeface="Calibri"/>
              </a:rPr>
              <a:t>▪ Senior lenders: a DFI (US$ loan) and a local bank syndicate (naira bond with guarantee)</a:t>
            </a:r>
          </a:p>
          <a:p>
            <a:pPr>
              <a:spcAft>
                <a:spcPts val="700"/>
              </a:spcAft>
            </a:pPr>
            <a:r>
              <a:rPr b="0" sz="2000" i="0">
                <a:solidFill>
                  <a:srgbClr val="1A2233"/>
                </a:solidFill>
                <a:latin typeface="Calibri"/>
              </a:rPr>
              <a:t>▪ Site: leased from the state under a statutory right of occupancy; consent status unclear</a:t>
            </a:r>
          </a:p>
          <a:p>
            <a:pPr>
              <a:spcAft>
                <a:spcPts val="700"/>
              </a:spcAft>
            </a:pPr>
            <a:r>
              <a:rPr b="0" sz="2000" i="0">
                <a:solidFill>
                  <a:srgbClr val="1A2233"/>
                </a:solidFill>
                <a:latin typeface="Calibri"/>
              </a:rPr>
              <a:t>▪ Offtaker is a state-owned distribution company; payment guaranteed by a letter of credit for 6 months</a:t>
            </a:r>
          </a:p>
          <a:p>
            <a:pPr>
              <a:spcAft>
                <a:spcPts val="700"/>
              </a:spcAft>
            </a:pPr>
            <a:r>
              <a:rPr b="0" sz="2000" i="0">
                <a:solidFill>
                  <a:srgbClr val="1A2233"/>
                </a:solidFill>
                <a:latin typeface="Calibri"/>
              </a:rPr>
              <a:t>▪ Licence: generation licence valid 10 years; loan tenor 15 years</a:t>
            </a:r>
          </a:p>
          <a:p>
            <a:pPr>
              <a:spcAft>
                <a:spcPts val="700"/>
              </a:spcAft>
            </a:pPr>
            <a:r>
              <a:rPr b="0" sz="2000" i="0">
                <a:solidFill>
                  <a:srgbClr val="1A2233"/>
                </a:solidFill>
                <a:latin typeface="Calibri"/>
              </a:rPr>
              <a:t>▪ EPC: turnkey contractor, 12% liquidated damages cap, parent guarantee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Group task: Lenders' counsel issues list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Each group produces a one-page issues list: five red flags, the fix you would require, and the CP or covenant that records it.</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Group 1: land and permits</a:t>
            </a:r>
          </a:p>
          <a:p>
            <a:pPr>
              <a:spcAft>
                <a:spcPts val="300"/>
              </a:spcAft>
            </a:pPr>
            <a:r>
              <a:rPr b="0" sz="1500" i="0">
                <a:solidFill>
                  <a:srgbClr val="1A2233"/>
                </a:solidFill>
                <a:latin typeface="Calibri"/>
              </a:rPr>
              <a:t>2.  Group 2: offtaker and PPA</a:t>
            </a:r>
          </a:p>
          <a:p>
            <a:pPr>
              <a:spcAft>
                <a:spcPts val="300"/>
              </a:spcAft>
            </a:pPr>
            <a:r>
              <a:rPr b="0" sz="1500" i="0">
                <a:solidFill>
                  <a:srgbClr val="1A2233"/>
                </a:solidFill>
                <a:latin typeface="Calibri"/>
              </a:rPr>
              <a:t>3.  Group 3: construction and EPC</a:t>
            </a:r>
          </a:p>
          <a:p>
            <a:pPr>
              <a:spcAft>
                <a:spcPts val="300"/>
              </a:spcAft>
            </a:pPr>
            <a:r>
              <a:rPr b="0" sz="1500" i="0">
                <a:solidFill>
                  <a:srgbClr val="1A2233"/>
                </a:solidFill>
                <a:latin typeface="Calibri"/>
              </a:rPr>
              <a:t>4.  Group 4: security and enforcement</a:t>
            </a:r>
          </a:p>
          <a:p>
            <a:pPr>
              <a:spcAft>
                <a:spcPts val="300"/>
              </a:spcAft>
            </a:pPr>
            <a:r>
              <a:rPr b="0" sz="1500" i="0">
                <a:solidFill>
                  <a:srgbClr val="1A2233"/>
                </a:solidFill>
                <a:latin typeface="Calibri"/>
              </a:rPr>
              <a:t>5.  Present for 3 minutes; the class votes red, amber or green</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25 min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DEBRIEF</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Debrief with your facilitator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37360"/>
            <a:ext cx="10881360" cy="1280160"/>
          </a:xfrm>
          <a:prstGeom prst="rect">
            <a:avLst/>
          </a:prstGeom>
          <a:noFill/>
        </p:spPr>
        <p:txBody>
          <a:bodyPr wrap="square">
            <a:spAutoFit/>
          </a:bodyPr>
          <a:lstStyle/>
          <a:p>
            <a:r>
              <a:rPr sz="2000">
                <a:solidFill>
                  <a:srgbClr val="1A2233"/>
                </a:solidFill>
                <a:latin typeface="Calibri"/>
              </a:rPr>
              <a:t>Your facilitator will take you through the model answers, the reasoning behind each one and the points most often missed. Compare them with your own work and note the gaps.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15.30 – 16.15</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7: Other project finance issues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Regulation, insurance, FX, tax, compliance and closing.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REGULATION</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Regulation and licensing: an example from power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53054"/>
        </p:xfrm>
        <a:graphic>
          <a:graphicData uri="http://schemas.openxmlformats.org/drawingml/2006/table">
            <a:tbl>
              <a:tblPr firstRow="1" bandRow="1">
                <a:tableStyleId>{5C22544A-7EE6-4342-B048-85BDC9FD1C3A}</a:tableStyleId>
              </a:tblPr>
              <a:tblGrid>
                <a:gridCol w="2377440"/>
                <a:gridCol w="8686800"/>
              </a:tblGrid>
              <a:tr h="457200">
                <a:tc>
                  <a:txBody>
                    <a:bodyPr wrap="square"/>
                    <a:lstStyle/>
                    <a:p>
                      <a:r>
                        <a:rPr b="1" sz="1200" i="0">
                          <a:solidFill>
                            <a:srgbClr val="FFFFFF"/>
                          </a:solidFill>
                          <a:latin typeface="Calibri"/>
                        </a:rPr>
                        <a:t>Topic</a:t>
                      </a:r>
                    </a:p>
                  </a:txBody>
                  <a:tcPr marL="64008" marR="64008" marT="27432" marB="27432" anchor="ctr">
                    <a:solidFill>
                      <a:srgbClr val="141B4D"/>
                    </a:solidFill>
                  </a:tcPr>
                </a:tc>
                <a:tc>
                  <a:txBody>
                    <a:bodyPr wrap="square"/>
                    <a:lstStyle/>
                    <a:p>
                      <a:r>
                        <a:rPr b="1" sz="1200" i="0">
                          <a:solidFill>
                            <a:srgbClr val="FFFFFF"/>
                          </a:solidFill>
                          <a:latin typeface="Calibri"/>
                        </a:rPr>
                        <a:t>Point</a:t>
                      </a:r>
                    </a:p>
                  </a:txBody>
                  <a:tcPr marL="64008" marR="64008" marT="27432" marB="27432" anchor="ctr">
                    <a:solidFill>
                      <a:srgbClr val="141B4D"/>
                    </a:solidFill>
                  </a:tcPr>
                </a:tc>
              </a:tr>
              <a:tr h="490727">
                <a:tc>
                  <a:txBody>
                    <a:bodyPr wrap="square"/>
                    <a:lstStyle/>
                    <a:p>
                      <a:r>
                        <a:rPr b="1" sz="1200" i="0">
                          <a:solidFill>
                            <a:srgbClr val="1A2233"/>
                          </a:solidFill>
                          <a:latin typeface="Calibri"/>
                        </a:rPr>
                        <a:t>Regulator</a:t>
                      </a:r>
                    </a:p>
                  </a:txBody>
                  <a:tcPr marL="64008" marR="64008" marT="27432" marB="27432" anchor="ctr">
                    <a:solidFill>
                      <a:srgbClr val="FFFFFF"/>
                    </a:solidFill>
                  </a:tcPr>
                </a:tc>
                <a:tc>
                  <a:txBody>
                    <a:bodyPr wrap="square"/>
                    <a:lstStyle/>
                    <a:p>
                      <a:r>
                        <a:rPr b="0" sz="1200" i="0">
                          <a:solidFill>
                            <a:srgbClr val="1A2233"/>
                          </a:solidFill>
                          <a:latin typeface="Calibri"/>
                        </a:rPr>
                        <a:t>NERC regulates the Nigerian electricity supply industry; the Electricity Act 2023 allows states to establish their own markets and regulators</a:t>
                      </a:r>
                    </a:p>
                  </a:txBody>
                  <a:tcPr marL="64008" marR="64008" marT="27432" marB="27432" anchor="ctr">
                    <a:solidFill>
                      <a:srgbClr val="FFFFFF"/>
                    </a:solidFill>
                  </a:tcPr>
                </a:tc>
              </a:tr>
              <a:tr h="490727">
                <a:tc>
                  <a:txBody>
                    <a:bodyPr wrap="square"/>
                    <a:lstStyle/>
                    <a:p>
                      <a:r>
                        <a:rPr b="1" sz="1200" i="0">
                          <a:solidFill>
                            <a:srgbClr val="1A2233"/>
                          </a:solidFill>
                          <a:latin typeface="Calibri"/>
                        </a:rPr>
                        <a:t>Which licence?</a:t>
                      </a:r>
                    </a:p>
                  </a:txBody>
                  <a:tcPr marL="64008" marR="64008" marT="27432" marB="27432" anchor="ctr">
                    <a:solidFill>
                      <a:srgbClr val="F3F6F9"/>
                    </a:solidFill>
                  </a:tcPr>
                </a:tc>
                <a:tc>
                  <a:txBody>
                    <a:bodyPr wrap="square"/>
                    <a:lstStyle/>
                    <a:p>
                      <a:r>
                        <a:rPr b="0" sz="1200" i="0">
                          <a:solidFill>
                            <a:srgbClr val="1A2233"/>
                          </a:solidFill>
                          <a:latin typeface="Calibri"/>
                        </a:rPr>
                        <a:t>Activity within one state and off the national grid → state regulator where established; inter-state or grid-connected → NERC</a:t>
                      </a:r>
                    </a:p>
                  </a:txBody>
                  <a:tcPr marL="64008" marR="64008" marT="27432" marB="27432" anchor="ctr">
                    <a:solidFill>
                      <a:srgbClr val="F3F6F9"/>
                    </a:solidFill>
                  </a:tcPr>
                </a:tc>
              </a:tr>
              <a:tr h="457200">
                <a:tc>
                  <a:txBody>
                    <a:bodyPr wrap="square"/>
                    <a:lstStyle/>
                    <a:p>
                      <a:r>
                        <a:rPr b="1" sz="1200" i="0">
                          <a:solidFill>
                            <a:srgbClr val="1A2233"/>
                          </a:solidFill>
                          <a:latin typeface="Calibri"/>
                        </a:rPr>
                        <a:t>Tariffs</a:t>
                      </a:r>
                    </a:p>
                  </a:txBody>
                  <a:tcPr marL="64008" marR="64008" marT="27432" marB="27432" anchor="ctr">
                    <a:solidFill>
                      <a:srgbClr val="FFFFFF"/>
                    </a:solidFill>
                  </a:tcPr>
                </a:tc>
                <a:tc>
                  <a:txBody>
                    <a:bodyPr wrap="square"/>
                    <a:lstStyle/>
                    <a:p>
                      <a:r>
                        <a:rPr b="0" sz="1200" i="0">
                          <a:solidFill>
                            <a:srgbClr val="1A2233"/>
                          </a:solidFill>
                          <a:latin typeface="Calibri"/>
                        </a:rPr>
                        <a:t>Tariff methodologies aim to allow an efficient licensee to recover its costs</a:t>
                      </a:r>
                    </a:p>
                  </a:txBody>
                  <a:tcPr marL="64008" marR="64008" marT="27432" marB="27432" anchor="ctr">
                    <a:solidFill>
                      <a:srgbClr val="FFFFFF"/>
                    </a:solidFill>
                  </a:tcPr>
                </a:tc>
              </a:tr>
              <a:tr h="457200">
                <a:tc>
                  <a:txBody>
                    <a:bodyPr wrap="square"/>
                    <a:lstStyle/>
                    <a:p>
                      <a:r>
                        <a:rPr b="1" sz="1200" i="0">
                          <a:solidFill>
                            <a:srgbClr val="1A2233"/>
                          </a:solidFill>
                          <a:latin typeface="Calibri"/>
                        </a:rPr>
                        <a:t>Why it matters</a:t>
                      </a:r>
                    </a:p>
                  </a:txBody>
                  <a:tcPr marL="64008" marR="64008" marT="27432" marB="27432" anchor="ctr">
                    <a:solidFill>
                      <a:srgbClr val="F3F6F9"/>
                    </a:solidFill>
                  </a:tcPr>
                </a:tc>
                <a:tc>
                  <a:txBody>
                    <a:bodyPr wrap="square"/>
                    <a:lstStyle/>
                    <a:p>
                      <a:r>
                        <a:rPr b="0" sz="1200" i="0">
                          <a:solidFill>
                            <a:srgbClr val="1A2233"/>
                          </a:solidFill>
                          <a:latin typeface="Calibri"/>
                        </a:rPr>
                        <a:t>Licence validity, tariff change and regulator discretion are legal risks lenders price</a:t>
                      </a:r>
                    </a:p>
                  </a:txBody>
                  <a:tcPr marL="64008" marR="64008" marT="27432" marB="27432" anchor="ctr">
                    <a:solidFill>
                      <a:srgbClr val="F3F6F9"/>
                    </a:solidFill>
                  </a:tcPr>
                </a:tc>
              </a:tr>
            </a:tbl>
          </a:graphicData>
        </a:graphic>
      </p:graphicFrame>
      <p:sp>
        <p:nvSpPr>
          <p:cNvPr id="12" name="Rectangle 11"/>
          <p:cNvSpPr/>
          <p:nvPr/>
        </p:nvSpPr>
        <p:spPr>
          <a:xfrm>
            <a:off x="548640" y="4297680"/>
            <a:ext cx="11064240" cy="731520"/>
          </a:xfrm>
          <a:prstGeom prst="rect">
            <a:avLst/>
          </a:prstGeom>
          <a:solidFill>
            <a:srgbClr val="FCE8E6"/>
          </a:solidFill>
          <a:ln w="15240">
            <a:solidFill>
              <a:srgbClr val="B326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97680"/>
            <a:ext cx="82296" cy="73152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976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Statute positions are summarised from published commentary and official sources and must be confirmed against the current text with Nigerian counsel before any transaction use.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INSURANCE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Insurance: what lenders require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901694"/>
        </p:xfrm>
        <a:graphic>
          <a:graphicData uri="http://schemas.openxmlformats.org/drawingml/2006/table">
            <a:tbl>
              <a:tblPr firstRow="1" bandRow="1">
                <a:tableStyleId>{5C22544A-7EE6-4342-B048-85BDC9FD1C3A}</a:tableStyleId>
              </a:tblPr>
              <a:tblGrid>
                <a:gridCol w="2834640"/>
                <a:gridCol w="4389120"/>
                <a:gridCol w="3840480"/>
              </a:tblGrid>
              <a:tr h="384048">
                <a:tc>
                  <a:txBody>
                    <a:bodyPr wrap="square"/>
                    <a:lstStyle/>
                    <a:p>
                      <a:r>
                        <a:rPr b="1" sz="1200" i="0">
                          <a:solidFill>
                            <a:srgbClr val="FFFFFF"/>
                          </a:solidFill>
                          <a:latin typeface="Calibri"/>
                        </a:rPr>
                        <a:t>Policy</a:t>
                      </a:r>
                    </a:p>
                  </a:txBody>
                  <a:tcPr marL="64008" marR="64008" marT="27432" marB="27432" anchor="ctr">
                    <a:solidFill>
                      <a:srgbClr val="141B4D"/>
                    </a:solidFill>
                  </a:tcPr>
                </a:tc>
                <a:tc>
                  <a:txBody>
                    <a:bodyPr wrap="square"/>
                    <a:lstStyle/>
                    <a:p>
                      <a:r>
                        <a:rPr b="1" sz="1200" i="0">
                          <a:solidFill>
                            <a:srgbClr val="FFFFFF"/>
                          </a:solidFill>
                          <a:latin typeface="Calibri"/>
                        </a:rPr>
                        <a:t>Covers</a:t>
                      </a:r>
                    </a:p>
                  </a:txBody>
                  <a:tcPr marL="64008" marR="64008" marT="27432" marB="27432" anchor="ctr">
                    <a:solidFill>
                      <a:srgbClr val="141B4D"/>
                    </a:solidFill>
                  </a:tcPr>
                </a:tc>
                <a:tc>
                  <a:txBody>
                    <a:bodyPr wrap="square"/>
                    <a:lstStyle/>
                    <a:p>
                      <a:r>
                        <a:rPr b="1" sz="1200" i="0">
                          <a:solidFill>
                            <a:srgbClr val="FFFFFF"/>
                          </a:solidFill>
                          <a:latin typeface="Calibri"/>
                        </a:rPr>
                        <a:t>Lender protection</a:t>
                      </a:r>
                    </a:p>
                  </a:txBody>
                  <a:tcPr marL="64008" marR="64008" marT="27432" marB="27432" anchor="ctr">
                    <a:solidFill>
                      <a:srgbClr val="141B4D"/>
                    </a:solidFill>
                  </a:tcPr>
                </a:tc>
              </a:tr>
              <a:tr h="384048">
                <a:tc>
                  <a:txBody>
                    <a:bodyPr wrap="square"/>
                    <a:lstStyle/>
                    <a:p>
                      <a:r>
                        <a:rPr b="1" sz="1200" i="0">
                          <a:solidFill>
                            <a:srgbClr val="1A2233"/>
                          </a:solidFill>
                          <a:latin typeface="Calibri"/>
                        </a:rPr>
                        <a:t>Construction all risks (CAR)</a:t>
                      </a:r>
                    </a:p>
                  </a:txBody>
                  <a:tcPr marL="64008" marR="64008" marT="27432" marB="27432" anchor="ctr">
                    <a:solidFill>
                      <a:srgbClr val="FFFFFF"/>
                    </a:solidFill>
                  </a:tcPr>
                </a:tc>
                <a:tc>
                  <a:txBody>
                    <a:bodyPr wrap="square"/>
                    <a:lstStyle/>
                    <a:p>
                      <a:r>
                        <a:rPr b="0" sz="1200" i="0">
                          <a:solidFill>
                            <a:srgbClr val="1A2233"/>
                          </a:solidFill>
                          <a:latin typeface="Calibri"/>
                        </a:rPr>
                        <a:t>Physical loss during construction</a:t>
                      </a:r>
                    </a:p>
                  </a:txBody>
                  <a:tcPr marL="64008" marR="64008" marT="27432" marB="27432" anchor="ctr">
                    <a:solidFill>
                      <a:srgbClr val="FFFFFF"/>
                    </a:solidFill>
                  </a:tcPr>
                </a:tc>
                <a:tc>
                  <a:txBody>
                    <a:bodyPr wrap="square"/>
                    <a:lstStyle/>
                    <a:p>
                      <a:r>
                        <a:rPr b="0" sz="1200" i="0">
                          <a:solidFill>
                            <a:srgbClr val="1A2233"/>
                          </a:solidFill>
                          <a:latin typeface="Calibri"/>
                        </a:rPr>
                        <a:t>Lenders as co-insured / loss payee</a:t>
                      </a:r>
                    </a:p>
                  </a:txBody>
                  <a:tcPr marL="64008" marR="64008" marT="27432" marB="27432" anchor="ctr">
                    <a:solidFill>
                      <a:srgbClr val="FFFFFF"/>
                    </a:solidFill>
                  </a:tcPr>
                </a:tc>
              </a:tr>
              <a:tr h="490727">
                <a:tc>
                  <a:txBody>
                    <a:bodyPr wrap="square"/>
                    <a:lstStyle/>
                    <a:p>
                      <a:r>
                        <a:rPr b="1" sz="1200" i="0">
                          <a:solidFill>
                            <a:srgbClr val="1A2233"/>
                          </a:solidFill>
                          <a:latin typeface="Calibri"/>
                        </a:rPr>
                        <a:t>Delay in start-up (DSU)</a:t>
                      </a:r>
                    </a:p>
                  </a:txBody>
                  <a:tcPr marL="64008" marR="64008" marT="27432" marB="27432" anchor="ctr">
                    <a:solidFill>
                      <a:srgbClr val="F3F6F9"/>
                    </a:solidFill>
                  </a:tcPr>
                </a:tc>
                <a:tc>
                  <a:txBody>
                    <a:bodyPr wrap="square"/>
                    <a:lstStyle/>
                    <a:p>
                      <a:r>
                        <a:rPr b="0" sz="1200" i="0">
                          <a:solidFill>
                            <a:srgbClr val="1A2233"/>
                          </a:solidFill>
                          <a:latin typeface="Calibri"/>
                        </a:rPr>
                        <a:t>Lost revenue and extra interest when construction is late</a:t>
                      </a:r>
                    </a:p>
                  </a:txBody>
                  <a:tcPr marL="64008" marR="64008" marT="27432" marB="27432" anchor="ctr">
                    <a:solidFill>
                      <a:srgbClr val="F3F6F9"/>
                    </a:solidFill>
                  </a:tcPr>
                </a:tc>
                <a:tc>
                  <a:txBody>
                    <a:bodyPr wrap="square"/>
                    <a:lstStyle/>
                    <a:p>
                      <a:r>
                        <a:rPr b="0" sz="1200" i="0">
                          <a:solidFill>
                            <a:srgbClr val="1A2233"/>
                          </a:solidFill>
                          <a:latin typeface="Calibri"/>
                        </a:rPr>
                        <a:t>Protects debt service</a:t>
                      </a:r>
                    </a:p>
                  </a:txBody>
                  <a:tcPr marL="64008" marR="64008" marT="27432" marB="27432" anchor="ctr">
                    <a:solidFill>
                      <a:srgbClr val="F3F6F9"/>
                    </a:solidFill>
                  </a:tcPr>
                </a:tc>
              </a:tr>
              <a:tr h="384048">
                <a:tc>
                  <a:txBody>
                    <a:bodyPr wrap="square"/>
                    <a:lstStyle/>
                    <a:p>
                      <a:r>
                        <a:rPr b="1" sz="1200" i="0">
                          <a:solidFill>
                            <a:srgbClr val="1A2233"/>
                          </a:solidFill>
                          <a:latin typeface="Calibri"/>
                        </a:rPr>
                        <a:t>Operational all risks</a:t>
                      </a:r>
                    </a:p>
                  </a:txBody>
                  <a:tcPr marL="64008" marR="64008" marT="27432" marB="27432" anchor="ctr">
                    <a:solidFill>
                      <a:srgbClr val="FFFFFF"/>
                    </a:solidFill>
                  </a:tcPr>
                </a:tc>
                <a:tc>
                  <a:txBody>
                    <a:bodyPr wrap="square"/>
                    <a:lstStyle/>
                    <a:p>
                      <a:r>
                        <a:rPr b="0" sz="1200" i="0">
                          <a:solidFill>
                            <a:srgbClr val="1A2233"/>
                          </a:solidFill>
                          <a:latin typeface="Calibri"/>
                        </a:rPr>
                        <a:t>Physical loss during operation</a:t>
                      </a:r>
                    </a:p>
                  </a:txBody>
                  <a:tcPr marL="64008" marR="64008" marT="27432" marB="27432" anchor="ctr">
                    <a:solidFill>
                      <a:srgbClr val="FFFFFF"/>
                    </a:solidFill>
                  </a:tcPr>
                </a:tc>
                <a:tc>
                  <a:txBody>
                    <a:bodyPr wrap="square"/>
                    <a:lstStyle/>
                    <a:p>
                      <a:r>
                        <a:rPr b="0" sz="1200" i="0">
                          <a:solidFill>
                            <a:srgbClr val="1A2233"/>
                          </a:solidFill>
                          <a:latin typeface="Calibri"/>
                        </a:rPr>
                        <a:t>Rebuilding funds</a:t>
                      </a:r>
                    </a:p>
                  </a:txBody>
                  <a:tcPr marL="64008" marR="64008" marT="27432" marB="27432" anchor="ctr">
                    <a:solidFill>
                      <a:srgbClr val="FFFFFF"/>
                    </a:solidFill>
                  </a:tcPr>
                </a:tc>
              </a:tr>
              <a:tr h="384048">
                <a:tc>
                  <a:txBody>
                    <a:bodyPr wrap="square"/>
                    <a:lstStyle/>
                    <a:p>
                      <a:r>
                        <a:rPr b="1" sz="1200" i="0">
                          <a:solidFill>
                            <a:srgbClr val="1A2233"/>
                          </a:solidFill>
                          <a:latin typeface="Calibri"/>
                        </a:rPr>
                        <a:t>Business interruption</a:t>
                      </a:r>
                    </a:p>
                  </a:txBody>
                  <a:tcPr marL="64008" marR="64008" marT="27432" marB="27432" anchor="ctr">
                    <a:solidFill>
                      <a:srgbClr val="F3F6F9"/>
                    </a:solidFill>
                  </a:tcPr>
                </a:tc>
                <a:tc>
                  <a:txBody>
                    <a:bodyPr wrap="square"/>
                    <a:lstStyle/>
                    <a:p>
                      <a:r>
                        <a:rPr b="0" sz="1200" i="0">
                          <a:solidFill>
                            <a:srgbClr val="1A2233"/>
                          </a:solidFill>
                          <a:latin typeface="Calibri"/>
                        </a:rPr>
                        <a:t>Lost revenue after insured damage</a:t>
                      </a:r>
                    </a:p>
                  </a:txBody>
                  <a:tcPr marL="64008" marR="64008" marT="27432" marB="27432" anchor="ctr">
                    <a:solidFill>
                      <a:srgbClr val="F3F6F9"/>
                    </a:solidFill>
                  </a:tcPr>
                </a:tc>
                <a:tc>
                  <a:txBody>
                    <a:bodyPr wrap="square"/>
                    <a:lstStyle/>
                    <a:p>
                      <a:r>
                        <a:rPr b="0" sz="1200" i="0">
                          <a:solidFill>
                            <a:srgbClr val="1A2233"/>
                          </a:solidFill>
                          <a:latin typeface="Calibri"/>
                        </a:rPr>
                        <a:t>Debt service continues</a:t>
                      </a:r>
                    </a:p>
                  </a:txBody>
                  <a:tcPr marL="64008" marR="64008" marT="27432" marB="27432" anchor="ctr">
                    <a:solidFill>
                      <a:srgbClr val="F3F6F9"/>
                    </a:solidFill>
                  </a:tcPr>
                </a:tc>
              </a:tr>
              <a:tr h="490727">
                <a:tc>
                  <a:txBody>
                    <a:bodyPr wrap="square"/>
                    <a:lstStyle/>
                    <a:p>
                      <a:r>
                        <a:rPr b="1" sz="1200" i="0">
                          <a:solidFill>
                            <a:srgbClr val="1A2233"/>
                          </a:solidFill>
                          <a:latin typeface="Calibri"/>
                        </a:rPr>
                        <a:t>Political risk insurance</a:t>
                      </a:r>
                    </a:p>
                  </a:txBody>
                  <a:tcPr marL="64008" marR="64008" marT="27432" marB="27432" anchor="ctr">
                    <a:solidFill>
                      <a:srgbClr val="FFFFFF"/>
                    </a:solidFill>
                  </a:tcPr>
                </a:tc>
                <a:tc>
                  <a:txBody>
                    <a:bodyPr wrap="square"/>
                    <a:lstStyle/>
                    <a:p>
                      <a:r>
                        <a:rPr b="0" sz="1200" i="0">
                          <a:solidFill>
                            <a:srgbClr val="1A2233"/>
                          </a:solidFill>
                          <a:latin typeface="Calibri"/>
                        </a:rPr>
                        <a:t>Expropriation, currency inconvertibility, political violence (e.g. MIGA)</a:t>
                      </a:r>
                    </a:p>
                  </a:txBody>
                  <a:tcPr marL="64008" marR="64008" marT="27432" marB="27432" anchor="ctr">
                    <a:solidFill>
                      <a:srgbClr val="FFFFFF"/>
                    </a:solidFill>
                  </a:tcPr>
                </a:tc>
                <a:tc>
                  <a:txBody>
                    <a:bodyPr wrap="square"/>
                    <a:lstStyle/>
                    <a:p>
                      <a:r>
                        <a:rPr b="0" sz="1200" i="0">
                          <a:solidFill>
                            <a:srgbClr val="1A2233"/>
                          </a:solidFill>
                          <a:latin typeface="Calibri"/>
                        </a:rPr>
                        <a:t>Protects against sovereign actions</a:t>
                      </a:r>
                    </a:p>
                  </a:txBody>
                  <a:tcPr marL="64008" marR="64008" marT="27432" marB="27432" anchor="ctr">
                    <a:solidFill>
                      <a:srgbClr val="FFFFFF"/>
                    </a:solidFill>
                  </a:tcPr>
                </a:tc>
              </a:tr>
              <a:tr h="384048">
                <a:tc>
                  <a:txBody>
                    <a:bodyPr wrap="square"/>
                    <a:lstStyle/>
                    <a:p>
                      <a:r>
                        <a:rPr b="1" sz="1200" i="0">
                          <a:solidFill>
                            <a:srgbClr val="1A2233"/>
                          </a:solidFill>
                          <a:latin typeface="Calibri"/>
                        </a:rPr>
                        <a:t>Third-party liability</a:t>
                      </a:r>
                    </a:p>
                  </a:txBody>
                  <a:tcPr marL="64008" marR="64008" marT="27432" marB="27432" anchor="ctr">
                    <a:solidFill>
                      <a:srgbClr val="F3F6F9"/>
                    </a:solidFill>
                  </a:tcPr>
                </a:tc>
                <a:tc>
                  <a:txBody>
                    <a:bodyPr wrap="square"/>
                    <a:lstStyle/>
                    <a:p>
                      <a:r>
                        <a:rPr b="0" sz="1200" i="0">
                          <a:solidFill>
                            <a:srgbClr val="1A2233"/>
                          </a:solidFill>
                          <a:latin typeface="Calibri"/>
                        </a:rPr>
                        <a:t>Claims by others</a:t>
                      </a:r>
                    </a:p>
                  </a:txBody>
                  <a:tcPr marL="64008" marR="64008" marT="27432" marB="27432" anchor="ctr">
                    <a:solidFill>
                      <a:srgbClr val="F3F6F9"/>
                    </a:solidFill>
                  </a:tcPr>
                </a:tc>
                <a:tc>
                  <a:txBody>
                    <a:bodyPr wrap="square"/>
                    <a:lstStyle/>
                    <a:p>
                      <a:r>
                        <a:rPr b="0" sz="1200" i="0">
                          <a:solidFill>
                            <a:srgbClr val="1A2233"/>
                          </a:solidFill>
                          <a:latin typeface="Calibri"/>
                        </a:rPr>
                        <a:t>Protects the asset</a:t>
                      </a:r>
                    </a:p>
                  </a:txBody>
                  <a:tcPr marL="64008" marR="64008" marT="27432" marB="27432" anchor="ctr">
                    <a:solidFill>
                      <a:srgbClr val="F3F6F9"/>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OTHER ISSUES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Foreign exchange, tax and compliance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48534"/>
        </p:xfrm>
        <a:graphic>
          <a:graphicData uri="http://schemas.openxmlformats.org/drawingml/2006/table">
            <a:tbl>
              <a:tblPr firstRow="1" bandRow="1">
                <a:tableStyleId>{5C22544A-7EE6-4342-B048-85BDC9FD1C3A}</a:tableStyleId>
              </a:tblPr>
              <a:tblGrid>
                <a:gridCol w="2286000"/>
                <a:gridCol w="4846320"/>
                <a:gridCol w="3931920"/>
              </a:tblGrid>
              <a:tr h="457200">
                <a:tc>
                  <a:txBody>
                    <a:bodyPr wrap="square"/>
                    <a:lstStyle/>
                    <a:p>
                      <a:r>
                        <a:rPr b="1" sz="1100" i="0">
                          <a:solidFill>
                            <a:srgbClr val="FFFFFF"/>
                          </a:solidFill>
                          <a:latin typeface="Calibri"/>
                        </a:rPr>
                        <a:t>Topic</a:t>
                      </a:r>
                    </a:p>
                  </a:txBody>
                  <a:tcPr marL="64008" marR="64008" marT="27432" marB="27432" anchor="ctr">
                    <a:solidFill>
                      <a:srgbClr val="141B4D"/>
                    </a:solidFill>
                  </a:tcPr>
                </a:tc>
                <a:tc>
                  <a:txBody>
                    <a:bodyPr wrap="square"/>
                    <a:lstStyle/>
                    <a:p>
                      <a:r>
                        <a:rPr b="1" sz="1100" i="0">
                          <a:solidFill>
                            <a:srgbClr val="FFFFFF"/>
                          </a:solidFill>
                          <a:latin typeface="Calibri"/>
                        </a:rPr>
                        <a:t>Issue</a:t>
                      </a:r>
                    </a:p>
                  </a:txBody>
                  <a:tcPr marL="64008" marR="64008" marT="27432" marB="27432" anchor="ctr">
                    <a:solidFill>
                      <a:srgbClr val="141B4D"/>
                    </a:solidFill>
                  </a:tcPr>
                </a:tc>
                <a:tc>
                  <a:txBody>
                    <a:bodyPr wrap="square"/>
                    <a:lstStyle/>
                    <a:p>
                      <a:r>
                        <a:rPr b="1" sz="1100" i="0">
                          <a:solidFill>
                            <a:srgbClr val="FFFFFF"/>
                          </a:solidFill>
                          <a:latin typeface="Calibri"/>
                        </a:rPr>
                        <a:t>Mitigant</a:t>
                      </a:r>
                    </a:p>
                  </a:txBody>
                  <a:tcPr marL="64008" marR="64008" marT="27432" marB="27432" anchor="ctr">
                    <a:solidFill>
                      <a:srgbClr val="141B4D"/>
                    </a:solidFill>
                  </a:tcPr>
                </a:tc>
              </a:tr>
              <a:tr h="458978">
                <a:tc>
                  <a:txBody>
                    <a:bodyPr wrap="square"/>
                    <a:lstStyle/>
                    <a:p>
                      <a:r>
                        <a:rPr b="1" sz="1100" i="0">
                          <a:solidFill>
                            <a:srgbClr val="1A2233"/>
                          </a:solidFill>
                          <a:latin typeface="Calibri"/>
                        </a:rPr>
                        <a:t>Foreign exchange</a:t>
                      </a:r>
                    </a:p>
                  </a:txBody>
                  <a:tcPr marL="64008" marR="64008" marT="27432" marB="27432" anchor="ctr">
                    <a:solidFill>
                      <a:srgbClr val="FFFFFF"/>
                    </a:solidFill>
                  </a:tcPr>
                </a:tc>
                <a:tc>
                  <a:txBody>
                    <a:bodyPr wrap="square"/>
                    <a:lstStyle/>
                    <a:p>
                      <a:r>
                        <a:rPr b="0" sz="1100" i="0">
                          <a:solidFill>
                            <a:srgbClr val="1A2233"/>
                          </a:solidFill>
                          <a:latin typeface="Calibri"/>
                        </a:rPr>
                        <a:t>Availability, convertibility and transferability of foreign currency for debt service and dividends</a:t>
                      </a:r>
                    </a:p>
                  </a:txBody>
                  <a:tcPr marL="64008" marR="64008" marT="27432" marB="27432" anchor="ctr">
                    <a:solidFill>
                      <a:srgbClr val="FFFFFF"/>
                    </a:solidFill>
                  </a:tcPr>
                </a:tc>
                <a:tc>
                  <a:txBody>
                    <a:bodyPr wrap="square"/>
                    <a:lstStyle/>
                    <a:p>
                      <a:r>
                        <a:rPr b="0" sz="1100" i="0">
                          <a:solidFill>
                            <a:srgbClr val="1A2233"/>
                          </a:solidFill>
                          <a:latin typeface="Calibri"/>
                        </a:rPr>
                        <a:t>Offshore accounts, tariff indexation, hedging, DFI or political risk support</a:t>
                      </a:r>
                    </a:p>
                  </a:txBody>
                  <a:tcPr marL="64008" marR="64008" marT="27432" marB="27432" anchor="ctr">
                    <a:solidFill>
                      <a:srgbClr val="FFFFFF"/>
                    </a:solidFill>
                  </a:tcPr>
                </a:tc>
              </a:tr>
              <a:tr h="458978">
                <a:tc>
                  <a:txBody>
                    <a:bodyPr wrap="square"/>
                    <a:lstStyle/>
                    <a:p>
                      <a:r>
                        <a:rPr b="1" sz="1100" i="0">
                          <a:solidFill>
                            <a:srgbClr val="1A2233"/>
                          </a:solidFill>
                          <a:latin typeface="Calibri"/>
                        </a:rPr>
                        <a:t>Tax and incentives</a:t>
                      </a:r>
                    </a:p>
                  </a:txBody>
                  <a:tcPr marL="64008" marR="64008" marT="27432" marB="27432" anchor="ctr">
                    <a:solidFill>
                      <a:srgbClr val="F3F6F9"/>
                    </a:solidFill>
                  </a:tcPr>
                </a:tc>
                <a:tc>
                  <a:txBody>
                    <a:bodyPr wrap="square"/>
                    <a:lstStyle/>
                    <a:p>
                      <a:r>
                        <a:rPr b="0" sz="1100" i="0">
                          <a:solidFill>
                            <a:srgbClr val="1A2233"/>
                          </a:solidFill>
                          <a:latin typeface="Calibri"/>
                        </a:rPr>
                        <a:t>Corporate income tax, withholding tax on interest, pioneer or sector incentives</a:t>
                      </a:r>
                    </a:p>
                  </a:txBody>
                  <a:tcPr marL="64008" marR="64008" marT="27432" marB="27432" anchor="ctr">
                    <a:solidFill>
                      <a:srgbClr val="F3F6F9"/>
                    </a:solidFill>
                  </a:tcPr>
                </a:tc>
                <a:tc>
                  <a:txBody>
                    <a:bodyPr wrap="square"/>
                    <a:lstStyle/>
                    <a:p>
                      <a:r>
                        <a:rPr b="0" sz="1100" i="0">
                          <a:solidFill>
                            <a:srgbClr val="1A2233"/>
                          </a:solidFill>
                          <a:latin typeface="Calibri"/>
                        </a:rPr>
                        <a:t>Tax opinion; grossing-up clause; incentive certificate as CP</a:t>
                      </a:r>
                    </a:p>
                  </a:txBody>
                  <a:tcPr marL="64008" marR="64008" marT="27432" marB="27432" anchor="ctr">
                    <a:solidFill>
                      <a:srgbClr val="F3F6F9"/>
                    </a:solidFill>
                  </a:tcPr>
                </a:tc>
              </a:tr>
              <a:tr h="458978">
                <a:tc>
                  <a:txBody>
                    <a:bodyPr wrap="square"/>
                    <a:lstStyle/>
                    <a:p>
                      <a:r>
                        <a:rPr b="1" sz="1100" i="0">
                          <a:solidFill>
                            <a:srgbClr val="1A2233"/>
                          </a:solidFill>
                          <a:latin typeface="Calibri"/>
                        </a:rPr>
                        <a:t>Anti-corruption and sanctions</a:t>
                      </a:r>
                    </a:p>
                  </a:txBody>
                  <a:tcPr marL="64008" marR="64008" marT="27432" marB="27432" anchor="ctr">
                    <a:solidFill>
                      <a:srgbClr val="FFFFFF"/>
                    </a:solidFill>
                  </a:tcPr>
                </a:tc>
                <a:tc>
                  <a:txBody>
                    <a:bodyPr wrap="square"/>
                    <a:lstStyle/>
                    <a:p>
                      <a:r>
                        <a:rPr b="0" sz="1100" i="0">
                          <a:solidFill>
                            <a:srgbClr val="1A2233"/>
                          </a:solidFill>
                          <a:latin typeface="Calibri"/>
                        </a:rPr>
                        <a:t>Bribery, sanctions, AML</a:t>
                      </a:r>
                    </a:p>
                  </a:txBody>
                  <a:tcPr marL="64008" marR="64008" marT="27432" marB="27432" anchor="ctr">
                    <a:solidFill>
                      <a:srgbClr val="FFFFFF"/>
                    </a:solidFill>
                  </a:tcPr>
                </a:tc>
                <a:tc>
                  <a:txBody>
                    <a:bodyPr wrap="square"/>
                    <a:lstStyle/>
                    <a:p>
                      <a:r>
                        <a:rPr b="0" sz="1100" i="0">
                          <a:solidFill>
                            <a:srgbClr val="1A2233"/>
                          </a:solidFill>
                          <a:latin typeface="Calibri"/>
                        </a:rPr>
                        <a:t>Compliance covenants; know-your-customer; audit rights</a:t>
                      </a:r>
                    </a:p>
                  </a:txBody>
                  <a:tcPr marL="64008" marR="64008" marT="27432" marB="27432" anchor="ctr">
                    <a:solidFill>
                      <a:srgbClr val="FFFFFF"/>
                    </a:solidFill>
                  </a:tcPr>
                </a:tc>
              </a:tr>
              <a:tr h="457200">
                <a:tc>
                  <a:txBody>
                    <a:bodyPr wrap="square"/>
                    <a:lstStyle/>
                    <a:p>
                      <a:r>
                        <a:rPr b="1" sz="1100" i="0">
                          <a:solidFill>
                            <a:srgbClr val="1A2233"/>
                          </a:solidFill>
                          <a:latin typeface="Calibri"/>
                        </a:rPr>
                        <a:t>Environmental and social</a:t>
                      </a:r>
                    </a:p>
                  </a:txBody>
                  <a:tcPr marL="64008" marR="64008" marT="27432" marB="27432" anchor="ctr">
                    <a:solidFill>
                      <a:srgbClr val="F3F6F9"/>
                    </a:solidFill>
                  </a:tcPr>
                </a:tc>
                <a:tc>
                  <a:txBody>
                    <a:bodyPr wrap="square"/>
                    <a:lstStyle/>
                    <a:p>
                      <a:r>
                        <a:rPr b="0" sz="1100" i="0">
                          <a:solidFill>
                            <a:srgbClr val="1A2233"/>
                          </a:solidFill>
                          <a:latin typeface="Calibri"/>
                        </a:rPr>
                        <a:t>IFC Performance Standards, Equator Principles</a:t>
                      </a:r>
                    </a:p>
                  </a:txBody>
                  <a:tcPr marL="64008" marR="64008" marT="27432" marB="27432" anchor="ctr">
                    <a:solidFill>
                      <a:srgbClr val="F3F6F9"/>
                    </a:solidFill>
                  </a:tcPr>
                </a:tc>
                <a:tc>
                  <a:txBody>
                    <a:bodyPr wrap="square"/>
                    <a:lstStyle/>
                    <a:p>
                      <a:r>
                        <a:rPr b="0" sz="1100" i="0">
                          <a:solidFill>
                            <a:srgbClr val="1A2233"/>
                          </a:solidFill>
                          <a:latin typeface="Calibri"/>
                        </a:rPr>
                        <a:t>ESAP, covenants, independent monitor</a:t>
                      </a:r>
                    </a:p>
                  </a:txBody>
                  <a:tcPr marL="64008" marR="64008" marT="27432" marB="27432" anchor="ctr">
                    <a:solidFill>
                      <a:srgbClr val="F3F6F9"/>
                    </a:solidFill>
                  </a:tcPr>
                </a:tc>
              </a:tr>
              <a:tr h="457200">
                <a:tc>
                  <a:txBody>
                    <a:bodyPr wrap="square"/>
                    <a:lstStyle/>
                    <a:p>
                      <a:r>
                        <a:rPr b="1" sz="1100" i="0">
                          <a:solidFill>
                            <a:srgbClr val="1A2233"/>
                          </a:solidFill>
                          <a:latin typeface="Calibri"/>
                        </a:rPr>
                        <a:t>Sovereign immunity</a:t>
                      </a:r>
                    </a:p>
                  </a:txBody>
                  <a:tcPr marL="64008" marR="64008" marT="27432" marB="27432" anchor="ctr">
                    <a:solidFill>
                      <a:srgbClr val="FFFFFF"/>
                    </a:solidFill>
                  </a:tcPr>
                </a:tc>
                <a:tc>
                  <a:txBody>
                    <a:bodyPr wrap="square"/>
                    <a:lstStyle/>
                    <a:p>
                      <a:r>
                        <a:rPr b="0" sz="1100" i="0">
                          <a:solidFill>
                            <a:srgbClr val="1A2233"/>
                          </a:solidFill>
                          <a:latin typeface="Calibri"/>
                        </a:rPr>
                        <a:t>Immunity of state counterparties from suit or enforcement</a:t>
                      </a:r>
                    </a:p>
                  </a:txBody>
                  <a:tcPr marL="64008" marR="64008" marT="27432" marB="27432" anchor="ctr">
                    <a:solidFill>
                      <a:srgbClr val="FFFFFF"/>
                    </a:solidFill>
                  </a:tcPr>
                </a:tc>
                <a:tc>
                  <a:txBody>
                    <a:bodyPr wrap="square"/>
                    <a:lstStyle/>
                    <a:p>
                      <a:r>
                        <a:rPr b="0" sz="1100" i="0">
                          <a:solidFill>
                            <a:srgbClr val="1A2233"/>
                          </a:solidFill>
                          <a:latin typeface="Calibri"/>
                        </a:rPr>
                        <a:t>Express waiver; arbitration clause</a:t>
                      </a:r>
                    </a:p>
                  </a:txBody>
                  <a:tcPr marL="64008" marR="64008" marT="27432" marB="27432" anchor="ctr">
                    <a:solidFill>
                      <a:srgbClr val="FFFFFF"/>
                    </a:solidFill>
                  </a:tcPr>
                </a:tc>
              </a:tr>
            </a:tbl>
          </a:graphicData>
        </a:graphic>
      </p:graphicFrame>
      <p:sp>
        <p:nvSpPr>
          <p:cNvPr id="12" name="Rectangle 11"/>
          <p:cNvSpPr/>
          <p:nvPr/>
        </p:nvSpPr>
        <p:spPr>
          <a:xfrm>
            <a:off x="548640" y="4846320"/>
            <a:ext cx="11064240" cy="822960"/>
          </a:xfrm>
          <a:prstGeom prst="rect">
            <a:avLst/>
          </a:prstGeom>
          <a:solidFill>
            <a:srgbClr val="FCE8E6"/>
          </a:solidFill>
          <a:ln w="15240">
            <a:solidFill>
              <a:srgbClr val="B326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46320"/>
            <a:ext cx="82296" cy="822960"/>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84632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Tax law changed in recent years; confirm current rules and incentives with a tax adviser. Statute positions are summarised from published commentary and official sources and must be confirmed against the current text with Nigerian counsel before any transaction use.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LIFECYCLE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From signing to financial close and beyond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Sign the principal documents (signing)</a:t>
            </a:r>
          </a:p>
        </p:txBody>
      </p:sp>
      <p:sp>
        <p:nvSpPr>
          <p:cNvPr id="13" name="Oval 12"/>
          <p:cNvSpPr/>
          <p:nvPr/>
        </p:nvSpPr>
        <p:spPr>
          <a:xfrm>
            <a:off x="548640" y="2087444"/>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050868"/>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Satisfy conditions precedent, one by one (CP checklist)</a:t>
            </a:r>
          </a:p>
        </p:txBody>
      </p:sp>
      <p:sp>
        <p:nvSpPr>
          <p:cNvPr id="15" name="Oval 14"/>
          <p:cNvSpPr/>
          <p:nvPr/>
        </p:nvSpPr>
        <p:spPr>
          <a:xfrm>
            <a:off x="548640" y="2629553"/>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592977"/>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Financial close: all documents effective; first drawdown conditions met</a:t>
            </a:r>
          </a:p>
        </p:txBody>
      </p:sp>
      <p:sp>
        <p:nvSpPr>
          <p:cNvPr id="17" name="Oval 16"/>
          <p:cNvSpPr/>
          <p:nvPr/>
        </p:nvSpPr>
        <p:spPr>
          <a:xfrm>
            <a:off x="548640" y="3171661"/>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135085"/>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Construction: drawdown notices, independent engineer certificates</a:t>
            </a:r>
          </a:p>
        </p:txBody>
      </p:sp>
      <p:sp>
        <p:nvSpPr>
          <p:cNvPr id="19" name="Oval 18"/>
          <p:cNvSpPr/>
          <p:nvPr/>
        </p:nvSpPr>
        <p:spPr>
          <a:xfrm>
            <a:off x="548640" y="3713770"/>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3677194"/>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Commercial operation date (COD): completion tests</a:t>
            </a:r>
          </a:p>
        </p:txBody>
      </p:sp>
      <p:sp>
        <p:nvSpPr>
          <p:cNvPr id="21" name="Oval 20"/>
          <p:cNvSpPr/>
          <p:nvPr/>
        </p:nvSpPr>
        <p:spPr>
          <a:xfrm>
            <a:off x="548640" y="4255878"/>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219302"/>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Operations: reporting, covenants, DSRA, annual model update</a:t>
            </a:r>
          </a:p>
        </p:txBody>
      </p:sp>
      <p:sp>
        <p:nvSpPr>
          <p:cNvPr id="23" name="Oval 22"/>
          <p:cNvSpPr/>
          <p:nvPr/>
        </p:nvSpPr>
        <p:spPr>
          <a:xfrm>
            <a:off x="548640" y="4797987"/>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7</a:t>
            </a:r>
          </a:p>
        </p:txBody>
      </p:sp>
      <p:sp>
        <p:nvSpPr>
          <p:cNvPr id="24" name="TextBox 23"/>
          <p:cNvSpPr txBox="1"/>
          <p:nvPr/>
        </p:nvSpPr>
        <p:spPr>
          <a:xfrm>
            <a:off x="1078992" y="4761411"/>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Maturity or refinancing: release of security</a:t>
            </a:r>
          </a:p>
        </p:txBody>
      </p:sp>
      <p:sp>
        <p:nvSpPr>
          <p:cNvPr id="25" name="Rectangle 24"/>
          <p:cNvSpPr/>
          <p:nvPr/>
        </p:nvSpPr>
        <p:spPr>
          <a:xfrm>
            <a:off x="548640" y="5394960"/>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394960"/>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39496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Each step has a legal deliverable. Missing one blocks money.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52</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15.30 – 16.30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In-class assessment</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Ten questions; answers reviewed together in class.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An agreement that protects lenders by giving them rights over the SPV's shares is called:</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Share pledge</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Indemnity</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Subordination</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Novation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condition precedent is:</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promise to perform after signing</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requirement that must be met before an obligation begins</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type of insurance</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fee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In a direct agreement, step-in rights allow:</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Lenders to take over the SPV's position under a project contract</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SPV to cancel the loan</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Sponsors to transfer shares freely</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offtaker to avoid payment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Which clause most directly protects lenders if the PPA is terminated early?</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Termination payment covering outstanding debt</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Governing law</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Notices</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Counterparts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An event of default is best described as:</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defined breach that gives lenders remedies</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Any dispute with a supplier</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change in interest rates</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late board meeting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Security is 'perfected' when:</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is validly created and registered or otherwise made effective against third parties</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borrower signs the loan</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lender receives a copy</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model is audited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negative covenant is:</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promise not to do something without consent</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pessimistic forecast</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failed test</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A negative balance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Why do lenders prefer arbitration in international projects?</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Neutral forum and enforceable awards under the New York Convention</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is always cheaper</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Judges are bound by the lender</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There are no appeals ever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DSCR distribution lock-up means:</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Dividends are blocked while DSCR is below a trigger</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Debt is repaid early</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model is locked</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Interest rate fixed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ASSESSMENT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Legal due diligence findings are usually classified as:</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Red, amber or green</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Gold, silver or bronze</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High, medium or invalid</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Debit or credit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DEBRIEF</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Debrief with your facilitator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2880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288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Your facilitator will take you through the model answers, the reasoning behind each one and the points most often missed. Compare them with your own work and note the gaps.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2  |  Thu 15 Oct 2026  |  Legal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RECAP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Recap: the legal chain of a project financing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SPV + limited recourse → lenders look to project cash flow and assets</a:t>
            </a:r>
          </a:p>
          <a:p>
            <a:pPr>
              <a:spcAft>
                <a:spcPts val="700"/>
              </a:spcAft>
            </a:pPr>
            <a:r>
              <a:rPr b="0" sz="2000" i="0">
                <a:solidFill>
                  <a:srgbClr val="1A2233"/>
                </a:solidFill>
                <a:latin typeface="Calibri"/>
              </a:rPr>
              <a:t>▪ Contracts create the cash flow; direct agreements connect lenders to them</a:t>
            </a:r>
          </a:p>
          <a:p>
            <a:pPr>
              <a:spcAft>
                <a:spcPts val="700"/>
              </a:spcAft>
            </a:pPr>
            <a:r>
              <a:rPr b="0" sz="2000" i="0">
                <a:solidFill>
                  <a:srgbClr val="1A2233"/>
                </a:solidFill>
                <a:latin typeface="Calibri"/>
              </a:rPr>
              <a:t>▪ Due diligence tests the structure; CPs make fixes mandatory</a:t>
            </a:r>
          </a:p>
          <a:p>
            <a:pPr>
              <a:spcAft>
                <a:spcPts val="700"/>
              </a:spcAft>
            </a:pPr>
            <a:r>
              <a:rPr b="0" sz="2000" i="0">
                <a:solidFill>
                  <a:srgbClr val="1A2233"/>
                </a:solidFill>
                <a:latin typeface="Calibri"/>
              </a:rPr>
              <a:t>▪ Security (validated, perfected, ranked) protects lenders if cash flow fails</a:t>
            </a:r>
          </a:p>
          <a:p>
            <a:pPr>
              <a:spcAft>
                <a:spcPts val="700"/>
              </a:spcAft>
            </a:pPr>
            <a:r>
              <a:rPr b="0" sz="2000" i="0">
                <a:solidFill>
                  <a:srgbClr val="1A2233"/>
                </a:solidFill>
                <a:latin typeface="Calibri"/>
              </a:rPr>
              <a:t>▪ Reps, warranties, covenants and events of default govern behaviour over the loan's life</a:t>
            </a:r>
          </a:p>
          <a:p>
            <a:pPr>
              <a:spcAft>
                <a:spcPts val="700"/>
              </a:spcAft>
            </a:pPr>
            <a:r>
              <a:rPr b="0" sz="2000" i="0">
                <a:solidFill>
                  <a:srgbClr val="1A2233"/>
                </a:solidFill>
                <a:latin typeface="Calibri"/>
              </a:rPr>
              <a:t>▪ Negotiation allocates risk: every clause changes the model</a:t>
            </a:r>
          </a:p>
        </p:txBody>
      </p:sp>
      <p:sp>
        <p:nvSpPr>
          <p:cNvPr id="12" name="Rectangle 11"/>
          <p:cNvSpPr/>
          <p:nvPr/>
        </p:nvSpPr>
        <p:spPr>
          <a:xfrm>
            <a:off x="640080" y="5029200"/>
            <a:ext cx="10881360" cy="82296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029200"/>
            <a:ext cx="82296" cy="8229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52760" cy="822960"/>
          </a:xfrm>
          <a:prstGeom prst="rect">
            <a:avLst/>
          </a:prstGeom>
          <a:noFill/>
        </p:spPr>
        <p:txBody>
          <a:bodyPr wrap="square" lIns="45720" rIns="45720" tIns="27432" bIns="27432" anchor="ctr">
            <a:spAutoFit/>
          </a:bodyPr>
          <a:lstStyle/>
          <a:p>
            <a:pPr algn="l"/>
            <a:r>
              <a:rPr b="0" sz="1400" i="0">
                <a:solidFill>
                  <a:srgbClr val="1A2233"/>
                </a:solidFill>
                <a:latin typeface="Calibri"/>
              </a:rPr>
              <a:t>Tomorrow (Day 3): finance fundamentals: contracts and bankability, capital structure, term loans, syndication, and risk allocation in numbers.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2  |  Thu 15 Oct 2026  |  Legal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65</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15544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QUESTIONS AND FOLLOW-UP</a:t>
            </a:r>
          </a:p>
        </p:txBody>
      </p:sp>
      <p:sp>
        <p:nvSpPr>
          <p:cNvPr id="10" name="TextBox 9"/>
          <p:cNvSpPr txBox="1"/>
          <p:nvPr/>
        </p:nvSpPr>
        <p:spPr>
          <a:xfrm>
            <a:off x="731520" y="1965960"/>
            <a:ext cx="10058400" cy="914400"/>
          </a:xfrm>
          <a:prstGeom prst="rect">
            <a:avLst/>
          </a:prstGeom>
          <a:noFill/>
        </p:spPr>
        <p:txBody>
          <a:bodyPr wrap="square" lIns="45720" rIns="45720" tIns="27432" bIns="27432" anchor="t">
            <a:spAutoFit/>
          </a:bodyPr>
          <a:lstStyle/>
          <a:p>
            <a:pPr algn="l"/>
            <a:r>
              <a:rPr b="1" sz="4400" i="0">
                <a:solidFill>
                  <a:srgbClr val="FFFFFF"/>
                </a:solidFill>
                <a:latin typeface="Georgia"/>
              </a:rPr>
              <a:t>Thank you</a:t>
            </a:r>
          </a:p>
        </p:txBody>
      </p:sp>
      <p:sp>
        <p:nvSpPr>
          <p:cNvPr id="11" name="TextBox 10"/>
          <p:cNvSpPr txBox="1"/>
          <p:nvPr/>
        </p:nvSpPr>
        <p:spPr>
          <a:xfrm>
            <a:off x="731520" y="3200400"/>
            <a:ext cx="8686800" cy="2194560"/>
          </a:xfrm>
          <a:prstGeom prst="rect">
            <a:avLst/>
          </a:prstGeom>
          <a:noFill/>
        </p:spPr>
        <p:txBody>
          <a:bodyPr wrap="square" lIns="45720" rIns="45720" tIns="27432" bIns="27432" anchor="t">
            <a:spAutoFit/>
          </a:bodyPr>
          <a:lstStyle/>
          <a:p>
            <a:pPr algn="l"/>
            <a:r>
              <a:rPr b="1" sz="2000" i="0">
                <a:solidFill>
                  <a:srgbClr val="D8DEF5"/>
                </a:solidFill>
                <a:latin typeface="Calibri"/>
              </a:rPr>
              <a:t>Prof Bongo Adi</a:t>
            </a:r>
          </a:p>
          <a:p>
            <a:pPr algn="l"/>
            <a:r>
              <a:rPr b="0" sz="2000" i="0">
                <a:solidFill>
                  <a:srgbClr val="D8DEF5"/>
                </a:solidFill>
                <a:latin typeface="Calibri"/>
              </a:rPr>
              <a:t>Lagos Business School, Pan-Atlantic University</a:t>
            </a:r>
          </a:p>
          <a:p>
            <a:pPr algn="l"/>
            <a:r>
              <a:rPr b="0" sz="2000" i="0">
                <a:solidFill>
                  <a:srgbClr val="D8DEF5"/>
                </a:solidFill>
                <a:latin typeface="Calibri"/>
              </a:rPr>
              <a:t>Phone / WhatsApp:  +234 706 164 8699</a:t>
            </a:r>
          </a:p>
          <a:p>
            <a:pPr algn="l"/>
            <a:r>
              <a:rPr b="0" sz="2000" i="0">
                <a:solidFill>
                  <a:srgbClr val="D8DEF5"/>
                </a:solidFill>
                <a:latin typeface="Calibri"/>
              </a:rPr>
              <a:t>Email:  badi@lbs.edu.ng</a:t>
            </a:r>
          </a:p>
          <a:p>
            <a:pPr algn="l"/>
            <a:r>
              <a:rPr b="0" sz="2000" i="0">
                <a:solidFill>
                  <a:srgbClr val="D8DEF5"/>
                </a:solidFill>
                <a:latin typeface="Calibri"/>
              </a:rPr>
              <a:t>Fulbright email:  bongo.adi@fulbrightmail.org</a:t>
            </a:r>
          </a:p>
        </p:txBody>
      </p:sp>
      <p:pic>
        <p:nvPicPr>
          <p:cNvPr id="12" name="Picture 11" descr="mipf_hex.png"/>
          <p:cNvPicPr>
            <a:picLocks noChangeAspect="1"/>
          </p:cNvPicPr>
          <p:nvPr/>
        </p:nvPicPr>
        <p:blipFill>
          <a:blip r:embed="rId5"/>
          <a:stretch>
            <a:fillRect/>
          </a:stretch>
        </p:blipFill>
        <p:spPr>
          <a:xfrm>
            <a:off x="9418320" y="1828800"/>
            <a:ext cx="2103120" cy="2103120"/>
          </a:xfrm>
          <a:prstGeom prst="rect">
            <a:avLst/>
          </a:prstGeom>
        </p:spPr>
      </p:pic>
      <p:pic>
        <p:nvPicPr>
          <p:cNvPr id="13" name="Picture 12" descr="bongo_ai_hex_dark_256.png"/>
          <p:cNvPicPr>
            <a:picLocks noChangeAspect="1"/>
          </p:cNvPicPr>
          <p:nvPr/>
        </p:nvPicPr>
        <p:blipFill>
          <a:blip r:embed="rId4"/>
          <a:stretch>
            <a:fillRect/>
          </a:stretch>
        </p:blipFill>
        <p:spPr>
          <a:xfrm>
            <a:off x="9692640" y="4114800"/>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MIPF_Day2_Legal_Fundamentals_Deck (participant edition)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