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Sculpted principal</c:v>
                </c:pt>
              </c:strCache>
            </c:strRef>
          </c:tx>
          <c:spPr>
            <a:solidFill>
              <a:srgbClr val="141B4D"/>
            </a:solidFill>
          </c:spP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Sheet1!$B$2:$B$21</c:f>
              <c:numCache>
                <c:formatCode>General</c:formatCode>
                <c:ptCount val="20"/>
                <c:pt idx="0">
                  <c:v>1057</c:v>
                </c:pt>
                <c:pt idx="1">
                  <c:v>1207</c:v>
                </c:pt>
                <c:pt idx="2">
                  <c:v>1248</c:v>
                </c:pt>
                <c:pt idx="3">
                  <c:v>1261</c:v>
                </c:pt>
                <c:pt idx="4">
                  <c:v>1360</c:v>
                </c:pt>
                <c:pt idx="5">
                  <c:v>1428</c:v>
                </c:pt>
                <c:pt idx="6">
                  <c:v>1482</c:v>
                </c:pt>
                <c:pt idx="7">
                  <c:v>1511</c:v>
                </c:pt>
                <c:pt idx="8">
                  <c:v>1567</c:v>
                </c:pt>
                <c:pt idx="9">
                  <c:v>1736</c:v>
                </c:pt>
                <c:pt idx="10">
                  <c:v>1884</c:v>
                </c:pt>
                <c:pt idx="11">
                  <c:v>1950</c:v>
                </c:pt>
                <c:pt idx="12">
                  <c:v>2026</c:v>
                </c:pt>
                <c:pt idx="13">
                  <c:v>2107</c:v>
                </c:pt>
                <c:pt idx="14">
                  <c:v>2415</c:v>
                </c:pt>
                <c:pt idx="15">
                  <c:v>2521</c:v>
                </c:pt>
                <c:pt idx="16">
                  <c:v>2621</c:v>
                </c:pt>
                <c:pt idx="17">
                  <c:v>2741</c:v>
                </c:pt>
                <c:pt idx="18">
                  <c:v>2850</c:v>
                </c:pt>
                <c:pt idx="19">
                  <c:v>3156</c:v>
                </c:pt>
              </c:numCache>
            </c:numRef>
          </c:val>
        </c:ser>
        <c:ser>
          <c:idx val="1"/>
          <c:order val="1"/>
          <c:tx>
            <c:strRef>
              <c:f>Sheet1!$C$1</c:f>
              <c:strCache>
                <c:ptCount val="1"/>
                <c:pt idx="0">
                  <c:v>Interest</c:v>
                </c:pt>
              </c:strCache>
            </c:strRef>
          </c:tx>
          <c:spPr>
            <a:solidFill>
              <a:srgbClr val="D99A2B"/>
            </a:solidFill>
          </c:spP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Sheet1!$C$2:$C$21</c:f>
              <c:numCache>
                <c:formatCode>General</c:formatCode>
                <c:ptCount val="20"/>
                <c:pt idx="0">
                  <c:v>1173</c:v>
                </c:pt>
                <c:pt idx="1">
                  <c:v>1162</c:v>
                </c:pt>
                <c:pt idx="2">
                  <c:v>1098</c:v>
                </c:pt>
                <c:pt idx="3">
                  <c:v>1082</c:v>
                </c:pt>
                <c:pt idx="4">
                  <c:v>1045</c:v>
                </c:pt>
                <c:pt idx="5">
                  <c:v>1011</c:v>
                </c:pt>
                <c:pt idx="6">
                  <c:v>951</c:v>
                </c:pt>
                <c:pt idx="7">
                  <c:v>924</c:v>
                </c:pt>
                <c:pt idx="8">
                  <c:v>867</c:v>
                </c:pt>
                <c:pt idx="9">
                  <c:v>835</c:v>
                </c:pt>
                <c:pt idx="10">
                  <c:v>767</c:v>
                </c:pt>
                <c:pt idx="11">
                  <c:v>723</c:v>
                </c:pt>
                <c:pt idx="12">
                  <c:v>655</c:v>
                </c:pt>
                <c:pt idx="13">
                  <c:v>596</c:v>
                </c:pt>
                <c:pt idx="14">
                  <c:v>521</c:v>
                </c:pt>
                <c:pt idx="15">
                  <c:v>452</c:v>
                </c:pt>
                <c:pt idx="16">
                  <c:v>369</c:v>
                </c:pt>
                <c:pt idx="17">
                  <c:v>290</c:v>
                </c:pt>
                <c:pt idx="18">
                  <c:v>196</c:v>
                </c:pt>
                <c:pt idx="19">
                  <c:v>106</c:v>
                </c:pt>
              </c:numCache>
            </c:numRef>
          </c:val>
        </c:ser>
        <c:overlap val="10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CFADS (sizing basis)</c:v>
                </c:pt>
              </c:strCache>
            </c:strRef>
          </c:tx>
          <c:spPr>
            <a:ln w="31750">
              <a:solidFill>
                <a:srgbClr val="141B4D"/>
              </a:solidFill>
            </a:ln>
          </c:spPr>
          <c:marker>
            <c:symbol val="none"/>
          </c:marke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Sheet1!$B$2:$B$21</c:f>
              <c:numCache>
                <c:formatCode>General</c:formatCode>
                <c:ptCount val="20"/>
                <c:pt idx="0">
                  <c:v>5016</c:v>
                </c:pt>
                <c:pt idx="1">
                  <c:v>5330</c:v>
                </c:pt>
                <c:pt idx="2">
                  <c:v>5280</c:v>
                </c:pt>
                <c:pt idx="3">
                  <c:v>5273</c:v>
                </c:pt>
                <c:pt idx="4">
                  <c:v>5411</c:v>
                </c:pt>
                <c:pt idx="5">
                  <c:v>5489</c:v>
                </c:pt>
                <c:pt idx="6">
                  <c:v>5476</c:v>
                </c:pt>
                <c:pt idx="7">
                  <c:v>5478</c:v>
                </c:pt>
                <c:pt idx="8">
                  <c:v>5477</c:v>
                </c:pt>
                <c:pt idx="9">
                  <c:v>5786</c:v>
                </c:pt>
                <c:pt idx="10">
                  <c:v>5967</c:v>
                </c:pt>
                <c:pt idx="11">
                  <c:v>6012</c:v>
                </c:pt>
                <c:pt idx="12">
                  <c:v>6032</c:v>
                </c:pt>
                <c:pt idx="13">
                  <c:v>6082</c:v>
                </c:pt>
                <c:pt idx="14">
                  <c:v>6605</c:v>
                </c:pt>
                <c:pt idx="15">
                  <c:v>6689</c:v>
                </c:pt>
                <c:pt idx="16">
                  <c:v>6728</c:v>
                </c:pt>
                <c:pt idx="17">
                  <c:v>6821</c:v>
                </c:pt>
                <c:pt idx="18">
                  <c:v>6852</c:v>
                </c:pt>
                <c:pt idx="19">
                  <c:v>7338</c:v>
                </c:pt>
              </c:numCache>
            </c:numRef>
          </c:val>
          <c:smooth val="0"/>
        </c:ser>
        <c:ser>
          <c:idx val="1"/>
          <c:order val="1"/>
          <c:tx>
            <c:strRef>
              <c:f>Sheet1!$C$1</c:f>
              <c:strCache>
                <c:ptCount val="1"/>
                <c:pt idx="0">
                  <c:v>Sculpted debt service</c:v>
                </c:pt>
              </c:strCache>
            </c:strRef>
          </c:tx>
          <c:spPr>
            <a:ln w="31750">
              <a:solidFill>
                <a:srgbClr val="D99A2B"/>
              </a:solidFill>
            </a:ln>
          </c:spPr>
          <c:marker>
            <c:symbol val="none"/>
          </c:marker>
          <c:cat>
            <c:strRef>
              <c:f>Sheet1!$A$2:$A$21</c:f>
              <c:strCache>
                <c:ptCount val="20"/>
                <c:pt idx="0">
                  <c:v>Mar-22</c:v>
                </c:pt>
                <c:pt idx="1">
                  <c:v>Sep-22</c:v>
                </c:pt>
                <c:pt idx="2">
                  <c:v>Mar-23</c:v>
                </c:pt>
                <c:pt idx="3">
                  <c:v>Sep-23</c:v>
                </c:pt>
                <c:pt idx="4">
                  <c:v>Mar-24</c:v>
                </c:pt>
                <c:pt idx="5">
                  <c:v>Sep-24</c:v>
                </c:pt>
                <c:pt idx="6">
                  <c:v>Mar-25</c:v>
                </c:pt>
                <c:pt idx="7">
                  <c:v>Sep-25</c:v>
                </c:pt>
                <c:pt idx="8">
                  <c:v>Mar-26</c:v>
                </c:pt>
                <c:pt idx="9">
                  <c:v>Sep-26</c:v>
                </c:pt>
                <c:pt idx="10">
                  <c:v>Mar-27</c:v>
                </c:pt>
                <c:pt idx="11">
                  <c:v>Sep-27</c:v>
                </c:pt>
                <c:pt idx="12">
                  <c:v>Mar-28</c:v>
                </c:pt>
                <c:pt idx="13">
                  <c:v>Sep-28</c:v>
                </c:pt>
                <c:pt idx="14">
                  <c:v>Mar-29</c:v>
                </c:pt>
                <c:pt idx="15">
                  <c:v>Sep-29</c:v>
                </c:pt>
                <c:pt idx="16">
                  <c:v>Mar-30</c:v>
                </c:pt>
                <c:pt idx="17">
                  <c:v>Sep-30</c:v>
                </c:pt>
                <c:pt idx="18">
                  <c:v>Mar-31</c:v>
                </c:pt>
                <c:pt idx="19">
                  <c:v>Sep-31</c:v>
                </c:pt>
              </c:strCache>
            </c:strRef>
          </c:cat>
          <c:val>
            <c:numRef>
              <c:f>Sheet1!$C$2:$C$21</c:f>
              <c:numCache>
                <c:formatCode>General</c:formatCode>
                <c:ptCount val="20"/>
                <c:pt idx="0">
                  <c:v>2229</c:v>
                </c:pt>
                <c:pt idx="1">
                  <c:v>2369</c:v>
                </c:pt>
                <c:pt idx="2">
                  <c:v>2346</c:v>
                </c:pt>
                <c:pt idx="3">
                  <c:v>2343</c:v>
                </c:pt>
                <c:pt idx="4">
                  <c:v>2405</c:v>
                </c:pt>
                <c:pt idx="5">
                  <c:v>2439</c:v>
                </c:pt>
                <c:pt idx="6">
                  <c:v>2434</c:v>
                </c:pt>
                <c:pt idx="7">
                  <c:v>2435</c:v>
                </c:pt>
                <c:pt idx="8">
                  <c:v>2434</c:v>
                </c:pt>
                <c:pt idx="9">
                  <c:v>2571</c:v>
                </c:pt>
                <c:pt idx="10">
                  <c:v>2652</c:v>
                </c:pt>
                <c:pt idx="11">
                  <c:v>2672</c:v>
                </c:pt>
                <c:pt idx="12">
                  <c:v>2681</c:v>
                </c:pt>
                <c:pt idx="13">
                  <c:v>2703</c:v>
                </c:pt>
                <c:pt idx="14">
                  <c:v>2936</c:v>
                </c:pt>
                <c:pt idx="15">
                  <c:v>2973</c:v>
                </c:pt>
                <c:pt idx="16">
                  <c:v>2990</c:v>
                </c:pt>
                <c:pt idx="17">
                  <c:v>3032</c:v>
                </c:pt>
                <c:pt idx="18">
                  <c:v>3046</c:v>
                </c:pt>
                <c:pt idx="19">
                  <c:v>3262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DSRA balance</c:v>
                </c:pt>
              </c:strCache>
            </c:strRef>
          </c:tx>
          <c:spPr>
            <a:ln w="31750">
              <a:solidFill>
                <a:srgbClr val="141B4D"/>
              </a:solidFill>
            </a:ln>
          </c:spPr>
          <c:marker>
            <c:symbol val="none"/>
          </c:marker>
          <c:cat>
            <c:strRef>
              <c:f>Sheet1!$A$2:$A$19</c:f>
              <c:strCache>
                <c:ptCount val="18"/>
                <c:pt idx="0">
                  <c:v>Dec-21</c:v>
                </c:pt>
                <c:pt idx="1">
                  <c:v>Sep-22</c:v>
                </c:pt>
                <c:pt idx="2">
                  <c:v>Jun-23</c:v>
                </c:pt>
                <c:pt idx="3">
                  <c:v>Mar-24</c:v>
                </c:pt>
                <c:pt idx="4">
                  <c:v>Dec-24</c:v>
                </c:pt>
                <c:pt idx="5">
                  <c:v>Sep-25</c:v>
                </c:pt>
                <c:pt idx="6">
                  <c:v>Jun-26</c:v>
                </c:pt>
                <c:pt idx="7">
                  <c:v>Mar-27</c:v>
                </c:pt>
                <c:pt idx="8">
                  <c:v>Dec-27</c:v>
                </c:pt>
                <c:pt idx="9">
                  <c:v>Sep-28</c:v>
                </c:pt>
                <c:pt idx="10">
                  <c:v>Jun-29</c:v>
                </c:pt>
                <c:pt idx="11">
                  <c:v>Mar-30</c:v>
                </c:pt>
                <c:pt idx="12">
                  <c:v>Dec-30</c:v>
                </c:pt>
                <c:pt idx="13">
                  <c:v>Sep-31</c:v>
                </c:pt>
                <c:pt idx="14">
                  <c:v>Jun-32</c:v>
                </c:pt>
                <c:pt idx="15">
                  <c:v>Mar-33</c:v>
                </c:pt>
                <c:pt idx="16">
                  <c:v>Dec-33</c:v>
                </c:pt>
                <c:pt idx="17">
                  <c:v>Sep-34</c:v>
                </c:pt>
              </c:strCache>
            </c:strRef>
          </c:cat>
          <c:val>
            <c:numRef>
              <c:f>Sheet1!$B$2:$B$19</c:f>
              <c:numCache>
                <c:formatCode>General</c:formatCode>
                <c:ptCount val="18"/>
                <c:pt idx="0">
                  <c:v>0</c:v>
                </c:pt>
                <c:pt idx="1">
                  <c:v>4636</c:v>
                </c:pt>
                <c:pt idx="2">
                  <c:v>3718</c:v>
                </c:pt>
                <c:pt idx="3">
                  <c:v>4800</c:v>
                </c:pt>
                <c:pt idx="4">
                  <c:v>4790</c:v>
                </c:pt>
                <c:pt idx="5">
                  <c:v>4115</c:v>
                </c:pt>
                <c:pt idx="6">
                  <c:v>4688</c:v>
                </c:pt>
                <c:pt idx="7">
                  <c:v>5251</c:v>
                </c:pt>
                <c:pt idx="8">
                  <c:v>5281</c:v>
                </c:pt>
                <c:pt idx="9">
                  <c:v>5237</c:v>
                </c:pt>
                <c:pt idx="10">
                  <c:v>5410</c:v>
                </c:pt>
                <c:pt idx="11">
                  <c:v>5951</c:v>
                </c:pt>
                <c:pt idx="12">
                  <c:v>6019</c:v>
                </c:pt>
                <c:pt idx="13">
                  <c:v>3269</c:v>
                </c:pt>
                <c:pt idx="14">
                  <c:v>0</c:v>
                </c:pt>
                <c:pt idx="15">
                  <c:v>0</c:v>
                </c:pt>
                <c:pt idx="16">
                  <c:v>0</c:v>
                </c:pt>
                <c:pt idx="17">
                  <c:v>0</c:v>
                </c:pt>
              </c:numCache>
            </c:numRef>
          </c:val>
          <c:smooth val="0"/>
        </c:ser>
        <c:ser>
          <c:idx val="1"/>
          <c:order val="1"/>
          <c:tx>
            <c:strRef>
              <c:f>Sheet1!$C$1</c:f>
              <c:strCache>
                <c:ptCount val="1"/>
                <c:pt idx="0">
                  <c:v>Target</c:v>
                </c:pt>
              </c:strCache>
            </c:strRef>
          </c:tx>
          <c:spPr>
            <a:ln w="31750">
              <a:solidFill>
                <a:srgbClr val="D99A2B"/>
              </a:solidFill>
            </a:ln>
          </c:spPr>
          <c:marker>
            <c:symbol val="none"/>
          </c:marker>
          <c:cat>
            <c:strRef>
              <c:f>Sheet1!$A$2:$A$19</c:f>
              <c:strCache>
                <c:ptCount val="18"/>
                <c:pt idx="0">
                  <c:v>Dec-21</c:v>
                </c:pt>
                <c:pt idx="1">
                  <c:v>Sep-22</c:v>
                </c:pt>
                <c:pt idx="2">
                  <c:v>Jun-23</c:v>
                </c:pt>
                <c:pt idx="3">
                  <c:v>Mar-24</c:v>
                </c:pt>
                <c:pt idx="4">
                  <c:v>Dec-24</c:v>
                </c:pt>
                <c:pt idx="5">
                  <c:v>Sep-25</c:v>
                </c:pt>
                <c:pt idx="6">
                  <c:v>Jun-26</c:v>
                </c:pt>
                <c:pt idx="7">
                  <c:v>Mar-27</c:v>
                </c:pt>
                <c:pt idx="8">
                  <c:v>Dec-27</c:v>
                </c:pt>
                <c:pt idx="9">
                  <c:v>Sep-28</c:v>
                </c:pt>
                <c:pt idx="10">
                  <c:v>Jun-29</c:v>
                </c:pt>
                <c:pt idx="11">
                  <c:v>Mar-30</c:v>
                </c:pt>
                <c:pt idx="12">
                  <c:v>Dec-30</c:v>
                </c:pt>
                <c:pt idx="13">
                  <c:v>Sep-31</c:v>
                </c:pt>
                <c:pt idx="14">
                  <c:v>Jun-32</c:v>
                </c:pt>
                <c:pt idx="15">
                  <c:v>Mar-33</c:v>
                </c:pt>
                <c:pt idx="16">
                  <c:v>Dec-33</c:v>
                </c:pt>
                <c:pt idx="17">
                  <c:v>Sep-34</c:v>
                </c:pt>
              </c:strCache>
            </c:strRef>
          </c:cat>
          <c:val>
            <c:numRef>
              <c:f>Sheet1!$C$2:$C$19</c:f>
              <c:numCache>
                <c:formatCode>General</c:formatCode>
                <c:ptCount val="18"/>
                <c:pt idx="0">
                  <c:v>4546</c:v>
                </c:pt>
                <c:pt idx="1">
                  <c:v>4636</c:v>
                </c:pt>
                <c:pt idx="2">
                  <c:v>3718</c:v>
                </c:pt>
                <c:pt idx="3">
                  <c:v>4800</c:v>
                </c:pt>
                <c:pt idx="4">
                  <c:v>4790</c:v>
                </c:pt>
                <c:pt idx="5">
                  <c:v>4115</c:v>
                </c:pt>
                <c:pt idx="6">
                  <c:v>4688</c:v>
                </c:pt>
                <c:pt idx="7">
                  <c:v>5251</c:v>
                </c:pt>
                <c:pt idx="8">
                  <c:v>5281</c:v>
                </c:pt>
                <c:pt idx="9">
                  <c:v>5237</c:v>
                </c:pt>
                <c:pt idx="10">
                  <c:v>5410</c:v>
                </c:pt>
                <c:pt idx="11">
                  <c:v>5951</c:v>
                </c:pt>
                <c:pt idx="12">
                  <c:v>6019</c:v>
                </c:pt>
                <c:pt idx="13">
                  <c:v>3269</c:v>
                </c:pt>
                <c:pt idx="14">
                  <c:v>0</c:v>
                </c:pt>
                <c:pt idx="15">
                  <c:v>0</c:v>
                </c:pt>
                <c:pt idx="16">
                  <c:v>0</c:v>
                </c:pt>
                <c:pt idx="17">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spPr>
            <a:ln>
              <a:solidFill>
                <a:srgbClr val="E1E7EE"/>
              </a:solidFill>
            </a:ln>
          </c:spPr>
        </c:majorGridlines>
        <c:title>
          <c:tx>
            <c:rich>
              <a:bodyPr/>
              <a:lstStyle/>
              <a:p>
                <a:r>
                  <a:rPr sz="1100"/>
                  <a:t>$000s</a:t>
                </a:r>
              </a:p>
            </c:rich>
          </c:tx>
          <c:layout/>
          <c:overlay val="0"/>
        </c:title>
        <c:numFmt formatCode="#,##0" sourceLinked="0"/>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2.xml"/><Relationship Id="rId6"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chart" Target="../charts/chart3.xml"/><Relationship Id="rId6" Type="http://schemas.openxmlformats.org/officeDocument/2006/relationships/notesSlide" Target="../notesSlides/notesSlide2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ounded Rectangle 1"/>
          <p:cNvSpPr/>
          <p:nvPr/>
        </p:nvSpPr>
        <p:spPr>
          <a:xfrm>
            <a:off x="457200" y="411480"/>
            <a:ext cx="3200400" cy="1051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566928" y="502920"/>
            <a:ext cx="2516682" cy="868680"/>
          </a:xfrm>
          <a:prstGeom prst="rect">
            <a:avLst/>
          </a:prstGeom>
        </p:spPr>
      </p:pic>
      <p:pic>
        <p:nvPicPr>
          <p:cNvPr id="4" name="Picture 3" descr="mipf_hex.png"/>
          <p:cNvPicPr>
            <a:picLocks noChangeAspect="1"/>
          </p:cNvPicPr>
          <p:nvPr/>
        </p:nvPicPr>
        <p:blipFill>
          <a:blip r:embed="rId3"/>
          <a:stretch>
            <a:fillRect/>
          </a:stretch>
        </p:blipFill>
        <p:spPr>
          <a:xfrm>
            <a:off x="9144000" y="457200"/>
            <a:ext cx="2377440" cy="2377440"/>
          </a:xfrm>
          <a:prstGeom prst="rect">
            <a:avLst/>
          </a:prstGeom>
        </p:spPr>
      </p:pic>
      <p:pic>
        <p:nvPicPr>
          <p:cNvPr id="5" name="Picture 4" descr="bongo_ai_hex_dark_256.png"/>
          <p:cNvPicPr>
            <a:picLocks noChangeAspect="1"/>
          </p:cNvPicPr>
          <p:nvPr/>
        </p:nvPicPr>
        <p:blipFill>
          <a:blip r:embed="rId4"/>
          <a:stretch>
            <a:fillRect/>
          </a:stretch>
        </p:blipFill>
        <p:spPr>
          <a:xfrm>
            <a:off x="10607040" y="5074920"/>
            <a:ext cx="1188720" cy="1188720"/>
          </a:xfrm>
          <a:prstGeom prst="rect">
            <a:avLst/>
          </a:prstGeom>
        </p:spPr>
      </p:pic>
      <p:sp>
        <p:nvSpPr>
          <p:cNvPr id="6" name="TextBox 5"/>
          <p:cNvSpPr txBox="1"/>
          <p:nvPr/>
        </p:nvSpPr>
        <p:spPr>
          <a:xfrm>
            <a:off x="9144000" y="6035040"/>
            <a:ext cx="1463040" cy="274320"/>
          </a:xfrm>
          <a:prstGeom prst="rect">
            <a:avLst/>
          </a:prstGeom>
          <a:noFill/>
        </p:spPr>
        <p:txBody>
          <a:bodyPr wrap="square" lIns="45720" rIns="45720" tIns="27432" bIns="27432" anchor="t">
            <a:spAutoFit/>
          </a:bodyPr>
          <a:lstStyle/>
          <a:p>
            <a:pPr algn="r"/>
            <a:r>
              <a:rPr b="0" sz="1100" i="0">
                <a:solidFill>
                  <a:srgbClr val="C9D3F5"/>
                </a:solidFill>
                <a:latin typeface="Calibri"/>
              </a:rPr>
              <a:t>bongo.ai  ·  MIPF</a:t>
            </a:r>
          </a:p>
        </p:txBody>
      </p:sp>
      <p:sp>
        <p:nvSpPr>
          <p:cNvPr id="7" name="TextBox 6"/>
          <p:cNvSpPr txBox="1"/>
          <p:nvPr/>
        </p:nvSpPr>
        <p:spPr>
          <a:xfrm>
            <a:off x="548640" y="2331720"/>
            <a:ext cx="8412480" cy="365760"/>
          </a:xfrm>
          <a:prstGeom prst="rect">
            <a:avLst/>
          </a:prstGeom>
          <a:noFill/>
        </p:spPr>
        <p:txBody>
          <a:bodyPr wrap="square" lIns="45720" rIns="45720" tIns="27432" bIns="27432" anchor="t">
            <a:spAutoFit/>
          </a:bodyPr>
          <a:lstStyle/>
          <a:p>
            <a:pPr algn="l"/>
            <a:r>
              <a:rPr b="1" sz="1400" i="0">
                <a:solidFill>
                  <a:srgbClr val="D99A2B"/>
                </a:solidFill>
                <a:latin typeface="Calibri"/>
              </a:rPr>
              <a:t>MASTERING INFRASTRUCTURE AND PROJECT FINANCE BOOT CAMP</a:t>
            </a:r>
          </a:p>
        </p:txBody>
      </p:sp>
      <p:sp>
        <p:nvSpPr>
          <p:cNvPr id="8" name="TextBox 7"/>
          <p:cNvSpPr txBox="1"/>
          <p:nvPr/>
        </p:nvSpPr>
        <p:spPr>
          <a:xfrm>
            <a:off x="548640" y="2743200"/>
            <a:ext cx="8595360" cy="1737360"/>
          </a:xfrm>
          <a:prstGeom prst="rect">
            <a:avLst/>
          </a:prstGeom>
          <a:noFill/>
        </p:spPr>
        <p:txBody>
          <a:bodyPr wrap="square" lIns="45720" rIns="45720" tIns="27432" bIns="27432" anchor="t">
            <a:spAutoFit/>
          </a:bodyPr>
          <a:lstStyle/>
          <a:p>
            <a:pPr algn="l"/>
            <a:r>
              <a:rPr b="1" sz="3400" i="0">
                <a:solidFill>
                  <a:srgbClr val="FFFFFF"/>
                </a:solidFill>
                <a:latin typeface="Georgia"/>
              </a:rPr>
              <a:t>Project Finance Modelling II: Debt Sizing, Sculpting and Returns</a:t>
            </a:r>
          </a:p>
        </p:txBody>
      </p:sp>
      <p:sp>
        <p:nvSpPr>
          <p:cNvPr id="9" name="TextBox 8"/>
          <p:cNvSpPr txBox="1"/>
          <p:nvPr/>
        </p:nvSpPr>
        <p:spPr>
          <a:xfrm>
            <a:off x="548640" y="4526280"/>
            <a:ext cx="8595360" cy="822960"/>
          </a:xfrm>
          <a:prstGeom prst="rect">
            <a:avLst/>
          </a:prstGeom>
          <a:noFill/>
        </p:spPr>
        <p:txBody>
          <a:bodyPr wrap="square" lIns="45720" rIns="45720" tIns="27432" bIns="27432" anchor="t">
            <a:spAutoFit/>
          </a:bodyPr>
          <a:lstStyle/>
          <a:p>
            <a:pPr algn="l"/>
            <a:r>
              <a:rPr b="0" sz="1800" i="0">
                <a:solidFill>
                  <a:srgbClr val="D8DEF5"/>
                </a:solidFill>
                <a:latin typeface="Calibri"/>
              </a:rPr>
              <a:t>Drawdown, DSCR, LLCR and PLCR, debt capacity and sculpting, the shareholder loan and DSRA, blended equity return and optimisation</a:t>
            </a:r>
          </a:p>
        </p:txBody>
      </p:sp>
      <p:sp>
        <p:nvSpPr>
          <p:cNvPr id="10" name="TextBox 9"/>
          <p:cNvSpPr txBox="1"/>
          <p:nvPr/>
        </p:nvSpPr>
        <p:spPr>
          <a:xfrm>
            <a:off x="548640" y="5669280"/>
            <a:ext cx="8595360" cy="457200"/>
          </a:xfrm>
          <a:prstGeom prst="rect">
            <a:avLst/>
          </a:prstGeom>
          <a:noFill/>
        </p:spPr>
        <p:txBody>
          <a:bodyPr wrap="square" lIns="45720" rIns="45720" tIns="27432" bIns="27432" anchor="t">
            <a:spAutoFit/>
          </a:bodyPr>
          <a:lstStyle/>
          <a:p>
            <a:pPr algn="l"/>
            <a:r>
              <a:rPr b="1" sz="1500" i="0">
                <a:solidFill>
                  <a:srgbClr val="FFFFFF"/>
                </a:solidFill>
                <a:latin typeface="Calibri"/>
              </a:rPr>
              <a:t>Wednesday 21st October 2026  |  Facilitator: Promise Godbold</a:t>
            </a:r>
          </a:p>
        </p:txBody>
      </p:sp>
      <p:sp>
        <p:nvSpPr>
          <p:cNvPr id="11" name="TextBox 10"/>
          <p:cNvSpPr txBox="1"/>
          <p:nvPr/>
        </p:nvSpPr>
        <p:spPr>
          <a:xfrm>
            <a:off x="548640" y="6053328"/>
            <a:ext cx="10058400" cy="274320"/>
          </a:xfrm>
          <a:prstGeom prst="rect">
            <a:avLst/>
          </a:prstGeom>
          <a:noFill/>
        </p:spPr>
        <p:txBody>
          <a:bodyPr wrap="square" lIns="45720" rIns="45720" tIns="27432" bIns="27432" anchor="t">
            <a:spAutoFit/>
          </a:bodyPr>
          <a:lstStyle/>
          <a:p>
            <a:pPr algn="l"/>
            <a:r>
              <a:rPr b="0" sz="1100" i="0">
                <a:solidFill>
                  <a:srgbClr val="C9D3F5"/>
                </a:solidFill>
                <a:latin typeface="Calibri"/>
              </a:rPr>
              <a:t>Prof Bongo Adi  |  +234 706 164 8699  |  badi@lbs.edu.ng  |  bongo.adi@fulbrightmail.org</a:t>
            </a:r>
          </a:p>
        </p:txBody>
      </p:sp>
      <p:sp>
        <p:nvSpPr>
          <p:cNvPr id="12" name="Rectangle 11"/>
          <p:cNvSpPr/>
          <p:nvPr/>
        </p:nvSpPr>
        <p:spPr>
          <a:xfrm>
            <a:off x="548640" y="5532120"/>
            <a:ext cx="219456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783080"/>
            <a:ext cx="8229600" cy="320040"/>
          </a:xfrm>
          <a:prstGeom prst="rect">
            <a:avLst/>
          </a:prstGeom>
          <a:noFill/>
        </p:spPr>
        <p:txBody>
          <a:bodyPr wrap="none">
            <a:spAutoFit/>
          </a:bodyPr>
          <a:lstStyle/>
          <a:p>
            <a:r>
              <a:rPr sz="1200" b="1">
                <a:solidFill>
                  <a:srgbClr val="D99A2B"/>
                </a:solidFill>
                <a:latin typeface="Calibri"/>
              </a:rPr>
              <a:t>PARTICIPANT EDITION  ·  exercise answers and facilitator notes are withheld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PLAN FOR THE DAY</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Today's timetable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19578"/>
        </p:xfrm>
        <a:graphic>
          <a:graphicData uri="http://schemas.openxmlformats.org/drawingml/2006/table">
            <a:tbl>
              <a:tblPr firstRow="1" bandRow="1">
                <a:tableStyleId>{5C22544A-7EE6-4342-B048-85BDC9FD1C3A}</a:tableStyleId>
              </a:tblPr>
              <a:tblGrid>
                <a:gridCol w="1828800"/>
                <a:gridCol w="4572000"/>
                <a:gridCol w="4663440"/>
              </a:tblGrid>
              <a:tr h="384048">
                <a:tc>
                  <a:txBody>
                    <a:bodyPr wrap="square"/>
                    <a:lstStyle/>
                    <a:p>
                      <a:r>
                        <a:rPr b="1" sz="1300" i="0">
                          <a:solidFill>
                            <a:srgbClr val="FFFFFF"/>
                          </a:solidFill>
                          <a:latin typeface="Calibri"/>
                        </a:rPr>
                        <a:t>Time</a:t>
                      </a:r>
                    </a:p>
                  </a:txBody>
                  <a:tcPr marL="64008" marR="64008" marT="27432" marB="27432" anchor="ctr">
                    <a:solidFill>
                      <a:srgbClr val="141B4D"/>
                    </a:solidFill>
                  </a:tcPr>
                </a:tc>
                <a:tc>
                  <a:txBody>
                    <a:bodyPr wrap="square"/>
                    <a:lstStyle/>
                    <a:p>
                      <a:r>
                        <a:rPr b="1" sz="1300" i="0">
                          <a:solidFill>
                            <a:srgbClr val="FFFFFF"/>
                          </a:solidFill>
                          <a:latin typeface="Calibri"/>
                        </a:rPr>
                        <a:t>Session</a:t>
                      </a:r>
                    </a:p>
                  </a:txBody>
                  <a:tcPr marL="64008" marR="64008" marT="27432" marB="27432" anchor="ctr">
                    <a:solidFill>
                      <a:srgbClr val="141B4D"/>
                    </a:solidFill>
                  </a:tcPr>
                </a:tc>
                <a:tc>
                  <a:txBody>
                    <a:bodyPr wrap="square"/>
                    <a:lstStyle/>
                    <a:p>
                      <a:r>
                        <a:rPr b="1" sz="1300" i="0">
                          <a:solidFill>
                            <a:srgbClr val="FFFFFF"/>
                          </a:solidFill>
                          <a:latin typeface="Calibri"/>
                        </a:rPr>
                        <a:t>What participants do</a:t>
                      </a:r>
                    </a:p>
                  </a:txBody>
                  <a:tcPr marL="64008" marR="64008" marT="27432" marB="27432" anchor="ctr">
                    <a:solidFill>
                      <a:srgbClr val="141B4D"/>
                    </a:solidFill>
                  </a:tcPr>
                </a:tc>
              </a:tr>
              <a:tr h="522478">
                <a:tc>
                  <a:txBody>
                    <a:bodyPr wrap="square"/>
                    <a:lstStyle/>
                    <a:p>
                      <a:r>
                        <a:rPr b="1" sz="1300" i="0">
                          <a:solidFill>
                            <a:srgbClr val="1A2233"/>
                          </a:solidFill>
                          <a:latin typeface="Calibri"/>
                        </a:rPr>
                        <a:t>09.00 – 10.00</a:t>
                      </a:r>
                    </a:p>
                  </a:txBody>
                  <a:tcPr marL="64008" marR="64008" marT="27432" marB="27432" anchor="ctr">
                    <a:solidFill>
                      <a:srgbClr val="FFFFFF"/>
                    </a:solidFill>
                  </a:tcPr>
                </a:tc>
                <a:tc>
                  <a:txBody>
                    <a:bodyPr wrap="square"/>
                    <a:lstStyle/>
                    <a:p>
                      <a:r>
                        <a:rPr b="0" sz="1300" i="0">
                          <a:solidFill>
                            <a:srgbClr val="1A2233"/>
                          </a:solidFill>
                          <a:latin typeface="Calibri"/>
                        </a:rPr>
                        <a:t>Construction debt drawdown structure; DSCR, LLCR and PLCR</a:t>
                      </a:r>
                    </a:p>
                  </a:txBody>
                  <a:tcPr marL="64008" marR="64008" marT="27432" marB="27432" anchor="ctr">
                    <a:solidFill>
                      <a:srgbClr val="FFFFFF"/>
                    </a:solidFill>
                  </a:tcPr>
                </a:tc>
                <a:tc>
                  <a:txBody>
                    <a:bodyPr wrap="square"/>
                    <a:lstStyle/>
                    <a:p>
                      <a:r>
                        <a:rPr b="0" sz="1300" i="0">
                          <a:solidFill>
                            <a:srgbClr val="1A2233"/>
                          </a:solidFill>
                          <a:latin typeface="Calibri"/>
                        </a:rPr>
                        <a:t>Compare drawdown methods; build the Ratios sheet (Exercises 7.1, 7.2)</a:t>
                      </a:r>
                    </a:p>
                  </a:txBody>
                  <a:tcPr marL="64008" marR="64008" marT="27432" marB="27432" anchor="ctr">
                    <a:solidFill>
                      <a:srgbClr val="FFFFFF"/>
                    </a:solidFill>
                  </a:tcPr>
                </a:tc>
              </a:tr>
              <a:tr h="384048">
                <a:tc>
                  <a:txBody>
                    <a:bodyPr wrap="square"/>
                    <a:lstStyle/>
                    <a:p>
                      <a:r>
                        <a:rPr b="1" sz="1300" i="0">
                          <a:solidFill>
                            <a:srgbClr val="1A2233"/>
                          </a:solidFill>
                          <a:latin typeface="Calibri"/>
                        </a:rPr>
                        <a:t>10.00 – 10.30</a:t>
                      </a:r>
                    </a:p>
                  </a:txBody>
                  <a:tcPr marL="64008" marR="64008" marT="27432" marB="27432" anchor="ctr">
                    <a:solidFill>
                      <a:srgbClr val="F3F6F9"/>
                    </a:solidFill>
                  </a:tcPr>
                </a:tc>
                <a:tc>
                  <a:txBody>
                    <a:bodyPr wrap="square"/>
                    <a:lstStyle/>
                    <a:p>
                      <a:r>
                        <a:rPr b="0" sz="1300" i="0">
                          <a:solidFill>
                            <a:srgbClr val="1A2233"/>
                          </a:solidFill>
                          <a:latin typeface="Calibri"/>
                        </a:rPr>
                        <a:t>Coffee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10.30 – 14.00</a:t>
                      </a:r>
                    </a:p>
                  </a:txBody>
                  <a:tcPr marL="64008" marR="64008" marT="27432" marB="27432" anchor="ctr">
                    <a:solidFill>
                      <a:srgbClr val="FFFFFF"/>
                    </a:solidFill>
                  </a:tcPr>
                </a:tc>
                <a:tc>
                  <a:txBody>
                    <a:bodyPr wrap="square"/>
                    <a:lstStyle/>
                    <a:p>
                      <a:r>
                        <a:rPr b="0" sz="1300" i="0">
                          <a:solidFill>
                            <a:srgbClr val="1A2233"/>
                          </a:solidFill>
                          <a:latin typeface="Calibri"/>
                        </a:rPr>
                        <a:t>Debt sculpting and sizing; blended equity rate of return</a:t>
                      </a:r>
                    </a:p>
                  </a:txBody>
                  <a:tcPr marL="64008" marR="64008" marT="27432" marB="27432" anchor="ctr">
                    <a:solidFill>
                      <a:srgbClr val="FFFFFF"/>
                    </a:solidFill>
                  </a:tcPr>
                </a:tc>
                <a:tc>
                  <a:txBody>
                    <a:bodyPr wrap="square"/>
                    <a:lstStyle/>
                    <a:p>
                      <a:r>
                        <a:rPr b="0" sz="1300" i="0">
                          <a:solidFill>
                            <a:srgbClr val="1A2233"/>
                          </a:solidFill>
                          <a:latin typeface="Calibri"/>
                        </a:rPr>
                        <a:t>Build Sculpt; Goal Seek the gearing; add Debt profile 4 (Exercises 7.3, 7.4)</a:t>
                      </a:r>
                    </a:p>
                  </a:txBody>
                  <a:tcPr marL="64008" marR="64008" marT="27432" marB="27432" anchor="ctr">
                    <a:solidFill>
                      <a:srgbClr val="FFFFFF"/>
                    </a:solidFill>
                  </a:tcPr>
                </a:tc>
              </a:tr>
              <a:tr h="384048">
                <a:tc>
                  <a:txBody>
                    <a:bodyPr wrap="square"/>
                    <a:lstStyle/>
                    <a:p>
                      <a:r>
                        <a:rPr b="1" sz="1300" i="0">
                          <a:solidFill>
                            <a:srgbClr val="1A2233"/>
                          </a:solidFill>
                          <a:latin typeface="Calibri"/>
                        </a:rPr>
                        <a:t>14.00 – 14.45</a:t>
                      </a:r>
                    </a:p>
                  </a:txBody>
                  <a:tcPr marL="64008" marR="64008" marT="27432" marB="27432" anchor="ctr">
                    <a:solidFill>
                      <a:srgbClr val="F3F6F9"/>
                    </a:solidFill>
                  </a:tcPr>
                </a:tc>
                <a:tc>
                  <a:txBody>
                    <a:bodyPr wrap="square"/>
                    <a:lstStyle/>
                    <a:p>
                      <a:r>
                        <a:rPr b="0" sz="1300" i="0">
                          <a:solidFill>
                            <a:srgbClr val="1A2233"/>
                          </a:solidFill>
                          <a:latin typeface="Calibri"/>
                        </a:rPr>
                        <a:t>Lunch break</a:t>
                      </a:r>
                    </a:p>
                  </a:txBody>
                  <a:tcPr marL="64008" marR="64008" marT="27432" marB="27432" anchor="ctr">
                    <a:solidFill>
                      <a:srgbClr val="F3F6F9"/>
                    </a:solidFill>
                  </a:tcPr>
                </a:tc>
                <a:tc>
                  <a:txBody>
                    <a:bodyPr wrap="square"/>
                    <a:lstStyle/>
                    <a:p/>
                  </a:txBody>
                  <a:tcPr marL="64008" marR="64008" marT="27432" marB="27432" anchor="ctr">
                    <a:solidFill>
                      <a:srgbClr val="F3F6F9"/>
                    </a:solidFill>
                  </a:tcPr>
                </a:tc>
              </a:tr>
              <a:tr h="522478">
                <a:tc>
                  <a:txBody>
                    <a:bodyPr wrap="square"/>
                    <a:lstStyle/>
                    <a:p>
                      <a:r>
                        <a:rPr b="1" sz="1300" i="0">
                          <a:solidFill>
                            <a:srgbClr val="1A2233"/>
                          </a:solidFill>
                          <a:latin typeface="Calibri"/>
                        </a:rPr>
                        <a:t>14.45 – 17.00</a:t>
                      </a:r>
                    </a:p>
                  </a:txBody>
                  <a:tcPr marL="64008" marR="64008" marT="27432" marB="27432" anchor="ctr">
                    <a:solidFill>
                      <a:srgbClr val="FFFFFF"/>
                    </a:solidFill>
                  </a:tcPr>
                </a:tc>
                <a:tc>
                  <a:txBody>
                    <a:bodyPr wrap="square"/>
                    <a:lstStyle/>
                    <a:p>
                      <a:r>
                        <a:rPr b="0" sz="1300" i="0">
                          <a:solidFill>
                            <a:srgbClr val="1A2233"/>
                          </a:solidFill>
                          <a:latin typeface="Calibri"/>
                        </a:rPr>
                        <a:t>DSRA; shareholder loan; model optimisation</a:t>
                      </a:r>
                    </a:p>
                  </a:txBody>
                  <a:tcPr marL="64008" marR="64008" marT="27432" marB="27432" anchor="ctr">
                    <a:solidFill>
                      <a:srgbClr val="FFFFFF"/>
                    </a:solidFill>
                  </a:tcPr>
                </a:tc>
                <a:tc>
                  <a:txBody>
                    <a:bodyPr wrap="square"/>
                    <a:lstStyle/>
                    <a:p>
                      <a:r>
                        <a:rPr b="0" sz="1300" i="0">
                          <a:solidFill>
                            <a:srgbClr val="1A2233"/>
                          </a:solidFill>
                          <a:latin typeface="Calibri"/>
                        </a:rPr>
                        <a:t>Build DSRA and SHL; integrate into FinStat and Val; optimise (Exercises 7.5, 7.6)</a:t>
                      </a:r>
                    </a:p>
                  </a:txBody>
                  <a:tcPr marL="64008" marR="64008" marT="27432" marB="27432" anchor="ctr">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OUTCOMES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Learning outcomes for Day 7</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Compare drawdown structures and their effect on cost and gearing</a:t>
            </a:r>
          </a:p>
          <a:p>
            <a:pPr>
              <a:spcAft>
                <a:spcPts val="700"/>
              </a:spcAft>
            </a:pPr>
            <a:r>
              <a:rPr b="0" sz="2000" i="0">
                <a:solidFill>
                  <a:srgbClr val="1A2233"/>
                </a:solidFill>
                <a:latin typeface="Calibri"/>
              </a:rPr>
              <a:t>▪ Calculate DSCR, LLCR and PLCR and explain what each protects against</a:t>
            </a:r>
          </a:p>
          <a:p>
            <a:pPr>
              <a:spcAft>
                <a:spcPts val="700"/>
              </a:spcAft>
            </a:pPr>
            <a:r>
              <a:rPr b="0" sz="2000" i="0">
                <a:solidFill>
                  <a:srgbClr val="1A2233"/>
                </a:solidFill>
                <a:latin typeface="Calibri"/>
              </a:rPr>
              <a:t>▪ Compute debt capacity by discounting target debt service backwards, and size debt as the lower of the DSCR and gearing tests</a:t>
            </a:r>
          </a:p>
          <a:p>
            <a:pPr>
              <a:spcAft>
                <a:spcPts val="700"/>
              </a:spcAft>
            </a:pPr>
            <a:r>
              <a:rPr b="0" sz="2000" i="0">
                <a:solidFill>
                  <a:srgbClr val="1A2233"/>
                </a:solidFill>
                <a:latin typeface="Calibri"/>
              </a:rPr>
              <a:t>▪ Sculpt repayments to a target DSCR and feed them into the Debt sheet</a:t>
            </a:r>
          </a:p>
          <a:p>
            <a:pPr>
              <a:spcAft>
                <a:spcPts val="700"/>
              </a:spcAft>
            </a:pPr>
            <a:r>
              <a:rPr b="0" sz="2000" i="0">
                <a:solidFill>
                  <a:srgbClr val="1A2233"/>
                </a:solidFill>
                <a:latin typeface="Calibri"/>
              </a:rPr>
              <a:t>▪ Add a debt service reserve account and a shareholder loan, and integrate both into the statements</a:t>
            </a:r>
          </a:p>
          <a:p>
            <a:pPr>
              <a:spcAft>
                <a:spcPts val="700"/>
              </a:spcAft>
            </a:pPr>
            <a:r>
              <a:rPr b="0" sz="2000" i="0">
                <a:solidFill>
                  <a:srgbClr val="1A2233"/>
                </a:solidFill>
                <a:latin typeface="Calibri"/>
              </a:rPr>
              <a:t>▪ Calculate the blended sponsor return and optimise the structure with Goal Seek and a data table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WARM-UP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Starting point: Day 6 end-state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20240"/>
        </p:xfrm>
        <a:graphic>
          <a:graphicData uri="http://schemas.openxmlformats.org/drawingml/2006/table">
            <a:tbl>
              <a:tblPr firstRow="1" bandRow="1">
                <a:tableStyleId>{5C22544A-7EE6-4342-B048-85BDC9FD1C3A}</a:tableStyleId>
              </a:tblPr>
              <a:tblGrid>
                <a:gridCol w="6035040"/>
                <a:gridCol w="5029200"/>
              </a:tblGrid>
              <a:tr h="384048">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 ($000s)</a:t>
                      </a:r>
                    </a:p>
                  </a:txBody>
                  <a:tcPr marL="64008" marR="64008" marT="27432" marB="27432" anchor="ctr">
                    <a:solidFill>
                      <a:srgbClr val="141B4D"/>
                    </a:solidFill>
                  </a:tcPr>
                </a:tc>
              </a:tr>
              <a:tr h="384048">
                <a:tc>
                  <a:txBody>
                    <a:bodyPr wrap="square"/>
                    <a:lstStyle/>
                    <a:p>
                      <a:r>
                        <a:rPr b="1" sz="1300" i="0">
                          <a:solidFill>
                            <a:srgbClr val="1A2233"/>
                          </a:solidFill>
                          <a:latin typeface="Calibri"/>
                        </a:rPr>
                        <a:t>Capitalised project cost (Constr!F52)</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r>
              <a:tr h="384048">
                <a:tc>
                  <a:txBody>
                    <a:bodyPr wrap="square"/>
                    <a:lstStyle/>
                    <a:p>
                      <a:r>
                        <a:rPr b="1" sz="1300" i="0">
                          <a:solidFill>
                            <a:srgbClr val="1A2233"/>
                          </a:solidFill>
                          <a:latin typeface="Calibri"/>
                        </a:rPr>
                        <a:t>Senior debt at COD (Constr!F53)</a:t>
                      </a:r>
                    </a:p>
                  </a:txBody>
                  <a:tcPr marL="64008" marR="64008" marT="27432" marB="27432" anchor="ctr">
                    <a:solidFill>
                      <a:srgbClr val="F3F6F9"/>
                    </a:solidFill>
                  </a:tcPr>
                </a:tc>
                <a:tc>
                  <a:txBody>
                    <a:bodyPr wrap="square"/>
                    <a:lstStyle/>
                    <a:p>
                      <a:r>
                        <a:rPr b="0" sz="1300" i="0">
                          <a:solidFill>
                            <a:srgbClr val="1A2233"/>
                          </a:solidFill>
                          <a:latin typeface="Calibri"/>
                        </a:rPr>
                        <a:t>72,154.2</a:t>
                      </a:r>
                    </a:p>
                  </a:txBody>
                  <a:tcPr marL="64008" marR="64008" marT="27432" marB="27432" anchor="ctr">
                    <a:solidFill>
                      <a:srgbClr val="F3F6F9"/>
                    </a:solidFill>
                  </a:tcPr>
                </a:tc>
              </a:tr>
              <a:tr h="384048">
                <a:tc>
                  <a:txBody>
                    <a:bodyPr wrap="square"/>
                    <a:lstStyle/>
                    <a:p>
                      <a:r>
                        <a:rPr b="1" sz="1300" i="0">
                          <a:solidFill>
                            <a:srgbClr val="1A2233"/>
                          </a:solidFill>
                          <a:latin typeface="Calibri"/>
                        </a:rPr>
                        <a:t>Sponsor funding at COD (Constr!F54)</a:t>
                      </a:r>
                    </a:p>
                  </a:txBody>
                  <a:tcPr marL="64008" marR="64008" marT="27432" marB="27432" anchor="ctr">
                    <a:solidFill>
                      <a:srgbClr val="FFFFFF"/>
                    </a:solidFill>
                  </a:tcPr>
                </a:tc>
                <a:tc>
                  <a:txBody>
                    <a:bodyPr wrap="square"/>
                    <a:lstStyle/>
                    <a:p>
                      <a:r>
                        <a:rPr b="0" sz="1300" i="0">
                          <a:solidFill>
                            <a:srgbClr val="1A2233"/>
                          </a:solidFill>
                          <a:latin typeface="Calibri"/>
                        </a:rPr>
                        <a:t>28,913.6</a:t>
                      </a:r>
                    </a:p>
                  </a:txBody>
                  <a:tcPr marL="64008" marR="64008" marT="27432" marB="27432" anchor="ctr">
                    <a:solidFill>
                      <a:srgbClr val="FFFFFF"/>
                    </a:solidFill>
                  </a:tcPr>
                </a:tc>
              </a:tr>
              <a:tr h="384048">
                <a:tc>
                  <a:txBody>
                    <a:bodyPr wrap="square"/>
                    <a:lstStyle/>
                    <a:p>
                      <a:r>
                        <a:rPr b="1" sz="1300" i="0">
                          <a:solidFill>
                            <a:srgbClr val="1A2233"/>
                          </a:solidFill>
                          <a:latin typeface="Calibri"/>
                        </a:rPr>
                        <a:t>Debt profile in use (InpC row 74)</a:t>
                      </a:r>
                    </a:p>
                  </a:txBody>
                  <a:tcPr marL="64008" marR="64008" marT="27432" marB="27432" anchor="ctr">
                    <a:solidFill>
                      <a:srgbClr val="F3F6F9"/>
                    </a:solidFill>
                  </a:tcPr>
                </a:tc>
                <a:tc>
                  <a:txBody>
                    <a:bodyPr wrap="square"/>
                    <a:lstStyle/>
                    <a:p>
                      <a:r>
                        <a:rPr b="0" sz="1300" i="0">
                          <a:solidFill>
                            <a:srgbClr val="1A2233"/>
                          </a:solidFill>
                          <a:latin typeface="Calibri"/>
                        </a:rPr>
                        <a:t>1 to 3 (fixed profiles); today we add 4 (sculpted)</a:t>
                      </a:r>
                    </a:p>
                  </a:txBody>
                  <a:tcPr marL="64008" marR="64008" marT="27432" marB="27432" anchor="ctr">
                    <a:solidFill>
                      <a:srgbClr val="F3F6F9"/>
                    </a:solidFill>
                  </a:tcPr>
                </a:tc>
              </a:tr>
            </a:tbl>
          </a:graphicData>
        </a:graphic>
      </p:graphicFrame>
      <p:sp>
        <p:nvSpPr>
          <p:cNvPr id="12" name="Rectangle 11"/>
          <p:cNvSpPr/>
          <p:nvPr/>
        </p:nvSpPr>
        <p:spPr>
          <a:xfrm>
            <a:off x="548640" y="384048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84048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8404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Today's solved case: debt sized to a 2.25x target DSCR over 10 years, drawn at the gearing found by Goal Seek (71.6%).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09.00 – 09.30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1: Construction debt drawdown structure</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Pro-rata, equity first, debt first.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drawdown structures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51482"/>
        </p:xfrm>
        <a:graphic>
          <a:graphicData uri="http://schemas.openxmlformats.org/drawingml/2006/table">
            <a:tbl>
              <a:tblPr firstRow="1" bandRow="1">
                <a:tableStyleId>{5C22544A-7EE6-4342-B048-85BDC9FD1C3A}</a:tableStyleId>
              </a:tblPr>
              <a:tblGrid>
                <a:gridCol w="1645920"/>
                <a:gridCol w="4206240"/>
                <a:gridCol w="2651760"/>
                <a:gridCol w="2560320"/>
              </a:tblGrid>
              <a:tr h="384048">
                <a:tc>
                  <a:txBody>
                    <a:bodyPr wrap="square"/>
                    <a:lstStyle/>
                    <a:p>
                      <a:r>
                        <a:rPr b="1" sz="1300" i="0">
                          <a:solidFill>
                            <a:srgbClr val="FFFFFF"/>
                          </a:solidFill>
                          <a:latin typeface="Calibri"/>
                        </a:rPr>
                        <a:t>Structure</a:t>
                      </a:r>
                    </a:p>
                  </a:txBody>
                  <a:tcPr marL="64008" marR="64008" marT="27432" marB="27432" anchor="ctr">
                    <a:solidFill>
                      <a:srgbClr val="141B4D"/>
                    </a:solidFill>
                  </a:tcPr>
                </a:tc>
                <a:tc>
                  <a:txBody>
                    <a:bodyPr wrap="square"/>
                    <a:lstStyle/>
                    <a:p>
                      <a:r>
                        <a:rPr b="1" sz="1300" i="0">
                          <a:solidFill>
                            <a:srgbClr val="FFFFFF"/>
                          </a:solidFill>
                          <a:latin typeface="Calibri"/>
                        </a:rPr>
                        <a:t>How it works</a:t>
                      </a:r>
                    </a:p>
                  </a:txBody>
                  <a:tcPr marL="64008" marR="64008" marT="27432" marB="27432" anchor="ctr">
                    <a:solidFill>
                      <a:srgbClr val="141B4D"/>
                    </a:solidFill>
                  </a:tcPr>
                </a:tc>
                <a:tc>
                  <a:txBody>
                    <a:bodyPr wrap="square"/>
                    <a:lstStyle/>
                    <a:p>
                      <a:r>
                        <a:rPr b="1" sz="1300" i="0">
                          <a:solidFill>
                            <a:srgbClr val="FFFFFF"/>
                          </a:solidFill>
                          <a:latin typeface="Calibri"/>
                        </a:rPr>
                        <a:t>Effect on cost</a:t>
                      </a:r>
                    </a:p>
                  </a:txBody>
                  <a:tcPr marL="64008" marR="64008" marT="27432" marB="27432" anchor="ctr">
                    <a:solidFill>
                      <a:srgbClr val="141B4D"/>
                    </a:solidFill>
                  </a:tcPr>
                </a:tc>
                <a:tc>
                  <a:txBody>
                    <a:bodyPr wrap="square"/>
                    <a:lstStyle/>
                    <a:p>
                      <a:r>
                        <a:rPr b="1" sz="1300" i="0">
                          <a:solidFill>
                            <a:srgbClr val="FFFFFF"/>
                          </a:solidFill>
                          <a:latin typeface="Calibri"/>
                        </a:rPr>
                        <a:t>Who prefers it</a:t>
                      </a:r>
                    </a:p>
                  </a:txBody>
                  <a:tcPr marL="64008" marR="64008" marT="27432" marB="27432" anchor="ctr">
                    <a:solidFill>
                      <a:srgbClr val="141B4D"/>
                    </a:solidFill>
                  </a:tcPr>
                </a:tc>
              </a:tr>
              <a:tr h="522478">
                <a:tc>
                  <a:txBody>
                    <a:bodyPr wrap="square"/>
                    <a:lstStyle/>
                    <a:p>
                      <a:r>
                        <a:rPr b="1" sz="1300" i="0">
                          <a:solidFill>
                            <a:srgbClr val="1A2233"/>
                          </a:solidFill>
                          <a:latin typeface="Calibri"/>
                        </a:rPr>
                        <a:t>Pro-rata</a:t>
                      </a:r>
                    </a:p>
                  </a:txBody>
                  <a:tcPr marL="64008" marR="64008" marT="27432" marB="27432" anchor="ctr">
                    <a:solidFill>
                      <a:srgbClr val="FFFFFF"/>
                    </a:solidFill>
                  </a:tcPr>
                </a:tc>
                <a:tc>
                  <a:txBody>
                    <a:bodyPr wrap="square"/>
                    <a:lstStyle/>
                    <a:p>
                      <a:r>
                        <a:rPr b="0" sz="1300" i="0">
                          <a:solidFill>
                            <a:srgbClr val="1A2233"/>
                          </a:solidFill>
                          <a:latin typeface="Calibri"/>
                        </a:rPr>
                        <a:t>Debt and equity drawn in the same proportion each quarter</a:t>
                      </a:r>
                    </a:p>
                  </a:txBody>
                  <a:tcPr marL="64008" marR="64008" marT="27432" marB="27432" anchor="ctr">
                    <a:solidFill>
                      <a:srgbClr val="FFFFFF"/>
                    </a:solidFill>
                  </a:tcPr>
                </a:tc>
                <a:tc>
                  <a:txBody>
                    <a:bodyPr wrap="square"/>
                    <a:lstStyle/>
                    <a:p>
                      <a:r>
                        <a:rPr b="0" sz="1300" i="0">
                          <a:solidFill>
                            <a:srgbClr val="1A2233"/>
                          </a:solidFill>
                          <a:latin typeface="Calibri"/>
                        </a:rPr>
                        <a:t>Middle</a:t>
                      </a:r>
                    </a:p>
                  </a:txBody>
                  <a:tcPr marL="64008" marR="64008" marT="27432" marB="27432" anchor="ctr">
                    <a:solidFill>
                      <a:srgbClr val="FFFFFF"/>
                    </a:solidFill>
                  </a:tcPr>
                </a:tc>
                <a:tc>
                  <a:txBody>
                    <a:bodyPr wrap="square"/>
                    <a:lstStyle/>
                    <a:p>
                      <a:r>
                        <a:rPr b="0" sz="1300" i="0">
                          <a:solidFill>
                            <a:srgbClr val="1A2233"/>
                          </a:solidFill>
                          <a:latin typeface="Calibri"/>
                        </a:rPr>
                        <a:t>Sponsors (simple, spreads their cheque)</a:t>
                      </a:r>
                    </a:p>
                  </a:txBody>
                  <a:tcPr marL="64008" marR="64008" marT="27432" marB="27432" anchor="ctr">
                    <a:solidFill>
                      <a:srgbClr val="FFFFFF"/>
                    </a:solidFill>
                  </a:tcPr>
                </a:tc>
              </a:tr>
              <a:tr h="522478">
                <a:tc>
                  <a:txBody>
                    <a:bodyPr wrap="square"/>
                    <a:lstStyle/>
                    <a:p>
                      <a:r>
                        <a:rPr b="1" sz="1300" i="0">
                          <a:solidFill>
                            <a:srgbClr val="1A2233"/>
                          </a:solidFill>
                          <a:latin typeface="Calibri"/>
                        </a:rPr>
                        <a:t>Equity first</a:t>
                      </a:r>
                    </a:p>
                  </a:txBody>
                  <a:tcPr marL="64008" marR="64008" marT="27432" marB="27432" anchor="ctr">
                    <a:solidFill>
                      <a:srgbClr val="F3F6F9"/>
                    </a:solidFill>
                  </a:tcPr>
                </a:tc>
                <a:tc>
                  <a:txBody>
                    <a:bodyPr wrap="square"/>
                    <a:lstStyle/>
                    <a:p>
                      <a:r>
                        <a:rPr b="0" sz="1300" i="0">
                          <a:solidFill>
                            <a:srgbClr val="1A2233"/>
                          </a:solidFill>
                          <a:latin typeface="Calibri"/>
                        </a:rPr>
                        <a:t>Sponsors fund all costs until their commitment is used; then debt</a:t>
                      </a:r>
                    </a:p>
                  </a:txBody>
                  <a:tcPr marL="64008" marR="64008" marT="27432" marB="27432" anchor="ctr">
                    <a:solidFill>
                      <a:srgbClr val="F3F6F9"/>
                    </a:solidFill>
                  </a:tcPr>
                </a:tc>
                <a:tc>
                  <a:txBody>
                    <a:bodyPr wrap="square"/>
                    <a:lstStyle/>
                    <a:p>
                      <a:r>
                        <a:rPr b="0" sz="1300" i="0">
                          <a:solidFill>
                            <a:srgbClr val="1A2233"/>
                          </a:solidFill>
                          <a:latin typeface="Calibri"/>
                        </a:rPr>
                        <a:t>Lowest IDC and commitment fees</a:t>
                      </a:r>
                    </a:p>
                  </a:txBody>
                  <a:tcPr marL="64008" marR="64008" marT="27432" marB="27432" anchor="ctr">
                    <a:solidFill>
                      <a:srgbClr val="F3F6F9"/>
                    </a:solidFill>
                  </a:tcPr>
                </a:tc>
                <a:tc>
                  <a:txBody>
                    <a:bodyPr wrap="square"/>
                    <a:lstStyle/>
                    <a:p>
                      <a:r>
                        <a:rPr b="0" sz="1300" i="0">
                          <a:solidFill>
                            <a:srgbClr val="1A2233"/>
                          </a:solidFill>
                          <a:latin typeface="Calibri"/>
                        </a:rPr>
                        <a:t>Lenders (sponsors have skin in the game early)</a:t>
                      </a:r>
                    </a:p>
                  </a:txBody>
                  <a:tcPr marL="64008" marR="64008" marT="27432" marB="27432" anchor="ctr">
                    <a:solidFill>
                      <a:srgbClr val="F3F6F9"/>
                    </a:solidFill>
                  </a:tcPr>
                </a:tc>
              </a:tr>
              <a:tr h="522478">
                <a:tc>
                  <a:txBody>
                    <a:bodyPr wrap="square"/>
                    <a:lstStyle/>
                    <a:p>
                      <a:r>
                        <a:rPr b="1" sz="1300" i="0">
                          <a:solidFill>
                            <a:srgbClr val="1A2233"/>
                          </a:solidFill>
                          <a:latin typeface="Calibri"/>
                        </a:rPr>
                        <a:t>Debt first</a:t>
                      </a:r>
                    </a:p>
                  </a:txBody>
                  <a:tcPr marL="64008" marR="64008" marT="27432" marB="27432" anchor="ctr">
                    <a:solidFill>
                      <a:srgbClr val="FFFFFF"/>
                    </a:solidFill>
                  </a:tcPr>
                </a:tc>
                <a:tc>
                  <a:txBody>
                    <a:bodyPr wrap="square"/>
                    <a:lstStyle/>
                    <a:p>
                      <a:r>
                        <a:rPr b="0" sz="1300" i="0">
                          <a:solidFill>
                            <a:srgbClr val="1A2233"/>
                          </a:solidFill>
                          <a:latin typeface="Calibri"/>
                        </a:rPr>
                        <a:t>Debt drawn until exhausted, then equity</a:t>
                      </a:r>
                    </a:p>
                  </a:txBody>
                  <a:tcPr marL="64008" marR="64008" marT="27432" marB="27432" anchor="ctr">
                    <a:solidFill>
                      <a:srgbClr val="FFFFFF"/>
                    </a:solidFill>
                  </a:tcPr>
                </a:tc>
                <a:tc>
                  <a:txBody>
                    <a:bodyPr wrap="square"/>
                    <a:lstStyle/>
                    <a:p>
                      <a:r>
                        <a:rPr b="0" sz="1300" i="0">
                          <a:solidFill>
                            <a:srgbClr val="1A2233"/>
                          </a:solidFill>
                          <a:latin typeface="Calibri"/>
                        </a:rPr>
                        <a:t>Highest interest during construction</a:t>
                      </a:r>
                    </a:p>
                  </a:txBody>
                  <a:tcPr marL="64008" marR="64008" marT="27432" marB="27432" anchor="ctr">
                    <a:solidFill>
                      <a:srgbClr val="FFFFFF"/>
                    </a:solidFill>
                  </a:tcPr>
                </a:tc>
                <a:tc>
                  <a:txBody>
                    <a:bodyPr wrap="square"/>
                    <a:lstStyle/>
                    <a:p>
                      <a:r>
                        <a:rPr b="0" sz="1300" i="0">
                          <a:solidFill>
                            <a:srgbClr val="1A2233"/>
                          </a:solidFill>
                          <a:latin typeface="Calibri"/>
                        </a:rPr>
                        <a:t>Rare; some sponsors to defer cash</a:t>
                      </a:r>
                    </a:p>
                  </a:txBody>
                  <a:tcPr marL="64008" marR="64008" marT="27432" marB="27432" anchor="ctr">
                    <a:solidFill>
                      <a:srgbClr val="FFFFFF"/>
                    </a:solidFill>
                  </a:tcPr>
                </a:tc>
              </a:tr>
            </a:tbl>
          </a:graphicData>
        </a:graphic>
      </p:graphicFrame>
      <p:sp>
        <p:nvSpPr>
          <p:cNvPr id="12" name="Rectangle 11"/>
          <p:cNvSpPr/>
          <p:nvPr/>
        </p:nvSpPr>
        <p:spPr>
          <a:xfrm>
            <a:off x="548640" y="3931920"/>
            <a:ext cx="11064240" cy="77724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931920"/>
            <a:ext cx="82296" cy="77724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931920"/>
            <a:ext cx="10835640" cy="777240"/>
          </a:xfrm>
          <a:prstGeom prst="rect">
            <a:avLst/>
          </a:prstGeom>
          <a:noFill/>
        </p:spPr>
        <p:txBody>
          <a:bodyPr wrap="square" lIns="45720" rIns="45720" tIns="27432" bIns="27432" anchor="ctr">
            <a:spAutoFit/>
          </a:bodyPr>
          <a:lstStyle/>
          <a:p>
            <a:pPr algn="l"/>
            <a:r>
              <a:rPr b="0" sz="1400" i="0">
                <a:solidFill>
                  <a:srgbClr val="1A2233"/>
                </a:solidFill>
                <a:latin typeface="Calibri"/>
              </a:rPr>
              <a:t>Our model implements pro-rata (switch 1) and equity first (switch 2). Debt first is a one-line change: mirror the equity formula.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COMPARE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Effect on the solved case (US$000s)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152144"/>
        </p:xfrm>
        <a:graphic>
          <a:graphicData uri="http://schemas.openxmlformats.org/drawingml/2006/table">
            <a:tbl>
              <a:tblPr firstRow="1" bandRow="1">
                <a:tableStyleId>{5C22544A-7EE6-4342-B048-85BDC9FD1C3A}</a:tableStyleId>
              </a:tblPr>
              <a:tblGrid>
                <a:gridCol w="2011680"/>
                <a:gridCol w="1737360"/>
                <a:gridCol w="1920240"/>
                <a:gridCol w="1737360"/>
                <a:gridCol w="1828800"/>
                <a:gridCol w="1828800"/>
              </a:tblGrid>
              <a:tr h="384048">
                <a:tc>
                  <a:txBody>
                    <a:bodyPr wrap="square"/>
                    <a:lstStyle/>
                    <a:p>
                      <a:r>
                        <a:rPr b="1" sz="1300" i="0">
                          <a:solidFill>
                            <a:srgbClr val="FFFFFF"/>
                          </a:solidFill>
                          <a:latin typeface="Calibri"/>
                        </a:rPr>
                        <a:t>Method</a:t>
                      </a:r>
                    </a:p>
                  </a:txBody>
                  <a:tcPr marL="64008" marR="64008" marT="27432" marB="27432" anchor="ctr">
                    <a:solidFill>
                      <a:srgbClr val="141B4D"/>
                    </a:solidFill>
                  </a:tcPr>
                </a:tc>
                <a:tc>
                  <a:txBody>
                    <a:bodyPr wrap="square"/>
                    <a:lstStyle/>
                    <a:p>
                      <a:r>
                        <a:rPr b="1" sz="1300" i="0">
                          <a:solidFill>
                            <a:srgbClr val="FFFFFF"/>
                          </a:solidFill>
                          <a:latin typeface="Calibri"/>
                        </a:rPr>
                        <a:t>IDC</a:t>
                      </a:r>
                    </a:p>
                  </a:txBody>
                  <a:tcPr marL="64008" marR="64008" marT="27432" marB="27432" anchor="ctr">
                    <a:solidFill>
                      <a:srgbClr val="141B4D"/>
                    </a:solidFill>
                  </a:tcPr>
                </a:tc>
                <a:tc>
                  <a:txBody>
                    <a:bodyPr wrap="square"/>
                    <a:lstStyle/>
                    <a:p>
                      <a:r>
                        <a:rPr b="1" sz="1300" i="0">
                          <a:solidFill>
                            <a:srgbClr val="FFFFFF"/>
                          </a:solidFill>
                          <a:latin typeface="Calibri"/>
                        </a:rPr>
                        <a:t>Commitment fee</a:t>
                      </a:r>
                    </a:p>
                  </a:txBody>
                  <a:tcPr marL="64008" marR="64008" marT="27432" marB="27432" anchor="ctr">
                    <a:solidFill>
                      <a:srgbClr val="141B4D"/>
                    </a:solidFill>
                  </a:tcPr>
                </a:tc>
                <a:tc>
                  <a:txBody>
                    <a:bodyPr wrap="square"/>
                    <a:lstStyle/>
                    <a:p>
                      <a:r>
                        <a:rPr b="1" sz="1300" i="0">
                          <a:solidFill>
                            <a:srgbClr val="FFFFFF"/>
                          </a:solidFill>
                          <a:latin typeface="Calibri"/>
                        </a:rPr>
                        <a:t>Total uses</a:t>
                      </a:r>
                    </a:p>
                  </a:txBody>
                  <a:tcPr marL="64008" marR="64008" marT="27432" marB="27432" anchor="ctr">
                    <a:solidFill>
                      <a:srgbClr val="141B4D"/>
                    </a:solidFill>
                  </a:tcPr>
                </a:tc>
                <a:tc>
                  <a:txBody>
                    <a:bodyPr wrap="square"/>
                    <a:lstStyle/>
                    <a:p>
                      <a:r>
                        <a:rPr b="1" sz="1300" i="0">
                          <a:solidFill>
                            <a:srgbClr val="FFFFFF"/>
                          </a:solidFill>
                          <a:latin typeface="Calibri"/>
                        </a:rPr>
                        <a:t>Debt at COD</a:t>
                      </a:r>
                    </a:p>
                  </a:txBody>
                  <a:tcPr marL="64008" marR="64008" marT="27432" marB="27432" anchor="ctr">
                    <a:solidFill>
                      <a:srgbClr val="141B4D"/>
                    </a:solidFill>
                  </a:tcPr>
                </a:tc>
                <a:tc>
                  <a:txBody>
                    <a:bodyPr wrap="square"/>
                    <a:lstStyle/>
                    <a:p>
                      <a:r>
                        <a:rPr b="1" sz="1300" i="0">
                          <a:solidFill>
                            <a:srgbClr val="FFFFFF"/>
                          </a:solidFill>
                          <a:latin typeface="Calibri"/>
                        </a:rPr>
                        <a:t>Equity</a:t>
                      </a:r>
                    </a:p>
                  </a:txBody>
                  <a:tcPr marL="64008" marR="64008" marT="27432" marB="27432" anchor="ctr">
                    <a:solidFill>
                      <a:srgbClr val="141B4D"/>
                    </a:solidFill>
                  </a:tcPr>
                </a:tc>
              </a:tr>
              <a:tr h="384048">
                <a:tc>
                  <a:txBody>
                    <a:bodyPr wrap="square"/>
                    <a:lstStyle/>
                    <a:p>
                      <a:r>
                        <a:rPr b="1" sz="1300" i="0">
                          <a:solidFill>
                            <a:srgbClr val="1A2233"/>
                          </a:solidFill>
                          <a:latin typeface="Calibri"/>
                        </a:rPr>
                        <a:t>Pro-rata</a:t>
                      </a:r>
                    </a:p>
                  </a:txBody>
                  <a:tcPr marL="64008" marR="64008" marT="27432" marB="27432" anchor="ctr">
                    <a:solidFill>
                      <a:srgbClr val="FFFFFF"/>
                    </a:solidFill>
                  </a:tcPr>
                </a:tc>
                <a:tc>
                  <a:txBody>
                    <a:bodyPr wrap="square"/>
                    <a:lstStyle/>
                    <a:p>
                      <a:r>
                        <a:rPr b="0" sz="1300" i="0">
                          <a:solidFill>
                            <a:srgbClr val="1A2233"/>
                          </a:solidFill>
                          <a:latin typeface="Calibri"/>
                        </a:rPr>
                        <a:t>4,155.3</a:t>
                      </a:r>
                    </a:p>
                  </a:txBody>
                  <a:tcPr marL="64008" marR="64008" marT="27432" marB="27432" anchor="ctr">
                    <a:solidFill>
                      <a:srgbClr val="FFFFFF"/>
                    </a:solidFill>
                  </a:tcPr>
                </a:tc>
                <a:tc>
                  <a:txBody>
                    <a:bodyPr wrap="square"/>
                    <a:lstStyle/>
                    <a:p>
                      <a:r>
                        <a:rPr b="0" sz="1300" i="0">
                          <a:solidFill>
                            <a:srgbClr val="1A2233"/>
                          </a:solidFill>
                          <a:latin typeface="Calibri"/>
                        </a:rPr>
                        <a:t>619.4</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c>
                  <a:txBody>
                    <a:bodyPr wrap="square"/>
                    <a:lstStyle/>
                    <a:p>
                      <a:r>
                        <a:rPr b="0" sz="1300" i="0">
                          <a:solidFill>
                            <a:srgbClr val="1A2233"/>
                          </a:solidFill>
                          <a:latin typeface="Calibri"/>
                        </a:rPr>
                        <a:t>28,913.6</a:t>
                      </a:r>
                    </a:p>
                  </a:txBody>
                  <a:tcPr marL="64008" marR="64008" marT="27432" marB="27432" anchor="ctr">
                    <a:solidFill>
                      <a:srgbClr val="FFFFFF"/>
                    </a:solidFill>
                  </a:tcPr>
                </a:tc>
              </a:tr>
              <a:tr h="384048">
                <a:tc>
                  <a:txBody>
                    <a:bodyPr wrap="square"/>
                    <a:lstStyle/>
                    <a:p>
                      <a:r>
                        <a:rPr b="1" sz="1300" i="0">
                          <a:solidFill>
                            <a:srgbClr val="1A2233"/>
                          </a:solidFill>
                          <a:latin typeface="Calibri"/>
                        </a:rPr>
                        <a:t>Equity first</a:t>
                      </a:r>
                    </a:p>
                  </a:txBody>
                  <a:tcPr marL="64008" marR="64008" marT="27432" marB="27432" anchor="ctr">
                    <a:solidFill>
                      <a:srgbClr val="F3F6F9"/>
                    </a:solidFill>
                  </a:tcPr>
                </a:tc>
                <a:tc>
                  <a:txBody>
                    <a:bodyPr wrap="square"/>
                    <a:lstStyle/>
                    <a:p>
                      <a:r>
                        <a:rPr b="0" sz="1300" i="0">
                          <a:solidFill>
                            <a:srgbClr val="1A2233"/>
                          </a:solidFill>
                          <a:latin typeface="Calibri"/>
                        </a:rPr>
                        <a:t>3,008.8</a:t>
                      </a:r>
                    </a:p>
                  </a:txBody>
                  <a:tcPr marL="64008" marR="64008" marT="27432" marB="27432" anchor="ctr">
                    <a:solidFill>
                      <a:srgbClr val="F3F6F9"/>
                    </a:solidFill>
                  </a:tcPr>
                </a:tc>
                <a:tc>
                  <a:txBody>
                    <a:bodyPr wrap="square"/>
                    <a:lstStyle/>
                    <a:p>
                      <a:r>
                        <a:rPr b="0" sz="1300" i="0">
                          <a:solidFill>
                            <a:srgbClr val="1A2233"/>
                          </a:solidFill>
                          <a:latin typeface="Calibri"/>
                        </a:rPr>
                        <a:t>751.7</a:t>
                      </a:r>
                    </a:p>
                  </a:txBody>
                  <a:tcPr marL="64008" marR="64008" marT="27432" marB="27432" anchor="ctr">
                    <a:solidFill>
                      <a:srgbClr val="F3F6F9"/>
                    </a:solidFill>
                  </a:tcPr>
                </a:tc>
                <a:tc>
                  <a:txBody>
                    <a:bodyPr wrap="square"/>
                    <a:lstStyle/>
                    <a:p>
                      <a:r>
                        <a:rPr b="0" sz="1300" i="0">
                          <a:solidFill>
                            <a:srgbClr val="1A2233"/>
                          </a:solidFill>
                          <a:latin typeface="Calibri"/>
                        </a:rPr>
                        <a:t>100,053.6</a:t>
                      </a:r>
                    </a:p>
                  </a:txBody>
                  <a:tcPr marL="64008" marR="64008" marT="27432" marB="27432" anchor="ctr">
                    <a:solidFill>
                      <a:srgbClr val="F3F6F9"/>
                    </a:solidFill>
                  </a:tcPr>
                </a:tc>
                <a:tc>
                  <a:txBody>
                    <a:bodyPr wrap="square"/>
                    <a:lstStyle/>
                    <a:p>
                      <a:r>
                        <a:rPr b="0" sz="1300" i="0">
                          <a:solidFill>
                            <a:srgbClr val="1A2233"/>
                          </a:solidFill>
                          <a:latin typeface="Calibri"/>
                        </a:rPr>
                        <a:t>71,139.6</a:t>
                      </a:r>
                    </a:p>
                  </a:txBody>
                  <a:tcPr marL="64008" marR="64008" marT="27432" marB="27432" anchor="ctr">
                    <a:solidFill>
                      <a:srgbClr val="F3F6F9"/>
                    </a:solidFill>
                  </a:tcPr>
                </a:tc>
                <a:tc>
                  <a:txBody>
                    <a:bodyPr wrap="square"/>
                    <a:lstStyle/>
                    <a:p>
                      <a:r>
                        <a:rPr b="0" sz="1300" i="0">
                          <a:solidFill>
                            <a:srgbClr val="1A2233"/>
                          </a:solidFill>
                          <a:latin typeface="Calibri"/>
                        </a:rPr>
                        <a:t>28,914.0</a:t>
                      </a:r>
                    </a:p>
                  </a:txBody>
                  <a:tcPr marL="64008" marR="64008" marT="27432" marB="27432" anchor="ctr">
                    <a:solidFill>
                      <a:srgbClr val="F3F6F9"/>
                    </a:solidFill>
                  </a:tcPr>
                </a:tc>
              </a:tr>
            </a:tbl>
          </a:graphicData>
        </a:graphic>
      </p:graphicFrame>
      <p:sp>
        <p:nvSpPr>
          <p:cNvPr id="12" name="Rectangle 11"/>
          <p:cNvSpPr/>
          <p:nvPr/>
        </p:nvSpPr>
        <p:spPr>
          <a:xfrm>
            <a:off x="548640" y="32004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2004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00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Equity first lowers total cost but requires the sponsor's whole cheque earlier: a financing-cost versus liquidity trade-off.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7.1: Test the drawdown switch on the solved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Switch InpC!L133 between 1 and 2 and complete the table: IDC, total uses, gearing at COD.</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Method 1: read Constr!H31, F52, F53</a:t>
            </a:r>
          </a:p>
          <a:p>
            <a:pPr>
              <a:spcAft>
                <a:spcPts val="300"/>
              </a:spcAft>
            </a:pPr>
            <a:r>
              <a:rPr b="0" sz="1500" i="0">
                <a:solidFill>
                  <a:srgbClr val="1A2233"/>
                </a:solidFill>
                <a:latin typeface="Calibri"/>
              </a:rPr>
              <a:t>2.  Method 2: read the same cells</a:t>
            </a:r>
          </a:p>
          <a:p>
            <a:pPr>
              <a:spcAft>
                <a:spcPts val="300"/>
              </a:spcAft>
            </a:pPr>
            <a:r>
              <a:rPr b="0" sz="1500" i="0">
                <a:solidFill>
                  <a:srgbClr val="1A2233"/>
                </a:solidFill>
                <a:latin typeface="Calibri"/>
              </a:rPr>
              <a:t>3.  Compute gearing = F53 ÷ F52</a:t>
            </a:r>
          </a:p>
          <a:p>
            <a:pPr>
              <a:spcAft>
                <a:spcPts val="300"/>
              </a:spcAft>
            </a:pPr>
            <a:r>
              <a:rPr b="0" sz="1500" i="0">
                <a:solidFill>
                  <a:srgbClr val="1A2233"/>
                </a:solidFill>
                <a:latin typeface="Calibri"/>
              </a:rPr>
              <a:t>4.  Restore method 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10 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9</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09.30 – 10.00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2: DSCR, LLCR and PLCR</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Three lender tests, three different time horizons.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Three cover ratios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046730"/>
        </p:xfrm>
        <a:graphic>
          <a:graphicData uri="http://schemas.openxmlformats.org/drawingml/2006/table">
            <a:tbl>
              <a:tblPr firstRow="1" bandRow="1">
                <a:tableStyleId>{5C22544A-7EE6-4342-B048-85BDC9FD1C3A}</a:tableStyleId>
              </a:tblPr>
              <a:tblGrid>
                <a:gridCol w="1097280"/>
                <a:gridCol w="3291840"/>
                <a:gridCol w="1463040"/>
                <a:gridCol w="2194560"/>
                <a:gridCol w="3017520"/>
              </a:tblGrid>
              <a:tr h="384048">
                <a:tc>
                  <a:txBody>
                    <a:bodyPr wrap="square"/>
                    <a:lstStyle/>
                    <a:p>
                      <a:r>
                        <a:rPr b="1" sz="1200" i="0">
                          <a:solidFill>
                            <a:srgbClr val="FFFFFF"/>
                          </a:solidFill>
                          <a:latin typeface="Calibri"/>
                        </a:rPr>
                        <a:t>Ratio</a:t>
                      </a:r>
                    </a:p>
                  </a:txBody>
                  <a:tcPr marL="64008" marR="64008" marT="27432" marB="27432" anchor="ctr">
                    <a:solidFill>
                      <a:srgbClr val="141B4D"/>
                    </a:solidFill>
                  </a:tcPr>
                </a:tc>
                <a:tc>
                  <a:txBody>
                    <a:bodyPr wrap="square"/>
                    <a:lstStyle/>
                    <a:p>
                      <a:r>
                        <a:rPr b="1" sz="1200" i="0">
                          <a:solidFill>
                            <a:srgbClr val="FFFFFF"/>
                          </a:solidFill>
                          <a:latin typeface="Calibri"/>
                        </a:rPr>
                        <a:t>Formula</a:t>
                      </a:r>
                    </a:p>
                  </a:txBody>
                  <a:tcPr marL="64008" marR="64008" marT="27432" marB="27432" anchor="ctr">
                    <a:solidFill>
                      <a:srgbClr val="141B4D"/>
                    </a:solidFill>
                  </a:tcPr>
                </a:tc>
                <a:tc>
                  <a:txBody>
                    <a:bodyPr wrap="square"/>
                    <a:lstStyle/>
                    <a:p>
                      <a:r>
                        <a:rPr b="1" sz="1200" i="0">
                          <a:solidFill>
                            <a:srgbClr val="FFFFFF"/>
                          </a:solidFill>
                          <a:latin typeface="Calibri"/>
                        </a:rPr>
                        <a:t>Horizon</a:t>
                      </a:r>
                    </a:p>
                  </a:txBody>
                  <a:tcPr marL="64008" marR="64008" marT="27432" marB="27432" anchor="ctr">
                    <a:solidFill>
                      <a:srgbClr val="141B4D"/>
                    </a:solidFill>
                  </a:tcPr>
                </a:tc>
                <a:tc>
                  <a:txBody>
                    <a:bodyPr wrap="square"/>
                    <a:lstStyle/>
                    <a:p>
                      <a:r>
                        <a:rPr b="1" sz="1200" i="0">
                          <a:solidFill>
                            <a:srgbClr val="FFFFFF"/>
                          </a:solidFill>
                          <a:latin typeface="Calibri"/>
                        </a:rPr>
                        <a:t>Protects against</a:t>
                      </a:r>
                    </a:p>
                  </a:txBody>
                  <a:tcPr marL="64008" marR="64008" marT="27432" marB="27432" anchor="ctr">
                    <a:solidFill>
                      <a:srgbClr val="141B4D"/>
                    </a:solidFill>
                  </a:tcPr>
                </a:tc>
                <a:tc>
                  <a:txBody>
                    <a:bodyPr wrap="square"/>
                    <a:lstStyle/>
                    <a:p>
                      <a:r>
                        <a:rPr b="1" sz="1200" i="0">
                          <a:solidFill>
                            <a:srgbClr val="FFFFFF"/>
                          </a:solidFill>
                          <a:latin typeface="Calibri"/>
                        </a:rPr>
                        <a:t>Typical lender use</a:t>
                      </a:r>
                    </a:p>
                  </a:txBody>
                  <a:tcPr marL="64008" marR="64008" marT="27432" marB="27432" anchor="ctr">
                    <a:solidFill>
                      <a:srgbClr val="141B4D"/>
                    </a:solidFill>
                  </a:tcPr>
                </a:tc>
              </a:tr>
              <a:tr h="490727">
                <a:tc>
                  <a:txBody>
                    <a:bodyPr wrap="square"/>
                    <a:lstStyle/>
                    <a:p>
                      <a:r>
                        <a:rPr b="1" sz="1200" i="0">
                          <a:solidFill>
                            <a:srgbClr val="1A2233"/>
                          </a:solidFill>
                          <a:latin typeface="Calibri"/>
                        </a:rPr>
                        <a:t>DSCR</a:t>
                      </a:r>
                    </a:p>
                  </a:txBody>
                  <a:tcPr marL="64008" marR="64008" marT="27432" marB="27432" anchor="ctr">
                    <a:solidFill>
                      <a:srgbClr val="FFFFFF"/>
                    </a:solidFill>
                  </a:tcPr>
                </a:tc>
                <a:tc>
                  <a:txBody>
                    <a:bodyPr wrap="square"/>
                    <a:lstStyle/>
                    <a:p>
                      <a:r>
                        <a:rPr b="0" sz="1200" i="0">
                          <a:solidFill>
                            <a:srgbClr val="1A2233"/>
                          </a:solidFill>
                          <a:latin typeface="Consolas"/>
                        </a:rPr>
                        <a:t>CFADS ÷ debt service (each period)</a:t>
                      </a:r>
                    </a:p>
                  </a:txBody>
                  <a:tcPr marL="64008" marR="64008" marT="27432" marB="27432" anchor="ctr">
                    <a:solidFill>
                      <a:srgbClr val="FFFFFF"/>
                    </a:solidFill>
                  </a:tcPr>
                </a:tc>
                <a:tc>
                  <a:txBody>
                    <a:bodyPr wrap="square"/>
                    <a:lstStyle/>
                    <a:p>
                      <a:r>
                        <a:rPr b="0" sz="1200" i="0">
                          <a:solidFill>
                            <a:srgbClr val="1A2233"/>
                          </a:solidFill>
                          <a:latin typeface="Calibri"/>
                        </a:rPr>
                        <a:t>One period</a:t>
                      </a:r>
                    </a:p>
                  </a:txBody>
                  <a:tcPr marL="64008" marR="64008" marT="27432" marB="27432" anchor="ctr">
                    <a:solidFill>
                      <a:srgbClr val="FFFFFF"/>
                    </a:solidFill>
                  </a:tcPr>
                </a:tc>
                <a:tc>
                  <a:txBody>
                    <a:bodyPr wrap="square"/>
                    <a:lstStyle/>
                    <a:p>
                      <a:r>
                        <a:rPr b="0" sz="1200" i="0">
                          <a:solidFill>
                            <a:srgbClr val="1A2233"/>
                          </a:solidFill>
                          <a:latin typeface="Calibri"/>
                        </a:rPr>
                        <a:t>A bad quarter</a:t>
                      </a:r>
                    </a:p>
                  </a:txBody>
                  <a:tcPr marL="64008" marR="64008" marT="27432" marB="27432" anchor="ctr">
                    <a:solidFill>
                      <a:srgbClr val="FFFFFF"/>
                    </a:solidFill>
                  </a:tcPr>
                </a:tc>
                <a:tc>
                  <a:txBody>
                    <a:bodyPr wrap="square"/>
                    <a:lstStyle/>
                    <a:p>
                      <a:r>
                        <a:rPr b="0" sz="1200" i="0">
                          <a:solidFill>
                            <a:srgbClr val="1A2233"/>
                          </a:solidFill>
                          <a:latin typeface="Calibri"/>
                        </a:rPr>
                        <a:t>Minimum covenant; lock-up of dividends if below a trigger</a:t>
                      </a:r>
                    </a:p>
                  </a:txBody>
                  <a:tcPr marL="64008" marR="64008" marT="27432" marB="27432" anchor="ctr">
                    <a:solidFill>
                      <a:srgbClr val="FFFFFF"/>
                    </a:solidFill>
                  </a:tcPr>
                </a:tc>
              </a:tr>
              <a:tr h="681228">
                <a:tc>
                  <a:txBody>
                    <a:bodyPr wrap="square"/>
                    <a:lstStyle/>
                    <a:p>
                      <a:r>
                        <a:rPr b="1" sz="1200" i="0">
                          <a:solidFill>
                            <a:srgbClr val="1A2233"/>
                          </a:solidFill>
                          <a:latin typeface="Calibri"/>
                        </a:rPr>
                        <a:t>LLCR</a:t>
                      </a:r>
                    </a:p>
                  </a:txBody>
                  <a:tcPr marL="64008" marR="64008" marT="27432" marB="27432" anchor="ctr">
                    <a:solidFill>
                      <a:srgbClr val="F3F6F9"/>
                    </a:solidFill>
                  </a:tcPr>
                </a:tc>
                <a:tc>
                  <a:txBody>
                    <a:bodyPr wrap="square"/>
                    <a:lstStyle/>
                    <a:p>
                      <a:r>
                        <a:rPr b="0" sz="1200" i="0">
                          <a:solidFill>
                            <a:srgbClr val="1A2233"/>
                          </a:solidFill>
                          <a:latin typeface="Consolas"/>
                        </a:rPr>
                        <a:t>PV(CFADS over loan life) ÷ debt outstanding</a:t>
                      </a:r>
                    </a:p>
                  </a:txBody>
                  <a:tcPr marL="64008" marR="64008" marT="27432" marB="27432" anchor="ctr">
                    <a:solidFill>
                      <a:srgbClr val="F3F6F9"/>
                    </a:solidFill>
                  </a:tcPr>
                </a:tc>
                <a:tc>
                  <a:txBody>
                    <a:bodyPr wrap="square"/>
                    <a:lstStyle/>
                    <a:p>
                      <a:r>
                        <a:rPr b="0" sz="1200" i="0">
                          <a:solidFill>
                            <a:srgbClr val="1A2233"/>
                          </a:solidFill>
                          <a:latin typeface="Calibri"/>
                        </a:rPr>
                        <a:t>Loan life</a:t>
                      </a:r>
                    </a:p>
                  </a:txBody>
                  <a:tcPr marL="64008" marR="64008" marT="27432" marB="27432" anchor="ctr">
                    <a:solidFill>
                      <a:srgbClr val="F3F6F9"/>
                    </a:solidFill>
                  </a:tcPr>
                </a:tc>
                <a:tc>
                  <a:txBody>
                    <a:bodyPr wrap="square"/>
                    <a:lstStyle/>
                    <a:p>
                      <a:r>
                        <a:rPr b="0" sz="1200" i="0">
                          <a:solidFill>
                            <a:srgbClr val="1A2233"/>
                          </a:solidFill>
                          <a:latin typeface="Calibri"/>
                        </a:rPr>
                        <a:t>A weak loan overall</a:t>
                      </a:r>
                    </a:p>
                  </a:txBody>
                  <a:tcPr marL="64008" marR="64008" marT="27432" marB="27432" anchor="ctr">
                    <a:solidFill>
                      <a:srgbClr val="F3F6F9"/>
                    </a:solidFill>
                  </a:tcPr>
                </a:tc>
                <a:tc>
                  <a:txBody>
                    <a:bodyPr wrap="square"/>
                    <a:lstStyle/>
                    <a:p>
                      <a:r>
                        <a:rPr b="0" sz="1200" i="0">
                          <a:solidFill>
                            <a:srgbClr val="1A2233"/>
                          </a:solidFill>
                          <a:latin typeface="Calibri"/>
                        </a:rPr>
                        <a:t>Sizing and covenants; ≥ about 1.2 to 1.5x typical for demand-risk projects</a:t>
                      </a:r>
                    </a:p>
                  </a:txBody>
                  <a:tcPr marL="64008" marR="64008" marT="27432" marB="27432" anchor="ctr">
                    <a:solidFill>
                      <a:srgbClr val="F3F6F9"/>
                    </a:solidFill>
                  </a:tcPr>
                </a:tc>
              </a:tr>
              <a:tr h="490727">
                <a:tc>
                  <a:txBody>
                    <a:bodyPr wrap="square"/>
                    <a:lstStyle/>
                    <a:p>
                      <a:r>
                        <a:rPr b="1" sz="1200" i="0">
                          <a:solidFill>
                            <a:srgbClr val="1A2233"/>
                          </a:solidFill>
                          <a:latin typeface="Calibri"/>
                        </a:rPr>
                        <a:t>PLCR</a:t>
                      </a:r>
                    </a:p>
                  </a:txBody>
                  <a:tcPr marL="64008" marR="64008" marT="27432" marB="27432" anchor="ctr">
                    <a:solidFill>
                      <a:srgbClr val="FFFFFF"/>
                    </a:solidFill>
                  </a:tcPr>
                </a:tc>
                <a:tc>
                  <a:txBody>
                    <a:bodyPr wrap="square"/>
                    <a:lstStyle/>
                    <a:p>
                      <a:r>
                        <a:rPr b="0" sz="1200" i="0">
                          <a:solidFill>
                            <a:srgbClr val="1A2233"/>
                          </a:solidFill>
                          <a:latin typeface="Consolas"/>
                        </a:rPr>
                        <a:t>PV(CFADS over project life) ÷ debt outstanding</a:t>
                      </a:r>
                    </a:p>
                  </a:txBody>
                  <a:tcPr marL="64008" marR="64008" marT="27432" marB="27432" anchor="ctr">
                    <a:solidFill>
                      <a:srgbClr val="FFFFFF"/>
                    </a:solidFill>
                  </a:tcPr>
                </a:tc>
                <a:tc>
                  <a:txBody>
                    <a:bodyPr wrap="square"/>
                    <a:lstStyle/>
                    <a:p>
                      <a:r>
                        <a:rPr b="0" sz="1200" i="0">
                          <a:solidFill>
                            <a:srgbClr val="1A2233"/>
                          </a:solidFill>
                          <a:latin typeface="Calibri"/>
                        </a:rPr>
                        <a:t>Project life</a:t>
                      </a:r>
                    </a:p>
                  </a:txBody>
                  <a:tcPr marL="64008" marR="64008" marT="27432" marB="27432" anchor="ctr">
                    <a:solidFill>
                      <a:srgbClr val="FFFFFF"/>
                    </a:solidFill>
                  </a:tcPr>
                </a:tc>
                <a:tc>
                  <a:txBody>
                    <a:bodyPr wrap="square"/>
                    <a:lstStyle/>
                    <a:p>
                      <a:r>
                        <a:rPr b="0" sz="1200" i="0">
                          <a:solidFill>
                            <a:srgbClr val="1A2233"/>
                          </a:solidFill>
                          <a:latin typeface="Calibri"/>
                        </a:rPr>
                        <a:t>Tail risk beyond maturity</a:t>
                      </a:r>
                    </a:p>
                  </a:txBody>
                  <a:tcPr marL="64008" marR="64008" marT="27432" marB="27432" anchor="ctr">
                    <a:solidFill>
                      <a:srgbClr val="FFFFFF"/>
                    </a:solidFill>
                  </a:tcPr>
                </a:tc>
                <a:tc>
                  <a:txBody>
                    <a:bodyPr wrap="square"/>
                    <a:lstStyle/>
                    <a:p>
                      <a:r>
                        <a:rPr b="0" sz="1200" i="0">
                          <a:solidFill>
                            <a:srgbClr val="1A2233"/>
                          </a:solidFill>
                          <a:latin typeface="Calibri"/>
                        </a:rPr>
                        <a:t>Shows the cash flow cushion after the loan is repaid</a:t>
                      </a:r>
                    </a:p>
                  </a:txBody>
                  <a:tcPr marL="64008" marR="64008" marT="27432" marB="27432" anchor="ctr">
                    <a:solidFill>
                      <a:srgbClr val="FFFFFF"/>
                    </a:solidFill>
                  </a:tcPr>
                </a:tc>
              </a:tr>
            </a:tbl>
          </a:graphicData>
        </a:graphic>
      </p:graphicFrame>
      <p:sp>
        <p:nvSpPr>
          <p:cNvPr id="12" name="Rectangle 11"/>
          <p:cNvSpPr/>
          <p:nvPr/>
        </p:nvSpPr>
        <p:spPr>
          <a:xfrm>
            <a:off x="548640" y="429768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29768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29768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Illustrative levels only: the actual covenants come from each credit agreement (Day 2). Discount rate for PVs = cost of debt.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LLCR by hand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LLCR asks: if I discounted every quarter's cash flow until the loan's last repayment, would it cover the debt still owed? Above 1.0 the whole loan is covered in present-value terms.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LLCR = Σ CFADS_t ÷ (1 + r)^t ÷ Debt outstanding</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Three-period toy: CFADS 60, 60, 60; debt 100; rate 5% per period</a:t>
            </a:r>
          </a:p>
          <a:p>
            <a:pPr algn="l"/>
            <a:r>
              <a:rPr b="0" sz="1600" i="0">
                <a:solidFill>
                  <a:srgbClr val="1A2233"/>
                </a:solidFill>
                <a:latin typeface="Calibri"/>
              </a:rPr>
              <a:t>PV = 60/1.05 + 60/1.05² + 60/1.05³ = 57.14 + 54.42 + 51.83 = 163.39</a:t>
            </a:r>
          </a:p>
          <a:p>
            <a:pPr algn="l"/>
            <a:r>
              <a:rPr b="0" sz="1600" i="0">
                <a:solidFill>
                  <a:srgbClr val="1A2233"/>
                </a:solidFill>
                <a:latin typeface="Calibri"/>
              </a:rPr>
              <a:t>LLCR = 163.39 ÷ 100 = 1.63x</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LLCR looks through quarter-to-quarter volatility; DSCR does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TECHNIQUE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Backward recursion: PV of cash flow in one column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81328"/>
            <a:ext cx="1005840"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1A2233"/>
                </a:solidFill>
                <a:latin typeface="Consolas"/>
              </a:rPr>
              <a:t>J19</a:t>
            </a:r>
          </a:p>
        </p:txBody>
      </p:sp>
      <p:sp>
        <p:nvSpPr>
          <p:cNvPr id="12" name="Rectangle 11"/>
          <p:cNvSpPr/>
          <p:nvPr/>
        </p:nvSpPr>
        <p:spPr>
          <a:xfrm>
            <a:off x="1600200" y="1481328"/>
            <a:ext cx="411480" cy="347472"/>
          </a:xfrm>
          <a:prstGeom prst="rect">
            <a:avLst/>
          </a:prstGeom>
          <a:solidFill>
            <a:srgbClr val="F3F6F9"/>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1">
                <a:solidFill>
                  <a:srgbClr val="5C6B7A"/>
                </a:solidFill>
                <a:latin typeface="Calibri"/>
              </a:rPr>
              <a:t>fx</a:t>
            </a:r>
          </a:p>
        </p:txBody>
      </p:sp>
      <p:sp>
        <p:nvSpPr>
          <p:cNvPr id="13" name="Rectangle 12"/>
          <p:cNvSpPr/>
          <p:nvPr/>
        </p:nvSpPr>
        <p:spPr>
          <a:xfrm>
            <a:off x="2057400" y="1481328"/>
            <a:ext cx="7498079" cy="347472"/>
          </a:xfrm>
          <a:prstGeom prst="rect">
            <a:avLst/>
          </a:prstGeom>
          <a:solidFill>
            <a:srgbClr val="FFFFFF"/>
          </a:solidFill>
          <a:ln w="12700">
            <a:solidFill>
              <a:srgbClr val="5C6B7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0" sz="1300" i="0">
                <a:solidFill>
                  <a:srgbClr val="1A2233"/>
                </a:solidFill>
                <a:latin typeface="Consolas"/>
              </a:rPr>
              <a:t>=(K19+K18)/(1+K17)</a:t>
            </a:r>
          </a:p>
        </p:txBody>
      </p:sp>
      <p:graphicFrame>
        <p:nvGraphicFramePr>
          <p:cNvPr id="14" name="Table 13"/>
          <p:cNvGraphicFramePr>
            <a:graphicFrameLocks noGrp="1"/>
          </p:cNvGraphicFramePr>
          <p:nvPr/>
        </p:nvGraphicFramePr>
        <p:xfrm>
          <a:off x="548640" y="1938528"/>
          <a:ext cx="9144000" cy="1554480"/>
        </p:xfrm>
        <a:graphic>
          <a:graphicData uri="http://schemas.openxmlformats.org/drawingml/2006/table">
            <a:tbl>
              <a:tblPr firstRow="1" bandRow="1">
                <a:tableStyleId>{5C22544A-7EE6-4342-B048-85BDC9FD1C3A}</a:tableStyleId>
              </a:tblPr>
              <a:tblGrid>
                <a:gridCol w="502920"/>
                <a:gridCol w="960120"/>
                <a:gridCol w="960120"/>
                <a:gridCol w="960120"/>
                <a:gridCol w="960120"/>
                <a:gridCol w="960120"/>
                <a:gridCol w="960120"/>
                <a:gridCol w="960120"/>
                <a:gridCol w="960120"/>
                <a:gridCol w="960120"/>
              </a:tblGrid>
              <a:tr h="310896">
                <a:tc>
                  <a:txBody>
                    <a:bodyPr/>
                    <a:lstStyle/>
                    <a:p>
                      <a:pPr algn="ctr"/>
                      <a:r>
                        <a:rPr sz="1100" b="0">
                          <a:solidFill>
                            <a:srgbClr val="1A2233"/>
                          </a:solidFill>
                          <a:latin typeface="Calibri"/>
                        </a:rPr>
                        <a:t/>
                      </a:r>
                    </a:p>
                  </a:txBody>
                  <a:tcPr marL="45720" marR="45720" marT="9144" marB="9144" anchor="ctr">
                    <a:solidFill>
                      <a:srgbClr val="D9DEE6"/>
                    </a:solidFill>
                  </a:tcPr>
                </a:tc>
                <a:tc>
                  <a:txBody>
                    <a:bodyPr/>
                    <a:lstStyle/>
                    <a:p>
                      <a:pPr algn="ctr"/>
                      <a:r>
                        <a:rPr sz="1100" b="1">
                          <a:solidFill>
                            <a:srgbClr val="1A2233"/>
                          </a:solidFill>
                          <a:latin typeface="Calibri"/>
                        </a:rPr>
                        <a:t>E</a:t>
                      </a:r>
                    </a:p>
                  </a:txBody>
                  <a:tcPr marL="45720" marR="45720" marT="9144" marB="9144" anchor="ctr">
                    <a:solidFill>
                      <a:srgbClr val="D9DEE6"/>
                    </a:solidFill>
                  </a:tcPr>
                </a:tc>
                <a:tc>
                  <a:txBody>
                    <a:bodyPr/>
                    <a:lstStyle/>
                    <a:p>
                      <a:pPr algn="ctr"/>
                      <a:r>
                        <a:rPr sz="1100" b="1">
                          <a:solidFill>
                            <a:srgbClr val="1A2233"/>
                          </a:solidFill>
                          <a:latin typeface="Calibri"/>
                        </a:rPr>
                        <a:t>F</a:t>
                      </a:r>
                    </a:p>
                  </a:txBody>
                  <a:tcPr marL="45720" marR="45720" marT="9144" marB="9144" anchor="ctr">
                    <a:solidFill>
                      <a:srgbClr val="D9DEE6"/>
                    </a:solidFill>
                  </a:tcPr>
                </a:tc>
                <a:tc>
                  <a:txBody>
                    <a:bodyPr/>
                    <a:lstStyle/>
                    <a:p>
                      <a:pPr algn="ctr"/>
                      <a:r>
                        <a:rPr sz="1100" b="1">
                          <a:solidFill>
                            <a:srgbClr val="1A2233"/>
                          </a:solidFill>
                          <a:latin typeface="Calibri"/>
                        </a:rPr>
                        <a:t>G</a:t>
                      </a:r>
                    </a:p>
                  </a:txBody>
                  <a:tcPr marL="45720" marR="45720" marT="9144" marB="9144" anchor="ctr">
                    <a:solidFill>
                      <a:srgbClr val="D9DEE6"/>
                    </a:solidFill>
                  </a:tcPr>
                </a:tc>
                <a:tc>
                  <a:txBody>
                    <a:bodyPr/>
                    <a:lstStyle/>
                    <a:p>
                      <a:pPr algn="ctr"/>
                      <a:r>
                        <a:rPr sz="1100" b="1">
                          <a:solidFill>
                            <a:srgbClr val="1A2233"/>
                          </a:solidFill>
                          <a:latin typeface="Calibri"/>
                        </a:rPr>
                        <a:t>H</a:t>
                      </a:r>
                    </a:p>
                  </a:txBody>
                  <a:tcPr marL="45720" marR="45720" marT="9144" marB="9144" anchor="ctr">
                    <a:solidFill>
                      <a:srgbClr val="D9DEE6"/>
                    </a:solidFill>
                  </a:tcPr>
                </a:tc>
                <a:tc>
                  <a:txBody>
                    <a:bodyPr/>
                    <a:lstStyle/>
                    <a:p>
                      <a:pPr algn="ctr"/>
                      <a:r>
                        <a:rPr sz="1100" b="1">
                          <a:solidFill>
                            <a:srgbClr val="1A2233"/>
                          </a:solidFill>
                          <a:latin typeface="Calibri"/>
                        </a:rPr>
                        <a:t>I</a:t>
                      </a:r>
                    </a:p>
                  </a:txBody>
                  <a:tcPr marL="45720" marR="45720" marT="9144" marB="9144" anchor="ctr">
                    <a:solidFill>
                      <a:srgbClr val="D9DEE6"/>
                    </a:solidFill>
                  </a:tcPr>
                </a:tc>
                <a:tc>
                  <a:txBody>
                    <a:bodyPr/>
                    <a:lstStyle/>
                    <a:p>
                      <a:pPr algn="ctr"/>
                      <a:r>
                        <a:rPr sz="1100" b="1">
                          <a:solidFill>
                            <a:srgbClr val="1A2233"/>
                          </a:solidFill>
                          <a:latin typeface="Calibri"/>
                        </a:rPr>
                        <a:t>J</a:t>
                      </a:r>
                    </a:p>
                  </a:txBody>
                  <a:tcPr marL="45720" marR="45720" marT="9144" marB="9144" anchor="ctr">
                    <a:solidFill>
                      <a:srgbClr val="D9DEE6"/>
                    </a:solidFill>
                  </a:tcPr>
                </a:tc>
                <a:tc>
                  <a:txBody>
                    <a:bodyPr/>
                    <a:lstStyle/>
                    <a:p>
                      <a:pPr algn="ctr"/>
                      <a:r>
                        <a:rPr sz="1100" b="1">
                          <a:solidFill>
                            <a:srgbClr val="1A2233"/>
                          </a:solidFill>
                          <a:latin typeface="Calibri"/>
                        </a:rPr>
                        <a:t>K</a:t>
                      </a:r>
                    </a:p>
                  </a:txBody>
                  <a:tcPr marL="45720" marR="45720" marT="9144" marB="9144" anchor="ctr">
                    <a:solidFill>
                      <a:srgbClr val="D9DEE6"/>
                    </a:solidFill>
                  </a:tcPr>
                </a:tc>
                <a:tc>
                  <a:txBody>
                    <a:bodyPr/>
                    <a:lstStyle/>
                    <a:p>
                      <a:pPr algn="ctr"/>
                      <a:r>
                        <a:rPr sz="1100" b="1">
                          <a:solidFill>
                            <a:srgbClr val="1A2233"/>
                          </a:solidFill>
                          <a:latin typeface="Calibri"/>
                        </a:rPr>
                        <a:t>L</a:t>
                      </a:r>
                    </a:p>
                  </a:txBody>
                  <a:tcPr marL="45720" marR="45720" marT="9144" marB="9144" anchor="ctr">
                    <a:solidFill>
                      <a:srgbClr val="D9DEE6"/>
                    </a:solidFill>
                  </a:tcPr>
                </a:tc>
                <a:tc>
                  <a:txBody>
                    <a:bodyPr/>
                    <a:lstStyle/>
                    <a:p>
                      <a:pPr algn="ctr"/>
                      <a:r>
                        <a:rPr sz="1100" b="1">
                          <a:solidFill>
                            <a:srgbClr val="1A2233"/>
                          </a:solidFill>
                          <a:latin typeface="Calibri"/>
                        </a:rPr>
                        <a:t>M</a:t>
                      </a:r>
                    </a:p>
                  </a:txBody>
                  <a:tcPr marL="45720" marR="45720" marT="9144" marB="9144" anchor="ctr">
                    <a:solidFill>
                      <a:srgbClr val="D9DEE6"/>
                    </a:solidFill>
                  </a:tcPr>
                </a:tc>
              </a:tr>
              <a:tr h="310896">
                <a:tc>
                  <a:txBody>
                    <a:bodyPr/>
                    <a:lstStyle/>
                    <a:p>
                      <a:pPr algn="ctr"/>
                      <a:r>
                        <a:rPr sz="1100" b="1">
                          <a:solidFill>
                            <a:srgbClr val="1A2233"/>
                          </a:solidFill>
                          <a:latin typeface="Calibri"/>
                        </a:rPr>
                        <a:t>16</a:t>
                      </a:r>
                    </a:p>
                  </a:txBody>
                  <a:tcPr marL="45720" marR="45720" marT="9144" marB="9144" anchor="ctr">
                    <a:solidFill>
                      <a:srgbClr val="D9DEE6"/>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r>
              <a:tr h="310896">
                <a:tc>
                  <a:txBody>
                    <a:bodyPr/>
                    <a:lstStyle/>
                    <a:p>
                      <a:pPr algn="ctr"/>
                      <a:r>
                        <a:rPr sz="1100" b="1">
                          <a:solidFill>
                            <a:srgbClr val="1A2233"/>
                          </a:solidFill>
                          <a:latin typeface="Calibri"/>
                        </a:rPr>
                        <a:t>17</a:t>
                      </a:r>
                    </a:p>
                  </a:txBody>
                  <a:tcPr marL="45720" marR="45720" marT="9144" marB="9144" anchor="ctr">
                    <a:solidFill>
                      <a:srgbClr val="D9DEE6"/>
                    </a:solidFill>
                  </a:tcPr>
                </a:tc>
                <a:tc>
                  <a:txBody>
                    <a:bodyPr/>
                    <a:lstStyle/>
                    <a:p>
                      <a:pPr algn="l"/>
                      <a:r>
                        <a:rPr sz="1100" b="0">
                          <a:solidFill>
                            <a:srgbClr val="1A2233"/>
                          </a:solidFill>
                          <a:latin typeface="Calibri"/>
                        </a:rPr>
                        <a:t>Rate per period</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alibri"/>
                        </a:rPr>
                        <a:t>5%</a:t>
                      </a:r>
                    </a:p>
                  </a:txBody>
                  <a:tcPr marL="45720" marR="45720" marT="9144" marB="9144" anchor="ctr">
                    <a:solidFill>
                      <a:srgbClr val="FBF0D9"/>
                    </a:solidFill>
                  </a:tcPr>
                </a:tc>
                <a:tc>
                  <a:txBody>
                    <a:bodyPr/>
                    <a:lstStyle/>
                    <a:p>
                      <a:pPr algn="l"/>
                      <a:r>
                        <a:rPr sz="1100" b="0">
                          <a:solidFill>
                            <a:srgbClr val="1A2233"/>
                          </a:solidFill>
                          <a:latin typeface="Calibri"/>
                        </a:rPr>
                        <a:t>5%</a:t>
                      </a:r>
                    </a:p>
                  </a:txBody>
                  <a:tcPr marL="45720" marR="45720" marT="9144" marB="9144" anchor="ctr">
                    <a:solidFill>
                      <a:srgbClr val="FFFFFF"/>
                    </a:solidFill>
                  </a:tcPr>
                </a:tc>
                <a:tc>
                  <a:txBody>
                    <a:bodyPr/>
                    <a:lstStyle/>
                    <a:p>
                      <a:pPr algn="l"/>
                      <a:r>
                        <a:rPr sz="1100" b="0">
                          <a:solidFill>
                            <a:srgbClr val="1A2233"/>
                          </a:solidFill>
                          <a:latin typeface="Calibri"/>
                        </a:rPr>
                        <a:t>5%</a:t>
                      </a:r>
                    </a:p>
                  </a:txBody>
                  <a:tcPr marL="45720" marR="45720" marT="9144" marB="9144" anchor="ctr">
                    <a:solidFill>
                      <a:srgbClr val="FFFFFF"/>
                    </a:solidFill>
                  </a:tcPr>
                </a:tc>
              </a:tr>
              <a:tr h="310896">
                <a:tc>
                  <a:txBody>
                    <a:bodyPr/>
                    <a:lstStyle/>
                    <a:p>
                      <a:pPr algn="ctr"/>
                      <a:r>
                        <a:rPr sz="1100" b="1">
                          <a:solidFill>
                            <a:srgbClr val="1A2233"/>
                          </a:solidFill>
                          <a:latin typeface="Calibri"/>
                        </a:rPr>
                        <a:t>18</a:t>
                      </a:r>
                    </a:p>
                  </a:txBody>
                  <a:tcPr marL="45720" marR="45720" marT="9144" marB="9144" anchor="ctr">
                    <a:solidFill>
                      <a:srgbClr val="D9DEE6"/>
                    </a:solidFill>
                  </a:tcPr>
                </a:tc>
                <a:tc>
                  <a:txBody>
                    <a:bodyPr/>
                    <a:lstStyle/>
                    <a:p>
                      <a:pPr algn="l"/>
                      <a:r>
                        <a:rPr sz="1100" b="0">
                          <a:solidFill>
                            <a:srgbClr val="1A2233"/>
                          </a:solidFill>
                          <a:latin typeface="Calibri"/>
                        </a:rPr>
                        <a:t>CFADS in loan life</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60</a:t>
                      </a:r>
                    </a:p>
                  </a:txBody>
                  <a:tcPr marL="45720" marR="45720" marT="9144" marB="9144" anchor="ctr">
                    <a:solidFill>
                      <a:srgbClr val="FFFFFF"/>
                    </a:solidFill>
                  </a:tcPr>
                </a:tc>
                <a:tc>
                  <a:txBody>
                    <a:bodyPr/>
                    <a:lstStyle/>
                    <a:p>
                      <a:pPr algn="l"/>
                      <a:r>
                        <a:rPr sz="1100" b="1">
                          <a:solidFill>
                            <a:srgbClr val="1A2233"/>
                          </a:solidFill>
                          <a:latin typeface="Calibri"/>
                        </a:rPr>
                        <a:t>60</a:t>
                      </a:r>
                    </a:p>
                  </a:txBody>
                  <a:tcPr marL="45720" marR="45720" marT="9144" marB="9144" anchor="ctr">
                    <a:solidFill>
                      <a:srgbClr val="FBF0D9"/>
                    </a:solidFill>
                  </a:tcPr>
                </a:tc>
                <a:tc>
                  <a:txBody>
                    <a:bodyPr/>
                    <a:lstStyle/>
                    <a:p>
                      <a:pPr algn="l"/>
                      <a:r>
                        <a:rPr sz="1100" b="0">
                          <a:solidFill>
                            <a:srgbClr val="1A2233"/>
                          </a:solidFill>
                          <a:latin typeface="Calibri"/>
                        </a:rPr>
                        <a:t>60</a:t>
                      </a:r>
                    </a:p>
                  </a:txBody>
                  <a:tcPr marL="45720" marR="45720" marT="9144" marB="9144" anchor="ctr">
                    <a:solidFill>
                      <a:srgbClr val="FFFFFF"/>
                    </a:solidFill>
                  </a:tcPr>
                </a:tc>
                <a:tc>
                  <a:txBody>
                    <a:bodyPr/>
                    <a:lstStyle/>
                    <a:p>
                      <a:pPr algn="l"/>
                      <a:r>
                        <a:rPr sz="1100" b="0">
                          <a:solidFill>
                            <a:srgbClr val="1A2233"/>
                          </a:solidFill>
                          <a:latin typeface="Calibri"/>
                        </a:rPr>
                        <a:t>0</a:t>
                      </a:r>
                    </a:p>
                  </a:txBody>
                  <a:tcPr marL="45720" marR="45720" marT="9144" marB="9144" anchor="ctr">
                    <a:solidFill>
                      <a:srgbClr val="FFFFFF"/>
                    </a:solidFill>
                  </a:tcPr>
                </a:tc>
              </a:tr>
              <a:tr h="310896">
                <a:tc>
                  <a:txBody>
                    <a:bodyPr/>
                    <a:lstStyle/>
                    <a:p>
                      <a:pPr algn="ctr"/>
                      <a:r>
                        <a:rPr sz="1100" b="1">
                          <a:solidFill>
                            <a:srgbClr val="1A2233"/>
                          </a:solidFill>
                          <a:latin typeface="Calibri"/>
                        </a:rPr>
                        <a:t>19</a:t>
                      </a:r>
                    </a:p>
                  </a:txBody>
                  <a:tcPr marL="45720" marR="45720" marT="9144" marB="9144" anchor="ctr">
                    <a:solidFill>
                      <a:srgbClr val="D9DEE6"/>
                    </a:solidFill>
                  </a:tcPr>
                </a:tc>
                <a:tc>
                  <a:txBody>
                    <a:bodyPr/>
                    <a:lstStyle/>
                    <a:p>
                      <a:pPr algn="l"/>
                      <a:r>
                        <a:rPr sz="1100" b="0">
                          <a:solidFill>
                            <a:srgbClr val="1A2233"/>
                          </a:solidFill>
                          <a:latin typeface="Calibri"/>
                        </a:rPr>
                        <a:t>PV END of period</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0">
                          <a:solidFill>
                            <a:srgbClr val="1A2233"/>
                          </a:solidFill>
                          <a:latin typeface="Calibri"/>
                        </a:rPr>
                        <a:t/>
                      </a:r>
                    </a:p>
                  </a:txBody>
                  <a:tcPr marL="45720" marR="45720" marT="9144" marB="9144" anchor="ctr">
                    <a:solidFill>
                      <a:srgbClr val="FFFFFF"/>
                    </a:solidFill>
                  </a:tcPr>
                </a:tc>
                <a:tc>
                  <a:txBody>
                    <a:bodyPr/>
                    <a:lstStyle/>
                    <a:p>
                      <a:pPr algn="l"/>
                      <a:r>
                        <a:rPr sz="1100" b="1">
                          <a:solidFill>
                            <a:srgbClr val="1A2233"/>
                          </a:solidFill>
                          <a:latin typeface="Consolas"/>
                        </a:rPr>
                        <a:t>=(K19+K18)/(1+K17)</a:t>
                      </a:r>
                    </a:p>
                  </a:txBody>
                  <a:tcPr marL="45720" marR="45720" marT="9144" marB="9144" anchor="ctr">
                    <a:solidFill>
                      <a:srgbClr val="FFE9B8"/>
                    </a:solidFill>
                  </a:tcPr>
                </a:tc>
                <a:tc>
                  <a:txBody>
                    <a:bodyPr/>
                    <a:lstStyle/>
                    <a:p>
                      <a:pPr algn="l"/>
                      <a:r>
                        <a:rPr sz="1100" b="1">
                          <a:solidFill>
                            <a:srgbClr val="1A2233"/>
                          </a:solidFill>
                          <a:latin typeface="Consolas"/>
                        </a:rPr>
                        <a:t>=(L19+L18)/(1+L17)</a:t>
                      </a:r>
                    </a:p>
                  </a:txBody>
                  <a:tcPr marL="45720" marR="45720" marT="9144" marB="9144" anchor="ctr">
                    <a:solidFill>
                      <a:srgbClr val="FBF0D9"/>
                    </a:solidFill>
                  </a:tcPr>
                </a:tc>
                <a:tc>
                  <a:txBody>
                    <a:bodyPr/>
                    <a:lstStyle/>
                    <a:p>
                      <a:pPr algn="l"/>
                      <a:r>
                        <a:rPr sz="1100" b="0">
                          <a:solidFill>
                            <a:srgbClr val="1A2233"/>
                          </a:solidFill>
                          <a:latin typeface="Consolas"/>
                        </a:rPr>
                        <a:t>=(M19+M18)/(1+M17)</a:t>
                      </a:r>
                    </a:p>
                  </a:txBody>
                  <a:tcPr marL="45720" marR="45720" marT="9144" marB="9144" anchor="ctr">
                    <a:solidFill>
                      <a:srgbClr val="FFFFFF"/>
                    </a:solidFill>
                  </a:tcPr>
                </a:tc>
                <a:tc>
                  <a:txBody>
                    <a:bodyPr/>
                    <a:lstStyle/>
                    <a:p>
                      <a:pPr algn="l"/>
                      <a:r>
                        <a:rPr sz="1100" b="0">
                          <a:solidFill>
                            <a:srgbClr val="1A2233"/>
                          </a:solidFill>
                          <a:latin typeface="Calibri"/>
                        </a:rPr>
                        <a:t>0</a:t>
                      </a:r>
                    </a:p>
                  </a:txBody>
                  <a:tcPr marL="45720" marR="45720" marT="9144" marB="9144" anchor="ctr">
                    <a:solidFill>
                      <a:srgbClr val="FFFFFF"/>
                    </a:solidFill>
                  </a:tcPr>
                </a:tc>
              </a:tr>
            </a:tbl>
          </a:graphicData>
        </a:graphic>
      </p:graphicFrame>
      <p:sp>
        <p:nvSpPr>
          <p:cNvPr id="15" name="Rectangle 14"/>
          <p:cNvSpPr/>
          <p:nvPr/>
        </p:nvSpPr>
        <p:spPr>
          <a:xfrm>
            <a:off x="9966960" y="1481328"/>
            <a:ext cx="1691639" cy="347472"/>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FFFFFF"/>
                </a:solidFill>
                <a:latin typeface="Calibri"/>
              </a:rPr>
              <a:t>HOW IT WORKS</a:t>
            </a:r>
          </a:p>
        </p:txBody>
      </p:sp>
      <p:sp>
        <p:nvSpPr>
          <p:cNvPr id="16" name="TextBox 15"/>
          <p:cNvSpPr txBox="1"/>
          <p:nvPr/>
        </p:nvSpPr>
        <p:spPr>
          <a:xfrm>
            <a:off x="9966960" y="1920240"/>
            <a:ext cx="1691639" cy="4206240"/>
          </a:xfrm>
          <a:prstGeom prst="rect">
            <a:avLst/>
          </a:prstGeom>
          <a:noFill/>
        </p:spPr>
        <p:txBody>
          <a:bodyPr wrap="square">
            <a:spAutoFit/>
          </a:bodyPr>
          <a:lstStyle/>
          <a:p>
            <a:pPr>
              <a:spcAft>
                <a:spcPts val="600"/>
              </a:spcAft>
            </a:pPr>
            <a:r>
              <a:rPr b="0" sz="1100" i="0">
                <a:solidFill>
                  <a:srgbClr val="1A2233"/>
                </a:solidFill>
                <a:latin typeface="Calibri"/>
              </a:rPr>
              <a:t>▪ Each column asks: what is the cash flow from the NEXT period worth now?</a:t>
            </a:r>
          </a:p>
          <a:p>
            <a:pPr>
              <a:spcAft>
                <a:spcPts val="600"/>
              </a:spcAft>
            </a:pPr>
            <a:r>
              <a:rPr b="0" sz="1100" i="0">
                <a:solidFill>
                  <a:srgbClr val="1A2233"/>
                </a:solidFill>
                <a:latin typeface="Calibri"/>
              </a:rPr>
              <a:t>▪ </a:t>
            </a:r>
            <a:r>
              <a:rPr b="0" sz="1100" i="0">
                <a:solidFill>
                  <a:srgbClr val="0B5E82"/>
                </a:solidFill>
                <a:latin typeface="Consolas"/>
              </a:rPr>
              <a:t>PV_END(t) = (PV_END(t+1) + CFADS(t+1)) ÷ (1 + r(t+1))</a:t>
            </a:r>
          </a:p>
          <a:p>
            <a:pPr>
              <a:spcAft>
                <a:spcPts val="600"/>
              </a:spcAft>
            </a:pPr>
            <a:r>
              <a:rPr b="0" sz="1100" i="0">
                <a:solidFill>
                  <a:srgbClr val="1A2233"/>
                </a:solidFill>
                <a:latin typeface="Calibri"/>
              </a:rPr>
              <a:t>▪ Start at the end (value 0) and work backwards: copy the formula right; it points one column to the right</a:t>
            </a:r>
          </a:p>
          <a:p>
            <a:pPr>
              <a:spcAft>
                <a:spcPts val="600"/>
              </a:spcAft>
            </a:pPr>
            <a:r>
              <a:rPr b="0" sz="1100" i="0">
                <a:solidFill>
                  <a:srgbClr val="1A2233"/>
                </a:solidFill>
                <a:latin typeface="Calibri"/>
              </a:rPr>
              <a:t>▪ Last column refers to a blank cell, which Excel treats as 0, so the recursion starts itself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Ratios!J19: PV of CFADS in loan life (END of period)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J19  (to CO19)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PV of CFADS in loan life (END of period)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=(K19+K18)/(1+K17)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PV of the loan-life cash flow at the end of this period</a:t>
            </a:r>
          </a:p>
          <a:p>
            <a:pPr algn="l"/>
            <a:r>
              <a:rPr b="0" sz="1500" i="0">
                <a:solidFill>
                  <a:srgbClr val="1A2233"/>
                </a:solidFill>
                <a:latin typeface="Calibri"/>
              </a:rPr>
              <a:t>▪ = (value next period + CFADS next period) ÷ (1 + next period's rate)</a:t>
            </a:r>
          </a:p>
          <a:p>
            <a:pPr algn="l"/>
            <a:r>
              <a:rPr b="0" sz="1500" i="0">
                <a:solidFill>
                  <a:srgbClr val="1A2233"/>
                </a:solidFill>
                <a:latin typeface="Calibri"/>
              </a:rPr>
              <a:t>▪ Copy right: each formula looks one column ahead</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J19:CO19,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J19 → CO19</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K19 (COD column) = PV of the whole loan-life CFADS</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Backward recursion needs no loop and no NPV function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Ratios!J21: LLCR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J21  (to CO21)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LLCR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=IF(J20&gt;CHK_TOL,J19/J20,0)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LLCR = PV of loan-life CFADS ÷ debt outstanding</a:t>
            </a:r>
          </a:p>
          <a:p>
            <a:pPr algn="l"/>
            <a:r>
              <a:rPr b="0" sz="1500" i="0">
                <a:solidFill>
                  <a:srgbClr val="1A2233"/>
                </a:solidFill>
                <a:latin typeface="Calibri"/>
              </a:rPr>
              <a:t>▪ IF(debt &gt; tolerance, ..., 0) avoids dividing by zero after repayment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J21 → CO21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LLCR at COD (F22) = 2.40x</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 ratio per period; the COD value is the headline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Ratios!J27: PLCR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Ratios</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J27  (to CO27)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PLCR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=IF(J20&gt;CHK_TOL,J26/J20,0)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PLCR = PV of project-life CFADS ÷ debt outstanding</a:t>
            </a:r>
          </a:p>
          <a:p>
            <a:pPr algn="l"/>
            <a:r>
              <a:rPr b="0" sz="1500" i="0">
                <a:solidFill>
                  <a:srgbClr val="1A2233"/>
                </a:solidFill>
                <a:latin typeface="Calibri"/>
              </a:rPr>
              <a:t>▪ Uses the forecast flag instead of the loan flag so the tail is included</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J27:CO27,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J27 → CO27</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PLCR at COD (F28) = 4.19x</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PLCR is always at least as large as LLCR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7.2: Build the Ratios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Create a Ratios sheet with debt service, DSCR (pulled from FinStat), LLCR and PLCR, and read the minimum and COD values.</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New sheet Ratios (copy rows 1 to 5 from OpRev)</a:t>
            </a:r>
          </a:p>
          <a:p>
            <a:pPr>
              <a:spcAft>
                <a:spcPts val="300"/>
              </a:spcAft>
            </a:pPr>
            <a:r>
              <a:rPr b="0" sz="1500" i="0">
                <a:solidFill>
                  <a:srgbClr val="1A2233"/>
                </a:solidFill>
                <a:latin typeface="Calibri"/>
              </a:rPr>
              <a:t>2.  Pull debt service, CFADS and DSCR from FinStat (rows 94, 39, 96 after Day 7 insertions)</a:t>
            </a:r>
          </a:p>
          <a:p>
            <a:pPr>
              <a:spcAft>
                <a:spcPts val="300"/>
              </a:spcAft>
            </a:pPr>
            <a:r>
              <a:rPr b="0" sz="1500" i="0">
                <a:solidFill>
                  <a:srgbClr val="1A2233"/>
                </a:solidFill>
                <a:latin typeface="Calibri"/>
              </a:rPr>
              <a:t>3.  Build rows 17 to 22 (LLCR) and 25 to 28 (PLCR)</a:t>
            </a:r>
          </a:p>
          <a:p>
            <a:pPr>
              <a:spcAft>
                <a:spcPts val="300"/>
              </a:spcAft>
            </a:pPr>
            <a:r>
              <a:rPr b="0" sz="1500" i="0">
                <a:solidFill>
                  <a:srgbClr val="1A2233"/>
                </a:solidFill>
                <a:latin typeface="Calibri"/>
              </a:rPr>
              <a:t>4.  Read F13 (min DSCR), F22 and F28</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25 min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17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10.30 – 12.30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3: Debt capacity, sizing and sculpting</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How much can the project borrow, and how should it repay?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sculpt?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A flat repayment schedule repays the same amount each quarter, but cash flow varies. In weak quarters debt service can exceed cash flow (DSCR below 1). Sculpting sets each quarter's debt service equal to that quarter's cash flow divided by the target DSCR, so cover is the same in every quarter.</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Debt capacity = Σ [CFADS_t ÷ target DSCR] ÷ (1 + r)^t</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Start model profile 1 (7.5-year straight line): minimum DSCR was 1.17x (Day 5)</a:t>
            </a:r>
          </a:p>
          <a:p>
            <a:pPr algn="l"/>
            <a:r>
              <a:rPr b="0" sz="1600" i="0">
                <a:solidFill>
                  <a:srgbClr val="1A2233"/>
                </a:solidFill>
                <a:latin typeface="Calibri"/>
              </a:rPr>
              <a:t>Sculpted at 2.25x: DSCR is 2.25x in every repayment quarter by construction</a:t>
            </a:r>
          </a:p>
          <a:p>
            <a:pPr algn="l"/>
            <a:r>
              <a:rPr b="0" sz="1600" i="0">
                <a:solidFill>
                  <a:srgbClr val="1A2233"/>
                </a:solidFill>
                <a:latin typeface="Calibri"/>
              </a:rPr>
              <a:t>Debt service_t = CFADS_t ÷ target DSCR;   Principal_t = Debt service_t − Interest_t</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Higher target DSCR → lower debt capacity: lenders protect themselves by lending less.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19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Debt capacity: a small worked example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2000" i="0">
                <a:solidFill>
                  <a:srgbClr val="1A2233"/>
                </a:solidFill>
                <a:latin typeface="Calibri"/>
              </a:rPr>
              <a:t>Three quarters of CFADS: 60, 80, 70. Target DSCR 1.5x. Rate 5% per quarter. The debt the project can carry is the present value of the allowed debt service.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Capacity(2.0x) = Capacity(1.5x) × 1.5 ÷ 2.0</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Allowed debt service: 60/1.5 = 40;  80/1.5 = 53.33;  70/1.5 = 46.67</a:t>
            </a:r>
          </a:p>
          <a:p>
            <a:pPr algn="l"/>
            <a:r>
              <a:rPr b="0" sz="1600" i="0">
                <a:solidFill>
                  <a:srgbClr val="1A2233"/>
                </a:solidFill>
                <a:latin typeface="Calibri"/>
              </a:rPr>
              <a:t>PV = 40/1.05 + 53.33/1.05² + 46.67/1.05³ = 38.10 + 48.37 + 40.32 = 126.79</a:t>
            </a:r>
          </a:p>
          <a:p>
            <a:pPr algn="l"/>
            <a:r>
              <a:rPr b="0" sz="1600" i="0">
                <a:solidFill>
                  <a:srgbClr val="1A2233"/>
                </a:solidFill>
                <a:latin typeface="Calibri"/>
              </a:rPr>
              <a:t>Capacity ≈ 126.8. With DSCR 2.0x capacity falls to 95.1: it scales with 1 ÷ DSCR.</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Capacity depends on cash flows, discount rate and target DSCR: not on the cost of the project. Gearing limits come next.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SIZING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Two tests; take the lower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197100"/>
        </p:xfrm>
        <a:graphic>
          <a:graphicData uri="http://schemas.openxmlformats.org/drawingml/2006/table">
            <a:tbl>
              <a:tblPr firstRow="1" bandRow="1">
                <a:tableStyleId>{5C22544A-7EE6-4342-B048-85BDC9FD1C3A}</a:tableStyleId>
              </a:tblPr>
              <a:tblGrid>
                <a:gridCol w="2743200"/>
                <a:gridCol w="5669280"/>
                <a:gridCol w="2651760"/>
              </a:tblGrid>
              <a:tr h="384048">
                <a:tc>
                  <a:txBody>
                    <a:bodyPr wrap="square"/>
                    <a:lstStyle/>
                    <a:p>
                      <a:r>
                        <a:rPr b="1" sz="1300" i="0">
                          <a:solidFill>
                            <a:srgbClr val="FFFFFF"/>
                          </a:solidFill>
                          <a:latin typeface="Calibri"/>
                        </a:rPr>
                        <a:t>Test</a:t>
                      </a:r>
                    </a:p>
                  </a:txBody>
                  <a:tcPr marL="64008" marR="64008" marT="27432" marB="27432" anchor="ctr">
                    <a:solidFill>
                      <a:srgbClr val="141B4D"/>
                    </a:solidFill>
                  </a:tcPr>
                </a:tc>
                <a:tc>
                  <a:txBody>
                    <a:bodyPr wrap="square"/>
                    <a:lstStyle/>
                    <a:p>
                      <a:r>
                        <a:rPr b="1" sz="1300" i="0">
                          <a:solidFill>
                            <a:srgbClr val="FFFFFF"/>
                          </a:solidFill>
                          <a:latin typeface="Calibri"/>
                        </a:rPr>
                        <a:t>Formula</a:t>
                      </a:r>
                    </a:p>
                  </a:txBody>
                  <a:tcPr marL="64008" marR="64008" marT="27432" marB="27432" anchor="ctr">
                    <a:solidFill>
                      <a:srgbClr val="141B4D"/>
                    </a:solidFill>
                  </a:tcPr>
                </a:tc>
                <a:tc>
                  <a:txBody>
                    <a:bodyPr wrap="square"/>
                    <a:lstStyle/>
                    <a:p>
                      <a:r>
                        <a:rPr b="1" sz="1300" i="0">
                          <a:solidFill>
                            <a:srgbClr val="FFFFFF"/>
                          </a:solidFill>
                          <a:latin typeface="Calibri"/>
                        </a:rPr>
                        <a:t>In the solved case ($000s)</a:t>
                      </a:r>
                    </a:p>
                  </a:txBody>
                  <a:tcPr marL="64008" marR="64008" marT="27432" marB="27432" anchor="ctr">
                    <a:solidFill>
                      <a:srgbClr val="141B4D"/>
                    </a:solidFill>
                  </a:tcPr>
                </a:tc>
              </a:tr>
              <a:tr h="522478">
                <a:tc>
                  <a:txBody>
                    <a:bodyPr wrap="square"/>
                    <a:lstStyle/>
                    <a:p>
                      <a:r>
                        <a:rPr b="1" sz="1300" i="0">
                          <a:solidFill>
                            <a:srgbClr val="1A2233"/>
                          </a:solidFill>
                          <a:latin typeface="Calibri"/>
                        </a:rPr>
                        <a:t>Cash-flow (DSCR) test</a:t>
                      </a:r>
                    </a:p>
                  </a:txBody>
                  <a:tcPr marL="64008" marR="64008" marT="27432" marB="27432" anchor="ctr">
                    <a:solidFill>
                      <a:srgbClr val="FFFFFF"/>
                    </a:solidFill>
                  </a:tcPr>
                </a:tc>
                <a:tc>
                  <a:txBody>
                    <a:bodyPr wrap="square"/>
                    <a:lstStyle/>
                    <a:p>
                      <a:r>
                        <a:rPr b="0" sz="1300" i="0">
                          <a:solidFill>
                            <a:srgbClr val="1A2233"/>
                          </a:solidFill>
                          <a:latin typeface="Consolas"/>
                        </a:rPr>
                        <a:t>Sculpt!F26 = SUMPRODUCT(J23:CO23, J25:CO25): the capacity at COD</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522478">
                <a:tc>
                  <a:txBody>
                    <a:bodyPr wrap="square"/>
                    <a:lstStyle/>
                    <a:p>
                      <a:r>
                        <a:rPr b="1" sz="1300" i="0">
                          <a:solidFill>
                            <a:srgbClr val="1A2233"/>
                          </a:solidFill>
                          <a:latin typeface="Calibri"/>
                        </a:rPr>
                        <a:t>Gearing test</a:t>
                      </a:r>
                    </a:p>
                  </a:txBody>
                  <a:tcPr marL="64008" marR="64008" marT="27432" marB="27432" anchor="ctr">
                    <a:solidFill>
                      <a:srgbClr val="F3F6F9"/>
                    </a:solidFill>
                  </a:tcPr>
                </a:tc>
                <a:tc>
                  <a:txBody>
                    <a:bodyPr wrap="square"/>
                    <a:lstStyle/>
                    <a:p>
                      <a:r>
                        <a:rPr b="0" sz="1300" i="0">
                          <a:solidFill>
                            <a:srgbClr val="1A2233"/>
                          </a:solidFill>
                          <a:latin typeface="Consolas"/>
                        </a:rPr>
                        <a:t>Sculpt!F28 = max gearing × project cost = 75% × Constr!F52</a:t>
                      </a:r>
                    </a:p>
                  </a:txBody>
                  <a:tcPr marL="64008" marR="64008" marT="27432" marB="27432" anchor="ctr">
                    <a:solidFill>
                      <a:srgbClr val="F3F6F9"/>
                    </a:solidFill>
                  </a:tcPr>
                </a:tc>
                <a:tc>
                  <a:txBody>
                    <a:bodyPr wrap="square"/>
                    <a:lstStyle/>
                    <a:p>
                      <a:r>
                        <a:rPr b="0" sz="1300" i="0">
                          <a:solidFill>
                            <a:srgbClr val="1A2233"/>
                          </a:solidFill>
                          <a:latin typeface="Calibri"/>
                        </a:rPr>
                        <a:t>75,800.8</a:t>
                      </a:r>
                    </a:p>
                  </a:txBody>
                  <a:tcPr marL="64008" marR="64008" marT="27432" marB="27432" anchor="ctr">
                    <a:solidFill>
                      <a:srgbClr val="F3F6F9"/>
                    </a:solidFill>
                  </a:tcPr>
                </a:tc>
              </a:tr>
              <a:tr h="384048">
                <a:tc>
                  <a:txBody>
                    <a:bodyPr wrap="square"/>
                    <a:lstStyle/>
                    <a:p>
                      <a:r>
                        <a:rPr b="1" sz="1300" i="0">
                          <a:solidFill>
                            <a:srgbClr val="1A2233"/>
                          </a:solidFill>
                          <a:latin typeface="Calibri"/>
                        </a:rPr>
                        <a:t>Senior debt size</a:t>
                      </a:r>
                    </a:p>
                  </a:txBody>
                  <a:tcPr marL="64008" marR="64008" marT="27432" marB="27432" anchor="ctr">
                    <a:solidFill>
                      <a:srgbClr val="FFFFFF"/>
                    </a:solidFill>
                  </a:tcPr>
                </a:tc>
                <a:tc>
                  <a:txBody>
                    <a:bodyPr wrap="square"/>
                    <a:lstStyle/>
                    <a:p>
                      <a:r>
                        <a:rPr b="0" sz="1300" i="0">
                          <a:solidFill>
                            <a:srgbClr val="1A2233"/>
                          </a:solidFill>
                          <a:latin typeface="Consolas"/>
                        </a:rPr>
                        <a:t>Sculpt!F29 = MIN(F26, F28)</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84048">
                <a:tc>
                  <a:txBody>
                    <a:bodyPr wrap="square"/>
                    <a:lstStyle/>
                    <a:p>
                      <a:r>
                        <a:rPr b="1" sz="1300" i="0">
                          <a:solidFill>
                            <a:srgbClr val="1A2233"/>
                          </a:solidFill>
                          <a:latin typeface="Calibri"/>
                        </a:rPr>
                        <a:t>Binding constraint</a:t>
                      </a:r>
                    </a:p>
                  </a:txBody>
                  <a:tcPr marL="64008" marR="64008" marT="27432" marB="27432" anchor="ctr">
                    <a:solidFill>
                      <a:srgbClr val="F3F6F9"/>
                    </a:solidFill>
                  </a:tcPr>
                </a:tc>
                <a:tc>
                  <a:txBody>
                    <a:bodyPr wrap="square"/>
                    <a:lstStyle/>
                    <a:p>
                      <a:r>
                        <a:rPr b="0" sz="1300" i="0">
                          <a:solidFill>
                            <a:srgbClr val="1A2233"/>
                          </a:solidFill>
                          <a:latin typeface="Consolas"/>
                        </a:rPr>
                        <a:t>Sculpt!F30 = IF(F26&lt;=F28,"DSCR","Gearing")</a:t>
                      </a:r>
                    </a:p>
                  </a:txBody>
                  <a:tcPr marL="64008" marR="64008" marT="27432" marB="27432" anchor="ctr">
                    <a:solidFill>
                      <a:srgbClr val="F3F6F9"/>
                    </a:solidFill>
                  </a:tcPr>
                </a:tc>
                <a:tc>
                  <a:txBody>
                    <a:bodyPr wrap="square"/>
                    <a:lstStyle/>
                    <a:p>
                      <a:r>
                        <a:rPr b="0" sz="1300" i="0">
                          <a:solidFill>
                            <a:srgbClr val="1A2233"/>
                          </a:solidFill>
                          <a:latin typeface="Calibri"/>
                        </a:rPr>
                        <a:t>DSCR</a:t>
                      </a:r>
                    </a:p>
                  </a:txBody>
                  <a:tcPr marL="64008" marR="64008" marT="27432" marB="27432" anchor="ctr">
                    <a:solidFill>
                      <a:srgbClr val="F3F6F9"/>
                    </a:solidFill>
                  </a:tcPr>
                </a:tc>
              </a:tr>
            </a:tbl>
          </a:graphicData>
        </a:graphic>
      </p:graphicFrame>
      <p:sp>
        <p:nvSpPr>
          <p:cNvPr id="12" name="Rectangle 11"/>
          <p:cNvSpPr/>
          <p:nvPr/>
        </p:nvSpPr>
        <p:spPr>
          <a:xfrm>
            <a:off x="548640" y="4023360"/>
            <a:ext cx="1106424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02336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023360"/>
            <a:ext cx="10835640" cy="822960"/>
          </a:xfrm>
          <a:prstGeom prst="rect">
            <a:avLst/>
          </a:prstGeom>
          <a:noFill/>
        </p:spPr>
        <p:txBody>
          <a:bodyPr wrap="square" lIns="45720" rIns="45720" tIns="27432" bIns="27432" anchor="ctr">
            <a:spAutoFit/>
          </a:bodyPr>
          <a:lstStyle/>
          <a:p>
            <a:pPr algn="l"/>
            <a:r>
              <a:rPr b="0" sz="1400" i="0">
                <a:solidFill>
                  <a:srgbClr val="1A2233"/>
                </a:solidFill>
                <a:latin typeface="Calibri"/>
              </a:rPr>
              <a:t>If you lower the target DSCR to 2.0x, capacity rises to about 81,500 and the gearing cap (about 76,000 after the extra fees) binds: the constraint flips and debt stops growing.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1: loan timeline (rows 9 to 12)</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64592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Senior debt tenor</a:t>
                      </a:r>
                    </a:p>
                  </a:txBody>
                  <a:tcPr marL="64008" marR="64008" marT="27432" marB="27432" anchor="ctr">
                    <a:solidFill>
                      <a:srgbClr val="FFFFFF"/>
                    </a:solidFill>
                  </a:tcPr>
                </a:tc>
                <a:tc>
                  <a:txBody>
                    <a:bodyPr wrap="square"/>
                    <a:lstStyle/>
                    <a:p>
                      <a:r>
                        <a:rPr b="0" sz="1200" i="0">
                          <a:solidFill>
                            <a:srgbClr val="1A2233"/>
                          </a:solidFill>
                          <a:latin typeface="Consolas"/>
                        </a:rPr>
                        <a:t>F: =InpC!F$139</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Forecast period flag</a:t>
                      </a:r>
                    </a:p>
                  </a:txBody>
                  <a:tcPr marL="64008" marR="64008" marT="27432" marB="27432" anchor="ctr">
                    <a:solidFill>
                      <a:srgbClr val="F3F6F9"/>
                    </a:solidFill>
                  </a:tcPr>
                </a:tc>
                <a:tc>
                  <a:txBody>
                    <a:bodyPr wrap="square"/>
                    <a:lstStyle/>
                    <a:p>
                      <a:r>
                        <a:rPr b="0" sz="1200" i="0">
                          <a:solidFill>
                            <a:srgbClr val="1A2233"/>
                          </a:solidFill>
                          <a:latin typeface="Consolas"/>
                        </a:rPr>
                        <a:t>J: =Time!J$69</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Operating period counter</a:t>
                      </a:r>
                    </a:p>
                  </a:txBody>
                  <a:tcPr marL="64008" marR="64008" marT="27432" marB="27432" anchor="ctr">
                    <a:solidFill>
                      <a:srgbClr val="FFFFFF"/>
                    </a:solidFill>
                  </a:tcPr>
                </a:tc>
                <a:tc>
                  <a:txBody>
                    <a:bodyPr wrap="square"/>
                    <a:lstStyle/>
                    <a:p>
                      <a:r>
                        <a:rPr b="0" sz="1200" i="0">
                          <a:solidFill>
                            <a:srgbClr val="1A2233"/>
                          </a:solidFill>
                          <a:latin typeface="Consolas"/>
                        </a:rPr>
                        <a:t>J: =I11+J10</a:t>
                      </a:r>
                    </a:p>
                  </a:txBody>
                  <a:tcPr marL="64008" marR="64008" marT="27432" marB="27432" anchor="ctr">
                    <a:solidFill>
                      <a:srgbClr val="FFFFFF"/>
                    </a:solidFill>
                  </a:tcPr>
                </a:tc>
              </a:tr>
              <a:tr h="329184">
                <a:tc>
                  <a:txBody>
                    <a:bodyPr wrap="square"/>
                    <a:lstStyle/>
                    <a:p>
                      <a:r>
                        <a:rPr b="1" sz="1200" i="0">
                          <a:solidFill>
                            <a:srgbClr val="1A2233"/>
                          </a:solidFill>
                          <a:latin typeface="Calibri"/>
                        </a:rPr>
                        <a:t>12</a:t>
                      </a:r>
                    </a:p>
                  </a:txBody>
                  <a:tcPr marL="64008" marR="64008" marT="27432" marB="27432" anchor="ctr">
                    <a:solidFill>
                      <a:srgbClr val="F3F6F9"/>
                    </a:solidFill>
                  </a:tcPr>
                </a:tc>
                <a:tc>
                  <a:txBody>
                    <a:bodyPr wrap="square"/>
                    <a:lstStyle/>
                    <a:p>
                      <a:r>
                        <a:rPr b="0" sz="1200" i="0">
                          <a:solidFill>
                            <a:srgbClr val="1A2233"/>
                          </a:solidFill>
                          <a:latin typeface="Calibri"/>
                        </a:rPr>
                        <a:t>Repayment period flag</a:t>
                      </a:r>
                    </a:p>
                  </a:txBody>
                  <a:tcPr marL="64008" marR="64008" marT="27432" marB="27432" anchor="ctr">
                    <a:solidFill>
                      <a:srgbClr val="F3F6F9"/>
                    </a:solidFill>
                  </a:tcPr>
                </a:tc>
                <a:tc>
                  <a:txBody>
                    <a:bodyPr wrap="square"/>
                    <a:lstStyle/>
                    <a:p>
                      <a:r>
                        <a:rPr b="0" sz="1200" i="0">
                          <a:solidFill>
                            <a:srgbClr val="1A2233"/>
                          </a:solidFill>
                          <a:latin typeface="Consolas"/>
                        </a:rPr>
                        <a:t>J: =IF(AND(J11&gt;=1,J11&lt;=$F$9),1,0)</a:t>
                      </a:r>
                    </a:p>
                  </a:txBody>
                  <a:tcPr marL="64008" marR="64008" marT="27432" marB="27432" anchor="ctr">
                    <a:solidFill>
                      <a:srgbClr val="F3F6F9"/>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Sculpt!J11: operating period counter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J11  (to CO11)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Operating period counter  (counter)</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=I11+J10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Running count of forecast periods: last column's count + this column's forecast flag</a:t>
            </a:r>
          </a:p>
          <a:p>
            <a:pPr algn="l"/>
            <a:r>
              <a:rPr b="0" sz="1500" i="0">
                <a:solidFill>
                  <a:srgbClr val="1A2233"/>
                </a:solidFill>
                <a:latin typeface="Calibri"/>
              </a:rPr>
              <a:t>▪ COD column = 0, first operating quarter = 1, last = 80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J10 = Time!J$69 (forecast flag)</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J11:CO11,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J11 → CO11</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Counter 1 in March 2022 … 80 in December 2041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Counting periods lets us say 'the first 40 operating quarters'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Sculpt!J12: repayment period flag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J12  (to CO12)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Repayment period flag  (flag)</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=IF(AND(J11&gt;=1,J11&lt;=$F$9),1,0)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1 if the counter is at least 1 and no more than the tenor F9 (40 quarters)</a:t>
            </a:r>
          </a:p>
          <a:p>
            <a:pPr algn="l"/>
            <a:r>
              <a:rPr b="0" sz="1500" i="0">
                <a:solidFill>
                  <a:srgbClr val="1A2233"/>
                </a:solidFill>
                <a:latin typeface="Calibri"/>
              </a:rPr>
              <a:t>▪ Debt is repaid in operating quarters 1 to 40: March 2022 to December 2031</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InpC!F$139 (40)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J12:CO12,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J12:CO12,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J12 → CO12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H12 = 40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flag multiplies cash flow so only loan-life cash flow counts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2: debt capacity recursion (rows 15 to 23)</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53383"/>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Target DSCR for sculpting</a:t>
                      </a:r>
                    </a:p>
                  </a:txBody>
                  <a:tcPr marL="64008" marR="64008" marT="27432" marB="27432" anchor="ctr">
                    <a:solidFill>
                      <a:srgbClr val="FFFFFF"/>
                    </a:solidFill>
                  </a:tcPr>
                </a:tc>
                <a:tc>
                  <a:txBody>
                    <a:bodyPr wrap="square"/>
                    <a:lstStyle/>
                    <a:p>
                      <a:r>
                        <a:rPr b="0" sz="1200" i="0">
                          <a:solidFill>
                            <a:srgbClr val="1A2233"/>
                          </a:solidFill>
                          <a:latin typeface="Consolas"/>
                        </a:rPr>
                        <a:t>F: =InpC!F$140</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All in annual senior debt interest rate </a:t>
                      </a:r>
                    </a:p>
                  </a:txBody>
                  <a:tcPr marL="64008" marR="64008" marT="27432" marB="27432" anchor="ctr">
                    <a:solidFill>
                      <a:srgbClr val="F3F6F9"/>
                    </a:solidFill>
                  </a:tcPr>
                </a:tc>
                <a:tc>
                  <a:txBody>
                    <a:bodyPr wrap="square"/>
                    <a:lstStyle/>
                    <a:p>
                      <a:r>
                        <a:rPr b="0" sz="1200" i="0">
                          <a:solidFill>
                            <a:srgbClr val="1A2233"/>
                          </a:solidFill>
                          <a:latin typeface="Consolas"/>
                        </a:rPr>
                        <a:t>F: =InpC!F$77</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Day count convention </a:t>
                      </a:r>
                    </a:p>
                  </a:txBody>
                  <a:tcPr marL="64008" marR="64008" marT="27432" marB="27432" anchor="ctr">
                    <a:solidFill>
                      <a:srgbClr val="FFFFFF"/>
                    </a:solidFill>
                  </a:tcPr>
                </a:tc>
                <a:tc>
                  <a:txBody>
                    <a:bodyPr wrap="square"/>
                    <a:lstStyle/>
                    <a:p>
                      <a:r>
                        <a:rPr b="0" sz="1200" i="0">
                          <a:solidFill>
                            <a:srgbClr val="1A2233"/>
                          </a:solidFill>
                          <a:latin typeface="Consolas"/>
                        </a:rPr>
                        <a:t>F: =InpC!F$79</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Days in period</a:t>
                      </a:r>
                    </a:p>
                  </a:txBody>
                  <a:tcPr marL="64008" marR="64008" marT="27432" marB="27432" anchor="ctr">
                    <a:solidFill>
                      <a:srgbClr val="F3F6F9"/>
                    </a:solidFill>
                  </a:tcPr>
                </a:tc>
                <a:tc>
                  <a:txBody>
                    <a:bodyPr wrap="square"/>
                    <a:lstStyle/>
                    <a:p>
                      <a:r>
                        <a:rPr b="0" sz="1200" i="0">
                          <a:solidFill>
                            <a:srgbClr val="1A2233"/>
                          </a:solidFill>
                          <a:latin typeface="Consolas"/>
                        </a:rPr>
                        <a:t>J: =Time!J$30</a:t>
                      </a:r>
                    </a:p>
                  </a:txBody>
                  <a:tcPr marL="64008" marR="64008" marT="27432" marB="27432" anchor="ctr">
                    <a:solidFill>
                      <a:srgbClr val="F3F6F9"/>
                    </a:solidFill>
                  </a:tcPr>
                </a:tc>
              </a:tr>
              <a:tr h="329184">
                <a:tc>
                  <a:txBody>
                    <a:bodyPr wrap="square"/>
                    <a:lstStyle/>
                    <a:p>
                      <a:r>
                        <a:rPr b="1" sz="1200" i="0">
                          <a:solidFill>
                            <a:srgbClr val="1A2233"/>
                          </a:solidFill>
                          <a:latin typeface="Calibri"/>
                        </a:rPr>
                        <a:t>19</a:t>
                      </a:r>
                    </a:p>
                  </a:txBody>
                  <a:tcPr marL="64008" marR="64008" marT="27432" marB="27432" anchor="ctr">
                    <a:solidFill>
                      <a:srgbClr val="FFFFFF"/>
                    </a:solidFill>
                  </a:tcPr>
                </a:tc>
                <a:tc>
                  <a:txBody>
                    <a:bodyPr wrap="square"/>
                    <a:lstStyle/>
                    <a:p>
                      <a:r>
                        <a:rPr b="0" sz="1200" i="0">
                          <a:solidFill>
                            <a:srgbClr val="1A2233"/>
                          </a:solidFill>
                          <a:latin typeface="Calibri"/>
                        </a:rPr>
                        <a:t>Periodic interest rate</a:t>
                      </a:r>
                    </a:p>
                  </a:txBody>
                  <a:tcPr marL="64008" marR="64008" marT="27432" marB="27432" anchor="ctr">
                    <a:solidFill>
                      <a:srgbClr val="FFFFFF"/>
                    </a:solidFill>
                  </a:tcPr>
                </a:tc>
                <a:tc>
                  <a:txBody>
                    <a:bodyPr wrap="square"/>
                    <a:lstStyle/>
                    <a:p>
                      <a:r>
                        <a:rPr b="0" sz="1200" i="0">
                          <a:solidFill>
                            <a:srgbClr val="1A2233"/>
                          </a:solidFill>
                          <a:latin typeface="Consolas"/>
                        </a:rPr>
                        <a:t>J: =$F$16/$F$17*J18</a:t>
                      </a:r>
                    </a:p>
                  </a:txBody>
                  <a:tcPr marL="64008" marR="64008" marT="27432" marB="27432" anchor="ctr">
                    <a:solidFill>
                      <a:srgbClr val="FFFFFF"/>
                    </a:solidFill>
                  </a:tcPr>
                </a:tc>
              </a:tr>
              <a:tr h="490727">
                <a:tc>
                  <a:txBody>
                    <a:bodyPr wrap="square"/>
                    <a:lstStyle/>
                    <a:p>
                      <a:r>
                        <a:rPr b="1" sz="1200" i="0">
                          <a:solidFill>
                            <a:srgbClr val="1A2233"/>
                          </a:solidFill>
                          <a:latin typeface="Calibri"/>
                        </a:rPr>
                        <a:t>20</a:t>
                      </a:r>
                    </a:p>
                  </a:txBody>
                  <a:tcPr marL="64008" marR="64008" marT="27432" marB="27432" anchor="ctr">
                    <a:solidFill>
                      <a:srgbClr val="F3F6F9"/>
                    </a:solidFill>
                  </a:tcPr>
                </a:tc>
                <a:tc>
                  <a:txBody>
                    <a:bodyPr wrap="square"/>
                    <a:lstStyle/>
                    <a:p>
                      <a:r>
                        <a:rPr b="0" sz="1200" i="0">
                          <a:solidFill>
                            <a:srgbClr val="1A2233"/>
                          </a:solidFill>
                          <a:latin typeface="Calibri"/>
                        </a:rPr>
                        <a:t>CFADS for sizing (tax before interest deduction)</a:t>
                      </a:r>
                    </a:p>
                  </a:txBody>
                  <a:tcPr marL="64008" marR="64008" marT="27432" marB="27432" anchor="ctr">
                    <a:solidFill>
                      <a:srgbClr val="F3F6F9"/>
                    </a:solidFill>
                  </a:tcPr>
                </a:tc>
                <a:tc>
                  <a:txBody>
                    <a:bodyPr wrap="square"/>
                    <a:lstStyle/>
                    <a:p>
                      <a:r>
                        <a:rPr b="0" sz="1200" i="0">
                          <a:solidFill>
                            <a:srgbClr val="1A2233"/>
                          </a:solidFill>
                          <a:latin typeface="Consolas"/>
                        </a:rPr>
                        <a:t>J: =FinStat!J$36-Tax!J$53</a:t>
                      </a:r>
                    </a:p>
                  </a:txBody>
                  <a:tcPr marL="64008" marR="64008" marT="27432" marB="27432" anchor="ctr">
                    <a:solidFill>
                      <a:srgbClr val="F3F6F9"/>
                    </a:solidFill>
                  </a:tcPr>
                </a:tc>
              </a:tr>
              <a:tr h="329184">
                <a:tc>
                  <a:txBody>
                    <a:bodyPr wrap="square"/>
                    <a:lstStyle/>
                    <a:p>
                      <a:r>
                        <a:rPr b="1" sz="1200" i="0">
                          <a:solidFill>
                            <a:srgbClr val="1A2233"/>
                          </a:solidFill>
                          <a:latin typeface="Calibri"/>
                        </a:rPr>
                        <a:t>21</a:t>
                      </a:r>
                    </a:p>
                  </a:txBody>
                  <a:tcPr marL="64008" marR="64008" marT="27432" marB="27432" anchor="ctr">
                    <a:solidFill>
                      <a:srgbClr val="FFFFFF"/>
                    </a:solidFill>
                  </a:tcPr>
                </a:tc>
                <a:tc>
                  <a:txBody>
                    <a:bodyPr wrap="square"/>
                    <a:lstStyle/>
                    <a:p>
                      <a:r>
                        <a:rPr b="0" sz="1200" i="0">
                          <a:solidFill>
                            <a:srgbClr val="1A2233"/>
                          </a:solidFill>
                          <a:latin typeface="Calibri"/>
                        </a:rPr>
                        <a:t>CFADS available to lenders</a:t>
                      </a:r>
                    </a:p>
                  </a:txBody>
                  <a:tcPr marL="64008" marR="64008" marT="27432" marB="27432" anchor="ctr">
                    <a:solidFill>
                      <a:srgbClr val="FFFFFF"/>
                    </a:solidFill>
                  </a:tcPr>
                </a:tc>
                <a:tc>
                  <a:txBody>
                    <a:bodyPr wrap="square"/>
                    <a:lstStyle/>
                    <a:p>
                      <a:r>
                        <a:rPr b="0" sz="1200" i="0">
                          <a:solidFill>
                            <a:srgbClr val="1A2233"/>
                          </a:solidFill>
                          <a:latin typeface="Consolas"/>
                        </a:rPr>
                        <a:t>J: =J20*J12</a:t>
                      </a:r>
                    </a:p>
                  </a:txBody>
                  <a:tcPr marL="64008" marR="64008" marT="27432" marB="27432" anchor="ctr">
                    <a:solidFill>
                      <a:srgbClr val="FFFFFF"/>
                    </a:solidFill>
                  </a:tcPr>
                </a:tc>
              </a:tr>
              <a:tr h="329184">
                <a:tc>
                  <a:txBody>
                    <a:bodyPr wrap="square"/>
                    <a:lstStyle/>
                    <a:p>
                      <a:r>
                        <a:rPr b="1" sz="1200" i="0">
                          <a:solidFill>
                            <a:srgbClr val="1A2233"/>
                          </a:solidFill>
                          <a:latin typeface="Calibri"/>
                        </a:rPr>
                        <a:t>22</a:t>
                      </a:r>
                    </a:p>
                  </a:txBody>
                  <a:tcPr marL="64008" marR="64008" marT="27432" marB="27432" anchor="ctr">
                    <a:solidFill>
                      <a:srgbClr val="F3F6F9"/>
                    </a:solidFill>
                  </a:tcPr>
                </a:tc>
                <a:tc>
                  <a:txBody>
                    <a:bodyPr wrap="square"/>
                    <a:lstStyle/>
                    <a:p>
                      <a:r>
                        <a:rPr b="0" sz="1200" i="0">
                          <a:solidFill>
                            <a:srgbClr val="1A2233"/>
                          </a:solidFill>
                          <a:latin typeface="Calibri"/>
                        </a:rPr>
                        <a:t>Debt service at target DSCR</a:t>
                      </a:r>
                    </a:p>
                  </a:txBody>
                  <a:tcPr marL="64008" marR="64008" marT="27432" marB="27432" anchor="ctr">
                    <a:solidFill>
                      <a:srgbClr val="F3F6F9"/>
                    </a:solidFill>
                  </a:tcPr>
                </a:tc>
                <a:tc>
                  <a:txBody>
                    <a:bodyPr wrap="square"/>
                    <a:lstStyle/>
                    <a:p>
                      <a:r>
                        <a:rPr b="0" sz="1200" i="0">
                          <a:solidFill>
                            <a:srgbClr val="1A2233"/>
                          </a:solidFill>
                          <a:latin typeface="Consolas"/>
                        </a:rPr>
                        <a:t>J: =J21/$F$15</a:t>
                      </a:r>
                    </a:p>
                  </a:txBody>
                  <a:tcPr marL="64008" marR="64008" marT="27432" marB="27432" anchor="ctr">
                    <a:solidFill>
                      <a:srgbClr val="F3F6F9"/>
                    </a:solidFill>
                  </a:tcPr>
                </a:tc>
              </a:tr>
              <a:tr h="329184">
                <a:tc>
                  <a:txBody>
                    <a:bodyPr wrap="square"/>
                    <a:lstStyle/>
                    <a:p>
                      <a:r>
                        <a:rPr b="1" sz="1200" i="0">
                          <a:solidFill>
                            <a:srgbClr val="1A2233"/>
                          </a:solidFill>
                          <a:latin typeface="Calibri"/>
                        </a:rPr>
                        <a:t>23</a:t>
                      </a:r>
                    </a:p>
                  </a:txBody>
                  <a:tcPr marL="64008" marR="64008" marT="27432" marB="27432" anchor="ctr">
                    <a:solidFill>
                      <a:srgbClr val="FFFFFF"/>
                    </a:solidFill>
                  </a:tcPr>
                </a:tc>
                <a:tc>
                  <a:txBody>
                    <a:bodyPr wrap="square"/>
                    <a:lstStyle/>
                    <a:p>
                      <a:r>
                        <a:rPr b="0" sz="1200" i="0">
                          <a:solidFill>
                            <a:srgbClr val="1A2233"/>
                          </a:solidFill>
                          <a:latin typeface="Calibri"/>
                        </a:rPr>
                        <a:t>Debt capacity balance END</a:t>
                      </a:r>
                    </a:p>
                  </a:txBody>
                  <a:tcPr marL="64008" marR="64008" marT="27432" marB="27432" anchor="ctr">
                    <a:solidFill>
                      <a:srgbClr val="FFFFFF"/>
                    </a:solidFill>
                  </a:tcPr>
                </a:tc>
                <a:tc>
                  <a:txBody>
                    <a:bodyPr wrap="square"/>
                    <a:lstStyle/>
                    <a:p>
                      <a:r>
                        <a:rPr b="0" sz="1200" i="0">
                          <a:solidFill>
                            <a:srgbClr val="1A2233"/>
                          </a:solidFill>
                          <a:latin typeface="Consolas"/>
                        </a:rPr>
                        <a:t>J: =(K23+K22)/(1+K19)</a:t>
                      </a:r>
                    </a:p>
                  </a:txBody>
                  <a:tcPr marL="64008" marR="64008" marT="27432" marB="27432"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Sculpt!J20: CFADS for sizing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J20  (to CO20)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CFADS for sizing (tax before interest deduction)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=FinStat!J$36-Tax!J$53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100" i="0">
                <a:solidFill>
                  <a:srgbClr val="1A2233"/>
                </a:solidFill>
                <a:latin typeface="Calibri"/>
              </a:rPr>
              <a:t>▪ Pre-tax pre-financing cash flow (FinStat) minus tax computed BEFORE the interest deduction (Tax row 53)</a:t>
            </a:r>
          </a:p>
          <a:p>
            <a:pPr algn="l"/>
            <a:r>
              <a:rPr b="0" sz="1100" i="0">
                <a:solidFill>
                  <a:srgbClr val="1A2233"/>
                </a:solidFill>
                <a:latin typeface="Calibri"/>
              </a:rPr>
              <a:t>▪ Why: using actual tax would make the loan size depend on interest, which depends on the loan size: circular</a:t>
            </a:r>
          </a:p>
          <a:p>
            <a:pPr algn="l"/>
            <a:r>
              <a:rPr b="0" sz="1100" i="0">
                <a:solidFill>
                  <a:srgbClr val="1A2233"/>
                </a:solidFill>
                <a:latin typeface="Calibri"/>
              </a:rPr>
              <a:t>▪ Result is slightly conservative: actual CFADS is higher because interest reduces tax</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FinStat!J36 = pre-tax pre-financing cash flow</a:t>
            </a:r>
          </a:p>
          <a:p>
            <a:pPr algn="l"/>
            <a:r>
              <a:rPr b="0" sz="1300" i="0">
                <a:solidFill>
                  <a:srgbClr val="1A2233"/>
                </a:solidFill>
                <a:latin typeface="Consolas"/>
              </a:rPr>
              <a:t>Tax!J53 = tax paid before interest deduction</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J20:CO20,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J20:CO20,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J20 → CO20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H20 = 577,157  (20-year total, solved case)</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Lenders accept this convention: sizing on a conservative base removes circularity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Sculpt!J22: debt service at target DSCR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J22  (to CO22)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service at target DSCR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=J21/$F$15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Allowed debt service each quarter = CFADS in loan life ÷ target DSCR (F15)</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F15 = InpC!F$140 (2.25x)</a:t>
            </a:r>
          </a:p>
          <a:p>
            <a:pPr algn="l"/>
            <a:r>
              <a:rPr b="0" sz="1300" i="0">
                <a:solidFill>
                  <a:srgbClr val="1A2233"/>
                </a:solidFill>
                <a:latin typeface="Consolas"/>
              </a:rPr>
              <a:t>J21 = J20 × J12</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J22:CO22,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J22:CO22,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J22 → CO22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Quarterly debt service about 2.2 to 3.5 thousand… (see H22 total)</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cap on debt service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Sculpt!J23: debt capacity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J23  (to CO23)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capacity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=(K23+K22)/(1+K19)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Debt that could be carried at the end of this period: (next period's balance + next period's allowed debt service) ÷ (1 + next period's rate)</a:t>
            </a:r>
          </a:p>
          <a:p>
            <a:pPr algn="l"/>
            <a:r>
              <a:rPr b="0" sz="1500" i="0">
                <a:solidFill>
                  <a:srgbClr val="1A2233"/>
                </a:solidFill>
                <a:latin typeface="Calibri"/>
              </a:rPr>
              <a:t>▪ Same backward recursion as LLCR</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K22 = next period's debt service</a:t>
            </a:r>
          </a:p>
          <a:p>
            <a:pPr algn="l"/>
            <a:r>
              <a:rPr b="0" sz="1300" i="0">
                <a:solidFill>
                  <a:srgbClr val="1A2233"/>
                </a:solidFill>
                <a:latin typeface="Consolas"/>
              </a:rPr>
              <a:t>K19 = next period's periodic rate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J23 → CO23</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COD column (K23) = 72,154.2</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COD column gives the capacity of the loan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Sculpt!F26: debt capacity at COD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F26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Debt capacity at COD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=SUMPRODUCT(J23:CO23,J25:CO25)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Pick the COD value out of the row: multiply each capacity by its flag (1 only at COD) and add</a:t>
            </a:r>
          </a:p>
          <a:p>
            <a:pPr algn="l"/>
            <a:r>
              <a:rPr b="0" sz="1500" i="0">
                <a:solidFill>
                  <a:srgbClr val="1A2233"/>
                </a:solidFill>
                <a:latin typeface="Calibri"/>
              </a:rPr>
              <a:t>▪ </a:t>
            </a:r>
            <a:r>
              <a:rPr b="0" sz="1500" i="0">
                <a:solidFill>
                  <a:srgbClr val="0B5E82"/>
                </a:solidFill>
                <a:latin typeface="Consolas"/>
              </a:rPr>
              <a:t>SUMPRODUCT(J23:CO23, J25:CO25)</a:t>
            </a:r>
            <a:r>
              <a:rPr b="0" sz="1500" i="0">
                <a:solidFill>
                  <a:srgbClr val="1A2233"/>
                </a:solidFill>
                <a:latin typeface="Calibri"/>
              </a:rPr>
              <a:t>; row 25 = Time!J$45 (acquisition flag)</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F26 = 72,154.2</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One cell holding the capacity: no lookup needed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29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Sculpt!F29: senior debt size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F29</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size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=MIN(F26,F28)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Senior debt size = the lower of capacity (F26) and the gearing limit (F28)</a:t>
            </a:r>
          </a:p>
          <a:p>
            <a:pPr algn="l"/>
            <a:r>
              <a:rPr b="0" sz="1500" i="0">
                <a:solidFill>
                  <a:srgbClr val="1A2233"/>
                </a:solidFill>
                <a:latin typeface="Calibri"/>
              </a:rPr>
              <a:t>▪ F28 = F27 × Constr!F52 (75% of project cost)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F29,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F29,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F29 = 72,154.2;  F30 = DSCR</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Two lender constraints; the tighter one rules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Sculpt!F31: sculpted DSCR at debt size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F31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DSCR at debt size  (x)</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=F15*F26/F29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Actual sculpted DSCR = target × capacity ÷ debt size</a:t>
            </a:r>
          </a:p>
          <a:p>
            <a:pPr algn="l"/>
            <a:r>
              <a:rPr b="0" sz="1500" i="0">
                <a:solidFill>
                  <a:srgbClr val="1A2233"/>
                </a:solidFill>
                <a:latin typeface="Calibri"/>
              </a:rPr>
              <a:t>▪ If the debt size equals capacity, DSCR = target. If the gearing cap binds, the DSCR is higher than target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F31,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F31,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F31 = 2.25x in the solved case</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Cover actually delivered by the sized loan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GOAL SEEK</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Goal Seek: make debt drawn equal debt sized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The debt drawn in construction is gearing × uses (Constr!F53). The debt sized is Sculpt!F29. They must match.</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Sculpt!F32 = Constr!F53 − F29 is the gap. Select F32.</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Open Goal Seek: </a:t>
            </a:r>
            <a:r>
              <a:rPr b="0" sz="1600" i="0">
                <a:solidFill>
                  <a:srgbClr val="0B5E82"/>
                </a:solidFill>
                <a:latin typeface="Consolas"/>
              </a:rPr>
              <a:t>Alt+A, W, G</a:t>
            </a:r>
            <a:r>
              <a:rPr b="0" sz="1600" i="0">
                <a:solidFill>
                  <a:srgbClr val="1A2233"/>
                </a:solidFill>
                <a:latin typeface="Calibri"/>
              </a:rPr>
              <a:t> (Windows) or Data ▸ What-If Analysis ▸ Goal Seek (Mac).</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Set cell: </a:t>
            </a:r>
            <a:r>
              <a:rPr b="0" sz="1600" i="0">
                <a:solidFill>
                  <a:srgbClr val="0B5E82"/>
                </a:solidFill>
                <a:latin typeface="Consolas"/>
              </a:rPr>
              <a:t>F32</a:t>
            </a:r>
            <a:r>
              <a:rPr b="0" sz="1600" i="0">
                <a:solidFill>
                  <a:srgbClr val="1A2233"/>
                </a:solidFill>
                <a:latin typeface="Calibri"/>
              </a:rPr>
              <a:t>.  To value: </a:t>
            </a:r>
            <a:r>
              <a:rPr b="0" sz="1600" i="0">
                <a:solidFill>
                  <a:srgbClr val="0B5E82"/>
                </a:solidFill>
                <a:latin typeface="Consolas"/>
              </a:rPr>
              <a:t>0</a:t>
            </a:r>
            <a:r>
              <a:rPr b="0" sz="1600" i="0">
                <a:solidFill>
                  <a:srgbClr val="1A2233"/>
                </a:solidFill>
                <a:latin typeface="Calibri"/>
              </a:rPr>
              <a:t>.  By changing cell: </a:t>
            </a:r>
            <a:r>
              <a:rPr b="0" sz="1600" i="0">
                <a:solidFill>
                  <a:srgbClr val="0B5E82"/>
                </a:solidFill>
                <a:latin typeface="Consolas"/>
              </a:rPr>
              <a:t>InpC!L72</a:t>
            </a:r>
            <a:r>
              <a:rPr b="0" sz="1600" i="0">
                <a:solidFill>
                  <a:srgbClr val="1A2233"/>
                </a:solidFill>
                <a:latin typeface="Calibri"/>
              </a:rPr>
              <a:t> (the active scenario's gearing).</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Click OK. Excel adjusts gearing until the gap is zero.</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Read the result: gearing ≈ 71.39%. Keep it (OK) or type it as a hard-coded input and record the date.</a:t>
            </a:r>
          </a:p>
        </p:txBody>
      </p:sp>
      <p:sp>
        <p:nvSpPr>
          <p:cNvPr id="23" name="Rectangle 22"/>
          <p:cNvSpPr/>
          <p:nvPr/>
        </p:nvSpPr>
        <p:spPr>
          <a:xfrm>
            <a:off x="548640" y="5486400"/>
            <a:ext cx="1106424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Re-run Goal Seek whenever price, cost, DSCR or tenor inputs change. Goal Seek changes a constant, not a formula, so it never creates a circular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 block 3: sculpted repayment (rows 34 to 40)</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304288"/>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34</a:t>
                      </a:r>
                    </a:p>
                  </a:txBody>
                  <a:tcPr marL="64008" marR="64008" marT="27432" marB="27432" anchor="ctr">
                    <a:solidFill>
                      <a:srgbClr val="FFFFFF"/>
                    </a:solidFill>
                  </a:tcPr>
                </a:tc>
                <a:tc>
                  <a:txBody>
                    <a:bodyPr wrap="square"/>
                    <a:lstStyle/>
                    <a:p>
                      <a:r>
                        <a:rPr b="0" sz="1200" i="0">
                          <a:solidFill>
                            <a:srgbClr val="1A2233"/>
                          </a:solidFill>
                          <a:latin typeface="Calibri"/>
                        </a:rPr>
                        <a:t>Sculpted debt service</a:t>
                      </a:r>
                    </a:p>
                  </a:txBody>
                  <a:tcPr marL="64008" marR="64008" marT="27432" marB="27432" anchor="ctr">
                    <a:solidFill>
                      <a:srgbClr val="FFFFFF"/>
                    </a:solidFill>
                  </a:tcPr>
                </a:tc>
                <a:tc>
                  <a:txBody>
                    <a:bodyPr wrap="square"/>
                    <a:lstStyle/>
                    <a:p>
                      <a:r>
                        <a:rPr b="0" sz="1200" i="0">
                          <a:solidFill>
                            <a:srgbClr val="1A2233"/>
                          </a:solidFill>
                          <a:latin typeface="Consolas"/>
                        </a:rPr>
                        <a:t>J: =J21/$F$31</a:t>
                      </a:r>
                    </a:p>
                  </a:txBody>
                  <a:tcPr marL="64008" marR="64008" marT="27432" marB="27432" anchor="ctr">
                    <a:solidFill>
                      <a:srgbClr val="FFFFFF"/>
                    </a:solidFill>
                  </a:tcPr>
                </a:tc>
              </a:tr>
              <a:tr h="329184">
                <a:tc>
                  <a:txBody>
                    <a:bodyPr wrap="square"/>
                    <a:lstStyle/>
                    <a:p>
                      <a:r>
                        <a:rPr b="1" sz="1200" i="0">
                          <a:solidFill>
                            <a:srgbClr val="1A2233"/>
                          </a:solidFill>
                          <a:latin typeface="Calibri"/>
                        </a:rPr>
                        <a:t>35</a:t>
                      </a:r>
                    </a:p>
                  </a:txBody>
                  <a:tcPr marL="64008" marR="64008" marT="27432" marB="27432" anchor="ctr">
                    <a:solidFill>
                      <a:srgbClr val="F3F6F9"/>
                    </a:solidFill>
                  </a:tcPr>
                </a:tc>
                <a:tc>
                  <a:txBody>
                    <a:bodyPr wrap="square"/>
                    <a:lstStyle/>
                    <a:p>
                      <a:r>
                        <a:rPr b="0" sz="1200" i="0">
                          <a:solidFill>
                            <a:srgbClr val="1A2233"/>
                          </a:solidFill>
                          <a:latin typeface="Calibri"/>
                        </a:rPr>
                        <a:t>Senior debt balance BEG</a:t>
                      </a:r>
                    </a:p>
                  </a:txBody>
                  <a:tcPr marL="64008" marR="64008" marT="27432" marB="27432" anchor="ctr">
                    <a:solidFill>
                      <a:srgbClr val="F3F6F9"/>
                    </a:solidFill>
                  </a:tcPr>
                </a:tc>
                <a:tc>
                  <a:txBody>
                    <a:bodyPr wrap="square"/>
                    <a:lstStyle/>
                    <a:p>
                      <a:r>
                        <a:rPr b="0" sz="1200" i="0">
                          <a:solidFill>
                            <a:srgbClr val="1A2233"/>
                          </a:solidFill>
                          <a:latin typeface="Consolas"/>
                        </a:rPr>
                        <a:t>J: =I38</a:t>
                      </a:r>
                    </a:p>
                  </a:txBody>
                  <a:tcPr marL="64008" marR="64008" marT="27432" marB="27432" anchor="ctr">
                    <a:solidFill>
                      <a:srgbClr val="F3F6F9"/>
                    </a:solidFill>
                  </a:tcPr>
                </a:tc>
              </a:tr>
              <a:tr h="329184">
                <a:tc>
                  <a:txBody>
                    <a:bodyPr wrap="square"/>
                    <a:lstStyle/>
                    <a:p>
                      <a:r>
                        <a:rPr b="1" sz="1200" i="0">
                          <a:solidFill>
                            <a:srgbClr val="1A2233"/>
                          </a:solidFill>
                          <a:latin typeface="Calibri"/>
                        </a:rPr>
                        <a:t>36</a:t>
                      </a:r>
                    </a:p>
                  </a:txBody>
                  <a:tcPr marL="64008" marR="64008" marT="27432" marB="27432" anchor="ctr">
                    <a:solidFill>
                      <a:srgbClr val="FFFFFF"/>
                    </a:solidFill>
                  </a:tcPr>
                </a:tc>
                <a:tc>
                  <a:txBody>
                    <a:bodyPr wrap="square"/>
                    <a:lstStyle/>
                    <a:p>
                      <a:r>
                        <a:rPr b="0" sz="1200" i="0">
                          <a:solidFill>
                            <a:srgbClr val="1A2233"/>
                          </a:solidFill>
                          <a:latin typeface="Calibri"/>
                        </a:rPr>
                        <a:t>Interest</a:t>
                      </a:r>
                    </a:p>
                  </a:txBody>
                  <a:tcPr marL="64008" marR="64008" marT="27432" marB="27432" anchor="ctr">
                    <a:solidFill>
                      <a:srgbClr val="FFFFFF"/>
                    </a:solidFill>
                  </a:tcPr>
                </a:tc>
                <a:tc>
                  <a:txBody>
                    <a:bodyPr wrap="square"/>
                    <a:lstStyle/>
                    <a:p>
                      <a:r>
                        <a:rPr b="0" sz="1200" i="0">
                          <a:solidFill>
                            <a:srgbClr val="1A2233"/>
                          </a:solidFill>
                          <a:latin typeface="Consolas"/>
                        </a:rPr>
                        <a:t>J: =J35*J19</a:t>
                      </a:r>
                    </a:p>
                  </a:txBody>
                  <a:tcPr marL="64008" marR="64008" marT="27432" marB="27432" anchor="ctr">
                    <a:solidFill>
                      <a:srgbClr val="FFFFFF"/>
                    </a:solidFill>
                  </a:tcPr>
                </a:tc>
              </a:tr>
              <a:tr h="329184">
                <a:tc>
                  <a:txBody>
                    <a:bodyPr wrap="square"/>
                    <a:lstStyle/>
                    <a:p>
                      <a:r>
                        <a:rPr b="1" sz="1200" i="0">
                          <a:solidFill>
                            <a:srgbClr val="1A2233"/>
                          </a:solidFill>
                          <a:latin typeface="Calibri"/>
                        </a:rPr>
                        <a:t>37</a:t>
                      </a:r>
                    </a:p>
                  </a:txBody>
                  <a:tcPr marL="64008" marR="64008" marT="27432" marB="27432" anchor="ctr">
                    <a:solidFill>
                      <a:srgbClr val="F3F6F9"/>
                    </a:solidFill>
                  </a:tcPr>
                </a:tc>
                <a:tc>
                  <a:txBody>
                    <a:bodyPr wrap="square"/>
                    <a:lstStyle/>
                    <a:p>
                      <a:r>
                        <a:rPr b="0" sz="1200" i="0">
                          <a:solidFill>
                            <a:srgbClr val="1A2233"/>
                          </a:solidFill>
                          <a:latin typeface="Calibri"/>
                        </a:rPr>
                        <a:t>Principal</a:t>
                      </a:r>
                    </a:p>
                  </a:txBody>
                  <a:tcPr marL="64008" marR="64008" marT="27432" marB="27432" anchor="ctr">
                    <a:solidFill>
                      <a:srgbClr val="F3F6F9"/>
                    </a:solidFill>
                  </a:tcPr>
                </a:tc>
                <a:tc>
                  <a:txBody>
                    <a:bodyPr wrap="square"/>
                    <a:lstStyle/>
                    <a:p>
                      <a:r>
                        <a:rPr b="0" sz="1200" i="0">
                          <a:solidFill>
                            <a:srgbClr val="1A2233"/>
                          </a:solidFill>
                          <a:latin typeface="Consolas"/>
                        </a:rPr>
                        <a:t>J: =J34-J36</a:t>
                      </a:r>
                    </a:p>
                  </a:txBody>
                  <a:tcPr marL="64008" marR="64008" marT="27432" marB="27432" anchor="ctr">
                    <a:solidFill>
                      <a:srgbClr val="F3F6F9"/>
                    </a:solidFill>
                  </a:tcPr>
                </a:tc>
              </a:tr>
              <a:tr h="329184">
                <a:tc>
                  <a:txBody>
                    <a:bodyPr wrap="square"/>
                    <a:lstStyle/>
                    <a:p>
                      <a:r>
                        <a:rPr b="1" sz="1200" i="0">
                          <a:solidFill>
                            <a:srgbClr val="1A2233"/>
                          </a:solidFill>
                          <a:latin typeface="Calibri"/>
                        </a:rPr>
                        <a:t>38</a:t>
                      </a:r>
                    </a:p>
                  </a:txBody>
                  <a:tcPr marL="64008" marR="64008" marT="27432" marB="27432" anchor="ctr">
                    <a:solidFill>
                      <a:srgbClr val="FFFFFF"/>
                    </a:solidFill>
                  </a:tcPr>
                </a:tc>
                <a:tc>
                  <a:txBody>
                    <a:bodyPr wrap="square"/>
                    <a:lstStyle/>
                    <a:p>
                      <a:r>
                        <a:rPr b="0" sz="1200" i="0">
                          <a:solidFill>
                            <a:srgbClr val="1A2233"/>
                          </a:solidFill>
                          <a:latin typeface="Calibri"/>
                        </a:rPr>
                        <a:t>Senior debt balance END</a:t>
                      </a:r>
                    </a:p>
                  </a:txBody>
                  <a:tcPr marL="64008" marR="64008" marT="27432" marB="27432" anchor="ctr">
                    <a:solidFill>
                      <a:srgbClr val="FFFFFF"/>
                    </a:solidFill>
                  </a:tcPr>
                </a:tc>
                <a:tc>
                  <a:txBody>
                    <a:bodyPr wrap="square"/>
                    <a:lstStyle/>
                    <a:p>
                      <a:r>
                        <a:rPr b="0" sz="1200" i="0">
                          <a:solidFill>
                            <a:srgbClr val="1A2233"/>
                          </a:solidFill>
                          <a:latin typeface="Consolas"/>
                        </a:rPr>
                        <a:t>J: =IF(J25=1,$F$29,J35-J37)</a:t>
                      </a:r>
                    </a:p>
                  </a:txBody>
                  <a:tcPr marL="64008" marR="64008" marT="27432" marB="27432" anchor="ctr">
                    <a:solidFill>
                      <a:srgbClr val="FFFFFF"/>
                    </a:solidFill>
                  </a:tcPr>
                </a:tc>
              </a:tr>
              <a:tr h="329184">
                <a:tc>
                  <a:txBody>
                    <a:bodyPr wrap="square"/>
                    <a:lstStyle/>
                    <a:p>
                      <a:r>
                        <a:rPr b="1" sz="1200" i="0">
                          <a:solidFill>
                            <a:srgbClr val="1A2233"/>
                          </a:solidFill>
                          <a:latin typeface="Calibri"/>
                        </a:rPr>
                        <a:t>40</a:t>
                      </a:r>
                    </a:p>
                  </a:txBody>
                  <a:tcPr marL="64008" marR="64008" marT="27432" marB="27432" anchor="ctr">
                    <a:solidFill>
                      <a:srgbClr val="F3F6F9"/>
                    </a:solidFill>
                  </a:tcPr>
                </a:tc>
                <a:tc>
                  <a:txBody>
                    <a:bodyPr wrap="square"/>
                    <a:lstStyle/>
                    <a:p>
                      <a:r>
                        <a:rPr b="0" sz="1200" i="0">
                          <a:solidFill>
                            <a:srgbClr val="1A2233"/>
                          </a:solidFill>
                          <a:latin typeface="Calibri"/>
                        </a:rPr>
                        <a:t>Sculpted repayment profile (% of opening debt)</a:t>
                      </a:r>
                    </a:p>
                  </a:txBody>
                  <a:tcPr marL="64008" marR="64008" marT="27432" marB="27432" anchor="ctr">
                    <a:solidFill>
                      <a:srgbClr val="F3F6F9"/>
                    </a:solidFill>
                  </a:tcPr>
                </a:tc>
                <a:tc>
                  <a:txBody>
                    <a:bodyPr wrap="square"/>
                    <a:lstStyle/>
                    <a:p>
                      <a:r>
                        <a:rPr b="0" sz="1200" i="0">
                          <a:solidFill>
                            <a:srgbClr val="1A2233"/>
                          </a:solidFill>
                          <a:latin typeface="Consolas"/>
                        </a:rPr>
                        <a:t>J: =J37/$F$29</a:t>
                      </a:r>
                    </a:p>
                  </a:txBody>
                  <a:tcPr marL="64008" marR="64008" marT="27432" marB="27432" anchor="ctr">
                    <a:solidFill>
                      <a:srgbClr val="F3F6F9"/>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Sculpt!J34: sculpted debt service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J34  (to CO34)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debt service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=J21/$F$31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Sculpted debt service = CFADS in loan life ÷ the DSCR actually delivered (F31)</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J34:CO34,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J34:CO34,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J34 → CO34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H34 = 101,238 total debt service</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Constant cover in every repayment quarter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Sculpt!J36: interest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J36  (to CO36)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=J35*J19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Interest = opening balance (row 35) × periodic rate (row 19)</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J35 = I38 (last column's closing balance)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J36:CO36,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J36 → CO36</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H36 = 29,083 total interest</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Interest on the opening balance as in Constr and Debt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Sculpt!J37: principal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J37  (to CO37)</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Principal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=J34-J36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Principal = sculpted debt service − interest</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J37:CO37,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J37:CO37,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J37 → CO37</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H37 = 72,154.2 (equals debt)</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Principal is what is left of debt service after interest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Sculpt!J38: senior debt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J38  (to CO38)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Senior debt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=IF(J25=1,$F$29,J35-J37)</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At COD the balance is the debt size (F29); otherwise opening − principal</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J25 = acquisition flag</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J38:CO38,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J38 → CO38</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Closes at zero in December 2031 (quarter 40)</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 once more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Sculpt!J40: sculpted repayment profile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Sculpt</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J40  (to CO40)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Sculpted repayment profile (% of opening debt)  (%)</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=J37/$F$29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Principal ÷ debt size: a profile like the three typed on InpS, but calculated</a:t>
            </a:r>
          </a:p>
          <a:p>
            <a:pPr algn="l"/>
            <a:r>
              <a:rPr b="0" sz="1500" i="0">
                <a:solidFill>
                  <a:srgbClr val="1A2233"/>
                </a:solidFill>
                <a:latin typeface="Calibri"/>
              </a:rPr>
              <a:t>▪ Sums to 100%</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J40:CO40,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J40:CO40,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J40 → CO40</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H40 = 100%</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This row becomes repayment profile 4 on the Debt sheet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Plug the sculpted profile into the Debt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Debt</a:t>
            </a:r>
            <a:r>
              <a:rPr b="0" sz="1600" i="0">
                <a:solidFill>
                  <a:srgbClr val="1A2233"/>
                </a:solidFill>
                <a:latin typeface="Calibri"/>
              </a:rPr>
              <a:t>, insert a row below the third profile: select row 17, </a:t>
            </a:r>
            <a:r>
              <a:rPr b="0" sz="1600" i="0">
                <a:solidFill>
                  <a:srgbClr val="0B5E82"/>
                </a:solidFill>
                <a:latin typeface="Consolas"/>
              </a:rPr>
              <a:t>Ctrl+Shift++</a:t>
            </a:r>
            <a:r>
              <a:rPr b="0" sz="1600" i="0">
                <a:solidFill>
                  <a:srgbClr val="1A2233"/>
                </a:solidFill>
                <a:latin typeface="Calibri"/>
              </a:rPr>
              <a:t> (Win) / </a:t>
            </a:r>
            <a:r>
              <a:rPr b="0" sz="1600" i="0">
                <a:solidFill>
                  <a:srgbClr val="0B5E82"/>
                </a:solidFill>
                <a:latin typeface="Consolas"/>
              </a:rPr>
              <a:t>Cmd+Shift++</a:t>
            </a:r>
            <a:r>
              <a:rPr b="0" sz="1600" i="0">
                <a:solidFill>
                  <a:srgbClr val="1A2233"/>
                </a:solidFill>
                <a:latin typeface="Calibri"/>
              </a:rPr>
              <a:t> (Mac).</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 E17 type the label 'Senior debt profile 4 - sculpted'; in J17 </a:t>
            </a:r>
            <a:r>
              <a:rPr b="0" sz="1600" i="0">
                <a:solidFill>
                  <a:srgbClr val="0B5E82"/>
                </a:solidFill>
                <a:latin typeface="Consolas"/>
              </a:rPr>
              <a:t>=Sculpt!J$40</a:t>
            </a:r>
            <a:r>
              <a:rPr b="0" sz="1600" i="0">
                <a:solidFill>
                  <a:srgbClr val="1A2233"/>
                </a:solidFill>
                <a:latin typeface="Calibri"/>
              </a:rPr>
              <a:t>, fill to CO17 (</a:t>
            </a:r>
            <a:r>
              <a:rPr b="0" sz="1600" i="0">
                <a:solidFill>
                  <a:srgbClr val="0B5E82"/>
                </a:solidFill>
                <a:latin typeface="Consolas"/>
              </a:rPr>
              <a:t>Ctrl+Enter</a:t>
            </a:r>
            <a:r>
              <a:rPr b="0" sz="1600" i="0">
                <a:solidFill>
                  <a:srgbClr val="1A2233"/>
                </a:solidFill>
                <a:latin typeface="Calibri"/>
              </a:rPr>
              <a:t> after selecting J17:CO17).</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 the active-profile row (now 18) extend the INDEX: </a:t>
            </a:r>
            <a:r>
              <a:rPr b="0" sz="1600" i="0">
                <a:solidFill>
                  <a:srgbClr val="0B5E82"/>
                </a:solidFill>
                <a:latin typeface="Consolas"/>
              </a:rPr>
              <a:t>=INDEX(J14:J17,$F13)</a:t>
            </a:r>
            <a:r>
              <a:rPr b="0" sz="1600" i="0">
                <a:solidFill>
                  <a:srgbClr val="1A2233"/>
                </a:solidFill>
                <a:latin typeface="Calibri"/>
              </a:rPr>
              <a:t> and </a:t>
            </a:r>
            <a:r>
              <a:rPr b="0" sz="1600" i="0">
                <a:solidFill>
                  <a:srgbClr val="0B5E82"/>
                </a:solidFill>
                <a:latin typeface="Consolas"/>
              </a:rPr>
              <a:t>=INDEX(E14:E17,F13)&amp;" - active"</a:t>
            </a:r>
            <a:r>
              <a:rPr b="0" sz="1600" i="0">
                <a:solidFill>
                  <a:srgbClr val="1A2233"/>
                </a:solidFill>
                <a:latin typeface="Calibri"/>
              </a:rPr>
              <a:t>.</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On </a:t>
            </a:r>
            <a:r>
              <a:rPr b="1" sz="1600" i="0">
                <a:solidFill>
                  <a:srgbClr val="1A2233"/>
                </a:solidFill>
                <a:latin typeface="Calibri"/>
              </a:rPr>
              <a:t>InpC</a:t>
            </a:r>
            <a:r>
              <a:rPr b="0" sz="1600" i="0">
                <a:solidFill>
                  <a:srgbClr val="1A2233"/>
                </a:solidFill>
                <a:latin typeface="Calibri"/>
              </a:rPr>
              <a:t> set J74:L74 to </a:t>
            </a:r>
            <a:r>
              <a:rPr b="0" sz="1600" i="0">
                <a:solidFill>
                  <a:srgbClr val="0B5E82"/>
                </a:solidFill>
                <a:latin typeface="Consolas"/>
              </a:rPr>
              <a:t>4</a:t>
            </a:r>
            <a:r>
              <a:rPr b="0" sz="1600" i="0">
                <a:solidFill>
                  <a:srgbClr val="1A2233"/>
                </a:solidFill>
                <a:latin typeface="Calibri"/>
              </a:rPr>
              <a:t> (the profile switch).</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Debt!F11 already points at Constr (Day 6): principal = initial debt × profile 4 each quarter, interest on the balance, as before.</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Press </a:t>
            </a:r>
            <a:r>
              <a:rPr b="0" sz="1600" i="0">
                <a:solidFill>
                  <a:srgbClr val="0B5E82"/>
                </a:solidFill>
                <a:latin typeface="Consolas"/>
              </a:rPr>
              <a:t>F9</a:t>
            </a:r>
            <a:r>
              <a:rPr b="0" sz="1600" i="0">
                <a:solidFill>
                  <a:srgbClr val="1A2233"/>
                </a:solidFill>
                <a:latin typeface="Calibri"/>
              </a:rPr>
              <a:t>. Debt balance reaches zero in December 2031; DSCR is 2.25x or more in every repayment quarter.</a:t>
            </a:r>
          </a:p>
        </p:txBody>
      </p:sp>
      <p:sp>
        <p:nvSpPr>
          <p:cNvPr id="23" name="Rectangle 22"/>
          <p:cNvSpPr/>
          <p:nvPr/>
        </p:nvSpPr>
        <p:spPr>
          <a:xfrm>
            <a:off x="548640" y="5486400"/>
            <a:ext cx="11064240" cy="73152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73152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Debt sheet formulas did not change: only the profile selection. That is the benefit of the INDEX switch built on Day 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39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100" i="0">
                <a:solidFill>
                  <a:srgbClr val="141B4D"/>
                </a:solidFill>
                <a:latin typeface="Georgia"/>
              </a:rPr>
              <a:t>Principal repayments: straight-line profile versus sculpted (US$ thousands per quarter)</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Sculpted principal starts small and grows because early cash flow is lower and interest is highest; interest falls as the balance falls.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SCULPTING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Cash flow and debt service: a constant cover ratio</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Debt service moves in step with cash flow: the ratio is always 2.25x on the sizing basis.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7.3: Size, sculpt and plug in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Sculpt rows 9 to 40, run Goal Seek, add profile 4 to Debt and check.</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Timeline and flags (9 to 12)</a:t>
            </a:r>
          </a:p>
          <a:p>
            <a:pPr>
              <a:spcAft>
                <a:spcPts val="300"/>
              </a:spcAft>
            </a:pPr>
            <a:r>
              <a:rPr b="0" sz="1500" i="0">
                <a:solidFill>
                  <a:srgbClr val="1A2233"/>
                </a:solidFill>
                <a:latin typeface="Calibri"/>
              </a:rPr>
              <a:t>2.  Capacity recursion (15 to 26)</a:t>
            </a:r>
          </a:p>
          <a:p>
            <a:pPr>
              <a:spcAft>
                <a:spcPts val="300"/>
              </a:spcAft>
            </a:pPr>
            <a:r>
              <a:rPr b="0" sz="1500" i="0">
                <a:solidFill>
                  <a:srgbClr val="1A2233"/>
                </a:solidFill>
                <a:latin typeface="Calibri"/>
              </a:rPr>
              <a:t>3.  Sizing (27 to 32); Goal Seek F32 = 0 by changing InpC!L72</a:t>
            </a:r>
          </a:p>
          <a:p>
            <a:pPr>
              <a:spcAft>
                <a:spcPts val="300"/>
              </a:spcAft>
            </a:pPr>
            <a:r>
              <a:rPr b="0" sz="1500" i="0">
                <a:solidFill>
                  <a:srgbClr val="1A2233"/>
                </a:solidFill>
                <a:latin typeface="Calibri"/>
              </a:rPr>
              <a:t>4.  Sculpted repayment (34 to 40)</a:t>
            </a:r>
          </a:p>
          <a:p>
            <a:pPr>
              <a:spcAft>
                <a:spcPts val="300"/>
              </a:spcAft>
            </a:pPr>
            <a:r>
              <a:rPr b="0" sz="1500" i="0">
                <a:solidFill>
                  <a:srgbClr val="1A2233"/>
                </a:solidFill>
                <a:latin typeface="Calibri"/>
              </a:rPr>
              <a:t>5.  Debt profile 4 and switch = 4; check Debt balance END → 0 in Dec 2031</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60 min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Checkpoints: sizing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2743200"/>
                <a:gridCol w="5303520"/>
                <a:gridCol w="3017520"/>
              </a:tblGrid>
              <a:tr h="347472">
                <a:tc>
                  <a:txBody>
                    <a:bodyPr wrap="square"/>
                    <a:lstStyle/>
                    <a:p>
                      <a:r>
                        <a:rPr b="1" sz="1300" i="0">
                          <a:solidFill>
                            <a:srgbClr val="FFFFFF"/>
                          </a:solidFill>
                          <a:latin typeface="Calibri"/>
                        </a:rPr>
                        <a:t>Cell</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a:t>
                      </a:r>
                    </a:p>
                  </a:txBody>
                  <a:tcPr marL="64008" marR="64008" marT="27432" marB="27432" anchor="ctr">
                    <a:solidFill>
                      <a:srgbClr val="141B4D"/>
                    </a:solidFill>
                  </a:tcPr>
                </a:tc>
              </a:tr>
              <a:tr h="347472">
                <a:tc>
                  <a:txBody>
                    <a:bodyPr wrap="square"/>
                    <a:lstStyle/>
                    <a:p>
                      <a:r>
                        <a:rPr b="1" sz="1300" i="0">
                          <a:solidFill>
                            <a:srgbClr val="1A2233"/>
                          </a:solidFill>
                          <a:latin typeface="Calibri"/>
                        </a:rPr>
                        <a:t>Sculpt!F26</a:t>
                      </a:r>
                    </a:p>
                  </a:txBody>
                  <a:tcPr marL="64008" marR="64008" marT="27432" marB="27432" anchor="ctr">
                    <a:solidFill>
                      <a:srgbClr val="FFFFFF"/>
                    </a:solidFill>
                  </a:tcPr>
                </a:tc>
                <a:tc>
                  <a:txBody>
                    <a:bodyPr wrap="square"/>
                    <a:lstStyle/>
                    <a:p>
                      <a:r>
                        <a:rPr b="0" sz="1300" i="0">
                          <a:solidFill>
                            <a:srgbClr val="1A2233"/>
                          </a:solidFill>
                          <a:latin typeface="Calibri"/>
                        </a:rPr>
                        <a:t>Debt capacity at 2.25x, 40 quarters</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Sculpt!F28</a:t>
                      </a:r>
                    </a:p>
                  </a:txBody>
                  <a:tcPr marL="64008" marR="64008" marT="27432" marB="27432" anchor="ctr">
                    <a:solidFill>
                      <a:srgbClr val="F3F6F9"/>
                    </a:solidFill>
                  </a:tcPr>
                </a:tc>
                <a:tc>
                  <a:txBody>
                    <a:bodyPr wrap="square"/>
                    <a:lstStyle/>
                    <a:p>
                      <a:r>
                        <a:rPr b="0" sz="1300" i="0">
                          <a:solidFill>
                            <a:srgbClr val="1A2233"/>
                          </a:solidFill>
                          <a:latin typeface="Calibri"/>
                        </a:rPr>
                        <a:t>Debt limit from gearing (75%)</a:t>
                      </a:r>
                    </a:p>
                  </a:txBody>
                  <a:tcPr marL="64008" marR="64008" marT="27432" marB="27432" anchor="ctr">
                    <a:solidFill>
                      <a:srgbClr val="F3F6F9"/>
                    </a:solidFill>
                  </a:tcPr>
                </a:tc>
                <a:tc>
                  <a:txBody>
                    <a:bodyPr wrap="square"/>
                    <a:lstStyle/>
                    <a:p>
                      <a:r>
                        <a:rPr b="0" sz="1300" i="0">
                          <a:solidFill>
                            <a:srgbClr val="1A2233"/>
                          </a:solidFill>
                          <a:latin typeface="Calibri"/>
                        </a:rPr>
                        <a:t>75,800.8</a:t>
                      </a:r>
                    </a:p>
                  </a:txBody>
                  <a:tcPr marL="64008" marR="64008" marT="27432" marB="27432" anchor="ctr">
                    <a:solidFill>
                      <a:srgbClr val="F3F6F9"/>
                    </a:solidFill>
                  </a:tcPr>
                </a:tc>
              </a:tr>
              <a:tr h="347472">
                <a:tc>
                  <a:txBody>
                    <a:bodyPr wrap="square"/>
                    <a:lstStyle/>
                    <a:p>
                      <a:r>
                        <a:rPr b="1" sz="1300" i="0">
                          <a:solidFill>
                            <a:srgbClr val="1A2233"/>
                          </a:solidFill>
                          <a:latin typeface="Calibri"/>
                        </a:rPr>
                        <a:t>Sculpt!F29</a:t>
                      </a:r>
                    </a:p>
                  </a:txBody>
                  <a:tcPr marL="64008" marR="64008" marT="27432" marB="27432" anchor="ctr">
                    <a:solidFill>
                      <a:srgbClr val="FFFFFF"/>
                    </a:solidFill>
                  </a:tcPr>
                </a:tc>
                <a:tc>
                  <a:txBody>
                    <a:bodyPr wrap="square"/>
                    <a:lstStyle/>
                    <a:p>
                      <a:r>
                        <a:rPr b="0" sz="1300" i="0">
                          <a:solidFill>
                            <a:srgbClr val="1A2233"/>
                          </a:solidFill>
                          <a:latin typeface="Calibri"/>
                        </a:rPr>
                        <a:t>Senior debt size</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Constr!F52</a:t>
                      </a:r>
                    </a:p>
                  </a:txBody>
                  <a:tcPr marL="64008" marR="64008" marT="27432" marB="27432" anchor="ctr">
                    <a:solidFill>
                      <a:srgbClr val="F3F6F9"/>
                    </a:solidFill>
                  </a:tcPr>
                </a:tc>
                <a:tc>
                  <a:txBody>
                    <a:bodyPr wrap="square"/>
                    <a:lstStyle/>
                    <a:p>
                      <a:r>
                        <a:rPr b="0" sz="1300" i="0">
                          <a:solidFill>
                            <a:srgbClr val="1A2233"/>
                          </a:solidFill>
                          <a:latin typeface="Calibri"/>
                        </a:rPr>
                        <a:t>Project cost</a:t>
                      </a:r>
                    </a:p>
                  </a:txBody>
                  <a:tcPr marL="64008" marR="64008" marT="27432" marB="27432" anchor="ctr">
                    <a:solidFill>
                      <a:srgbClr val="F3F6F9"/>
                    </a:solidFill>
                  </a:tcPr>
                </a:tc>
                <a:tc>
                  <a:txBody>
                    <a:bodyPr wrap="square"/>
                    <a:lstStyle/>
                    <a:p>
                      <a:r>
                        <a:rPr b="0" sz="1300" i="0">
                          <a:solidFill>
                            <a:srgbClr val="1A2233"/>
                          </a:solidFill>
                          <a:latin typeface="Calibri"/>
                        </a:rPr>
                        <a:t>101,067.8</a:t>
                      </a:r>
                    </a:p>
                  </a:txBody>
                  <a:tcPr marL="64008" marR="64008" marT="27432" marB="27432" anchor="ctr">
                    <a:solidFill>
                      <a:srgbClr val="F3F6F9"/>
                    </a:solidFill>
                  </a:tcPr>
                </a:tc>
              </a:tr>
              <a:tr h="347472">
                <a:tc>
                  <a:txBody>
                    <a:bodyPr wrap="square"/>
                    <a:lstStyle/>
                    <a:p>
                      <a:r>
                        <a:rPr b="1" sz="1300" i="0">
                          <a:solidFill>
                            <a:srgbClr val="1A2233"/>
                          </a:solidFill>
                          <a:latin typeface="Calibri"/>
                        </a:rPr>
                        <a:t>Constr!F53</a:t>
                      </a:r>
                    </a:p>
                  </a:txBody>
                  <a:tcPr marL="64008" marR="64008" marT="27432" marB="27432" anchor="ctr">
                    <a:solidFill>
                      <a:srgbClr val="FFFFFF"/>
                    </a:solidFill>
                  </a:tcPr>
                </a:tc>
                <a:tc>
                  <a:txBody>
                    <a:bodyPr wrap="square"/>
                    <a:lstStyle/>
                    <a:p>
                      <a:r>
                        <a:rPr b="0" sz="1300" i="0">
                          <a:solidFill>
                            <a:srgbClr val="1A2233"/>
                          </a:solidFill>
                          <a:latin typeface="Calibri"/>
                        </a:rPr>
                        <a:t>Debt drawn</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47472">
                <a:tc>
                  <a:txBody>
                    <a:bodyPr wrap="square"/>
                    <a:lstStyle/>
                    <a:p>
                      <a:r>
                        <a:rPr b="1" sz="1300" i="0">
                          <a:solidFill>
                            <a:srgbClr val="1A2233"/>
                          </a:solidFill>
                          <a:latin typeface="Calibri"/>
                        </a:rPr>
                        <a:t>Constr!F54</a:t>
                      </a:r>
                    </a:p>
                  </a:txBody>
                  <a:tcPr marL="64008" marR="64008" marT="27432" marB="27432" anchor="ctr">
                    <a:solidFill>
                      <a:srgbClr val="F3F6F9"/>
                    </a:solidFill>
                  </a:tcPr>
                </a:tc>
                <a:tc>
                  <a:txBody>
                    <a:bodyPr wrap="square"/>
                    <a:lstStyle/>
                    <a:p>
                      <a:r>
                        <a:rPr b="0" sz="1300" i="0">
                          <a:solidFill>
                            <a:srgbClr val="1A2233"/>
                          </a:solidFill>
                          <a:latin typeface="Calibri"/>
                        </a:rPr>
                        <a:t>Sponsor funding</a:t>
                      </a:r>
                    </a:p>
                  </a:txBody>
                  <a:tcPr marL="64008" marR="64008" marT="27432" marB="27432" anchor="ctr">
                    <a:solidFill>
                      <a:srgbClr val="F3F6F9"/>
                    </a:solidFill>
                  </a:tcPr>
                </a:tc>
                <a:tc>
                  <a:txBody>
                    <a:bodyPr wrap="square"/>
                    <a:lstStyle/>
                    <a:p>
                      <a:r>
                        <a:rPr b="0" sz="1300" i="0">
                          <a:solidFill>
                            <a:srgbClr val="1A2233"/>
                          </a:solidFill>
                          <a:latin typeface="Calibri"/>
                        </a:rPr>
                        <a:t>28,913.6</a:t>
                      </a:r>
                    </a:p>
                  </a:txBody>
                  <a:tcPr marL="64008" marR="64008" marT="27432" marB="27432" anchor="ctr">
                    <a:solidFill>
                      <a:srgbClr val="F3F6F9"/>
                    </a:solidFill>
                  </a:tcPr>
                </a:tc>
              </a:tr>
              <a:tr h="347472">
                <a:tc>
                  <a:txBody>
                    <a:bodyPr wrap="square"/>
                    <a:lstStyle/>
                    <a:p>
                      <a:r>
                        <a:rPr b="1" sz="1300" i="0">
                          <a:solidFill>
                            <a:srgbClr val="1A2233"/>
                          </a:solidFill>
                          <a:latin typeface="Calibri"/>
                        </a:rPr>
                        <a:t>Sculpt!H40</a:t>
                      </a:r>
                    </a:p>
                  </a:txBody>
                  <a:tcPr marL="64008" marR="64008" marT="27432" marB="27432" anchor="ctr">
                    <a:solidFill>
                      <a:srgbClr val="FFFFFF"/>
                    </a:solidFill>
                  </a:tcPr>
                </a:tc>
                <a:tc>
                  <a:txBody>
                    <a:bodyPr wrap="square"/>
                    <a:lstStyle/>
                    <a:p>
                      <a:r>
                        <a:rPr b="0" sz="1300" i="0">
                          <a:solidFill>
                            <a:srgbClr val="1A2233"/>
                          </a:solidFill>
                          <a:latin typeface="Calibri"/>
                        </a:rPr>
                        <a:t>Profile total</a:t>
                      </a:r>
                    </a:p>
                  </a:txBody>
                  <a:tcPr marL="64008" marR="64008" marT="27432" marB="27432" anchor="ctr">
                    <a:solidFill>
                      <a:srgbClr val="FFFFFF"/>
                    </a:solidFill>
                  </a:tcPr>
                </a:tc>
                <a:tc>
                  <a:txBody>
                    <a:bodyPr wrap="square"/>
                    <a:lstStyle/>
                    <a:p>
                      <a:r>
                        <a:rPr b="0" sz="1300" i="0">
                          <a:solidFill>
                            <a:srgbClr val="1A2233"/>
                          </a:solidFill>
                          <a:latin typeface="Calibri"/>
                        </a:rPr>
                        <a:t>100%</a:t>
                      </a:r>
                    </a:p>
                  </a:txBody>
                  <a:tcPr marL="64008" marR="64008" marT="27432" marB="27432"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43</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12.30 – 14.00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4: Shareholder loan and blended equity return</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Two ways for sponsors to put money 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Why a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Sponsors can fund the project with share capital (ordinary equity) or with a loan to the project company. The loan ranks ahead of equity but behind senior lenders. It gets interest, can be repaid before dividends, and its interest is usually tax deductible.</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Sponsor return = IRR of (dividends + loan interest + loan principal + share capital redemption) vs (share capital + loan)</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Sponsor funding at COD: 28,913.6</a:t>
            </a:r>
          </a:p>
          <a:p>
            <a:pPr algn="l"/>
            <a:r>
              <a:rPr b="0" sz="1600" i="0">
                <a:solidFill>
                  <a:srgbClr val="1A2233"/>
                </a:solidFill>
                <a:latin typeface="Calibri"/>
              </a:rPr>
              <a:t>60% as shareholder loan (17,348.1), 40% as share capital (11,565.4)</a:t>
            </a:r>
          </a:p>
          <a:p>
            <a:pPr algn="l"/>
            <a:r>
              <a:rPr b="0" sz="1600" i="0">
                <a:solidFill>
                  <a:srgbClr val="1A2233"/>
                </a:solidFill>
                <a:latin typeface="Calibri"/>
              </a:rPr>
              <a:t>Interest 10% p.a. paid only from cash left after senior debt service and the DSRA; unpaid interest is capitalised</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Sponsors judge the project on the blended return: both instruments together. Looking at ordinary equity alone overstates the return because the cheque is small. The workbook dates all sponsor funding at COD; dated at the construction quarters the Base blended IRR is about 34.9%.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WATERFALL</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Cash waterfall after Day 7</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474720"/>
        </p:xfrm>
        <a:graphic>
          <a:graphicData uri="http://schemas.openxmlformats.org/drawingml/2006/table">
            <a:tbl>
              <a:tblPr firstRow="1" bandRow="1">
                <a:tableStyleId>{5C22544A-7EE6-4342-B048-85BDC9FD1C3A}</a:tableStyleId>
              </a:tblPr>
              <a:tblGrid>
                <a:gridCol w="1097280"/>
                <a:gridCol w="6583680"/>
                <a:gridCol w="3383280"/>
              </a:tblGrid>
              <a:tr h="347472">
                <a:tc>
                  <a:txBody>
                    <a:bodyPr wrap="square"/>
                    <a:lstStyle/>
                    <a:p>
                      <a:r>
                        <a:rPr b="1" sz="1300" i="0">
                          <a:solidFill>
                            <a:srgbClr val="FFFFFF"/>
                          </a:solidFill>
                          <a:latin typeface="Calibri"/>
                        </a:rPr>
                        <a:t>Order</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FinStat row (final)</a:t>
                      </a:r>
                    </a:p>
                  </a:txBody>
                  <a:tcPr marL="64008" marR="64008" marT="27432" marB="27432" anchor="ctr">
                    <a:solidFill>
                      <a:srgbClr val="141B4D"/>
                    </a:solidFill>
                  </a:tcPr>
                </a:tc>
              </a:tr>
              <a:tr h="347472">
                <a:tc>
                  <a:txBody>
                    <a:bodyPr wrap="square"/>
                    <a:lstStyle/>
                    <a:p>
                      <a:r>
                        <a:rPr b="1" sz="1300" i="0">
                          <a:solidFill>
                            <a:srgbClr val="1A2233"/>
                          </a:solidFill>
                          <a:latin typeface="Calibri"/>
                        </a:rPr>
                        <a:t>1</a:t>
                      </a:r>
                    </a:p>
                  </a:txBody>
                  <a:tcPr marL="64008" marR="64008" marT="27432" marB="27432" anchor="ctr">
                    <a:solidFill>
                      <a:srgbClr val="FFFFFF"/>
                    </a:solidFill>
                  </a:tcPr>
                </a:tc>
                <a:tc>
                  <a:txBody>
                    <a:bodyPr wrap="square"/>
                    <a:lstStyle/>
                    <a:p>
                      <a:r>
                        <a:rPr b="0" sz="1300" i="0">
                          <a:solidFill>
                            <a:srgbClr val="1A2233"/>
                          </a:solidFill>
                          <a:latin typeface="Calibri"/>
                        </a:rPr>
                        <a:t>CFADS</a:t>
                      </a:r>
                    </a:p>
                  </a:txBody>
                  <a:tcPr marL="64008" marR="64008" marT="27432" marB="27432" anchor="ctr">
                    <a:solidFill>
                      <a:srgbClr val="FFFFFF"/>
                    </a:solidFill>
                  </a:tcPr>
                </a:tc>
                <a:tc>
                  <a:txBody>
                    <a:bodyPr wrap="square"/>
                    <a:lstStyle/>
                    <a:p>
                      <a:r>
                        <a:rPr b="0" sz="1300" i="0">
                          <a:solidFill>
                            <a:srgbClr val="1A2233"/>
                          </a:solidFill>
                          <a:latin typeface="Calibri"/>
                        </a:rPr>
                        <a:t>39</a:t>
                      </a:r>
                    </a:p>
                  </a:txBody>
                  <a:tcPr marL="64008" marR="64008" marT="27432" marB="27432" anchor="ctr">
                    <a:solidFill>
                      <a:srgbClr val="FFFFFF"/>
                    </a:solidFill>
                  </a:tcPr>
                </a:tc>
              </a:tr>
              <a:tr h="347472">
                <a:tc>
                  <a:txBody>
                    <a:bodyPr wrap="square"/>
                    <a:lstStyle/>
                    <a:p>
                      <a:r>
                        <a:rPr b="1" sz="1300" i="0">
                          <a:solidFill>
                            <a:srgbClr val="1A2233"/>
                          </a:solidFill>
                          <a:latin typeface="Calibri"/>
                        </a:rPr>
                        <a:t>2</a:t>
                      </a:r>
                    </a:p>
                  </a:txBody>
                  <a:tcPr marL="64008" marR="64008" marT="27432" marB="27432" anchor="ctr">
                    <a:solidFill>
                      <a:srgbClr val="F3F6F9"/>
                    </a:solidFill>
                  </a:tcPr>
                </a:tc>
                <a:tc>
                  <a:txBody>
                    <a:bodyPr wrap="square"/>
                    <a:lstStyle/>
                    <a:p>
                      <a:r>
                        <a:rPr b="0" sz="1300" i="0">
                          <a:solidFill>
                            <a:srgbClr val="1A2233"/>
                          </a:solidFill>
                          <a:latin typeface="Calibri"/>
                        </a:rPr>
                        <a:t>Senior interest and principal</a:t>
                      </a:r>
                    </a:p>
                  </a:txBody>
                  <a:tcPr marL="64008" marR="64008" marT="27432" marB="27432" anchor="ctr">
                    <a:solidFill>
                      <a:srgbClr val="F3F6F9"/>
                    </a:solidFill>
                  </a:tcPr>
                </a:tc>
                <a:tc>
                  <a:txBody>
                    <a:bodyPr wrap="square"/>
                    <a:lstStyle/>
                    <a:p>
                      <a:r>
                        <a:rPr b="0" sz="1300" i="0">
                          <a:solidFill>
                            <a:srgbClr val="1A2233"/>
                          </a:solidFill>
                          <a:latin typeface="Calibri"/>
                        </a:rPr>
                        <a:t>41, 42</a:t>
                      </a:r>
                    </a:p>
                  </a:txBody>
                  <a:tcPr marL="64008" marR="64008" marT="27432" marB="27432" anchor="ctr">
                    <a:solidFill>
                      <a:srgbClr val="F3F6F9"/>
                    </a:solidFill>
                  </a:tcPr>
                </a:tc>
              </a:tr>
              <a:tr h="347472">
                <a:tc>
                  <a:txBody>
                    <a:bodyPr wrap="square"/>
                    <a:lstStyle/>
                    <a:p>
                      <a:r>
                        <a:rPr b="1" sz="1300" i="0">
                          <a:solidFill>
                            <a:srgbClr val="1A2233"/>
                          </a:solidFill>
                          <a:latin typeface="Calibri"/>
                        </a:rPr>
                        <a:t>3</a:t>
                      </a:r>
                    </a:p>
                  </a:txBody>
                  <a:tcPr marL="64008" marR="64008" marT="27432" marB="27432" anchor="ctr">
                    <a:solidFill>
                      <a:srgbClr val="FFFFFF"/>
                    </a:solidFill>
                  </a:tcPr>
                </a:tc>
                <a:tc>
                  <a:txBody>
                    <a:bodyPr wrap="square"/>
                    <a:lstStyle/>
                    <a:p>
                      <a:r>
                        <a:rPr b="0" sz="1300" i="0">
                          <a:solidFill>
                            <a:srgbClr val="1A2233"/>
                          </a:solidFill>
                          <a:latin typeface="Calibri"/>
                        </a:rPr>
                        <a:t>CF available to shareholders</a:t>
                      </a:r>
                    </a:p>
                  </a:txBody>
                  <a:tcPr marL="64008" marR="64008" marT="27432" marB="27432" anchor="ctr">
                    <a:solidFill>
                      <a:srgbClr val="FFFFFF"/>
                    </a:solidFill>
                  </a:tcPr>
                </a:tc>
                <a:tc>
                  <a:txBody>
                    <a:bodyPr wrap="square"/>
                    <a:lstStyle/>
                    <a:p>
                      <a:r>
                        <a:rPr b="0" sz="1300" i="0">
                          <a:solidFill>
                            <a:srgbClr val="1A2233"/>
                          </a:solidFill>
                          <a:latin typeface="Calibri"/>
                        </a:rPr>
                        <a:t>43</a:t>
                      </a:r>
                    </a:p>
                  </a:txBody>
                  <a:tcPr marL="64008" marR="64008" marT="27432" marB="27432" anchor="ctr">
                    <a:solidFill>
                      <a:srgbClr val="FFFFFF"/>
                    </a:solidFill>
                  </a:tcPr>
                </a:tc>
              </a:tr>
              <a:tr h="347472">
                <a:tc>
                  <a:txBody>
                    <a:bodyPr wrap="square"/>
                    <a:lstStyle/>
                    <a:p>
                      <a:r>
                        <a:rPr b="1" sz="1300" i="0">
                          <a:solidFill>
                            <a:srgbClr val="1A2233"/>
                          </a:solidFill>
                          <a:latin typeface="Calibri"/>
                        </a:rPr>
                        <a:t>4</a:t>
                      </a:r>
                    </a:p>
                  </a:txBody>
                  <a:tcPr marL="64008" marR="64008" marT="27432" marB="27432" anchor="ctr">
                    <a:solidFill>
                      <a:srgbClr val="F3F6F9"/>
                    </a:solidFill>
                  </a:tcPr>
                </a:tc>
                <a:tc>
                  <a:txBody>
                    <a:bodyPr wrap="square"/>
                    <a:lstStyle/>
                    <a:p>
                      <a:r>
                        <a:rPr b="0" sz="1300" i="0">
                          <a:solidFill>
                            <a:srgbClr val="1A2233"/>
                          </a:solidFill>
                          <a:latin typeface="Calibri"/>
                        </a:rPr>
                        <a:t>DSRA funding / release</a:t>
                      </a:r>
                    </a:p>
                  </a:txBody>
                  <a:tcPr marL="64008" marR="64008" marT="27432" marB="27432" anchor="ctr">
                    <a:solidFill>
                      <a:srgbClr val="F3F6F9"/>
                    </a:solidFill>
                  </a:tcPr>
                </a:tc>
                <a:tc>
                  <a:txBody>
                    <a:bodyPr wrap="square"/>
                    <a:lstStyle/>
                    <a:p>
                      <a:r>
                        <a:rPr b="0" sz="1300" i="0">
                          <a:solidFill>
                            <a:srgbClr val="1A2233"/>
                          </a:solidFill>
                          <a:latin typeface="Calibri"/>
                        </a:rPr>
                        <a:t>44</a:t>
                      </a:r>
                    </a:p>
                  </a:txBody>
                  <a:tcPr marL="64008" marR="64008" marT="27432" marB="27432" anchor="ctr">
                    <a:solidFill>
                      <a:srgbClr val="F3F6F9"/>
                    </a:solidFill>
                  </a:tcPr>
                </a:tc>
              </a:tr>
              <a:tr h="347472">
                <a:tc>
                  <a:txBody>
                    <a:bodyPr wrap="square"/>
                    <a:lstStyle/>
                    <a:p>
                      <a:r>
                        <a:rPr b="1" sz="1300" i="0">
                          <a:solidFill>
                            <a:srgbClr val="1A2233"/>
                          </a:solidFill>
                          <a:latin typeface="Calibri"/>
                        </a:rPr>
                        <a:t>5</a:t>
                      </a:r>
                    </a:p>
                  </a:txBody>
                  <a:tcPr marL="64008" marR="64008" marT="27432" marB="27432" anchor="ctr">
                    <a:solidFill>
                      <a:srgbClr val="FFFFFF"/>
                    </a:solidFill>
                  </a:tcPr>
                </a:tc>
                <a:tc>
                  <a:txBody>
                    <a:bodyPr wrap="square"/>
                    <a:lstStyle/>
                    <a:p>
                      <a:r>
                        <a:rPr b="0" sz="1300" i="0">
                          <a:solidFill>
                            <a:srgbClr val="1A2233"/>
                          </a:solidFill>
                          <a:latin typeface="Calibri"/>
                        </a:rPr>
                        <a:t>Shareholder loan interest paid</a:t>
                      </a:r>
                    </a:p>
                  </a:txBody>
                  <a:tcPr marL="64008" marR="64008" marT="27432" marB="27432" anchor="ctr">
                    <a:solidFill>
                      <a:srgbClr val="FFFFFF"/>
                    </a:solidFill>
                  </a:tcPr>
                </a:tc>
                <a:tc>
                  <a:txBody>
                    <a:bodyPr wrap="square"/>
                    <a:lstStyle/>
                    <a:p>
                      <a:r>
                        <a:rPr b="0" sz="1300" i="0">
                          <a:solidFill>
                            <a:srgbClr val="1A2233"/>
                          </a:solidFill>
                          <a:latin typeface="Calibri"/>
                        </a:rPr>
                        <a:t>45</a:t>
                      </a:r>
                    </a:p>
                  </a:txBody>
                  <a:tcPr marL="64008" marR="64008" marT="27432" marB="27432" anchor="ctr">
                    <a:solidFill>
                      <a:srgbClr val="FFFFFF"/>
                    </a:solidFill>
                  </a:tcPr>
                </a:tc>
              </a:tr>
              <a:tr h="347472">
                <a:tc>
                  <a:txBody>
                    <a:bodyPr wrap="square"/>
                    <a:lstStyle/>
                    <a:p>
                      <a:r>
                        <a:rPr b="1" sz="1300" i="0">
                          <a:solidFill>
                            <a:srgbClr val="1A2233"/>
                          </a:solidFill>
                          <a:latin typeface="Calibri"/>
                        </a:rPr>
                        <a:t>6</a:t>
                      </a:r>
                    </a:p>
                  </a:txBody>
                  <a:tcPr marL="64008" marR="64008" marT="27432" marB="27432" anchor="ctr">
                    <a:solidFill>
                      <a:srgbClr val="F3F6F9"/>
                    </a:solidFill>
                  </a:tcPr>
                </a:tc>
                <a:tc>
                  <a:txBody>
                    <a:bodyPr wrap="square"/>
                    <a:lstStyle/>
                    <a:p>
                      <a:r>
                        <a:rPr b="0" sz="1300" i="0">
                          <a:solidFill>
                            <a:srgbClr val="1A2233"/>
                          </a:solidFill>
                          <a:latin typeface="Calibri"/>
                        </a:rPr>
                        <a:t>Shareholder loan principal repaid</a:t>
                      </a:r>
                    </a:p>
                  </a:txBody>
                  <a:tcPr marL="64008" marR="64008" marT="27432" marB="27432" anchor="ctr">
                    <a:solidFill>
                      <a:srgbClr val="F3F6F9"/>
                    </a:solidFill>
                  </a:tcPr>
                </a:tc>
                <a:tc>
                  <a:txBody>
                    <a:bodyPr wrap="square"/>
                    <a:lstStyle/>
                    <a:p>
                      <a:r>
                        <a:rPr b="0" sz="1300" i="0">
                          <a:solidFill>
                            <a:srgbClr val="1A2233"/>
                          </a:solidFill>
                          <a:latin typeface="Calibri"/>
                        </a:rPr>
                        <a:t>46</a:t>
                      </a:r>
                    </a:p>
                  </a:txBody>
                  <a:tcPr marL="64008" marR="64008" marT="27432" marB="27432" anchor="ctr">
                    <a:solidFill>
                      <a:srgbClr val="F3F6F9"/>
                    </a:solidFill>
                  </a:tcPr>
                </a:tc>
              </a:tr>
              <a:tr h="347472">
                <a:tc>
                  <a:txBody>
                    <a:bodyPr wrap="square"/>
                    <a:lstStyle/>
                    <a:p>
                      <a:r>
                        <a:rPr b="1" sz="1300" i="0">
                          <a:solidFill>
                            <a:srgbClr val="1A2233"/>
                          </a:solidFill>
                          <a:latin typeface="Calibri"/>
                        </a:rPr>
                        <a:t>7</a:t>
                      </a:r>
                    </a:p>
                  </a:txBody>
                  <a:tcPr marL="64008" marR="64008" marT="27432" marB="27432" anchor="ctr">
                    <a:solidFill>
                      <a:srgbClr val="FFFFFF"/>
                    </a:solidFill>
                  </a:tcPr>
                </a:tc>
                <a:tc>
                  <a:txBody>
                    <a:bodyPr wrap="square"/>
                    <a:lstStyle/>
                    <a:p>
                      <a:r>
                        <a:rPr b="0" sz="1300" i="0">
                          <a:solidFill>
                            <a:srgbClr val="1A2233"/>
                          </a:solidFill>
                          <a:latin typeface="Calibri"/>
                        </a:rPr>
                        <a:t>Share capital injection / redemption</a:t>
                      </a:r>
                    </a:p>
                  </a:txBody>
                  <a:tcPr marL="64008" marR="64008" marT="27432" marB="27432" anchor="ctr">
                    <a:solidFill>
                      <a:srgbClr val="FFFFFF"/>
                    </a:solidFill>
                  </a:tcPr>
                </a:tc>
                <a:tc>
                  <a:txBody>
                    <a:bodyPr wrap="square"/>
                    <a:lstStyle/>
                    <a:p>
                      <a:r>
                        <a:rPr b="0" sz="1300" i="0">
                          <a:solidFill>
                            <a:srgbClr val="1A2233"/>
                          </a:solidFill>
                          <a:latin typeface="Calibri"/>
                        </a:rPr>
                        <a:t>47, 48</a:t>
                      </a:r>
                    </a:p>
                  </a:txBody>
                  <a:tcPr marL="64008" marR="64008" marT="27432" marB="27432" anchor="ctr">
                    <a:solidFill>
                      <a:srgbClr val="FFFFFF"/>
                    </a:solidFill>
                  </a:tcPr>
                </a:tc>
              </a:tr>
              <a:tr h="347472">
                <a:tc>
                  <a:txBody>
                    <a:bodyPr wrap="square"/>
                    <a:lstStyle/>
                    <a:p>
                      <a:r>
                        <a:rPr b="1" sz="1300" i="0">
                          <a:solidFill>
                            <a:srgbClr val="1A2233"/>
                          </a:solidFill>
                          <a:latin typeface="Calibri"/>
                        </a:rPr>
                        <a:t>8</a:t>
                      </a:r>
                    </a:p>
                  </a:txBody>
                  <a:tcPr marL="64008" marR="64008" marT="27432" marB="27432" anchor="ctr">
                    <a:solidFill>
                      <a:srgbClr val="F3F6F9"/>
                    </a:solidFill>
                  </a:tcPr>
                </a:tc>
                <a:tc>
                  <a:txBody>
                    <a:bodyPr wrap="square"/>
                    <a:lstStyle/>
                    <a:p>
                      <a:r>
                        <a:rPr b="0" sz="1300" i="0">
                          <a:solidFill>
                            <a:srgbClr val="1A2233"/>
                          </a:solidFill>
                          <a:latin typeface="Calibri"/>
                        </a:rPr>
                        <a:t>Cash flow available for dividends</a:t>
                      </a:r>
                    </a:p>
                  </a:txBody>
                  <a:tcPr marL="64008" marR="64008" marT="27432" marB="27432" anchor="ctr">
                    <a:solidFill>
                      <a:srgbClr val="F3F6F9"/>
                    </a:solidFill>
                  </a:tcPr>
                </a:tc>
                <a:tc>
                  <a:txBody>
                    <a:bodyPr wrap="square"/>
                    <a:lstStyle/>
                    <a:p>
                      <a:r>
                        <a:rPr b="0" sz="1300" i="0">
                          <a:solidFill>
                            <a:srgbClr val="1A2233"/>
                          </a:solidFill>
                          <a:latin typeface="Calibri"/>
                        </a:rPr>
                        <a:t>49</a:t>
                      </a:r>
                    </a:p>
                  </a:txBody>
                  <a:tcPr marL="64008" marR="64008" marT="27432" marB="27432" anchor="ctr">
                    <a:solidFill>
                      <a:srgbClr val="F3F6F9"/>
                    </a:solidFill>
                  </a:tcPr>
                </a:tc>
              </a:tr>
              <a:tr h="347472">
                <a:tc>
                  <a:txBody>
                    <a:bodyPr wrap="square"/>
                    <a:lstStyle/>
                    <a:p>
                      <a:r>
                        <a:rPr b="1" sz="1300" i="0">
                          <a:solidFill>
                            <a:srgbClr val="1A2233"/>
                          </a:solidFill>
                          <a:latin typeface="Calibri"/>
                        </a:rPr>
                        <a:t>9</a:t>
                      </a:r>
                    </a:p>
                  </a:txBody>
                  <a:tcPr marL="64008" marR="64008" marT="27432" marB="27432" anchor="ctr">
                    <a:solidFill>
                      <a:srgbClr val="FFFFFF"/>
                    </a:solidFill>
                  </a:tcPr>
                </a:tc>
                <a:tc>
                  <a:txBody>
                    <a:bodyPr wrap="square"/>
                    <a:lstStyle/>
                    <a:p>
                      <a:r>
                        <a:rPr b="0" sz="1300" i="0">
                          <a:solidFill>
                            <a:srgbClr val="1A2233"/>
                          </a:solidFill>
                          <a:latin typeface="Calibri"/>
                        </a:rPr>
                        <a:t>Dividends (smaller of cash and earnings)</a:t>
                      </a:r>
                    </a:p>
                  </a:txBody>
                  <a:tcPr marL="64008" marR="64008" marT="27432" marB="27432" anchor="ctr">
                    <a:solidFill>
                      <a:srgbClr val="FFFFFF"/>
                    </a:solidFill>
                  </a:tcPr>
                </a:tc>
                <a:tc>
                  <a:txBody>
                    <a:bodyPr wrap="square"/>
                    <a:lstStyle/>
                    <a:p>
                      <a:r>
                        <a:rPr b="0" sz="1300" i="0">
                          <a:solidFill>
                            <a:srgbClr val="1A2233"/>
                          </a:solidFill>
                          <a:latin typeface="Calibri"/>
                        </a:rPr>
                        <a:t>51</a:t>
                      </a:r>
                    </a:p>
                  </a:txBody>
                  <a:tcPr marL="64008" marR="64008" marT="27432" marB="27432" anchor="ctr">
                    <a:solidFill>
                      <a:srgbClr val="FFFFFF"/>
                    </a:solidFill>
                  </a:tcPr>
                </a:tc>
              </a:tr>
            </a:tbl>
          </a:graphicData>
        </a:graphic>
      </p:graphicFrame>
      <p:sp>
        <p:nvSpPr>
          <p:cNvPr id="12" name="Rectangle 11"/>
          <p:cNvSpPr/>
          <p:nvPr/>
        </p:nvSpPr>
        <p:spPr>
          <a:xfrm>
            <a:off x="548640" y="521208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21208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21208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Rows 44 to 46 are new; the original rows below them moved down automatically when we inserted three rows.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 block 1: opening balances (rows 9 to 14)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1975104"/>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Shareholder loan share of sponsor funding</a:t>
                      </a:r>
                    </a:p>
                  </a:txBody>
                  <a:tcPr marL="64008" marR="64008" marT="27432" marB="27432" anchor="ctr">
                    <a:solidFill>
                      <a:srgbClr val="FFFFFF"/>
                    </a:solidFill>
                  </a:tcPr>
                </a:tc>
                <a:tc>
                  <a:txBody>
                    <a:bodyPr wrap="square"/>
                    <a:lstStyle/>
                    <a:p>
                      <a:r>
                        <a:rPr b="0" sz="1200" i="0">
                          <a:solidFill>
                            <a:srgbClr val="1A2233"/>
                          </a:solidFill>
                          <a:latin typeface="Consolas"/>
                        </a:rPr>
                        <a:t>F: =InpC!F$147</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Shareholder loan interest rate</a:t>
                      </a:r>
                    </a:p>
                  </a:txBody>
                  <a:tcPr marL="64008" marR="64008" marT="27432" marB="27432" anchor="ctr">
                    <a:solidFill>
                      <a:srgbClr val="F3F6F9"/>
                    </a:solidFill>
                  </a:tcPr>
                </a:tc>
                <a:tc>
                  <a:txBody>
                    <a:bodyPr wrap="square"/>
                    <a:lstStyle/>
                    <a:p>
                      <a:r>
                        <a:rPr b="0" sz="1200" i="0">
                          <a:solidFill>
                            <a:srgbClr val="1A2233"/>
                          </a:solidFill>
                          <a:latin typeface="Consolas"/>
                        </a:rPr>
                        <a:t>F: =InpC!F$148</a:t>
                      </a:r>
                    </a:p>
                  </a:txBody>
                  <a:tcPr marL="64008" marR="64008" marT="27432" marB="27432" anchor="ctr">
                    <a:solidFill>
                      <a:srgbClr val="F3F6F9"/>
                    </a:solidFill>
                  </a:tcPr>
                </a:tc>
              </a:tr>
              <a:tr h="329184">
                <a:tc>
                  <a:txBody>
                    <a:bodyPr wrap="square"/>
                    <a:lstStyle/>
                    <a:p>
                      <a:r>
                        <a:rPr b="1" sz="1200" i="0">
                          <a:solidFill>
                            <a:srgbClr val="1A2233"/>
                          </a:solidFill>
                          <a:latin typeface="Calibri"/>
                        </a:rPr>
                        <a:t>12</a:t>
                      </a:r>
                    </a:p>
                  </a:txBody>
                  <a:tcPr marL="64008" marR="64008" marT="27432" marB="27432" anchor="ctr">
                    <a:solidFill>
                      <a:srgbClr val="FFFFFF"/>
                    </a:solidFill>
                  </a:tcPr>
                </a:tc>
                <a:tc>
                  <a:txBody>
                    <a:bodyPr wrap="square"/>
                    <a:lstStyle/>
                    <a:p>
                      <a:r>
                        <a:rPr b="0" sz="1200" i="0">
                          <a:solidFill>
                            <a:srgbClr val="1A2233"/>
                          </a:solidFill>
                          <a:latin typeface="Calibri"/>
                        </a:rPr>
                        <a:t>Sponsor funding at COD</a:t>
                      </a:r>
                    </a:p>
                  </a:txBody>
                  <a:tcPr marL="64008" marR="64008" marT="27432" marB="27432" anchor="ctr">
                    <a:solidFill>
                      <a:srgbClr val="FFFFFF"/>
                    </a:solidFill>
                  </a:tcPr>
                </a:tc>
                <a:tc>
                  <a:txBody>
                    <a:bodyPr wrap="square"/>
                    <a:lstStyle/>
                    <a:p>
                      <a:r>
                        <a:rPr b="0" sz="1200" i="0">
                          <a:solidFill>
                            <a:srgbClr val="1A2233"/>
                          </a:solidFill>
                          <a:latin typeface="Consolas"/>
                        </a:rPr>
                        <a:t>F: =Constr!F54</a:t>
                      </a:r>
                    </a:p>
                  </a:txBody>
                  <a:tcPr marL="64008" marR="64008" marT="27432" marB="27432" anchor="ctr">
                    <a:solidFill>
                      <a:srgbClr val="FFFFFF"/>
                    </a:solidFill>
                  </a:tcPr>
                </a:tc>
              </a:tr>
              <a:tr h="329184">
                <a:tc>
                  <a:txBody>
                    <a:bodyPr wrap="square"/>
                    <a:lstStyle/>
                    <a:p>
                      <a:r>
                        <a:rPr b="1" sz="1200" i="0">
                          <a:solidFill>
                            <a:srgbClr val="1A2233"/>
                          </a:solidFill>
                          <a:latin typeface="Calibri"/>
                        </a:rPr>
                        <a:t>13</a:t>
                      </a:r>
                    </a:p>
                  </a:txBody>
                  <a:tcPr marL="64008" marR="64008" marT="27432" marB="27432" anchor="ctr">
                    <a:solidFill>
                      <a:srgbClr val="F3F6F9"/>
                    </a:solidFill>
                  </a:tcPr>
                </a:tc>
                <a:tc>
                  <a:txBody>
                    <a:bodyPr wrap="square"/>
                    <a:lstStyle/>
                    <a:p>
                      <a:r>
                        <a:rPr b="0" sz="1200" i="0">
                          <a:solidFill>
                            <a:srgbClr val="1A2233"/>
                          </a:solidFill>
                          <a:latin typeface="Calibri"/>
                        </a:rPr>
                        <a:t>Shareholder loan - initial balance</a:t>
                      </a:r>
                    </a:p>
                  </a:txBody>
                  <a:tcPr marL="64008" marR="64008" marT="27432" marB="27432" anchor="ctr">
                    <a:solidFill>
                      <a:srgbClr val="F3F6F9"/>
                    </a:solidFill>
                  </a:tcPr>
                </a:tc>
                <a:tc>
                  <a:txBody>
                    <a:bodyPr wrap="square"/>
                    <a:lstStyle/>
                    <a:p>
                      <a:r>
                        <a:rPr b="0" sz="1200" i="0">
                          <a:solidFill>
                            <a:srgbClr val="1A2233"/>
                          </a:solidFill>
                          <a:latin typeface="Consolas"/>
                        </a:rPr>
                        <a:t>F: =F12*F9</a:t>
                      </a:r>
                    </a:p>
                  </a:txBody>
                  <a:tcPr marL="64008" marR="64008" marT="27432" marB="27432" anchor="ctr">
                    <a:solidFill>
                      <a:srgbClr val="F3F6F9"/>
                    </a:solidFill>
                  </a:tcPr>
                </a:tc>
              </a:tr>
              <a:tr h="329184">
                <a:tc>
                  <a:txBody>
                    <a:bodyPr wrap="square"/>
                    <a:lstStyle/>
                    <a:p>
                      <a:r>
                        <a:rPr b="1" sz="1200" i="0">
                          <a:solidFill>
                            <a:srgbClr val="1A2233"/>
                          </a:solidFill>
                          <a:latin typeface="Calibri"/>
                        </a:rPr>
                        <a:t>14</a:t>
                      </a:r>
                    </a:p>
                  </a:txBody>
                  <a:tcPr marL="64008" marR="64008" marT="27432" marB="27432" anchor="ctr">
                    <a:solidFill>
                      <a:srgbClr val="FFFFFF"/>
                    </a:solidFill>
                  </a:tcPr>
                </a:tc>
                <a:tc>
                  <a:txBody>
                    <a:bodyPr wrap="square"/>
                    <a:lstStyle/>
                    <a:p>
                      <a:r>
                        <a:rPr b="0" sz="1200" i="0">
                          <a:solidFill>
                            <a:srgbClr val="1A2233"/>
                          </a:solidFill>
                          <a:latin typeface="Calibri"/>
                        </a:rPr>
                        <a:t>Share capital - initial balance</a:t>
                      </a:r>
                    </a:p>
                  </a:txBody>
                  <a:tcPr marL="64008" marR="64008" marT="27432" marB="27432" anchor="ctr">
                    <a:solidFill>
                      <a:srgbClr val="FFFFFF"/>
                    </a:solidFill>
                  </a:tcPr>
                </a:tc>
                <a:tc>
                  <a:txBody>
                    <a:bodyPr wrap="square"/>
                    <a:lstStyle/>
                    <a:p>
                      <a:r>
                        <a:rPr b="0" sz="1200" i="0">
                          <a:solidFill>
                            <a:srgbClr val="1A2233"/>
                          </a:solidFill>
                          <a:latin typeface="Consolas"/>
                        </a:rPr>
                        <a:t>F: =F12-F13</a:t>
                      </a:r>
                    </a:p>
                  </a:txBody>
                  <a:tcPr marL="64008" marR="64008" marT="27432" marB="27432"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SHL!F13: shareholder loan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F13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loan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=F12*F9</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Shareholder loan initial balance = sponsor funding (F12 = Constr!F54) × shareholder loan share (F9 = 60%)</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InpC!F$147</a:t>
            </a:r>
          </a:p>
          <a:p>
            <a:pPr algn="l"/>
            <a:r>
              <a:rPr b="0" sz="1300" i="0">
                <a:solidFill>
                  <a:srgbClr val="1A2233"/>
                </a:solidFill>
                <a:latin typeface="Consolas"/>
              </a:rPr>
              <a:t>F12 = Constr!F$54</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F13 = 17,348.1</a:t>
            </a:r>
          </a:p>
        </p:txBody>
      </p:sp>
      <p:sp>
        <p:nvSpPr>
          <p:cNvPr id="26" name="Rectangle 25"/>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split of the sponsor's cheque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SHL!F14: share capital initial balance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F14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 capital - initial balance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=F12-F13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Share capital initial balance = sponsor funding − loan</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F14,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F14,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544068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F14 = 11,565.4</a:t>
            </a:r>
          </a:p>
        </p:txBody>
      </p:sp>
      <p:sp>
        <p:nvSpPr>
          <p:cNvPr id="24" name="Rectangle 23"/>
          <p:cNvSpPr/>
          <p:nvPr/>
        </p:nvSpPr>
        <p:spPr>
          <a:xfrm>
            <a:off x="6080759" y="5596128"/>
            <a:ext cx="544068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Equity!F16 now points here (</a:t>
            </a:r>
            <a:r>
              <a:rPr b="0" sz="1200" i="0">
                <a:solidFill>
                  <a:srgbClr val="0B5E82"/>
                </a:solidFill>
                <a:latin typeface="Consolas"/>
              </a:rPr>
              <a:t>=SHL!$F$14</a:t>
            </a:r>
            <a:r>
              <a:rPr b="0" sz="1200" i="0">
                <a:solidFill>
                  <a:srgbClr val="1A2233"/>
                </a:solidFill>
                <a:latin typeface="Calibri"/>
              </a:rPr>
              <a: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49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 block 2: the loan waterfall (rows 16 to 24)</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16</a:t>
                      </a:r>
                    </a:p>
                  </a:txBody>
                  <a:tcPr marL="64008" marR="64008" marT="27432" marB="27432" anchor="ctr">
                    <a:solidFill>
                      <a:srgbClr val="FFFFFF"/>
                    </a:solidFill>
                  </a:tcPr>
                </a:tc>
                <a:tc>
                  <a:txBody>
                    <a:bodyPr wrap="square"/>
                    <a:lstStyle/>
                    <a:p>
                      <a:r>
                        <a:rPr b="0" sz="1200" i="0">
                          <a:solidFill>
                            <a:srgbClr val="1A2233"/>
                          </a:solidFill>
                          <a:latin typeface="Calibri"/>
                        </a:rPr>
                        <a:t>Cash available for shareholder loan</a:t>
                      </a:r>
                    </a:p>
                  </a:txBody>
                  <a:tcPr marL="64008" marR="64008" marT="27432" marB="27432" anchor="ctr">
                    <a:solidFill>
                      <a:srgbClr val="FFFFFF"/>
                    </a:solidFill>
                  </a:tcPr>
                </a:tc>
                <a:tc>
                  <a:txBody>
                    <a:bodyPr wrap="square"/>
                    <a:lstStyle/>
                    <a:p>
                      <a:r>
                        <a:rPr b="0" sz="1200" i="0">
                          <a:solidFill>
                            <a:srgbClr val="1A2233"/>
                          </a:solidFill>
                          <a:latin typeface="Consolas"/>
                        </a:rPr>
                        <a:t>J: =MAX(FinStat!J$43+DSRA!J$17,0)</a:t>
                      </a:r>
                    </a:p>
                  </a:txBody>
                  <a:tcPr marL="64008" marR="64008" marT="27432" marB="27432" anchor="ctr">
                    <a:solidFill>
                      <a:srgbClr val="FFFFFF"/>
                    </a:solidFill>
                  </a:tcPr>
                </a:tc>
              </a:tr>
              <a:tr h="329184">
                <a:tc>
                  <a:txBody>
                    <a:bodyPr wrap="square"/>
                    <a:lstStyle/>
                    <a:p>
                      <a:r>
                        <a:rPr b="1" sz="1200" i="0">
                          <a:solidFill>
                            <a:srgbClr val="1A2233"/>
                          </a:solidFill>
                          <a:latin typeface="Calibri"/>
                        </a:rPr>
                        <a:t>17</a:t>
                      </a:r>
                    </a:p>
                  </a:txBody>
                  <a:tcPr marL="64008" marR="64008" marT="27432" marB="27432" anchor="ctr">
                    <a:solidFill>
                      <a:srgbClr val="F3F6F9"/>
                    </a:solidFill>
                  </a:tcPr>
                </a:tc>
                <a:tc>
                  <a:txBody>
                    <a:bodyPr wrap="square"/>
                    <a:lstStyle/>
                    <a:p>
                      <a:r>
                        <a:rPr b="0" sz="1200" i="0">
                          <a:solidFill>
                            <a:srgbClr val="1A2233"/>
                          </a:solidFill>
                          <a:latin typeface="Calibri"/>
                        </a:rPr>
                        <a:t>Post-senior-loan flag</a:t>
                      </a:r>
                    </a:p>
                  </a:txBody>
                  <a:tcPr marL="64008" marR="64008" marT="27432" marB="27432" anchor="ctr">
                    <a:solidFill>
                      <a:srgbClr val="F3F6F9"/>
                    </a:solidFill>
                  </a:tcPr>
                </a:tc>
                <a:tc>
                  <a:txBody>
                    <a:bodyPr wrap="square"/>
                    <a:lstStyle/>
                    <a:p>
                      <a:r>
                        <a:rPr b="0" sz="1200" i="0">
                          <a:solidFill>
                            <a:srgbClr val="1A2233"/>
                          </a:solidFill>
                          <a:latin typeface="Consolas"/>
                        </a:rPr>
                        <a:t>J: =IF(Sculpt!J$11&gt;Sculpt!$F$9,1,0)</a:t>
                      </a:r>
                    </a:p>
                  </a:txBody>
                  <a:tcPr marL="64008" marR="64008" marT="27432" marB="27432" anchor="ctr">
                    <a:solidFill>
                      <a:srgbClr val="F3F6F9"/>
                    </a:solidFill>
                  </a:tcPr>
                </a:tc>
              </a:tr>
              <a:tr h="329184">
                <a:tc>
                  <a:txBody>
                    <a:bodyPr wrap="square"/>
                    <a:lstStyle/>
                    <a:p>
                      <a:r>
                        <a:rPr b="1" sz="1200" i="0">
                          <a:solidFill>
                            <a:srgbClr val="1A2233"/>
                          </a:solidFill>
                          <a:latin typeface="Calibri"/>
                        </a:rPr>
                        <a:t>18</a:t>
                      </a:r>
                    </a:p>
                  </a:txBody>
                  <a:tcPr marL="64008" marR="64008" marT="27432" marB="27432" anchor="ctr">
                    <a:solidFill>
                      <a:srgbClr val="FFFFFF"/>
                    </a:solidFill>
                  </a:tcPr>
                </a:tc>
                <a:tc>
                  <a:txBody>
                    <a:bodyPr wrap="square"/>
                    <a:lstStyle/>
                    <a:p>
                      <a:r>
                        <a:rPr b="0" sz="1200" i="0">
                          <a:solidFill>
                            <a:srgbClr val="1A2233"/>
                          </a:solidFill>
                          <a:latin typeface="Calibri"/>
                        </a:rPr>
                        <a:t>Days in period</a:t>
                      </a:r>
                    </a:p>
                  </a:txBody>
                  <a:tcPr marL="64008" marR="64008" marT="27432" marB="27432" anchor="ctr">
                    <a:solidFill>
                      <a:srgbClr val="FFFFFF"/>
                    </a:solidFill>
                  </a:tcPr>
                </a:tc>
                <a:tc>
                  <a:txBody>
                    <a:bodyPr wrap="square"/>
                    <a:lstStyle/>
                    <a:p>
                      <a:r>
                        <a:rPr b="0" sz="1200" i="0">
                          <a:solidFill>
                            <a:srgbClr val="1A2233"/>
                          </a:solidFill>
                          <a:latin typeface="Consolas"/>
                        </a:rPr>
                        <a:t>J: =Time!J$30</a:t>
                      </a:r>
                    </a:p>
                  </a:txBody>
                  <a:tcPr marL="64008" marR="64008" marT="27432" marB="27432" anchor="ctr">
                    <a:solidFill>
                      <a:srgbClr val="FFFFFF"/>
                    </a:solidFill>
                  </a:tcPr>
                </a:tc>
              </a:tr>
              <a:tr h="329184">
                <a:tc>
                  <a:txBody>
                    <a:bodyPr wrap="square"/>
                    <a:lstStyle/>
                    <a:p>
                      <a:r>
                        <a:rPr b="1" sz="1200" i="0">
                          <a:solidFill>
                            <a:srgbClr val="1A2233"/>
                          </a:solidFill>
                          <a:latin typeface="Calibri"/>
                        </a:rPr>
                        <a:t>19</a:t>
                      </a:r>
                    </a:p>
                  </a:txBody>
                  <a:tcPr marL="64008" marR="64008" marT="27432" marB="27432" anchor="ctr">
                    <a:solidFill>
                      <a:srgbClr val="F3F6F9"/>
                    </a:solidFill>
                  </a:tcPr>
                </a:tc>
                <a:tc>
                  <a:txBody>
                    <a:bodyPr wrap="square"/>
                    <a:lstStyle/>
                    <a:p>
                      <a:r>
                        <a:rPr b="0" sz="1200" i="0">
                          <a:solidFill>
                            <a:srgbClr val="1A2233"/>
                          </a:solidFill>
                          <a:latin typeface="Calibri"/>
                        </a:rPr>
                        <a:t>Shareholder loan balance BEG</a:t>
                      </a:r>
                    </a:p>
                  </a:txBody>
                  <a:tcPr marL="64008" marR="64008" marT="27432" marB="27432" anchor="ctr">
                    <a:solidFill>
                      <a:srgbClr val="F3F6F9"/>
                    </a:solidFill>
                  </a:tcPr>
                </a:tc>
                <a:tc>
                  <a:txBody>
                    <a:bodyPr wrap="square"/>
                    <a:lstStyle/>
                    <a:p>
                      <a:r>
                        <a:rPr b="0" sz="1200" i="0">
                          <a:solidFill>
                            <a:srgbClr val="1A2233"/>
                          </a:solidFill>
                          <a:latin typeface="Consolas"/>
                        </a:rPr>
                        <a:t>J: =I24</a:t>
                      </a:r>
                    </a:p>
                  </a:txBody>
                  <a:tcPr marL="64008" marR="64008" marT="27432" marB="27432" anchor="ctr">
                    <a:solidFill>
                      <a:srgbClr val="F3F6F9"/>
                    </a:solidFill>
                  </a:tcPr>
                </a:tc>
              </a:tr>
              <a:tr h="329184">
                <a:tc>
                  <a:txBody>
                    <a:bodyPr wrap="square"/>
                    <a:lstStyle/>
                    <a:p>
                      <a:r>
                        <a:rPr b="1" sz="1200" i="0">
                          <a:solidFill>
                            <a:srgbClr val="1A2233"/>
                          </a:solidFill>
                          <a:latin typeface="Calibri"/>
                        </a:rPr>
                        <a:t>20</a:t>
                      </a:r>
                    </a:p>
                  </a:txBody>
                  <a:tcPr marL="64008" marR="64008" marT="27432" marB="27432" anchor="ctr">
                    <a:solidFill>
                      <a:srgbClr val="FFFFFF"/>
                    </a:solidFill>
                  </a:tcPr>
                </a:tc>
                <a:tc>
                  <a:txBody>
                    <a:bodyPr wrap="square"/>
                    <a:lstStyle/>
                    <a:p>
                      <a:r>
                        <a:rPr b="0" sz="1200" i="0">
                          <a:solidFill>
                            <a:srgbClr val="1A2233"/>
                          </a:solidFill>
                          <a:latin typeface="Calibri"/>
                        </a:rPr>
                        <a:t>Interest due</a:t>
                      </a:r>
                    </a:p>
                  </a:txBody>
                  <a:tcPr marL="64008" marR="64008" marT="27432" marB="27432" anchor="ctr">
                    <a:solidFill>
                      <a:srgbClr val="FFFFFF"/>
                    </a:solidFill>
                  </a:tcPr>
                </a:tc>
                <a:tc>
                  <a:txBody>
                    <a:bodyPr wrap="square"/>
                    <a:lstStyle/>
                    <a:p>
                      <a:r>
                        <a:rPr b="0" sz="1200" i="0">
                          <a:solidFill>
                            <a:srgbClr val="1A2233"/>
                          </a:solidFill>
                          <a:latin typeface="Consolas"/>
                        </a:rPr>
                        <a:t>J: =J19*$F$10/$F$11*J18</a:t>
                      </a:r>
                    </a:p>
                  </a:txBody>
                  <a:tcPr marL="64008" marR="64008" marT="27432" marB="27432" anchor="ctr">
                    <a:solidFill>
                      <a:srgbClr val="FFFFFF"/>
                    </a:solidFill>
                  </a:tcPr>
                </a:tc>
              </a:tr>
              <a:tr h="329184">
                <a:tc>
                  <a:txBody>
                    <a:bodyPr wrap="square"/>
                    <a:lstStyle/>
                    <a:p>
                      <a:r>
                        <a:rPr b="1" sz="1200" i="0">
                          <a:solidFill>
                            <a:srgbClr val="1A2233"/>
                          </a:solidFill>
                          <a:latin typeface="Calibri"/>
                        </a:rPr>
                        <a:t>21</a:t>
                      </a:r>
                    </a:p>
                  </a:txBody>
                  <a:tcPr marL="64008" marR="64008" marT="27432" marB="27432" anchor="ctr">
                    <a:solidFill>
                      <a:srgbClr val="F3F6F9"/>
                    </a:solidFill>
                  </a:tcPr>
                </a:tc>
                <a:tc>
                  <a:txBody>
                    <a:bodyPr wrap="square"/>
                    <a:lstStyle/>
                    <a:p>
                      <a:r>
                        <a:rPr b="0" sz="1200" i="0">
                          <a:solidFill>
                            <a:srgbClr val="1A2233"/>
                          </a:solidFill>
                          <a:latin typeface="Calibri"/>
                        </a:rPr>
                        <a:t>Interest paid</a:t>
                      </a:r>
                    </a:p>
                  </a:txBody>
                  <a:tcPr marL="64008" marR="64008" marT="27432" marB="27432" anchor="ctr">
                    <a:solidFill>
                      <a:srgbClr val="F3F6F9"/>
                    </a:solidFill>
                  </a:tcPr>
                </a:tc>
                <a:tc>
                  <a:txBody>
                    <a:bodyPr wrap="square"/>
                    <a:lstStyle/>
                    <a:p>
                      <a:r>
                        <a:rPr b="0" sz="1200" i="0">
                          <a:solidFill>
                            <a:srgbClr val="1A2233"/>
                          </a:solidFill>
                          <a:latin typeface="Consolas"/>
                        </a:rPr>
                        <a:t>J: =MIN(J20,J16)</a:t>
                      </a:r>
                    </a:p>
                  </a:txBody>
                  <a:tcPr marL="64008" marR="64008" marT="27432" marB="27432" anchor="ctr">
                    <a:solidFill>
                      <a:srgbClr val="F3F6F9"/>
                    </a:solidFill>
                  </a:tcPr>
                </a:tc>
              </a:tr>
              <a:tr h="329184">
                <a:tc>
                  <a:txBody>
                    <a:bodyPr wrap="square"/>
                    <a:lstStyle/>
                    <a:p>
                      <a:r>
                        <a:rPr b="1" sz="1200" i="0">
                          <a:solidFill>
                            <a:srgbClr val="1A2233"/>
                          </a:solidFill>
                          <a:latin typeface="Calibri"/>
                        </a:rPr>
                        <a:t>22</a:t>
                      </a:r>
                    </a:p>
                  </a:txBody>
                  <a:tcPr marL="64008" marR="64008" marT="27432" marB="27432" anchor="ctr">
                    <a:solidFill>
                      <a:srgbClr val="FFFFFF"/>
                    </a:solidFill>
                  </a:tcPr>
                </a:tc>
                <a:tc>
                  <a:txBody>
                    <a:bodyPr wrap="square"/>
                    <a:lstStyle/>
                    <a:p>
                      <a:r>
                        <a:rPr b="0" sz="1200" i="0">
                          <a:solidFill>
                            <a:srgbClr val="1A2233"/>
                          </a:solidFill>
                          <a:latin typeface="Calibri"/>
                        </a:rPr>
                        <a:t>Interest capitalised (unpaid)</a:t>
                      </a:r>
                    </a:p>
                  </a:txBody>
                  <a:tcPr marL="64008" marR="64008" marT="27432" marB="27432" anchor="ctr">
                    <a:solidFill>
                      <a:srgbClr val="FFFFFF"/>
                    </a:solidFill>
                  </a:tcPr>
                </a:tc>
                <a:tc>
                  <a:txBody>
                    <a:bodyPr wrap="square"/>
                    <a:lstStyle/>
                    <a:p>
                      <a:r>
                        <a:rPr b="0" sz="1200" i="0">
                          <a:solidFill>
                            <a:srgbClr val="1A2233"/>
                          </a:solidFill>
                          <a:latin typeface="Consolas"/>
                        </a:rPr>
                        <a:t>J: =J20-J21</a:t>
                      </a:r>
                    </a:p>
                  </a:txBody>
                  <a:tcPr marL="64008" marR="64008" marT="27432" marB="27432" anchor="ctr">
                    <a:solidFill>
                      <a:srgbClr val="FFFFFF"/>
                    </a:solidFill>
                  </a:tcPr>
                </a:tc>
              </a:tr>
              <a:tr h="329184">
                <a:tc>
                  <a:txBody>
                    <a:bodyPr wrap="square"/>
                    <a:lstStyle/>
                    <a:p>
                      <a:r>
                        <a:rPr b="1" sz="1200" i="0">
                          <a:solidFill>
                            <a:srgbClr val="1A2233"/>
                          </a:solidFill>
                          <a:latin typeface="Calibri"/>
                        </a:rPr>
                        <a:t>23</a:t>
                      </a:r>
                    </a:p>
                  </a:txBody>
                  <a:tcPr marL="64008" marR="64008" marT="27432" marB="27432" anchor="ctr">
                    <a:solidFill>
                      <a:srgbClr val="F3F6F9"/>
                    </a:solidFill>
                  </a:tcPr>
                </a:tc>
                <a:tc>
                  <a:txBody>
                    <a:bodyPr wrap="square"/>
                    <a:lstStyle/>
                    <a:p>
                      <a:r>
                        <a:rPr b="0" sz="1200" i="0">
                          <a:solidFill>
                            <a:srgbClr val="1A2233"/>
                          </a:solidFill>
                          <a:latin typeface="Calibri"/>
                        </a:rPr>
                        <a:t>Principal repaid</a:t>
                      </a:r>
                    </a:p>
                  </a:txBody>
                  <a:tcPr marL="64008" marR="64008" marT="27432" marB="27432" anchor="ctr">
                    <a:solidFill>
                      <a:srgbClr val="F3F6F9"/>
                    </a:solidFill>
                  </a:tcPr>
                </a:tc>
                <a:tc>
                  <a:txBody>
                    <a:bodyPr wrap="square"/>
                    <a:lstStyle/>
                    <a:p>
                      <a:r>
                        <a:rPr b="0" sz="1200" i="0">
                          <a:solidFill>
                            <a:srgbClr val="1A2233"/>
                          </a:solidFill>
                          <a:latin typeface="Consolas"/>
                        </a:rPr>
                        <a:t>J: =J17*MIN(J19+J22,J16-J21)</a:t>
                      </a:r>
                    </a:p>
                  </a:txBody>
                  <a:tcPr marL="64008" marR="64008" marT="27432" marB="27432" anchor="ctr">
                    <a:solidFill>
                      <a:srgbClr val="F3F6F9"/>
                    </a:solidFill>
                  </a:tcPr>
                </a:tc>
              </a:tr>
              <a:tr h="329184">
                <a:tc>
                  <a:txBody>
                    <a:bodyPr wrap="square"/>
                    <a:lstStyle/>
                    <a:p>
                      <a:r>
                        <a:rPr b="1" sz="1200" i="0">
                          <a:solidFill>
                            <a:srgbClr val="1A2233"/>
                          </a:solidFill>
                          <a:latin typeface="Calibri"/>
                        </a:rPr>
                        <a:t>24</a:t>
                      </a:r>
                    </a:p>
                  </a:txBody>
                  <a:tcPr marL="64008" marR="64008" marT="27432" marB="27432" anchor="ctr">
                    <a:solidFill>
                      <a:srgbClr val="FFFFFF"/>
                    </a:solidFill>
                  </a:tcPr>
                </a:tc>
                <a:tc>
                  <a:txBody>
                    <a:bodyPr wrap="square"/>
                    <a:lstStyle/>
                    <a:p>
                      <a:r>
                        <a:rPr b="0" sz="1200" i="0">
                          <a:solidFill>
                            <a:srgbClr val="1A2233"/>
                          </a:solidFill>
                          <a:latin typeface="Calibri"/>
                        </a:rPr>
                        <a:t>Shareholder loan balance END</a:t>
                      </a:r>
                    </a:p>
                  </a:txBody>
                  <a:tcPr marL="64008" marR="64008" marT="27432" marB="27432" anchor="ctr">
                    <a:solidFill>
                      <a:srgbClr val="FFFFFF"/>
                    </a:solidFill>
                  </a:tcPr>
                </a:tc>
                <a:tc>
                  <a:txBody>
                    <a:bodyPr wrap="square"/>
                    <a:lstStyle/>
                    <a:p>
                      <a:r>
                        <a:rPr b="0" sz="1200" i="0">
                          <a:solidFill>
                            <a:srgbClr val="1A2233"/>
                          </a:solidFill>
                          <a:latin typeface="Consolas"/>
                        </a:rPr>
                        <a:t>J: =IF(Time!J$45=1,$F$13,J19+J22-J23)</a:t>
                      </a:r>
                    </a:p>
                  </a:txBody>
                  <a:tcPr marL="64008" marR="64008" marT="27432" marB="27432"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SHL!J16: cash available for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J16  (to CO16)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Cash available for shareholder loan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=MAX(FinStat!J$43+DSRA!J$17,0)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Cash available after senior debt service and the DSRA: FinStat's cash flow to shareholders plus the DSRA movement; never below zero</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FinStat!J43 = cash flow available to shareholders</a:t>
            </a:r>
          </a:p>
          <a:p>
            <a:pPr algn="l"/>
            <a:r>
              <a:rPr b="0" sz="1300" i="0">
                <a:solidFill>
                  <a:srgbClr val="1A2233"/>
                </a:solidFill>
                <a:latin typeface="Consolas"/>
              </a:rPr>
              <a:t>DSRA!J17 = DSRA (funding) / release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J16:CO16,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J16:CO16,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J16 → CO16</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Positive in every operating quarter in the solved case</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Subordination: the loan is paid only from what is left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SHL!J20: interest due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J20  (to CO20)</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due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=J19*$F$10/$F$11*J18</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Interest due = opening balance × 10% ÷ 360 × days</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F10 = InpC!F$148</a:t>
            </a:r>
          </a:p>
          <a:p>
            <a:pPr algn="l"/>
            <a:r>
              <a:rPr b="0" sz="1300" i="0">
                <a:solidFill>
                  <a:srgbClr val="1A2233"/>
                </a:solidFill>
                <a:latin typeface="Consolas"/>
              </a:rPr>
              <a:t>J18 = Time!J$30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J20:CO20,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F4 cycles the $ signs</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J20:CO20,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Cmd+T (Fn+F4): $ signs</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J20 → CO20</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H20 = 18,824 total interest accrued</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Accrual basis: expensed and tax-deductible even if unpaid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SHL!J21: interest paid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J21  (to CO21)</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Interest paid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=MIN(J20,J16)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Interest paid = the smaller of interest due and cash available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J21:CO21,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J21 → CO21</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H21 = 18,391 (all interest paid in the solved case)</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Cash constrains payment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SHL!J23: principal repaid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J23  (to CO23)</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Principal repaid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=J17*MIN(J19+J22,J16-J21)</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Principal is repaid only after the senior loan is fully repaid (post-senior flag row 17 = 1)</a:t>
            </a:r>
          </a:p>
          <a:p>
            <a:pPr algn="l"/>
            <a:r>
              <a:rPr b="0" sz="1500" i="0">
                <a:solidFill>
                  <a:srgbClr val="1A2233"/>
                </a:solidFill>
                <a:latin typeface="Calibri"/>
              </a:rPr>
              <a:t>▪ Amount = the smaller of (balance + capitalised interest) and the cash left after interest</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J17 = IF(Sculpt!J$11&gt;Sculpt!$F$9,1,0)</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J23:CO23,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J23 → CO23</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H23 = 17,782 repaid after December 2031</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Senior lenders are repaid first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SHL!J24: shareholder loan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SHL</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J24  (to CO24)</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Shareholder loan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=IF(Time!J$45=1,$F$13,J19+J22-J23)</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At COD: the initial balance; otherwise opening + capitalised interest − principal</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J24:CO24,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J24:CO24,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J24 → CO24</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Reaches zero shortly after the senior loan ends</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Roll-forward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INTEGRATION</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Changes to FinStat and Val for the shareholder loan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2779776"/>
        </p:xfrm>
        <a:graphic>
          <a:graphicData uri="http://schemas.openxmlformats.org/drawingml/2006/table">
            <a:tbl>
              <a:tblPr firstRow="1" bandRow="1">
                <a:tableStyleId>{5C22544A-7EE6-4342-B048-85BDC9FD1C3A}</a:tableStyleId>
              </a:tblPr>
              <a:tblGrid>
                <a:gridCol w="1737360"/>
                <a:gridCol w="1371600"/>
                <a:gridCol w="3931920"/>
                <a:gridCol w="4023360"/>
              </a:tblGrid>
              <a:tr h="347472">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Row (final)</a:t>
                      </a:r>
                    </a:p>
                  </a:txBody>
                  <a:tcPr marL="64008" marR="64008" marT="27432" marB="27432" anchor="ctr">
                    <a:solidFill>
                      <a:srgbClr val="141B4D"/>
                    </a:solidFill>
                  </a:tcPr>
                </a:tc>
                <a:tc>
                  <a:txBody>
                    <a:bodyPr wrap="square"/>
                    <a:lstStyle/>
                    <a:p>
                      <a:r>
                        <a:rPr b="1" sz="1200" i="0">
                          <a:solidFill>
                            <a:srgbClr val="FFFFFF"/>
                          </a:solidFill>
                          <a:latin typeface="Calibri"/>
                        </a:rPr>
                        <a:t>Formula (column J)</a:t>
                      </a:r>
                    </a:p>
                  </a:txBody>
                  <a:tcPr marL="64008" marR="64008" marT="27432" marB="27432" anchor="ctr">
                    <a:solidFill>
                      <a:srgbClr val="141B4D"/>
                    </a:solidFill>
                  </a:tcPr>
                </a:tc>
                <a:tc>
                  <a:txBody>
                    <a:bodyPr wrap="square"/>
                    <a:lstStyle/>
                    <a:p>
                      <a:r>
                        <a:rPr b="1" sz="1200" i="0">
                          <a:solidFill>
                            <a:srgbClr val="FFFFFF"/>
                          </a:solidFill>
                          <a:latin typeface="Calibri"/>
                        </a:rPr>
                        <a:t>Purpose</a:t>
                      </a:r>
                    </a:p>
                  </a:txBody>
                  <a:tcPr marL="64008" marR="64008" marT="27432" marB="27432" anchor="ctr">
                    <a:solidFill>
                      <a:srgbClr val="141B4D"/>
                    </a:solidFill>
                  </a:tcPr>
                </a:tc>
              </a:tr>
              <a:tr h="347472">
                <a:tc>
                  <a:txBody>
                    <a:bodyPr wrap="square"/>
                    <a:lstStyle/>
                    <a:p>
                      <a:r>
                        <a:rPr b="1" sz="1200" i="0">
                          <a:solidFill>
                            <a:srgbClr val="1A2233"/>
                          </a:solidFill>
                          <a:latin typeface="Calibri"/>
                        </a:rPr>
                        <a:t>FinStat IS</a:t>
                      </a:r>
                    </a:p>
                  </a:txBody>
                  <a:tcPr marL="64008" marR="64008" marT="27432" marB="27432" anchor="ctr">
                    <a:solidFill>
                      <a:srgbClr val="FFFFFF"/>
                    </a:solidFill>
                  </a:tcPr>
                </a:tc>
                <a:tc>
                  <a:txBody>
                    <a:bodyPr wrap="square"/>
                    <a:lstStyle/>
                    <a:p>
                      <a:r>
                        <a:rPr b="0"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onsolas"/>
                        </a:rPr>
                        <a:t>=SHL!J$25</a:t>
                      </a:r>
                    </a:p>
                  </a:txBody>
                  <a:tcPr marL="64008" marR="64008" marT="27432" marB="27432" anchor="ctr">
                    <a:solidFill>
                      <a:srgbClr val="FFFFFF"/>
                    </a:solidFill>
                  </a:tcPr>
                </a:tc>
                <a:tc>
                  <a:txBody>
                    <a:bodyPr wrap="square"/>
                    <a:lstStyle/>
                    <a:p>
                      <a:r>
                        <a:rPr b="0" sz="1200" i="0">
                          <a:solidFill>
                            <a:srgbClr val="1A2233"/>
                          </a:solidFill>
                          <a:latin typeface="Calibri"/>
                        </a:rPr>
                        <a:t>Shareholder loan interest expense</a:t>
                      </a:r>
                    </a:p>
                  </a:txBody>
                  <a:tcPr marL="64008" marR="64008" marT="27432" marB="27432" anchor="ctr">
                    <a:solidFill>
                      <a:srgbClr val="FFFFFF"/>
                    </a:solidFill>
                  </a:tcPr>
                </a:tc>
              </a:tr>
              <a:tr h="347472">
                <a:tc>
                  <a:txBody>
                    <a:bodyPr wrap="square"/>
                    <a:lstStyle/>
                    <a:p>
                      <a:r>
                        <a:rPr b="1" sz="1200" i="0">
                          <a:solidFill>
                            <a:srgbClr val="1A2233"/>
                          </a:solidFill>
                          <a:latin typeface="Calibri"/>
                        </a:rPr>
                        <a:t>FinStat IS</a:t>
                      </a:r>
                    </a:p>
                  </a:txBody>
                  <a:tcPr marL="64008" marR="64008" marT="27432" marB="27432" anchor="ctr">
                    <a:solidFill>
                      <a:srgbClr val="F3F6F9"/>
                    </a:solidFill>
                  </a:tcPr>
                </a:tc>
                <a:tc>
                  <a:txBody>
                    <a:bodyPr wrap="square"/>
                    <a:lstStyle/>
                    <a:p>
                      <a:r>
                        <a:rPr b="0"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onsolas"/>
                        </a:rPr>
                        <a:t>=J11+SUM(J13:J15)</a:t>
                      </a:r>
                    </a:p>
                  </a:txBody>
                  <a:tcPr marL="64008" marR="64008" marT="27432" marB="27432" anchor="ctr">
                    <a:solidFill>
                      <a:srgbClr val="F3F6F9"/>
                    </a:solidFill>
                  </a:tcPr>
                </a:tc>
                <a:tc>
                  <a:txBody>
                    <a:bodyPr wrap="square"/>
                    <a:lstStyle/>
                    <a:p>
                      <a:r>
                        <a:rPr b="0" sz="1200" i="0">
                          <a:solidFill>
                            <a:srgbClr val="1A2233"/>
                          </a:solidFill>
                          <a:latin typeface="Calibri"/>
                        </a:rPr>
                        <a:t>Profit before tax now includes row 15</a:t>
                      </a:r>
                    </a:p>
                  </a:txBody>
                  <a:tcPr marL="64008" marR="64008" marT="27432" marB="27432" anchor="ctr">
                    <a:solidFill>
                      <a:srgbClr val="F3F6F9"/>
                    </a:solidFill>
                  </a:tcPr>
                </a:tc>
              </a:tr>
              <a:tr h="347472">
                <a:tc>
                  <a:txBody>
                    <a:bodyPr wrap="square"/>
                    <a:lstStyle/>
                    <a:p>
                      <a:r>
                        <a:rPr b="1" sz="1200" i="0">
                          <a:solidFill>
                            <a:srgbClr val="1A2233"/>
                          </a:solidFill>
                          <a:latin typeface="Calibri"/>
                        </a:rPr>
                        <a:t>FinStat cash</a:t>
                      </a:r>
                    </a:p>
                  </a:txBody>
                  <a:tcPr marL="64008" marR="64008" marT="27432" marB="27432" anchor="ctr">
                    <a:solidFill>
                      <a:srgbClr val="FFFFFF"/>
                    </a:solidFill>
                  </a:tcPr>
                </a:tc>
                <a:tc>
                  <a:txBody>
                    <a:bodyPr wrap="square"/>
                    <a:lstStyle/>
                    <a:p>
                      <a:r>
                        <a:rPr b="0" sz="1200" i="0">
                          <a:solidFill>
                            <a:srgbClr val="1A2233"/>
                          </a:solidFill>
                          <a:latin typeface="Calibri"/>
                        </a:rPr>
                        <a:t>45, 46</a:t>
                      </a:r>
                    </a:p>
                  </a:txBody>
                  <a:tcPr marL="64008" marR="64008" marT="27432" marB="27432" anchor="ctr">
                    <a:solidFill>
                      <a:srgbClr val="FFFFFF"/>
                    </a:solidFill>
                  </a:tcPr>
                </a:tc>
                <a:tc>
                  <a:txBody>
                    <a:bodyPr wrap="square"/>
                    <a:lstStyle/>
                    <a:p>
                      <a:r>
                        <a:rPr b="0" sz="1200" i="0">
                          <a:solidFill>
                            <a:srgbClr val="1A2233"/>
                          </a:solidFill>
                          <a:latin typeface="Consolas"/>
                        </a:rPr>
                        <a:t>=SHL!J$26, =SHL!J$27</a:t>
                      </a:r>
                    </a:p>
                  </a:txBody>
                  <a:tcPr marL="64008" marR="64008" marT="27432" marB="27432" anchor="ctr">
                    <a:solidFill>
                      <a:srgbClr val="FFFFFF"/>
                    </a:solidFill>
                  </a:tcPr>
                </a:tc>
                <a:tc>
                  <a:txBody>
                    <a:bodyPr wrap="square"/>
                    <a:lstStyle/>
                    <a:p>
                      <a:r>
                        <a:rPr b="0" sz="1200" i="0">
                          <a:solidFill>
                            <a:srgbClr val="1A2233"/>
                          </a:solidFill>
                          <a:latin typeface="Calibri"/>
                        </a:rPr>
                        <a:t>Loan interest and principal paid</a:t>
                      </a:r>
                    </a:p>
                  </a:txBody>
                  <a:tcPr marL="64008" marR="64008" marT="27432" marB="27432" anchor="ctr">
                    <a:solidFill>
                      <a:srgbClr val="FFFFFF"/>
                    </a:solidFill>
                  </a:tcPr>
                </a:tc>
              </a:tr>
              <a:tr h="347472">
                <a:tc>
                  <a:txBody>
                    <a:bodyPr wrap="square"/>
                    <a:lstStyle/>
                    <a:p>
                      <a:r>
                        <a:rPr b="1" sz="1200" i="0">
                          <a:solidFill>
                            <a:srgbClr val="1A2233"/>
                          </a:solidFill>
                          <a:latin typeface="Calibri"/>
                        </a:rPr>
                        <a:t>FinStat BS</a:t>
                      </a:r>
                    </a:p>
                  </a:txBody>
                  <a:tcPr marL="64008" marR="64008" marT="27432" marB="27432" anchor="ctr">
                    <a:solidFill>
                      <a:srgbClr val="F3F6F9"/>
                    </a:solidFill>
                  </a:tcPr>
                </a:tc>
                <a:tc>
                  <a:txBody>
                    <a:bodyPr wrap="square"/>
                    <a:lstStyle/>
                    <a:p>
                      <a:r>
                        <a:rPr b="0" sz="1200" i="0">
                          <a:solidFill>
                            <a:srgbClr val="1A2233"/>
                          </a:solidFill>
                          <a:latin typeface="Calibri"/>
                        </a:rPr>
                        <a:t>71</a:t>
                      </a:r>
                    </a:p>
                  </a:txBody>
                  <a:tcPr marL="64008" marR="64008" marT="27432" marB="27432" anchor="ctr">
                    <a:solidFill>
                      <a:srgbClr val="F3F6F9"/>
                    </a:solidFill>
                  </a:tcPr>
                </a:tc>
                <a:tc>
                  <a:txBody>
                    <a:bodyPr wrap="square"/>
                    <a:lstStyle/>
                    <a:p>
                      <a:r>
                        <a:rPr b="0" sz="1200" i="0">
                          <a:solidFill>
                            <a:srgbClr val="1A2233"/>
                          </a:solidFill>
                          <a:latin typeface="Consolas"/>
                        </a:rPr>
                        <a:t>=SHL!J$24</a:t>
                      </a:r>
                    </a:p>
                  </a:txBody>
                  <a:tcPr marL="64008" marR="64008" marT="27432" marB="27432" anchor="ctr">
                    <a:solidFill>
                      <a:srgbClr val="F3F6F9"/>
                    </a:solidFill>
                  </a:tcPr>
                </a:tc>
                <a:tc>
                  <a:txBody>
                    <a:bodyPr wrap="square"/>
                    <a:lstStyle/>
                    <a:p>
                      <a:r>
                        <a:rPr b="0" sz="1200" i="0">
                          <a:solidFill>
                            <a:srgbClr val="1A2233"/>
                          </a:solidFill>
                          <a:latin typeface="Calibri"/>
                        </a:rPr>
                        <a:t>Shareholder loan as a liability</a:t>
                      </a:r>
                    </a:p>
                  </a:txBody>
                  <a:tcPr marL="64008" marR="64008" marT="27432" marB="27432" anchor="ctr">
                    <a:solidFill>
                      <a:srgbClr val="F3F6F9"/>
                    </a:solidFill>
                  </a:tcPr>
                </a:tc>
              </a:tr>
              <a:tr h="347472">
                <a:tc>
                  <a:txBody>
                    <a:bodyPr wrap="square"/>
                    <a:lstStyle/>
                    <a:p>
                      <a:r>
                        <a:rPr b="1" sz="1200" i="0">
                          <a:solidFill>
                            <a:srgbClr val="1A2233"/>
                          </a:solidFill>
                          <a:latin typeface="Calibri"/>
                        </a:rPr>
                        <a:t>Tax</a:t>
                      </a:r>
                    </a:p>
                  </a:txBody>
                  <a:tcPr marL="64008" marR="64008" marT="27432" marB="27432" anchor="ctr">
                    <a:solidFill>
                      <a:srgbClr val="FFFFFF"/>
                    </a:solidFill>
                  </a:tcPr>
                </a:tc>
                <a:tc>
                  <a:txBody>
                    <a:bodyPr wrap="square"/>
                    <a:lstStyle/>
                    <a:p>
                      <a:r>
                        <a:rPr b="0" sz="1200" i="0">
                          <a:solidFill>
                            <a:srgbClr val="1A2233"/>
                          </a:solidFill>
                          <a:latin typeface="Calibri"/>
                        </a:rPr>
                        <a:t>26</a:t>
                      </a:r>
                    </a:p>
                  </a:txBody>
                  <a:tcPr marL="64008" marR="64008" marT="27432" marB="27432" anchor="ctr">
                    <a:solidFill>
                      <a:srgbClr val="FFFFFF"/>
                    </a:solidFill>
                  </a:tcPr>
                </a:tc>
                <a:tc>
                  <a:txBody>
                    <a:bodyPr wrap="square"/>
                    <a:lstStyle/>
                    <a:p>
                      <a:r>
                        <a:rPr b="0" sz="1200" i="0">
                          <a:solidFill>
                            <a:srgbClr val="1A2233"/>
                          </a:solidFill>
                          <a:latin typeface="Consolas"/>
                        </a:rPr>
                        <a:t>=Debt!J$33+SHL!J$20</a:t>
                      </a:r>
                    </a:p>
                  </a:txBody>
                  <a:tcPr marL="64008" marR="64008" marT="27432" marB="27432" anchor="ctr">
                    <a:solidFill>
                      <a:srgbClr val="FFFFFF"/>
                    </a:solidFill>
                  </a:tcPr>
                </a:tc>
                <a:tc>
                  <a:txBody>
                    <a:bodyPr wrap="square"/>
                    <a:lstStyle/>
                    <a:p>
                      <a:r>
                        <a:rPr b="0" sz="1200" i="0">
                          <a:solidFill>
                            <a:srgbClr val="1A2233"/>
                          </a:solidFill>
                          <a:latin typeface="Calibri"/>
                        </a:rPr>
                        <a:t>Interest deduction includes the loan</a:t>
                      </a:r>
                    </a:p>
                  </a:txBody>
                  <a:tcPr marL="64008" marR="64008" marT="27432" marB="27432" anchor="ctr">
                    <a:solidFill>
                      <a:srgbClr val="FFFFFF"/>
                    </a:solidFill>
                  </a:tcPr>
                </a:tc>
              </a:tr>
              <a:tr h="347472">
                <a:tc>
                  <a:txBody>
                    <a:bodyPr wrap="square"/>
                    <a:lstStyle/>
                    <a:p>
                      <a:r>
                        <a:rPr b="1" sz="1200" i="0">
                          <a:solidFill>
                            <a:srgbClr val="1A2233"/>
                          </a:solidFill>
                          <a:latin typeface="Calibri"/>
                        </a:rPr>
                        <a:t>Equity</a:t>
                      </a:r>
                    </a:p>
                  </a:txBody>
                  <a:tcPr marL="64008" marR="64008" marT="27432" marB="27432" anchor="ctr">
                    <a:solidFill>
                      <a:srgbClr val="F3F6F9"/>
                    </a:solidFill>
                  </a:tcPr>
                </a:tc>
                <a:tc>
                  <a:txBody>
                    <a:bodyPr wrap="square"/>
                    <a:lstStyle/>
                    <a:p>
                      <a:r>
                        <a:rPr b="0" sz="1200" i="0">
                          <a:solidFill>
                            <a:srgbClr val="1A2233"/>
                          </a:solidFill>
                          <a:latin typeface="Calibri"/>
                        </a:rPr>
                        <a:t>F16</a:t>
                      </a:r>
                    </a:p>
                  </a:txBody>
                  <a:tcPr marL="64008" marR="64008" marT="27432" marB="27432" anchor="ctr">
                    <a:solidFill>
                      <a:srgbClr val="F3F6F9"/>
                    </a:solidFill>
                  </a:tcPr>
                </a:tc>
                <a:tc>
                  <a:txBody>
                    <a:bodyPr wrap="square"/>
                    <a:lstStyle/>
                    <a:p>
                      <a:r>
                        <a:rPr b="0" sz="1200" i="0">
                          <a:solidFill>
                            <a:srgbClr val="1A2233"/>
                          </a:solidFill>
                          <a:latin typeface="Consolas"/>
                        </a:rPr>
                        <a:t>=SHL!$F$14</a:t>
                      </a:r>
                    </a:p>
                  </a:txBody>
                  <a:tcPr marL="64008" marR="64008" marT="27432" marB="27432" anchor="ctr">
                    <a:solidFill>
                      <a:srgbClr val="F3F6F9"/>
                    </a:solidFill>
                  </a:tcPr>
                </a:tc>
                <a:tc>
                  <a:txBody>
                    <a:bodyPr wrap="square"/>
                    <a:lstStyle/>
                    <a:p>
                      <a:r>
                        <a:rPr b="0" sz="1200" i="0">
                          <a:solidFill>
                            <a:srgbClr val="1A2233"/>
                          </a:solidFill>
                          <a:latin typeface="Calibri"/>
                        </a:rPr>
                        <a:t>Share capital initial balance</a:t>
                      </a:r>
                    </a:p>
                  </a:txBody>
                  <a:tcPr marL="64008" marR="64008" marT="27432" marB="27432" anchor="ctr">
                    <a:solidFill>
                      <a:srgbClr val="F3F6F9"/>
                    </a:solidFill>
                  </a:tcPr>
                </a:tc>
              </a:tr>
              <a:tr h="347472">
                <a:tc>
                  <a:txBody>
                    <a:bodyPr wrap="square"/>
                    <a:lstStyle/>
                    <a:p>
                      <a:r>
                        <a:rPr b="1" sz="1200" i="0">
                          <a:solidFill>
                            <a:srgbClr val="1A2233"/>
                          </a:solidFill>
                          <a:latin typeface="Calibri"/>
                        </a:rPr>
                        <a:t>Val</a:t>
                      </a:r>
                    </a:p>
                  </a:txBody>
                  <a:tcPr marL="64008" marR="64008" marT="27432" marB="27432" anchor="ctr">
                    <a:solidFill>
                      <a:srgbClr val="FFFFFF"/>
                    </a:solidFill>
                  </a:tcPr>
                </a:tc>
                <a:tc>
                  <a:txBody>
                    <a:bodyPr wrap="square"/>
                    <a:lstStyle/>
                    <a:p>
                      <a:r>
                        <a:rPr b="0" sz="1200" i="0">
                          <a:solidFill>
                            <a:srgbClr val="1A2233"/>
                          </a:solidFill>
                          <a:latin typeface="Calibri"/>
                        </a:rPr>
                        <a:t>23, 24, 27</a:t>
                      </a:r>
                    </a:p>
                  </a:txBody>
                  <a:tcPr marL="64008" marR="64008" marT="27432" marB="27432" anchor="ctr">
                    <a:solidFill>
                      <a:srgbClr val="FFFFFF"/>
                    </a:solidFill>
                  </a:tcPr>
                </a:tc>
                <a:tc>
                  <a:txBody>
                    <a:bodyPr wrap="square"/>
                    <a:lstStyle/>
                    <a:p>
                      <a:r>
                        <a:rPr b="0" sz="1200" i="0">
                          <a:solidFill>
                            <a:srgbClr val="1A2233"/>
                          </a:solidFill>
                          <a:latin typeface="Consolas"/>
                        </a:rPr>
                        <a:t>=SHL!J$21, =SHL!J$23, =SHL!F$12</a:t>
                      </a:r>
                    </a:p>
                  </a:txBody>
                  <a:tcPr marL="64008" marR="64008" marT="27432" marB="27432" anchor="ctr">
                    <a:solidFill>
                      <a:srgbClr val="FFFFFF"/>
                    </a:solidFill>
                  </a:tcPr>
                </a:tc>
                <a:tc>
                  <a:txBody>
                    <a:bodyPr wrap="square"/>
                    <a:lstStyle/>
                    <a:p>
                      <a:r>
                        <a:rPr b="0" sz="1200" i="0">
                          <a:solidFill>
                            <a:srgbClr val="1A2233"/>
                          </a:solidFill>
                          <a:latin typeface="Calibri"/>
                        </a:rPr>
                        <a:t>Blended sponsor cash flows</a:t>
                      </a:r>
                    </a:p>
                  </a:txBody>
                  <a:tcPr marL="64008" marR="64008" marT="27432" marB="27432" anchor="ctr">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INTEGRATE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Insert rows and fix the totals (FinStat)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row below where you want the new row: click the row number (e.g. row 15) or </a:t>
            </a:r>
            <a:r>
              <a:rPr b="0" sz="1600" i="0">
                <a:solidFill>
                  <a:srgbClr val="0B5E82"/>
                </a:solidFill>
                <a:latin typeface="Consolas"/>
              </a:rPr>
              <a:t>Shift+Space</a:t>
            </a:r>
            <a:r>
              <a:rPr b="0" sz="1600" i="0">
                <a:solidFill>
                  <a:srgbClr val="1A2233"/>
                </a:solidFill>
                <a:latin typeface="Calibri"/>
              </a:rPr>
              <a:t>.</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Insert: </a:t>
            </a:r>
            <a:r>
              <a:rPr b="0" sz="1600" i="0">
                <a:solidFill>
                  <a:srgbClr val="0B5E82"/>
                </a:solidFill>
                <a:latin typeface="Consolas"/>
              </a:rPr>
              <a:t>Ctrl+Shift++</a:t>
            </a:r>
            <a:r>
              <a:rPr b="0" sz="1600" i="0">
                <a:solidFill>
                  <a:srgbClr val="1A2233"/>
                </a:solidFill>
                <a:latin typeface="Calibri"/>
              </a:rPr>
              <a:t> (Win) / </a:t>
            </a:r>
            <a:r>
              <a:rPr b="0" sz="1600" i="0">
                <a:solidFill>
                  <a:srgbClr val="0B5E82"/>
                </a:solidFill>
                <a:latin typeface="Consolas"/>
              </a:rPr>
              <a:t>Cmd+Shift++</a:t>
            </a:r>
            <a:r>
              <a:rPr b="0" sz="1600" i="0">
                <a:solidFill>
                  <a:srgbClr val="1A2233"/>
                </a:solidFill>
                <a:latin typeface="Calibri"/>
              </a:rPr>
              <a:t> (Mac). Repeat for 3 rows at the cascade and 1 each on the balance sheet.</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Fill the new rows with pulls from SHL and DSRA: </a:t>
            </a:r>
            <a:r>
              <a:rPr b="0" sz="1600" i="0">
                <a:solidFill>
                  <a:srgbClr val="0B5E82"/>
                </a:solidFill>
                <a:latin typeface="Consolas"/>
              </a:rPr>
              <a:t>Ctrl+G</a:t>
            </a:r>
            <a:r>
              <a:rPr b="0" sz="1600" i="0">
                <a:solidFill>
                  <a:srgbClr val="1A2233"/>
                </a:solidFill>
                <a:latin typeface="Calibri"/>
              </a:rPr>
              <a:t> J15:CO15, type </a:t>
            </a:r>
            <a:r>
              <a:rPr b="0" sz="1600" i="0">
                <a:solidFill>
                  <a:srgbClr val="0B5E82"/>
                </a:solidFill>
                <a:latin typeface="Consolas"/>
              </a:rPr>
              <a:t>=SHL!J$25</a:t>
            </a:r>
            <a:r>
              <a:rPr b="0" sz="1600" i="0">
                <a:solidFill>
                  <a:srgbClr val="1A2233"/>
                </a:solidFill>
                <a:latin typeface="Calibri"/>
              </a:rPr>
              <a:t>, </a:t>
            </a:r>
            <a:r>
              <a:rPr b="0" sz="1600" i="0">
                <a:solidFill>
                  <a:srgbClr val="0B5E82"/>
                </a:solidFill>
                <a:latin typeface="Consolas"/>
              </a:rPr>
              <a:t>Ctrl+Enter</a:t>
            </a:r>
            <a:r>
              <a:rPr b="0" sz="1600" i="0">
                <a:solidFill>
                  <a:srgbClr val="1A2233"/>
                </a:solidFill>
                <a:latin typeface="Calibri"/>
              </a:rPr>
              <a:t>.</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1" sz="1600" i="0">
                <a:solidFill>
                  <a:srgbClr val="1A2233"/>
                </a:solidFill>
                <a:latin typeface="Calibri"/>
              </a:rPr>
              <a:t>Fix totals that do not grow automatically</a:t>
            </a:r>
            <a:r>
              <a:rPr b="0" sz="1600" i="0">
                <a:solidFill>
                  <a:srgbClr val="1A2233"/>
                </a:solidFill>
                <a:latin typeface="Calibri"/>
              </a:rPr>
              <a:t>: PBT </a:t>
            </a:r>
            <a:r>
              <a:rPr b="0" sz="1600" i="0">
                <a:solidFill>
                  <a:srgbClr val="0B5E82"/>
                </a:solidFill>
                <a:latin typeface="Consolas"/>
              </a:rPr>
              <a:t>=J11+SUM(J13:J15)</a:t>
            </a:r>
            <a:r>
              <a:rPr b="0" sz="1600" i="0">
                <a:solidFill>
                  <a:srgbClr val="1A2233"/>
                </a:solidFill>
                <a:latin typeface="Calibri"/>
              </a:rPr>
              <a:t>; CF available for dividends </a:t>
            </a:r>
            <a:r>
              <a:rPr b="0" sz="1600" i="0">
                <a:solidFill>
                  <a:srgbClr val="0B5E82"/>
                </a:solidFill>
                <a:latin typeface="Consolas"/>
              </a:rPr>
              <a:t>=J43+SUM(J44:J48)</a:t>
            </a:r>
            <a:r>
              <a:rPr b="0" sz="1600" i="0">
                <a:solidFill>
                  <a:srgbClr val="1A2233"/>
                </a:solidFill>
                <a:latin typeface="Calibri"/>
              </a:rPr>
              <a:t>; total assets </a:t>
            </a:r>
            <a:r>
              <a:rPr b="0" sz="1600" i="0">
                <a:solidFill>
                  <a:srgbClr val="0B5E82"/>
                </a:solidFill>
                <a:latin typeface="Consolas"/>
              </a:rPr>
              <a:t>=SUM(J62:J65)</a:t>
            </a:r>
            <a:r>
              <a:rPr b="0" sz="1600" i="0">
                <a:solidFill>
                  <a:srgbClr val="1A2233"/>
                </a:solidFill>
                <a:latin typeface="Calibri"/>
              </a:rPr>
              <a:t>; total liabilities </a:t>
            </a:r>
            <a:r>
              <a:rPr b="0" sz="1600" i="0">
                <a:solidFill>
                  <a:srgbClr val="0B5E82"/>
                </a:solidFill>
                <a:latin typeface="Consolas"/>
              </a:rPr>
              <a:t>=SUM(J69:J74)</a:t>
            </a:r>
            <a:r>
              <a:rPr b="0" sz="1600" i="0">
                <a:solidFill>
                  <a:srgbClr val="1A2233"/>
                </a:solidFill>
                <a:latin typeface="Calibri"/>
              </a:rPr>
              <a:t>.</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Check FinStat F86 (balance sheet), F83 and F80 = 0.</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Excel updates references on other sheets when you insert rows: always insert, never cut and paste rows.</a:t>
            </a:r>
          </a:p>
        </p:txBody>
      </p:sp>
      <p:sp>
        <p:nvSpPr>
          <p:cNvPr id="23" name="Rectangle 22"/>
          <p:cNvSpPr/>
          <p:nvPr/>
        </p:nvSpPr>
        <p:spPr>
          <a:xfrm>
            <a:off x="548640" y="5486400"/>
            <a:ext cx="11064240" cy="68580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A SUM range grows only if you insert INSIDE it. Rows added at the edge need the range edited by hand.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57</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7.4: Blended sponsor return</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SHL, integrate into FinStat and Val, and report the blended IRR.</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SHL rows 9 to 27</a:t>
            </a:r>
          </a:p>
          <a:p>
            <a:pPr>
              <a:spcAft>
                <a:spcPts val="300"/>
              </a:spcAft>
            </a:pPr>
            <a:r>
              <a:rPr b="0" sz="1500" i="0">
                <a:solidFill>
                  <a:srgbClr val="1A2233"/>
                </a:solidFill>
                <a:latin typeface="Calibri"/>
              </a:rPr>
              <a:t>2.  Re-point Equity!F16, add Tax interest, extend FinStat rows 15, 44 to 46, 65, 71</a:t>
            </a:r>
          </a:p>
          <a:p>
            <a:pPr>
              <a:spcAft>
                <a:spcPts val="300"/>
              </a:spcAft>
            </a:pPr>
            <a:r>
              <a:rPr b="0" sz="1500" i="0">
                <a:solidFill>
                  <a:srgbClr val="1A2233"/>
                </a:solidFill>
                <a:latin typeface="Calibri"/>
              </a:rPr>
              <a:t>3.  Val: add loan interest and principal as inflows; the initial outflow becomes the full sponsor funding</a:t>
            </a:r>
          </a:p>
          <a:p>
            <a:pPr>
              <a:spcAft>
                <a:spcPts val="300"/>
              </a:spcAft>
            </a:pPr>
            <a:r>
              <a:rPr b="0" sz="1500" i="0">
                <a:solidFill>
                  <a:srgbClr val="1A2233"/>
                </a:solidFill>
                <a:latin typeface="Calibri"/>
              </a:rPr>
              <a:t>4.  Read Val!F51 (XIRR) and compare with the equity-only return</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45 min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58</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14.45 – 15.30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5: Debt service reserve account (DSRA)</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A cash cushion lenders insist on.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59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CONCEPT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The DSRA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IN PLAIN ENGLISH</a:t>
            </a:r>
          </a:p>
        </p:txBody>
      </p:sp>
      <p:sp>
        <p:nvSpPr>
          <p:cNvPr id="12" name="TextBox 11"/>
          <p:cNvSpPr txBox="1"/>
          <p:nvPr/>
        </p:nvSpPr>
        <p:spPr>
          <a:xfrm>
            <a:off x="640080" y="1783080"/>
            <a:ext cx="10881360" cy="1234440"/>
          </a:xfrm>
          <a:prstGeom prst="rect">
            <a:avLst/>
          </a:prstGeom>
          <a:noFill/>
        </p:spPr>
        <p:txBody>
          <a:bodyPr wrap="square" lIns="45720" rIns="45720" tIns="27432" bIns="27432" anchor="t">
            <a:spAutoFit/>
          </a:bodyPr>
          <a:lstStyle/>
          <a:p>
            <a:pPr algn="l"/>
            <a:r>
              <a:rPr b="0" sz="1900" i="0">
                <a:solidFill>
                  <a:srgbClr val="1A2233"/>
                </a:solidFill>
                <a:latin typeface="Calibri"/>
              </a:rPr>
              <a:t>The DSRA is a bank account that holds cash equal to the next few months of debt service. If cash flow dips, the project draws on the account instead of defaulting. It is funded from project cash after senior debt service and before the shareholder loan or dividends.</a:t>
            </a:r>
          </a:p>
        </p:txBody>
      </p:sp>
      <p:sp>
        <p:nvSpPr>
          <p:cNvPr id="13" name="Rectangle 12"/>
          <p:cNvSpPr/>
          <p:nvPr/>
        </p:nvSpPr>
        <p:spPr>
          <a:xfrm>
            <a:off x="640080" y="3108960"/>
            <a:ext cx="10881360" cy="64008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b="1" sz="2000" i="0">
                <a:solidFill>
                  <a:srgbClr val="141B4D"/>
                </a:solidFill>
                <a:latin typeface="Consolas"/>
              </a:rPr>
              <a:t>Target_t = debt service in the next n quarters;  Funding = MIN(shortfall, cash available);  Release = excess over target</a:t>
            </a:r>
          </a:p>
        </p:txBody>
      </p:sp>
      <p:sp>
        <p:nvSpPr>
          <p:cNvPr id="14" name="TextBox 13"/>
          <p:cNvSpPr txBox="1"/>
          <p:nvPr/>
        </p:nvSpPr>
        <p:spPr>
          <a:xfrm>
            <a:off x="640080" y="3886200"/>
            <a:ext cx="3657600" cy="274320"/>
          </a:xfrm>
          <a:prstGeom prst="rect">
            <a:avLst/>
          </a:prstGeom>
          <a:noFill/>
        </p:spPr>
        <p:txBody>
          <a:bodyPr wrap="square" lIns="45720" rIns="45720" tIns="27432" bIns="27432" anchor="t">
            <a:spAutoFit/>
          </a:bodyPr>
          <a:lstStyle/>
          <a:p>
            <a:pPr algn="l"/>
            <a:r>
              <a:rPr b="1" sz="1100" i="0">
                <a:solidFill>
                  <a:srgbClr val="A8700F"/>
                </a:solidFill>
                <a:latin typeface="Calibri"/>
              </a:rPr>
              <a:t>WORKED EXAMPLE</a:t>
            </a:r>
          </a:p>
        </p:txBody>
      </p:sp>
      <p:sp>
        <p:nvSpPr>
          <p:cNvPr id="15" name="TextBox 14"/>
          <p:cNvSpPr txBox="1"/>
          <p:nvPr/>
        </p:nvSpPr>
        <p:spPr>
          <a:xfrm>
            <a:off x="640080" y="4160520"/>
            <a:ext cx="10881360" cy="1325879"/>
          </a:xfrm>
          <a:prstGeom prst="rect">
            <a:avLst/>
          </a:prstGeom>
          <a:noFill/>
        </p:spPr>
        <p:txBody>
          <a:bodyPr wrap="square" lIns="45720" rIns="45720" tIns="27432" bIns="27432" anchor="t">
            <a:spAutoFit/>
          </a:bodyPr>
          <a:lstStyle/>
          <a:p>
            <a:pPr algn="l"/>
            <a:r>
              <a:rPr b="0" sz="1600" i="0">
                <a:solidFill>
                  <a:srgbClr val="1A2233"/>
                </a:solidFill>
                <a:latin typeface="Calibri"/>
              </a:rPr>
              <a:t>Cover: next 2 quarters (6 months) of senior debt service (InpC!F143)</a:t>
            </a:r>
          </a:p>
          <a:p>
            <a:pPr algn="l"/>
            <a:r>
              <a:rPr b="0" sz="1600" i="0">
                <a:solidFill>
                  <a:srgbClr val="1A2233"/>
                </a:solidFill>
                <a:latin typeface="Calibri"/>
              </a:rPr>
              <a:t>Peak balance in the solved case ≈ 6,530</a:t>
            </a:r>
          </a:p>
          <a:p>
            <a:pPr algn="l"/>
            <a:r>
              <a:rPr b="0" sz="1600" i="0">
                <a:solidFill>
                  <a:srgbClr val="1A2233"/>
                </a:solidFill>
                <a:latin typeface="Calibri"/>
              </a:rPr>
              <a:t>Released as the loan matures; any remaining balance returns to shareholders</a:t>
            </a:r>
          </a:p>
        </p:txBody>
      </p:sp>
      <p:sp>
        <p:nvSpPr>
          <p:cNvPr id="16" name="Rectangle 15"/>
          <p:cNvSpPr/>
          <p:nvPr/>
        </p:nvSpPr>
        <p:spPr>
          <a:xfrm>
            <a:off x="640080" y="5532120"/>
            <a:ext cx="10881360" cy="73152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532120"/>
            <a:ext cx="82296" cy="73152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532120"/>
            <a:ext cx="10652760" cy="731520"/>
          </a:xfrm>
          <a:prstGeom prst="rect">
            <a:avLst/>
          </a:prstGeom>
          <a:noFill/>
        </p:spPr>
        <p:txBody>
          <a:bodyPr wrap="square" lIns="45720" rIns="45720" tIns="27432" bIns="27432" anchor="ctr">
            <a:spAutoFit/>
          </a:bodyPr>
          <a:lstStyle/>
          <a:p>
            <a:pPr algn="l"/>
            <a:r>
              <a:rPr b="0" sz="1400" i="0">
                <a:solidFill>
                  <a:srgbClr val="1A2233"/>
                </a:solidFill>
                <a:latin typeface="Calibri"/>
              </a:rPr>
              <a:t>The DSRA delays dividends in the first years: it improves lenders' comfort at a cost to equity timing.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BLUEPRINT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 block (rows 9 to 18)</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782567"/>
        </p:xfrm>
        <a:graphic>
          <a:graphicData uri="http://schemas.openxmlformats.org/drawingml/2006/table">
            <a:tbl>
              <a:tblPr firstRow="1" bandRow="1">
                <a:tableStyleId>{5C22544A-7EE6-4342-B048-85BDC9FD1C3A}</a:tableStyleId>
              </a:tblPr>
              <a:tblGrid>
                <a:gridCol w="640080"/>
                <a:gridCol w="3931920"/>
                <a:gridCol w="6492240"/>
              </a:tblGrid>
              <a:tr h="329184">
                <a:tc>
                  <a:txBody>
                    <a:bodyPr wrap="square"/>
                    <a:lstStyle/>
                    <a:p>
                      <a:r>
                        <a:rPr b="1" sz="1200" i="0">
                          <a:solidFill>
                            <a:srgbClr val="FFFFFF"/>
                          </a:solidFill>
                          <a:latin typeface="Calibri"/>
                        </a:rPr>
                        <a:t>Row</a:t>
                      </a:r>
                    </a:p>
                  </a:txBody>
                  <a:tcPr marL="64008" marR="64008" marT="27432" marB="27432" anchor="ctr">
                    <a:solidFill>
                      <a:srgbClr val="141B4D"/>
                    </a:solidFill>
                  </a:tcPr>
                </a:tc>
                <a:tc>
                  <a:txBody>
                    <a:bodyPr wrap="square"/>
                    <a:lstStyle/>
                    <a:p>
                      <a:r>
                        <a:rPr b="1" sz="1200" i="0">
                          <a:solidFill>
                            <a:srgbClr val="FFFFFF"/>
                          </a:solidFill>
                          <a:latin typeface="Calibri"/>
                        </a:rPr>
                        <a:t>What the row holds</a:t>
                      </a:r>
                    </a:p>
                  </a:txBody>
                  <a:tcPr marL="64008" marR="64008" marT="27432" marB="27432" anchor="ctr">
                    <a:solidFill>
                      <a:srgbClr val="141B4D"/>
                    </a:solidFill>
                  </a:tcPr>
                </a:tc>
                <a:tc>
                  <a:txBody>
                    <a:bodyPr wrap="square"/>
                    <a:lstStyle/>
                    <a:p>
                      <a:r>
                        <a:rPr b="1" sz="1200" i="0">
                          <a:solidFill>
                            <a:srgbClr val="FFFFFF"/>
                          </a:solidFill>
                          <a:latin typeface="Calibri"/>
                        </a:rPr>
                        <a:t>Formula (first timeline column)</a:t>
                      </a:r>
                    </a:p>
                  </a:txBody>
                  <a:tcPr marL="64008" marR="64008" marT="27432" marB="27432" anchor="ctr">
                    <a:solidFill>
                      <a:srgbClr val="141B4D"/>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DSRA cover (periods of debt service)</a:t>
                      </a:r>
                    </a:p>
                  </a:txBody>
                  <a:tcPr marL="64008" marR="64008" marT="27432" marB="27432" anchor="ctr">
                    <a:solidFill>
                      <a:srgbClr val="FFFFFF"/>
                    </a:solidFill>
                  </a:tcPr>
                </a:tc>
                <a:tc>
                  <a:txBody>
                    <a:bodyPr wrap="square"/>
                    <a:lstStyle/>
                    <a:p>
                      <a:r>
                        <a:rPr b="0" sz="1200" i="0">
                          <a:solidFill>
                            <a:srgbClr val="1A2233"/>
                          </a:solidFill>
                          <a:latin typeface="Consolas"/>
                        </a:rPr>
                        <a:t>F: =InpC!F$143</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Operating period counter</a:t>
                      </a:r>
                    </a:p>
                  </a:txBody>
                  <a:tcPr marL="64008" marR="64008" marT="27432" marB="27432" anchor="ctr">
                    <a:solidFill>
                      <a:srgbClr val="F3F6F9"/>
                    </a:solidFill>
                  </a:tcPr>
                </a:tc>
                <a:tc>
                  <a:txBody>
                    <a:bodyPr wrap="square"/>
                    <a:lstStyle/>
                    <a:p>
                      <a:r>
                        <a:rPr b="0" sz="1200" i="0">
                          <a:solidFill>
                            <a:srgbClr val="1A2233"/>
                          </a:solidFill>
                          <a:latin typeface="Consolas"/>
                        </a:rPr>
                        <a:t>J: =Sculpt!J$11</a:t>
                      </a:r>
                    </a:p>
                  </a:txBody>
                  <a:tcPr marL="64008" marR="64008" marT="27432" marB="27432" anchor="ctr">
                    <a:solidFill>
                      <a:srgbClr val="F3F6F9"/>
                    </a:solidFill>
                  </a:tcPr>
                </a:tc>
              </a:tr>
              <a:tr h="329184">
                <a:tc>
                  <a:txBody>
                    <a:bodyPr wrap="square"/>
                    <a:lstStyle/>
                    <a:p>
                      <a:r>
                        <a:rPr b="1" sz="1200" i="0">
                          <a:solidFill>
                            <a:srgbClr val="1A2233"/>
                          </a:solidFill>
                          <a:latin typeface="Calibri"/>
                        </a:rPr>
                        <a:t>11</a:t>
                      </a:r>
                    </a:p>
                  </a:txBody>
                  <a:tcPr marL="64008" marR="64008" marT="27432" marB="27432" anchor="ctr">
                    <a:solidFill>
                      <a:srgbClr val="FFFFFF"/>
                    </a:solidFill>
                  </a:tcPr>
                </a:tc>
                <a:tc>
                  <a:txBody>
                    <a:bodyPr wrap="square"/>
                    <a:lstStyle/>
                    <a:p>
                      <a:r>
                        <a:rPr b="0" sz="1200" i="0">
                          <a:solidFill>
                            <a:srgbClr val="1A2233"/>
                          </a:solidFill>
                          <a:latin typeface="Calibri"/>
                        </a:rPr>
                        <a:t>Senior debt service</a:t>
                      </a:r>
                    </a:p>
                  </a:txBody>
                  <a:tcPr marL="64008" marR="64008" marT="27432" marB="27432" anchor="ctr">
                    <a:solidFill>
                      <a:srgbClr val="FFFFFF"/>
                    </a:solidFill>
                  </a:tcPr>
                </a:tc>
                <a:tc>
                  <a:txBody>
                    <a:bodyPr wrap="square"/>
                    <a:lstStyle/>
                    <a:p>
                      <a:r>
                        <a:rPr b="0" sz="1200" i="0">
                          <a:solidFill>
                            <a:srgbClr val="1A2233"/>
                          </a:solidFill>
                          <a:latin typeface="Consolas"/>
                        </a:rPr>
                        <a:t>J: =FinStat!J$94</a:t>
                      </a:r>
                    </a:p>
                  </a:txBody>
                  <a:tcPr marL="64008" marR="64008" marT="27432" marB="27432" anchor="ctr">
                    <a:solidFill>
                      <a:srgbClr val="FFFFFF"/>
                    </a:solidFill>
                  </a:tcPr>
                </a:tc>
              </a:tr>
              <a:tr h="490727">
                <a:tc>
                  <a:txBody>
                    <a:bodyPr wrap="square"/>
                    <a:lstStyle/>
                    <a:p>
                      <a:r>
                        <a:rPr b="1" sz="1200" i="0">
                          <a:solidFill>
                            <a:srgbClr val="1A2233"/>
                          </a:solidFill>
                          <a:latin typeface="Calibri"/>
                        </a:rPr>
                        <a:t>12</a:t>
                      </a:r>
                    </a:p>
                  </a:txBody>
                  <a:tcPr marL="64008" marR="64008" marT="27432" marB="27432" anchor="ctr">
                    <a:solidFill>
                      <a:srgbClr val="F3F6F9"/>
                    </a:solidFill>
                  </a:tcPr>
                </a:tc>
                <a:tc>
                  <a:txBody>
                    <a:bodyPr wrap="square"/>
                    <a:lstStyle/>
                    <a:p>
                      <a:r>
                        <a:rPr b="0" sz="1200" i="0">
                          <a:solidFill>
                            <a:srgbClr val="1A2233"/>
                          </a:solidFill>
                          <a:latin typeface="Calibri"/>
                        </a:rPr>
                        <a:t>DSRA target (next periods of debt service)</a:t>
                      </a:r>
                    </a:p>
                  </a:txBody>
                  <a:tcPr marL="64008" marR="64008" marT="27432" marB="27432" anchor="ctr">
                    <a:solidFill>
                      <a:srgbClr val="F3F6F9"/>
                    </a:solidFill>
                  </a:tcPr>
                </a:tc>
                <a:tc>
                  <a:txBody>
                    <a:bodyPr wrap="square"/>
                    <a:lstStyle/>
                    <a:p>
                      <a:r>
                        <a:rPr b="0" sz="1200" i="0">
                          <a:solidFill>
                            <a:srgbClr val="1A2233"/>
                          </a:solidFill>
                          <a:latin typeface="Consolas"/>
                        </a:rPr>
                        <a:t>J: =SUMIFS($J11:$CO11,$J10:$CO10,"&gt;"&amp;J10,$J10:$CO10,"&lt;="&amp;J10+$F$9)*(1-Time!J$58+Time!J$45)</a:t>
                      </a:r>
                    </a:p>
                  </a:txBody>
                  <a:tcPr marL="64008" marR="64008" marT="27432" marB="27432" anchor="ctr">
                    <a:solidFill>
                      <a:srgbClr val="F3F6F9"/>
                    </a:solidFill>
                  </a:tcPr>
                </a:tc>
              </a:tr>
              <a:tr h="329184">
                <a:tc>
                  <a:txBody>
                    <a:bodyPr wrap="square"/>
                    <a:lstStyle/>
                    <a:p>
                      <a:r>
                        <a:rPr b="1" sz="1200" i="0">
                          <a:solidFill>
                            <a:srgbClr val="1A2233"/>
                          </a:solidFill>
                          <a:latin typeface="Calibri"/>
                        </a:rPr>
                        <a:t>13</a:t>
                      </a:r>
                    </a:p>
                  </a:txBody>
                  <a:tcPr marL="64008" marR="64008" marT="27432" marB="27432" anchor="ctr">
                    <a:solidFill>
                      <a:srgbClr val="FFFFFF"/>
                    </a:solidFill>
                  </a:tcPr>
                </a:tc>
                <a:tc>
                  <a:txBody>
                    <a:bodyPr wrap="square"/>
                    <a:lstStyle/>
                    <a:p>
                      <a:r>
                        <a:rPr b="0" sz="1200" i="0">
                          <a:solidFill>
                            <a:srgbClr val="1A2233"/>
                          </a:solidFill>
                          <a:latin typeface="Calibri"/>
                        </a:rPr>
                        <a:t>Cash flow after senior debt service</a:t>
                      </a:r>
                    </a:p>
                  </a:txBody>
                  <a:tcPr marL="64008" marR="64008" marT="27432" marB="27432" anchor="ctr">
                    <a:solidFill>
                      <a:srgbClr val="FFFFFF"/>
                    </a:solidFill>
                  </a:tcPr>
                </a:tc>
                <a:tc>
                  <a:txBody>
                    <a:bodyPr wrap="square"/>
                    <a:lstStyle/>
                    <a:p>
                      <a:r>
                        <a:rPr b="0" sz="1200" i="0">
                          <a:solidFill>
                            <a:srgbClr val="1A2233"/>
                          </a:solidFill>
                          <a:latin typeface="Consolas"/>
                        </a:rPr>
                        <a:t>J: =FinStat!J$43</a:t>
                      </a:r>
                    </a:p>
                  </a:txBody>
                  <a:tcPr marL="64008" marR="64008" marT="27432" marB="27432" anchor="ctr">
                    <a:solidFill>
                      <a:srgbClr val="FFFFFF"/>
                    </a:solidFill>
                  </a:tcPr>
                </a:tc>
              </a:tr>
              <a:tr h="329184">
                <a:tc>
                  <a:txBody>
                    <a:bodyPr wrap="square"/>
                    <a:lstStyle/>
                    <a:p>
                      <a:r>
                        <a:rPr b="1" sz="1200" i="0">
                          <a:solidFill>
                            <a:srgbClr val="1A2233"/>
                          </a:solidFill>
                          <a:latin typeface="Calibri"/>
                        </a:rPr>
                        <a:t>14</a:t>
                      </a:r>
                    </a:p>
                  </a:txBody>
                  <a:tcPr marL="64008" marR="64008" marT="27432" marB="27432" anchor="ctr">
                    <a:solidFill>
                      <a:srgbClr val="F3F6F9"/>
                    </a:solidFill>
                  </a:tcPr>
                </a:tc>
                <a:tc>
                  <a:txBody>
                    <a:bodyPr wrap="square"/>
                    <a:lstStyle/>
                    <a:p>
                      <a:r>
                        <a:rPr b="0" sz="1200" i="0">
                          <a:solidFill>
                            <a:srgbClr val="1A2233"/>
                          </a:solidFill>
                          <a:latin typeface="Calibri"/>
                        </a:rPr>
                        <a:t>DSRA balance BEG</a:t>
                      </a:r>
                    </a:p>
                  </a:txBody>
                  <a:tcPr marL="64008" marR="64008" marT="27432" marB="27432" anchor="ctr">
                    <a:solidFill>
                      <a:srgbClr val="F3F6F9"/>
                    </a:solidFill>
                  </a:tcPr>
                </a:tc>
                <a:tc>
                  <a:txBody>
                    <a:bodyPr wrap="square"/>
                    <a:lstStyle/>
                    <a:p>
                      <a:r>
                        <a:rPr b="0" sz="1200" i="0">
                          <a:solidFill>
                            <a:srgbClr val="1A2233"/>
                          </a:solidFill>
                          <a:latin typeface="Consolas"/>
                        </a:rPr>
                        <a:t>J: =I18</a:t>
                      </a:r>
                    </a:p>
                  </a:txBody>
                  <a:tcPr marL="64008" marR="64008" marT="27432" marB="27432" anchor="ctr">
                    <a:solidFill>
                      <a:srgbClr val="F3F6F9"/>
                    </a:solidFill>
                  </a:tcPr>
                </a:tc>
              </a:tr>
              <a:tr h="329184">
                <a:tc>
                  <a:txBody>
                    <a:bodyPr wrap="square"/>
                    <a:lstStyle/>
                    <a:p>
                      <a:r>
                        <a:rPr b="1" sz="1200" i="0">
                          <a:solidFill>
                            <a:srgbClr val="1A2233"/>
                          </a:solidFill>
                          <a:latin typeface="Calibri"/>
                        </a:rPr>
                        <a:t>15</a:t>
                      </a:r>
                    </a:p>
                  </a:txBody>
                  <a:tcPr marL="64008" marR="64008" marT="27432" marB="27432" anchor="ctr">
                    <a:solidFill>
                      <a:srgbClr val="FFFFFF"/>
                    </a:solidFill>
                  </a:tcPr>
                </a:tc>
                <a:tc>
                  <a:txBody>
                    <a:bodyPr wrap="square"/>
                    <a:lstStyle/>
                    <a:p>
                      <a:r>
                        <a:rPr b="0" sz="1200" i="0">
                          <a:solidFill>
                            <a:srgbClr val="1A2233"/>
                          </a:solidFill>
                          <a:latin typeface="Calibri"/>
                        </a:rPr>
                        <a:t>Funding</a:t>
                      </a:r>
                    </a:p>
                  </a:txBody>
                  <a:tcPr marL="64008" marR="64008" marT="27432" marB="27432" anchor="ctr">
                    <a:solidFill>
                      <a:srgbClr val="FFFFFF"/>
                    </a:solidFill>
                  </a:tcPr>
                </a:tc>
                <a:tc>
                  <a:txBody>
                    <a:bodyPr wrap="square"/>
                    <a:lstStyle/>
                    <a:p>
                      <a:r>
                        <a:rPr b="0" sz="1200" i="0">
                          <a:solidFill>
                            <a:srgbClr val="1A2233"/>
                          </a:solidFill>
                          <a:latin typeface="Consolas"/>
                        </a:rPr>
                        <a:t>J: =MIN(MAX(J12-J14,0),MAX(J13,0))</a:t>
                      </a:r>
                    </a:p>
                  </a:txBody>
                  <a:tcPr marL="64008" marR="64008" marT="27432" marB="27432" anchor="ctr">
                    <a:solidFill>
                      <a:srgbClr val="FFFFFF"/>
                    </a:solidFill>
                  </a:tcPr>
                </a:tc>
              </a:tr>
              <a:tr h="329184">
                <a:tc>
                  <a:txBody>
                    <a:bodyPr wrap="square"/>
                    <a:lstStyle/>
                    <a:p>
                      <a:r>
                        <a:rPr b="1" sz="1200" i="0">
                          <a:solidFill>
                            <a:srgbClr val="1A2233"/>
                          </a:solidFill>
                          <a:latin typeface="Calibri"/>
                        </a:rPr>
                        <a:t>16</a:t>
                      </a:r>
                    </a:p>
                  </a:txBody>
                  <a:tcPr marL="64008" marR="64008" marT="27432" marB="27432" anchor="ctr">
                    <a:solidFill>
                      <a:srgbClr val="F3F6F9"/>
                    </a:solidFill>
                  </a:tcPr>
                </a:tc>
                <a:tc>
                  <a:txBody>
                    <a:bodyPr wrap="square"/>
                    <a:lstStyle/>
                    <a:p>
                      <a:r>
                        <a:rPr b="0" sz="1200" i="0">
                          <a:solidFill>
                            <a:srgbClr val="1A2233"/>
                          </a:solidFill>
                          <a:latin typeface="Calibri"/>
                        </a:rPr>
                        <a:t>Release</a:t>
                      </a:r>
                    </a:p>
                  </a:txBody>
                  <a:tcPr marL="64008" marR="64008" marT="27432" marB="27432" anchor="ctr">
                    <a:solidFill>
                      <a:srgbClr val="F3F6F9"/>
                    </a:solidFill>
                  </a:tcPr>
                </a:tc>
                <a:tc>
                  <a:txBody>
                    <a:bodyPr wrap="square"/>
                    <a:lstStyle/>
                    <a:p>
                      <a:r>
                        <a:rPr b="0" sz="1200" i="0">
                          <a:solidFill>
                            <a:srgbClr val="1A2233"/>
                          </a:solidFill>
                          <a:latin typeface="Consolas"/>
                        </a:rPr>
                        <a:t>J: =MAX(J14-J12,0)</a:t>
                      </a:r>
                    </a:p>
                  </a:txBody>
                  <a:tcPr marL="64008" marR="64008" marT="27432" marB="27432" anchor="ctr">
                    <a:solidFill>
                      <a:srgbClr val="F3F6F9"/>
                    </a:solidFill>
                  </a:tcPr>
                </a:tc>
              </a:tr>
              <a:tr h="329184">
                <a:tc>
                  <a:txBody>
                    <a:bodyPr wrap="square"/>
                    <a:lstStyle/>
                    <a:p>
                      <a:r>
                        <a:rPr b="1" sz="1200" i="0">
                          <a:solidFill>
                            <a:srgbClr val="1A2233"/>
                          </a:solidFill>
                          <a:latin typeface="Calibri"/>
                        </a:rPr>
                        <a:t>17</a:t>
                      </a:r>
                    </a:p>
                  </a:txBody>
                  <a:tcPr marL="64008" marR="64008" marT="27432" marB="27432" anchor="ctr">
                    <a:solidFill>
                      <a:srgbClr val="FFFFFF"/>
                    </a:solidFill>
                  </a:tcPr>
                </a:tc>
                <a:tc>
                  <a:txBody>
                    <a:bodyPr wrap="square"/>
                    <a:lstStyle/>
                    <a:p>
                      <a:r>
                        <a:rPr b="0" sz="1200" i="0">
                          <a:solidFill>
                            <a:srgbClr val="1A2233"/>
                          </a:solidFill>
                          <a:latin typeface="Calibri"/>
                        </a:rPr>
                        <a:t>DSRA (funding) / release</a:t>
                      </a:r>
                    </a:p>
                  </a:txBody>
                  <a:tcPr marL="64008" marR="64008" marT="27432" marB="27432" anchor="ctr">
                    <a:solidFill>
                      <a:srgbClr val="FFFFFF"/>
                    </a:solidFill>
                  </a:tcPr>
                </a:tc>
                <a:tc>
                  <a:txBody>
                    <a:bodyPr wrap="square"/>
                    <a:lstStyle/>
                    <a:p>
                      <a:r>
                        <a:rPr b="0" sz="1200" i="0">
                          <a:solidFill>
                            <a:srgbClr val="1A2233"/>
                          </a:solidFill>
                          <a:latin typeface="Consolas"/>
                        </a:rPr>
                        <a:t>J: =J16-J15</a:t>
                      </a:r>
                    </a:p>
                  </a:txBody>
                  <a:tcPr marL="64008" marR="64008" marT="27432" marB="27432" anchor="ctr">
                    <a:solidFill>
                      <a:srgbClr val="FFFFFF"/>
                    </a:solidFill>
                  </a:tcPr>
                </a:tc>
              </a:tr>
              <a:tr h="329184">
                <a:tc>
                  <a:txBody>
                    <a:bodyPr wrap="square"/>
                    <a:lstStyle/>
                    <a:p>
                      <a:r>
                        <a:rPr b="1" sz="1200" i="0">
                          <a:solidFill>
                            <a:srgbClr val="1A2233"/>
                          </a:solidFill>
                          <a:latin typeface="Calibri"/>
                        </a:rPr>
                        <a:t>18</a:t>
                      </a:r>
                    </a:p>
                  </a:txBody>
                  <a:tcPr marL="64008" marR="64008" marT="27432" marB="27432" anchor="ctr">
                    <a:solidFill>
                      <a:srgbClr val="F3F6F9"/>
                    </a:solidFill>
                  </a:tcPr>
                </a:tc>
                <a:tc>
                  <a:txBody>
                    <a:bodyPr wrap="square"/>
                    <a:lstStyle/>
                    <a:p>
                      <a:r>
                        <a:rPr b="0" sz="1200" i="0">
                          <a:solidFill>
                            <a:srgbClr val="1A2233"/>
                          </a:solidFill>
                          <a:latin typeface="Calibri"/>
                        </a:rPr>
                        <a:t>DSRA balance END</a:t>
                      </a:r>
                    </a:p>
                  </a:txBody>
                  <a:tcPr marL="64008" marR="64008" marT="27432" marB="27432" anchor="ctr">
                    <a:solidFill>
                      <a:srgbClr val="F3F6F9"/>
                    </a:solidFill>
                  </a:tcPr>
                </a:tc>
                <a:tc>
                  <a:txBody>
                    <a:bodyPr wrap="square"/>
                    <a:lstStyle/>
                    <a:p>
                      <a:r>
                        <a:rPr b="0" sz="1200" i="0">
                          <a:solidFill>
                            <a:srgbClr val="1A2233"/>
                          </a:solidFill>
                          <a:latin typeface="Consolas"/>
                        </a:rPr>
                        <a:t>J: =IF(Time!J$45=1,0,J14+J15-J16)</a:t>
                      </a:r>
                    </a:p>
                  </a:txBody>
                  <a:tcPr marL="64008" marR="64008" marT="27432" marB="27432" anchor="ctr">
                    <a:solidFill>
                      <a:srgbClr val="F3F6F9"/>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DSRA!J12: target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J12  (to CO12)</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DSRA target (next periods of debt service)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1300" i="0">
                <a:solidFill>
                  <a:srgbClr val="141B4D"/>
                </a:solidFill>
                <a:latin typeface="Consolas"/>
              </a:rPr>
              <a:t>=SUMIFS($J11:$CO11,$J10:$CO10,"&gt;"&amp;J10,$J10:$CO10,"&lt;="&amp;J10+$F$9)*(1-Time!J$58+Time!J$45)</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300" i="0">
                <a:solidFill>
                  <a:srgbClr val="1A2233"/>
                </a:solidFill>
                <a:latin typeface="Calibri"/>
              </a:rPr>
              <a:t>▪ Add the debt service of the next n periods: those whose counter is above this column's counter and within n periods of it</a:t>
            </a:r>
          </a:p>
          <a:p>
            <a:pPr algn="l"/>
            <a:r>
              <a:rPr b="0" sz="1300" i="0">
                <a:solidFill>
                  <a:srgbClr val="1A2233"/>
                </a:solidFill>
                <a:latin typeface="Calibri"/>
              </a:rPr>
              <a:t>▪ </a:t>
            </a:r>
            <a:r>
              <a:rPr b="0" sz="1300" i="0">
                <a:solidFill>
                  <a:srgbClr val="0B5E82"/>
                </a:solidFill>
                <a:latin typeface="Consolas"/>
              </a:rPr>
              <a:t>SUMIFS</a:t>
            </a:r>
            <a:r>
              <a:rPr b="0" sz="1300" i="0">
                <a:solidFill>
                  <a:srgbClr val="1A2233"/>
                </a:solidFill>
                <a:latin typeface="Calibri"/>
              </a:rPr>
              <a:t> with two conditions on the counter row 10; the </a:t>
            </a:r>
            <a:r>
              <a:rPr b="0" sz="1300" i="0">
                <a:solidFill>
                  <a:srgbClr val="0B5E82"/>
                </a:solidFill>
                <a:latin typeface="Consolas"/>
              </a:rPr>
              <a:t>*(1-Time!J$58+Time!J$45)</a:t>
            </a:r>
            <a:r>
              <a:rPr b="0" sz="1300" i="0">
                <a:solidFill>
                  <a:srgbClr val="1A2233"/>
                </a:solidFill>
                <a:latin typeface="Calibri"/>
              </a:rPr>
              <a:t> factor switches the target on from COD</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F9 = InpC!F$143 (2 periods)</a:t>
            </a:r>
          </a:p>
          <a:p>
            <a:pPr algn="l"/>
            <a:r>
              <a:rPr b="0" sz="1300" i="0">
                <a:solidFill>
                  <a:srgbClr val="1A2233"/>
                </a:solidFill>
                <a:latin typeface="Consolas"/>
              </a:rPr>
              <a:t>J10 = Sculpt!J$11</a:t>
            </a:r>
          </a:p>
          <a:p>
            <a:pPr algn="l"/>
            <a:r>
              <a:rPr b="0" sz="1300" i="0">
                <a:solidFill>
                  <a:srgbClr val="1A2233"/>
                </a:solidFill>
                <a:latin typeface="Consolas"/>
              </a:rPr>
              <a:t>J11 = Ratios!J$9 (debt service)</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J12:CO12,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J12:CO12,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J12 → CO12</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Target at COD = 4,546.5 (the next two quarters)</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Looks forward without OFFSET (which is volatile)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DSRA!J15: funding</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J15  (to CO15)</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Funding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=MIN(MAX(J12-J14,0),MAX(J13,0))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234440"/>
          </a:xfrm>
          <a:prstGeom prst="rect">
            <a:avLst/>
          </a:prstGeom>
          <a:noFill/>
        </p:spPr>
        <p:txBody>
          <a:bodyPr wrap="square" lIns="45720" rIns="45720" tIns="27432" bIns="27432" anchor="t">
            <a:spAutoFit/>
          </a:bodyPr>
          <a:lstStyle/>
          <a:p>
            <a:pPr algn="l"/>
            <a:r>
              <a:rPr b="0" sz="1500" i="0">
                <a:solidFill>
                  <a:srgbClr val="1A2233"/>
                </a:solidFill>
                <a:latin typeface="Calibri"/>
              </a:rPr>
              <a:t>▪ Fund the shortfall (target − opening balance), limited to cash available after debt service, never negative</a:t>
            </a:r>
          </a:p>
        </p:txBody>
      </p:sp>
      <p:sp>
        <p:nvSpPr>
          <p:cNvPr id="18" name="TextBox 17"/>
          <p:cNvSpPr txBox="1"/>
          <p:nvPr/>
        </p:nvSpPr>
        <p:spPr>
          <a:xfrm>
            <a:off x="548640" y="420624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WHERE THE INPUTS COME FROM</a:t>
            </a:r>
          </a:p>
        </p:txBody>
      </p:sp>
      <p:sp>
        <p:nvSpPr>
          <p:cNvPr id="19" name="TextBox 18"/>
          <p:cNvSpPr txBox="1"/>
          <p:nvPr/>
        </p:nvSpPr>
        <p:spPr>
          <a:xfrm>
            <a:off x="548640" y="4453128"/>
            <a:ext cx="5760720" cy="1280160"/>
          </a:xfrm>
          <a:prstGeom prst="rect">
            <a:avLst/>
          </a:prstGeom>
          <a:noFill/>
        </p:spPr>
        <p:txBody>
          <a:bodyPr wrap="square" lIns="45720" rIns="45720" tIns="27432" bIns="27432" anchor="t">
            <a:spAutoFit/>
          </a:bodyPr>
          <a:lstStyle/>
          <a:p>
            <a:pPr algn="l"/>
            <a:r>
              <a:rPr b="0" sz="1300" i="0">
                <a:solidFill>
                  <a:srgbClr val="1A2233"/>
                </a:solidFill>
                <a:latin typeface="Consolas"/>
              </a:rPr>
              <a:t>J13 = FinStat!J43</a:t>
            </a:r>
          </a:p>
        </p:txBody>
      </p:sp>
      <p:sp>
        <p:nvSpPr>
          <p:cNvPr id="20" name="TextBox 19"/>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21" name="Rectangle 20"/>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2" name="Rectangle 21"/>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3" name="Rectangle 22"/>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4" name="Rectangle 23"/>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J15:CO15,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5" name="Rectangle 24"/>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J15 → CO15</a:t>
            </a:r>
          </a:p>
        </p:txBody>
      </p:sp>
      <p:sp>
        <p:nvSpPr>
          <p:cNvPr id="26" name="Rectangle 25"/>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H15 = 9,788</a:t>
            </a:r>
          </a:p>
        </p:txBody>
      </p:sp>
      <p:sp>
        <p:nvSpPr>
          <p:cNvPr id="27" name="Rectangle 26"/>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The account is topped up only from spare cash</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DSRA!J16: release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J16  (to CO16)</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Release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=MAX(J14-J12,0)</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Release any balance above the target (when the target falls as the loan matures)</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J16:CO16, Enter</a:t>
            </a:r>
          </a:p>
          <a:p>
            <a:pPr algn="l"/>
            <a:r>
              <a:rPr b="0" sz="1400" i="0">
                <a:solidFill>
                  <a:srgbClr val="1A2233"/>
                </a:solidFill>
                <a:latin typeface="Consolas"/>
              </a:rPr>
              <a:t>Type the formula</a:t>
            </a:r>
          </a:p>
          <a:p>
            <a:pPr algn="l"/>
            <a:r>
              <a:rPr b="0" sz="1400" i="0">
                <a:solidFill>
                  <a:srgbClr val="1A2233"/>
                </a:solidFill>
                <a:latin typeface="Consolas"/>
              </a:rPr>
              <a:t>Ctrl+Enter fills the range</a:t>
            </a:r>
          </a:p>
          <a:p>
            <a:pPr algn="l"/>
            <a:r>
              <a:rPr b="0" sz="14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400" i="0">
                <a:solidFill>
                  <a:srgbClr val="1A2233"/>
                </a:solidFill>
                <a:latin typeface="Consolas"/>
              </a:rPr>
              <a:t>Ctrl+G, then type</a:t>
            </a:r>
          </a:p>
          <a:p>
            <a:pPr algn="l"/>
            <a:r>
              <a:rPr b="0" sz="1400" i="0">
                <a:solidFill>
                  <a:srgbClr val="1A2233"/>
                </a:solidFill>
                <a:latin typeface="Consolas"/>
              </a:rPr>
              <a:t>J16:CO16, Return</a:t>
            </a:r>
          </a:p>
          <a:p>
            <a:pPr algn="l"/>
            <a:r>
              <a:rPr b="0" sz="1400" i="0">
                <a:solidFill>
                  <a:srgbClr val="1A2233"/>
                </a:solidFill>
                <a:latin typeface="Consolas"/>
              </a:rPr>
              <a:t>Type the formula</a:t>
            </a:r>
          </a:p>
          <a:p>
            <a:pPr algn="l"/>
            <a:r>
              <a:rPr b="0" sz="1400" i="0">
                <a:solidFill>
                  <a:srgbClr val="1A2233"/>
                </a:solidFill>
                <a:latin typeface="Consolas"/>
              </a:rPr>
              <a:t>Ctrl+Return fills range</a:t>
            </a:r>
          </a:p>
          <a:p>
            <a:pPr algn="l"/>
            <a:r>
              <a:rPr b="0" sz="14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J16 → CO16</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H16 = 9,788</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Mirror of funding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BUILD IT</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DSRA!J18: DSRA balance 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2377440" cy="347472"/>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SHEET  DSRA</a:t>
            </a:r>
          </a:p>
        </p:txBody>
      </p:sp>
      <p:sp>
        <p:nvSpPr>
          <p:cNvPr id="12" name="Rectangle 11"/>
          <p:cNvSpPr/>
          <p:nvPr/>
        </p:nvSpPr>
        <p:spPr>
          <a:xfrm>
            <a:off x="3017520" y="1417320"/>
            <a:ext cx="2651760" cy="347472"/>
          </a:xfrm>
          <a:prstGeom prst="rect">
            <a:avLst/>
          </a:prstGeom>
          <a:solidFill>
            <a:srgbClr val="0B5E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b="1" sz="1200" i="0">
                <a:solidFill>
                  <a:srgbClr val="FFFFFF"/>
                </a:solidFill>
                <a:latin typeface="Calibri"/>
              </a:rPr>
              <a:t>CELL  J18  (to CO18)</a:t>
            </a:r>
          </a:p>
        </p:txBody>
      </p:sp>
      <p:sp>
        <p:nvSpPr>
          <p:cNvPr id="13" name="Rectangle 12"/>
          <p:cNvSpPr/>
          <p:nvPr/>
        </p:nvSpPr>
        <p:spPr>
          <a:xfrm>
            <a:off x="5760720" y="1417320"/>
            <a:ext cx="5852160" cy="347472"/>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27432" bIns="27432"/>
          <a:lstStyle/>
          <a:p>
            <a:pPr algn="l"/>
            <a:r>
              <a:rPr b="1" sz="1200" i="0">
                <a:solidFill>
                  <a:srgbClr val="1A2233"/>
                </a:solidFill>
                <a:latin typeface="Calibri"/>
              </a:rPr>
              <a:t>ROW LABEL  DSRA balance END  ($ 000s)</a:t>
            </a:r>
          </a:p>
        </p:txBody>
      </p:sp>
      <p:sp>
        <p:nvSpPr>
          <p:cNvPr id="14" name="TextBox 13"/>
          <p:cNvSpPr txBox="1"/>
          <p:nvPr/>
        </p:nvSpPr>
        <p:spPr>
          <a:xfrm>
            <a:off x="548640" y="1828800"/>
            <a:ext cx="1828800" cy="256032"/>
          </a:xfrm>
          <a:prstGeom prst="rect">
            <a:avLst/>
          </a:prstGeom>
          <a:noFill/>
        </p:spPr>
        <p:txBody>
          <a:bodyPr wrap="square" lIns="45720" rIns="45720" tIns="27432" bIns="27432" anchor="t">
            <a:spAutoFit/>
          </a:bodyPr>
          <a:lstStyle/>
          <a:p>
            <a:pPr algn="l"/>
            <a:r>
              <a:rPr b="1" sz="1000" i="0">
                <a:solidFill>
                  <a:srgbClr val="A8700F"/>
                </a:solidFill>
                <a:latin typeface="Calibri"/>
              </a:rPr>
              <a:t>TYPE THIS</a:t>
            </a:r>
          </a:p>
        </p:txBody>
      </p:sp>
      <p:sp>
        <p:nvSpPr>
          <p:cNvPr id="15" name="Rectangle 14"/>
          <p:cNvSpPr/>
          <p:nvPr/>
        </p:nvSpPr>
        <p:spPr>
          <a:xfrm>
            <a:off x="548640" y="2075688"/>
            <a:ext cx="11064240" cy="594360"/>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b="1" sz="2000" i="0">
                <a:solidFill>
                  <a:srgbClr val="141B4D"/>
                </a:solidFill>
                <a:latin typeface="Consolas"/>
              </a:rPr>
              <a:t>=IF(Time!J$45=1,0,J14+J15-J16)</a:t>
            </a:r>
          </a:p>
        </p:txBody>
      </p:sp>
      <p:sp>
        <p:nvSpPr>
          <p:cNvPr id="16" name="TextBox 15"/>
          <p:cNvSpPr txBox="1"/>
          <p:nvPr/>
        </p:nvSpPr>
        <p:spPr>
          <a:xfrm>
            <a:off x="548640" y="2788920"/>
            <a:ext cx="5486400" cy="256032"/>
          </a:xfrm>
          <a:prstGeom prst="rect">
            <a:avLst/>
          </a:prstGeom>
          <a:noFill/>
        </p:spPr>
        <p:txBody>
          <a:bodyPr wrap="square" lIns="45720" rIns="45720" tIns="27432" bIns="27432" anchor="t">
            <a:spAutoFit/>
          </a:bodyPr>
          <a:lstStyle/>
          <a:p>
            <a:pPr algn="l"/>
            <a:r>
              <a:rPr b="1" sz="1000" i="0">
                <a:solidFill>
                  <a:srgbClr val="A8700F"/>
                </a:solidFill>
                <a:latin typeface="Calibri"/>
              </a:rPr>
              <a:t>READ IT LIKE A SENTENCE</a:t>
            </a:r>
          </a:p>
        </p:txBody>
      </p:sp>
      <p:sp>
        <p:nvSpPr>
          <p:cNvPr id="17" name="TextBox 16"/>
          <p:cNvSpPr txBox="1"/>
          <p:nvPr/>
        </p:nvSpPr>
        <p:spPr>
          <a:xfrm>
            <a:off x="548640" y="3035808"/>
            <a:ext cx="5760720" cy="1783080"/>
          </a:xfrm>
          <a:prstGeom prst="rect">
            <a:avLst/>
          </a:prstGeom>
          <a:noFill/>
        </p:spPr>
        <p:txBody>
          <a:bodyPr wrap="square" lIns="45720" rIns="45720" tIns="27432" bIns="27432" anchor="t">
            <a:spAutoFit/>
          </a:bodyPr>
          <a:lstStyle/>
          <a:p>
            <a:pPr algn="l"/>
            <a:r>
              <a:rPr b="0" sz="1500" i="0">
                <a:solidFill>
                  <a:srgbClr val="1A2233"/>
                </a:solidFill>
                <a:latin typeface="Calibri"/>
              </a:rPr>
              <a:t>▪ Zero at COD; otherwise opening + funding − release</a:t>
            </a:r>
          </a:p>
        </p:txBody>
      </p:sp>
      <p:sp>
        <p:nvSpPr>
          <p:cNvPr id="18" name="TextBox 17"/>
          <p:cNvSpPr txBox="1"/>
          <p:nvPr/>
        </p:nvSpPr>
        <p:spPr>
          <a:xfrm>
            <a:off x="6492240" y="2788920"/>
            <a:ext cx="5120640" cy="256032"/>
          </a:xfrm>
          <a:prstGeom prst="rect">
            <a:avLst/>
          </a:prstGeom>
          <a:noFill/>
        </p:spPr>
        <p:txBody>
          <a:bodyPr wrap="square" lIns="45720" rIns="45720" tIns="27432" bIns="27432" anchor="t">
            <a:spAutoFit/>
          </a:bodyPr>
          <a:lstStyle/>
          <a:p>
            <a:pPr algn="l"/>
            <a:r>
              <a:rPr b="1" sz="1000" i="0">
                <a:solidFill>
                  <a:srgbClr val="A8700F"/>
                </a:solidFill>
                <a:latin typeface="Calibri"/>
              </a:rPr>
              <a:t>KEYSTROKES (no mouse needed)</a:t>
            </a:r>
          </a:p>
        </p:txBody>
      </p:sp>
      <p:sp>
        <p:nvSpPr>
          <p:cNvPr id="19" name="Rectangle 18"/>
          <p:cNvSpPr/>
          <p:nvPr/>
        </p:nvSpPr>
        <p:spPr>
          <a:xfrm>
            <a:off x="6492240" y="3044952"/>
            <a:ext cx="2514600" cy="274320"/>
          </a:xfrm>
          <a:prstGeom prst="rect">
            <a:avLst/>
          </a:prstGeom>
          <a:solidFill>
            <a:srgbClr val="141B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WINDOWS</a:t>
            </a:r>
          </a:p>
        </p:txBody>
      </p:sp>
      <p:sp>
        <p:nvSpPr>
          <p:cNvPr id="20" name="Rectangle 19"/>
          <p:cNvSpPr/>
          <p:nvPr/>
        </p:nvSpPr>
        <p:spPr>
          <a:xfrm>
            <a:off x="9098280" y="3044952"/>
            <a:ext cx="2514600" cy="274320"/>
          </a:xfrm>
          <a:prstGeom prst="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100" i="0">
                <a:solidFill>
                  <a:srgbClr val="FFFFFF"/>
                </a:solidFill>
                <a:latin typeface="Calibri"/>
              </a:rPr>
              <a:t>MAC</a:t>
            </a:r>
          </a:p>
        </p:txBody>
      </p:sp>
      <p:sp>
        <p:nvSpPr>
          <p:cNvPr id="21" name="Rectangle 20"/>
          <p:cNvSpPr/>
          <p:nvPr/>
        </p:nvSpPr>
        <p:spPr>
          <a:xfrm>
            <a:off x="649224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J18:CO18, Enter</a:t>
            </a:r>
          </a:p>
          <a:p>
            <a:pPr algn="l"/>
            <a:r>
              <a:rPr b="0" sz="1300" i="0">
                <a:solidFill>
                  <a:srgbClr val="1A2233"/>
                </a:solidFill>
                <a:latin typeface="Consolas"/>
              </a:rPr>
              <a:t>Type the formula</a:t>
            </a:r>
          </a:p>
          <a:p>
            <a:pPr algn="l"/>
            <a:r>
              <a:rPr b="0" sz="1300" i="0">
                <a:solidFill>
                  <a:srgbClr val="1A2233"/>
                </a:solidFill>
                <a:latin typeface="Consolas"/>
              </a:rPr>
              <a:t>Ctrl+Enter fills the range</a:t>
            </a:r>
          </a:p>
          <a:p>
            <a:pPr algn="l"/>
            <a:r>
              <a:rPr b="0" sz="1300" i="0">
                <a:solidFill>
                  <a:srgbClr val="1A2233"/>
                </a:solidFill>
                <a:latin typeface="Consolas"/>
              </a:rPr>
              <a:t>F4 cycles the $ signs</a:t>
            </a:r>
          </a:p>
          <a:p>
            <a:pPr algn="l"/>
            <a:r>
              <a:rPr b="0" sz="1300" i="0">
                <a:solidFill>
                  <a:srgbClr val="1A2233"/>
                </a:solidFill>
                <a:latin typeface="Consolas"/>
              </a:rPr>
              <a:t>Sheets: Ctrl+PgUp/PgDn</a:t>
            </a:r>
          </a:p>
          <a:p>
            <a:pPr algn="l"/>
            <a:r>
              <a:rPr b="0" sz="1300" i="0">
                <a:solidFill>
                  <a:srgbClr val="1A2233"/>
                </a:solidFill>
                <a:latin typeface="Consolas"/>
              </a:rPr>
              <a:t>Ctrl+` shows formulas</a:t>
            </a:r>
          </a:p>
        </p:txBody>
      </p:sp>
      <p:sp>
        <p:nvSpPr>
          <p:cNvPr id="22" name="Rectangle 21"/>
          <p:cNvSpPr/>
          <p:nvPr/>
        </p:nvSpPr>
        <p:spPr>
          <a:xfrm>
            <a:off x="9098280" y="3337560"/>
            <a:ext cx="2514600" cy="2194560"/>
          </a:xfrm>
          <a:prstGeom prst="rect">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lstStyle/>
          <a:p>
            <a:pPr algn="l"/>
            <a:r>
              <a:rPr b="0" sz="1300" i="0">
                <a:solidFill>
                  <a:srgbClr val="1A2233"/>
                </a:solidFill>
                <a:latin typeface="Consolas"/>
              </a:rPr>
              <a:t>Ctrl+G, then type</a:t>
            </a:r>
          </a:p>
          <a:p>
            <a:pPr algn="l"/>
            <a:r>
              <a:rPr b="0" sz="1300" i="0">
                <a:solidFill>
                  <a:srgbClr val="1A2233"/>
                </a:solidFill>
                <a:latin typeface="Consolas"/>
              </a:rPr>
              <a:t>J18:CO18, Return</a:t>
            </a:r>
          </a:p>
          <a:p>
            <a:pPr algn="l"/>
            <a:r>
              <a:rPr b="0" sz="1300" i="0">
                <a:solidFill>
                  <a:srgbClr val="1A2233"/>
                </a:solidFill>
                <a:latin typeface="Consolas"/>
              </a:rPr>
              <a:t>Type the formula</a:t>
            </a:r>
          </a:p>
          <a:p>
            <a:pPr algn="l"/>
            <a:r>
              <a:rPr b="0" sz="1300" i="0">
                <a:solidFill>
                  <a:srgbClr val="1A2233"/>
                </a:solidFill>
                <a:latin typeface="Consolas"/>
              </a:rPr>
              <a:t>Ctrl+Return fills range</a:t>
            </a:r>
          </a:p>
          <a:p>
            <a:pPr algn="l"/>
            <a:r>
              <a:rPr b="0" sz="1300" i="0">
                <a:solidFill>
                  <a:srgbClr val="1A2233"/>
                </a:solidFill>
                <a:latin typeface="Consolas"/>
              </a:rPr>
              <a:t>Cmd+T (Fn+F4): $ signs</a:t>
            </a:r>
          </a:p>
          <a:p>
            <a:pPr algn="l"/>
            <a:r>
              <a:rPr b="0" sz="1300" i="0">
                <a:solidFill>
                  <a:srgbClr val="1A2233"/>
                </a:solidFill>
                <a:latin typeface="Consolas"/>
              </a:rPr>
              <a:t>Sheets: Option+←/→</a:t>
            </a:r>
          </a:p>
          <a:p>
            <a:pPr algn="l"/>
            <a:r>
              <a:rPr b="0" sz="1300" i="0">
                <a:solidFill>
                  <a:srgbClr val="1A2233"/>
                </a:solidFill>
                <a:latin typeface="Consolas"/>
              </a:rPr>
              <a:t>Ctrl+` shows formulas</a:t>
            </a:r>
          </a:p>
        </p:txBody>
      </p:sp>
      <p:sp>
        <p:nvSpPr>
          <p:cNvPr id="23" name="Rectangle 22"/>
          <p:cNvSpPr/>
          <p:nvPr/>
        </p:nvSpPr>
        <p:spPr>
          <a:xfrm>
            <a:off x="548640" y="5596128"/>
            <a:ext cx="3596640" cy="749808"/>
          </a:xfrm>
          <a:prstGeom prst="rect">
            <a:avLst/>
          </a:prstGeom>
          <a:solidFill>
            <a:srgbClr val="FBF0D9"/>
          </a:solidFill>
          <a:ln w="12700">
            <a:solidFill>
              <a:srgbClr val="D99A2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COPY ACROSS</a:t>
            </a:r>
            <a:r>
              <a:rPr b="0" sz="1200" i="0">
                <a:solidFill>
                  <a:srgbClr val="1A2233"/>
                </a:solidFill>
                <a:latin typeface="Calibri"/>
              </a:rPr>
              <a:t>  J18 → CO18</a:t>
            </a:r>
          </a:p>
        </p:txBody>
      </p:sp>
      <p:sp>
        <p:nvSpPr>
          <p:cNvPr id="24" name="Rectangle 23"/>
          <p:cNvSpPr/>
          <p:nvPr/>
        </p:nvSpPr>
        <p:spPr>
          <a:xfrm>
            <a:off x="4236720" y="5596128"/>
            <a:ext cx="3596640" cy="749808"/>
          </a:xfrm>
          <a:prstGeom prst="rect">
            <a:avLst/>
          </a:prstGeom>
          <a:solidFill>
            <a:srgbClr val="E6F4EA"/>
          </a:solidFill>
          <a:ln w="12700">
            <a:solidFill>
              <a:srgbClr val="1E7B34"/>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YOU SHOULD SEE</a:t>
            </a:r>
            <a:r>
              <a:rPr b="0" sz="1200" i="0">
                <a:solidFill>
                  <a:srgbClr val="1A2233"/>
                </a:solidFill>
                <a:latin typeface="Calibri"/>
              </a:rPr>
              <a:t>  Zero again after December 2031</a:t>
            </a:r>
          </a:p>
        </p:txBody>
      </p:sp>
      <p:sp>
        <p:nvSpPr>
          <p:cNvPr id="25" name="Rectangle 24"/>
          <p:cNvSpPr/>
          <p:nvPr/>
        </p:nvSpPr>
        <p:spPr>
          <a:xfrm>
            <a:off x="7924799" y="5596128"/>
            <a:ext cx="3596640" cy="749808"/>
          </a:xfrm>
          <a:prstGeom prst="rect">
            <a:avLst/>
          </a:prstGeom>
          <a:solidFill>
            <a:srgbClr val="E7F1F6"/>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b="1" sz="1200" i="0">
                <a:solidFill>
                  <a:srgbClr val="1A2233"/>
                </a:solidFill>
                <a:latin typeface="Calibri"/>
              </a:rPr>
              <a:t>WHY</a:t>
            </a:r>
            <a:r>
              <a:rPr b="0" sz="1200" i="0">
                <a:solidFill>
                  <a:srgbClr val="1A2233"/>
                </a:solidFill>
                <a:latin typeface="Calibri"/>
              </a:rPr>
              <a:t>  Balance sheet asset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DSRA</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DSRA balance versus target (US$ thousands)</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548640" y="1508760"/>
          <a:ext cx="10881360" cy="4297680"/>
        </p:xfrm>
        <a:graphic>
          <a:graphicData uri="http://schemas.openxmlformats.org/drawingml/2006/chart">
            <c:chart xmlns:c="http://schemas.openxmlformats.org/drawingml/2006/chart" r:id="rId5"/>
          </a:graphicData>
        </a:graphic>
      </p:graphicFrame>
      <p:sp>
        <p:nvSpPr>
          <p:cNvPr id="12" name="TextBox 11"/>
          <p:cNvSpPr txBox="1"/>
          <p:nvPr/>
        </p:nvSpPr>
        <p:spPr>
          <a:xfrm>
            <a:off x="548640" y="5852159"/>
            <a:ext cx="11064240" cy="502920"/>
          </a:xfrm>
          <a:prstGeom prst="rect">
            <a:avLst/>
          </a:prstGeom>
          <a:noFill/>
        </p:spPr>
        <p:txBody>
          <a:bodyPr wrap="square" lIns="45720" rIns="45720" tIns="27432" bIns="27432" anchor="t">
            <a:spAutoFit/>
          </a:bodyPr>
          <a:lstStyle/>
          <a:p>
            <a:pPr algn="l"/>
            <a:r>
              <a:rPr b="0" sz="1300" i="1">
                <a:solidFill>
                  <a:srgbClr val="5C6B7A"/>
                </a:solidFill>
                <a:latin typeface="Calibri"/>
              </a:rPr>
              <a:t>The balance follows the target with a short build-up after COD and releases as the loan matures.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7.5: Build the DSRA and check the balance sheet</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Build DSRA rows 9 to 18; link row 17 into FinStat row 44 and row 18 into the balance sheet (row 65).</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Pull debt service; target with SUMIFS</a:t>
            </a:r>
          </a:p>
          <a:p>
            <a:pPr>
              <a:spcAft>
                <a:spcPts val="300"/>
              </a:spcAft>
            </a:pPr>
            <a:r>
              <a:rPr b="0" sz="1500" i="0">
                <a:solidFill>
                  <a:srgbClr val="1A2233"/>
                </a:solidFill>
                <a:latin typeface="Calibri"/>
              </a:rPr>
              <a:t>2.  Funding, release and balance</a:t>
            </a:r>
          </a:p>
          <a:p>
            <a:pPr>
              <a:spcAft>
                <a:spcPts val="300"/>
              </a:spcAft>
            </a:pPr>
            <a:r>
              <a:rPr b="0" sz="1500" i="0">
                <a:solidFill>
                  <a:srgbClr val="1A2233"/>
                </a:solidFill>
                <a:latin typeface="Calibri"/>
              </a:rPr>
              <a:t>3.  Link to FinStat; fix SUM ranges</a:t>
            </a:r>
          </a:p>
          <a:p>
            <a:pPr>
              <a:spcAft>
                <a:spcPts val="300"/>
              </a:spcAft>
            </a:pPr>
            <a:r>
              <a:rPr b="0" sz="1500" i="0">
                <a:solidFill>
                  <a:srgbClr val="1A2233"/>
                </a:solidFill>
                <a:latin typeface="Calibri"/>
              </a:rPr>
              <a:t>4.  Confirm FinStat F86 = 0</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67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20116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15.30 – 17.00</a:t>
            </a:r>
          </a:p>
        </p:txBody>
      </p:sp>
      <p:sp>
        <p:nvSpPr>
          <p:cNvPr id="10" name="TextBox 9"/>
          <p:cNvSpPr txBox="1"/>
          <p:nvPr/>
        </p:nvSpPr>
        <p:spPr>
          <a:xfrm>
            <a:off x="731520" y="2423160"/>
            <a:ext cx="10241280" cy="1554480"/>
          </a:xfrm>
          <a:prstGeom prst="rect">
            <a:avLst/>
          </a:prstGeom>
          <a:noFill/>
        </p:spPr>
        <p:txBody>
          <a:bodyPr wrap="square" lIns="45720" rIns="45720" tIns="27432" bIns="27432" anchor="t">
            <a:spAutoFit/>
          </a:bodyPr>
          <a:lstStyle/>
          <a:p>
            <a:pPr algn="l"/>
            <a:r>
              <a:rPr b="1" sz="3800" i="0">
                <a:solidFill>
                  <a:srgbClr val="FFFFFF"/>
                </a:solidFill>
                <a:latin typeface="Georgia"/>
              </a:rPr>
              <a:t>Part 6: Optimisation and final checks</a:t>
            </a:r>
          </a:p>
        </p:txBody>
      </p:sp>
      <p:sp>
        <p:nvSpPr>
          <p:cNvPr id="11" name="TextBox 10"/>
          <p:cNvSpPr txBox="1"/>
          <p:nvPr/>
        </p:nvSpPr>
        <p:spPr>
          <a:xfrm>
            <a:off x="731520" y="4114800"/>
            <a:ext cx="9601200" cy="1463040"/>
          </a:xfrm>
          <a:prstGeom prst="rect">
            <a:avLst/>
          </a:prstGeom>
          <a:noFill/>
        </p:spPr>
        <p:txBody>
          <a:bodyPr wrap="square" lIns="45720" rIns="45720" tIns="27432" bIns="27432" anchor="t">
            <a:spAutoFit/>
          </a:bodyPr>
          <a:lstStyle/>
          <a:p>
            <a:pPr algn="l"/>
            <a:r>
              <a:rPr b="0" sz="1800" i="0">
                <a:solidFill>
                  <a:srgbClr val="D8DEF5"/>
                </a:solidFill>
                <a:latin typeface="Calibri"/>
              </a:rPr>
              <a:t>Choose the capital structure that maximises sponsor return within lender constraints.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68</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OPTIMISE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400" i="0">
                <a:solidFill>
                  <a:srgbClr val="141B4D"/>
                </a:solidFill>
                <a:latin typeface="Georgia"/>
              </a:rPr>
              <a:t>Structure grid: target DSCR × tenor (Base, 75% gearing cap, 2-quarter DSRA)</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922776"/>
        </p:xfrm>
        <a:graphic>
          <a:graphicData uri="http://schemas.openxmlformats.org/drawingml/2006/table">
            <a:tbl>
              <a:tblPr firstRow="1" bandRow="1">
                <a:tableStyleId>{5C22544A-7EE6-4342-B048-85BDC9FD1C3A}</a:tableStyleId>
              </a:tblPr>
              <a:tblGrid>
                <a:gridCol w="1371600"/>
                <a:gridCol w="1097280"/>
                <a:gridCol w="1828800"/>
                <a:gridCol w="1828800"/>
                <a:gridCol w="1280160"/>
                <a:gridCol w="1828800"/>
                <a:gridCol w="1828800"/>
              </a:tblGrid>
              <a:tr h="301752">
                <a:tc>
                  <a:txBody>
                    <a:bodyPr wrap="square"/>
                    <a:lstStyle/>
                    <a:p>
                      <a:r>
                        <a:rPr b="1" sz="1100" i="0">
                          <a:solidFill>
                            <a:srgbClr val="FFFFFF"/>
                          </a:solidFill>
                          <a:latin typeface="Calibri"/>
                        </a:rPr>
                        <a:t>Target DSCR</a:t>
                      </a:r>
                    </a:p>
                  </a:txBody>
                  <a:tcPr marL="64008" marR="64008" marT="27432" marB="27432" anchor="ctr">
                    <a:solidFill>
                      <a:srgbClr val="141B4D"/>
                    </a:solidFill>
                  </a:tcPr>
                </a:tc>
                <a:tc>
                  <a:txBody>
                    <a:bodyPr wrap="square"/>
                    <a:lstStyle/>
                    <a:p>
                      <a:r>
                        <a:rPr b="1" sz="1100" i="0">
                          <a:solidFill>
                            <a:srgbClr val="FFFFFF"/>
                          </a:solidFill>
                          <a:latin typeface="Calibri"/>
                        </a:rPr>
                        <a:t>Tenor</a:t>
                      </a:r>
                    </a:p>
                  </a:txBody>
                  <a:tcPr marL="64008" marR="64008" marT="27432" marB="27432" anchor="ctr">
                    <a:solidFill>
                      <a:srgbClr val="141B4D"/>
                    </a:solidFill>
                  </a:tcPr>
                </a:tc>
                <a:tc>
                  <a:txBody>
                    <a:bodyPr wrap="square"/>
                    <a:lstStyle/>
                    <a:p>
                      <a:r>
                        <a:rPr b="1" sz="1100" i="0">
                          <a:solidFill>
                            <a:srgbClr val="FFFFFF"/>
                          </a:solidFill>
                          <a:latin typeface="Calibri"/>
                        </a:rPr>
                        <a:t>Capacity ($000s)</a:t>
                      </a:r>
                    </a:p>
                  </a:txBody>
                  <a:tcPr marL="64008" marR="64008" marT="27432" marB="27432" anchor="ctr">
                    <a:solidFill>
                      <a:srgbClr val="141B4D"/>
                    </a:solidFill>
                  </a:tcPr>
                </a:tc>
                <a:tc>
                  <a:txBody>
                    <a:bodyPr wrap="square"/>
                    <a:lstStyle/>
                    <a:p>
                      <a:r>
                        <a:rPr b="1" sz="1100" i="0">
                          <a:solidFill>
                            <a:srgbClr val="FFFFFF"/>
                          </a:solidFill>
                          <a:latin typeface="Calibri"/>
                        </a:rPr>
                        <a:t>Debt sized ($000s)</a:t>
                      </a:r>
                    </a:p>
                  </a:txBody>
                  <a:tcPr marL="64008" marR="64008" marT="27432" marB="27432" anchor="ctr">
                    <a:solidFill>
                      <a:srgbClr val="141B4D"/>
                    </a:solidFill>
                  </a:tcPr>
                </a:tc>
                <a:tc>
                  <a:txBody>
                    <a:bodyPr wrap="square"/>
                    <a:lstStyle/>
                    <a:p>
                      <a:r>
                        <a:rPr b="1" sz="1100" i="0">
                          <a:solidFill>
                            <a:srgbClr val="FFFFFF"/>
                          </a:solidFill>
                          <a:latin typeface="Calibri"/>
                        </a:rPr>
                        <a:t>Gearing</a:t>
                      </a:r>
                    </a:p>
                  </a:txBody>
                  <a:tcPr marL="64008" marR="64008" marT="27432" marB="27432" anchor="ctr">
                    <a:solidFill>
                      <a:srgbClr val="141B4D"/>
                    </a:solidFill>
                  </a:tcPr>
                </a:tc>
                <a:tc>
                  <a:txBody>
                    <a:bodyPr wrap="square"/>
                    <a:lstStyle/>
                    <a:p>
                      <a:r>
                        <a:rPr b="1" sz="1100" i="0">
                          <a:solidFill>
                            <a:srgbClr val="FFFFFF"/>
                          </a:solidFill>
                          <a:latin typeface="Calibri"/>
                        </a:rPr>
                        <a:t>Min DSCR (actual)</a:t>
                      </a:r>
                    </a:p>
                  </a:txBody>
                  <a:tcPr marL="64008" marR="64008" marT="27432" marB="27432" anchor="ctr">
                    <a:solidFill>
                      <a:srgbClr val="141B4D"/>
                    </a:solidFill>
                  </a:tcPr>
                </a:tc>
                <a:tc>
                  <a:txBody>
                    <a:bodyPr wrap="square"/>
                    <a:lstStyle/>
                    <a:p>
                      <a:r>
                        <a:rPr b="1" sz="1100" i="0">
                          <a:solidFill>
                            <a:srgbClr val="FFFFFF"/>
                          </a:solidFill>
                          <a:latin typeface="Calibri"/>
                        </a:rPr>
                        <a:t>Sponsor IRR</a:t>
                      </a:r>
                    </a:p>
                  </a:txBody>
                  <a:tcPr marL="64008" marR="64008" marT="27432" marB="27432" anchor="ctr">
                    <a:solidFill>
                      <a:srgbClr val="141B4D"/>
                    </a:solidFill>
                  </a:tcPr>
                </a:tc>
              </a:tr>
              <a:tr h="301752">
                <a:tc>
                  <a:txBody>
                    <a:bodyPr wrap="square"/>
                    <a:lstStyle/>
                    <a:p>
                      <a:r>
                        <a:rPr b="1" sz="1100" i="0">
                          <a:solidFill>
                            <a:srgbClr val="1A2233"/>
                          </a:solidFill>
                          <a:latin typeface="Calibri"/>
                        </a:rPr>
                        <a:t>1.75x</a:t>
                      </a:r>
                    </a:p>
                  </a:txBody>
                  <a:tcPr marL="64008" marR="64008" marT="27432" marB="27432" anchor="ctr">
                    <a:solidFill>
                      <a:srgbClr val="FFFFFF"/>
                    </a:solidFill>
                  </a:tcPr>
                </a:tc>
                <a:tc>
                  <a:txBody>
                    <a:bodyPr wrap="square"/>
                    <a:lstStyle/>
                    <a:p>
                      <a:r>
                        <a:rPr b="0" sz="1100" i="0">
                          <a:solidFill>
                            <a:srgbClr val="1A2233"/>
                          </a:solidFill>
                          <a:latin typeface="Calibri"/>
                        </a:rPr>
                        <a:t>8 yrs</a:t>
                      </a:r>
                    </a:p>
                  </a:txBody>
                  <a:tcPr marL="64008" marR="64008" marT="27432" marB="27432" anchor="ctr">
                    <a:solidFill>
                      <a:srgbClr val="FFFFFF"/>
                    </a:solidFill>
                  </a:tcPr>
                </a:tc>
                <a:tc>
                  <a:txBody>
                    <a:bodyPr wrap="square"/>
                    <a:lstStyle/>
                    <a:p>
                      <a:r>
                        <a:rPr b="0" sz="1100" i="0">
                          <a:solidFill>
                            <a:srgbClr val="1A2233"/>
                          </a:solidFill>
                          <a:latin typeface="Calibri"/>
                        </a:rPr>
                        <a:t>75,515</a:t>
                      </a:r>
                    </a:p>
                  </a:txBody>
                  <a:tcPr marL="64008" marR="64008" marT="27432" marB="27432" anchor="ctr">
                    <a:solidFill>
                      <a:srgbClr val="FFFFFF"/>
                    </a:solidFill>
                  </a:tcPr>
                </a:tc>
                <a:tc>
                  <a:txBody>
                    <a:bodyPr wrap="square"/>
                    <a:lstStyle/>
                    <a:p>
                      <a:r>
                        <a:rPr b="0" sz="1100" i="0">
                          <a:solidFill>
                            <a:srgbClr val="1A2233"/>
                          </a:solidFill>
                          <a:latin typeface="Calibri"/>
                        </a:rPr>
                        <a:t>75,515</a:t>
                      </a:r>
                    </a:p>
                  </a:txBody>
                  <a:tcPr marL="64008" marR="64008" marT="27432" marB="27432" anchor="ctr">
                    <a:solidFill>
                      <a:srgbClr val="FFFFFF"/>
                    </a:solidFill>
                  </a:tcPr>
                </a:tc>
                <a:tc>
                  <a:txBody>
                    <a:bodyPr wrap="square"/>
                    <a:lstStyle/>
                    <a:p>
                      <a:r>
                        <a:rPr b="0" sz="1100" i="0">
                          <a:solidFill>
                            <a:srgbClr val="1A2233"/>
                          </a:solidFill>
                          <a:latin typeface="Calibri"/>
                        </a:rPr>
                        <a:t>74.5%</a:t>
                      </a:r>
                    </a:p>
                  </a:txBody>
                  <a:tcPr marL="64008" marR="64008" marT="27432" marB="27432" anchor="ctr">
                    <a:solidFill>
                      <a:srgbClr val="FFFFFF"/>
                    </a:solidFill>
                  </a:tcPr>
                </a:tc>
                <a:tc>
                  <a:txBody>
                    <a:bodyPr wrap="square"/>
                    <a:lstStyle/>
                    <a:p>
                      <a:r>
                        <a:rPr b="0" sz="1100" i="0">
                          <a:solidFill>
                            <a:srgbClr val="1A2233"/>
                          </a:solidFill>
                          <a:latin typeface="Calibri"/>
                        </a:rPr>
                        <a:t>1.79x</a:t>
                      </a:r>
                    </a:p>
                  </a:txBody>
                  <a:tcPr marL="64008" marR="64008" marT="27432" marB="27432" anchor="ctr">
                    <a:solidFill>
                      <a:srgbClr val="FFFFFF"/>
                    </a:solidFill>
                  </a:tcPr>
                </a:tc>
                <a:tc>
                  <a:txBody>
                    <a:bodyPr wrap="square"/>
                    <a:lstStyle/>
                    <a:p>
                      <a:r>
                        <a:rPr b="0" sz="1100" i="0">
                          <a:solidFill>
                            <a:srgbClr val="1A2233"/>
                          </a:solidFill>
                          <a:latin typeface="Calibri"/>
                        </a:rPr>
                        <a:t>43.4%</a:t>
                      </a:r>
                    </a:p>
                  </a:txBody>
                  <a:tcPr marL="64008" marR="64008" marT="27432" marB="27432" anchor="ctr">
                    <a:solidFill>
                      <a:srgbClr val="FFFFFF"/>
                    </a:solidFill>
                  </a:tcPr>
                </a:tc>
              </a:tr>
              <a:tr h="301752">
                <a:tc>
                  <a:txBody>
                    <a:bodyPr wrap="square"/>
                    <a:lstStyle/>
                    <a:p>
                      <a:r>
                        <a:rPr b="1" sz="1100" i="0">
                          <a:solidFill>
                            <a:srgbClr val="1A2233"/>
                          </a:solidFill>
                          <a:latin typeface="Calibri"/>
                        </a:rPr>
                        <a:t>1.75x</a:t>
                      </a:r>
                    </a:p>
                  </a:txBody>
                  <a:tcPr marL="64008" marR="64008" marT="27432" marB="27432" anchor="ctr">
                    <a:solidFill>
                      <a:srgbClr val="F3F6F9"/>
                    </a:solidFill>
                  </a:tcPr>
                </a:tc>
                <a:tc>
                  <a:txBody>
                    <a:bodyPr wrap="square"/>
                    <a:lstStyle/>
                    <a:p>
                      <a:r>
                        <a:rPr b="0" sz="1100" i="0">
                          <a:solidFill>
                            <a:srgbClr val="1A2233"/>
                          </a:solidFill>
                          <a:latin typeface="Calibri"/>
                        </a:rPr>
                        <a:t>10 yrs</a:t>
                      </a:r>
                    </a:p>
                  </a:txBody>
                  <a:tcPr marL="64008" marR="64008" marT="27432" marB="27432" anchor="ctr">
                    <a:solidFill>
                      <a:srgbClr val="F3F6F9"/>
                    </a:solidFill>
                  </a:tcPr>
                </a:tc>
                <a:tc>
                  <a:txBody>
                    <a:bodyPr wrap="square"/>
                    <a:lstStyle/>
                    <a:p>
                      <a:r>
                        <a:rPr b="0" sz="1100" i="0">
                          <a:solidFill>
                            <a:srgbClr val="1A2233"/>
                          </a:solidFill>
                          <a:latin typeface="Calibri"/>
                        </a:rPr>
                        <a:t>92,810</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2.18x</a:t>
                      </a:r>
                    </a:p>
                  </a:txBody>
                  <a:tcPr marL="64008" marR="64008" marT="27432" marB="27432" anchor="ctr">
                    <a:solidFill>
                      <a:srgbClr val="F3F6F9"/>
                    </a:solidFill>
                  </a:tcPr>
                </a:tc>
                <a:tc>
                  <a:txBody>
                    <a:bodyPr wrap="square"/>
                    <a:lstStyle/>
                    <a:p>
                      <a:r>
                        <a:rPr b="0" sz="1100" i="0">
                          <a:solidFill>
                            <a:srgbClr val="1A2233"/>
                          </a:solidFill>
                          <a:latin typeface="Calibri"/>
                        </a:rPr>
                        <a:t>46.9%</a:t>
                      </a:r>
                    </a:p>
                  </a:txBody>
                  <a:tcPr marL="64008" marR="64008" marT="27432" marB="27432" anchor="ctr">
                    <a:solidFill>
                      <a:srgbClr val="F3F6F9"/>
                    </a:solidFill>
                  </a:tcPr>
                </a:tc>
              </a:tr>
              <a:tr h="301752">
                <a:tc>
                  <a:txBody>
                    <a:bodyPr wrap="square"/>
                    <a:lstStyle/>
                    <a:p>
                      <a:r>
                        <a:rPr b="1" sz="1100" i="0">
                          <a:solidFill>
                            <a:srgbClr val="1A2233"/>
                          </a:solidFill>
                          <a:latin typeface="Calibri"/>
                        </a:rPr>
                        <a:t>1.75x</a:t>
                      </a:r>
                    </a:p>
                  </a:txBody>
                  <a:tcPr marL="64008" marR="64008" marT="27432" marB="27432" anchor="ctr">
                    <a:solidFill>
                      <a:srgbClr val="FFFFFF"/>
                    </a:solidFill>
                  </a:tcPr>
                </a:tc>
                <a:tc>
                  <a:txBody>
                    <a:bodyPr wrap="square"/>
                    <a:lstStyle/>
                    <a:p>
                      <a:r>
                        <a:rPr b="0" sz="1100" i="0">
                          <a:solidFill>
                            <a:srgbClr val="1A2233"/>
                          </a:solidFill>
                          <a:latin typeface="Calibri"/>
                        </a:rPr>
                        <a:t>12 yrs</a:t>
                      </a:r>
                    </a:p>
                  </a:txBody>
                  <a:tcPr marL="64008" marR="64008" marT="27432" marB="27432" anchor="ctr">
                    <a:solidFill>
                      <a:srgbClr val="FFFFFF"/>
                    </a:solidFill>
                  </a:tcPr>
                </a:tc>
                <a:tc>
                  <a:txBody>
                    <a:bodyPr wrap="square"/>
                    <a:lstStyle/>
                    <a:p>
                      <a:r>
                        <a:rPr b="0" sz="1100" i="0">
                          <a:solidFill>
                            <a:srgbClr val="1A2233"/>
                          </a:solidFill>
                          <a:latin typeface="Calibri"/>
                        </a:rPr>
                        <a:t>109,757</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2.57x</a:t>
                      </a:r>
                    </a:p>
                  </a:txBody>
                  <a:tcPr marL="64008" marR="64008" marT="27432" marB="27432" anchor="ctr">
                    <a:solidFill>
                      <a:srgbClr val="FFFFFF"/>
                    </a:solidFill>
                  </a:tcPr>
                </a:tc>
                <a:tc>
                  <a:txBody>
                    <a:bodyPr wrap="square"/>
                    <a:lstStyle/>
                    <a:p>
                      <a:r>
                        <a:rPr b="0" sz="1100" i="0">
                          <a:solidFill>
                            <a:srgbClr val="1A2233"/>
                          </a:solidFill>
                          <a:latin typeface="Calibri"/>
                        </a:rPr>
                        <a:t>46.6%</a:t>
                      </a:r>
                    </a:p>
                  </a:txBody>
                  <a:tcPr marL="64008" marR="64008" marT="27432" marB="27432" anchor="ctr">
                    <a:solidFill>
                      <a:srgbClr val="FFFFFF"/>
                    </a:solidFill>
                  </a:tcPr>
                </a:tc>
              </a:tr>
              <a:tr h="301752">
                <a:tc>
                  <a:txBody>
                    <a:bodyPr wrap="square"/>
                    <a:lstStyle/>
                    <a:p>
                      <a:r>
                        <a:rPr b="1" sz="1100" i="0">
                          <a:solidFill>
                            <a:srgbClr val="1A2233"/>
                          </a:solidFill>
                          <a:latin typeface="Calibri"/>
                        </a:rPr>
                        <a:t>2.00x</a:t>
                      </a:r>
                    </a:p>
                  </a:txBody>
                  <a:tcPr marL="64008" marR="64008" marT="27432" marB="27432" anchor="ctr">
                    <a:solidFill>
                      <a:srgbClr val="F3F6F9"/>
                    </a:solidFill>
                  </a:tcPr>
                </a:tc>
                <a:tc>
                  <a:txBody>
                    <a:bodyPr wrap="square"/>
                    <a:lstStyle/>
                    <a:p>
                      <a:r>
                        <a:rPr b="0" sz="1100" i="0">
                          <a:solidFill>
                            <a:srgbClr val="1A2233"/>
                          </a:solidFill>
                          <a:latin typeface="Calibri"/>
                        </a:rPr>
                        <a:t>8 yrs</a:t>
                      </a:r>
                    </a:p>
                  </a:txBody>
                  <a:tcPr marL="64008" marR="64008" marT="27432" marB="27432" anchor="ctr">
                    <a:solidFill>
                      <a:srgbClr val="F3F6F9"/>
                    </a:solidFill>
                  </a:tcPr>
                </a:tc>
                <a:tc>
                  <a:txBody>
                    <a:bodyPr wrap="square"/>
                    <a:lstStyle/>
                    <a:p>
                      <a:r>
                        <a:rPr b="0" sz="1100" i="0">
                          <a:solidFill>
                            <a:srgbClr val="1A2233"/>
                          </a:solidFill>
                          <a:latin typeface="Calibri"/>
                        </a:rPr>
                        <a:t>65,994</a:t>
                      </a:r>
                    </a:p>
                  </a:txBody>
                  <a:tcPr marL="64008" marR="64008" marT="27432" marB="27432" anchor="ctr">
                    <a:solidFill>
                      <a:srgbClr val="F3F6F9"/>
                    </a:solidFill>
                  </a:tcPr>
                </a:tc>
                <a:tc>
                  <a:txBody>
                    <a:bodyPr wrap="square"/>
                    <a:lstStyle/>
                    <a:p>
                      <a:r>
                        <a:rPr b="0" sz="1100" i="0">
                          <a:solidFill>
                            <a:srgbClr val="1A2233"/>
                          </a:solidFill>
                          <a:latin typeface="Calibri"/>
                        </a:rPr>
                        <a:t>65,994</a:t>
                      </a:r>
                    </a:p>
                  </a:txBody>
                  <a:tcPr marL="64008" marR="64008" marT="27432" marB="27432" anchor="ctr">
                    <a:solidFill>
                      <a:srgbClr val="F3F6F9"/>
                    </a:solidFill>
                  </a:tcPr>
                </a:tc>
                <a:tc>
                  <a:txBody>
                    <a:bodyPr wrap="square"/>
                    <a:lstStyle/>
                    <a:p>
                      <a:r>
                        <a:rPr b="0" sz="1100" i="0">
                          <a:solidFill>
                            <a:srgbClr val="1A2233"/>
                          </a:solidFill>
                          <a:latin typeface="Calibri"/>
                        </a:rPr>
                        <a:t>65.6%</a:t>
                      </a:r>
                    </a:p>
                  </a:txBody>
                  <a:tcPr marL="64008" marR="64008" marT="27432" marB="27432" anchor="ctr">
                    <a:solidFill>
                      <a:srgbClr val="F3F6F9"/>
                    </a:solidFill>
                  </a:tcPr>
                </a:tc>
                <a:tc>
                  <a:txBody>
                    <a:bodyPr wrap="square"/>
                    <a:lstStyle/>
                    <a:p>
                      <a:r>
                        <a:rPr b="0" sz="1100" i="0">
                          <a:solidFill>
                            <a:srgbClr val="1A2233"/>
                          </a:solidFill>
                          <a:latin typeface="Calibri"/>
                        </a:rPr>
                        <a:t>2.06x</a:t>
                      </a:r>
                    </a:p>
                  </a:txBody>
                  <a:tcPr marL="64008" marR="64008" marT="27432" marB="27432" anchor="ctr">
                    <a:solidFill>
                      <a:srgbClr val="F3F6F9"/>
                    </a:solidFill>
                  </a:tcPr>
                </a:tc>
                <a:tc>
                  <a:txBody>
                    <a:bodyPr wrap="square"/>
                    <a:lstStyle/>
                    <a:p>
                      <a:r>
                        <a:rPr b="0" sz="1100" i="0">
                          <a:solidFill>
                            <a:srgbClr val="1A2233"/>
                          </a:solidFill>
                          <a:latin typeface="Calibri"/>
                        </a:rPr>
                        <a:t>38.2%</a:t>
                      </a:r>
                    </a:p>
                  </a:txBody>
                  <a:tcPr marL="64008" marR="64008" marT="27432" marB="27432" anchor="ctr">
                    <a:solidFill>
                      <a:srgbClr val="F3F6F9"/>
                    </a:solidFill>
                  </a:tcPr>
                </a:tc>
              </a:tr>
              <a:tr h="301752">
                <a:tc>
                  <a:txBody>
                    <a:bodyPr wrap="square"/>
                    <a:lstStyle/>
                    <a:p>
                      <a:r>
                        <a:rPr b="1" sz="1100" i="0">
                          <a:solidFill>
                            <a:srgbClr val="1A2233"/>
                          </a:solidFill>
                          <a:latin typeface="Calibri"/>
                        </a:rPr>
                        <a:t>2.00x</a:t>
                      </a:r>
                    </a:p>
                  </a:txBody>
                  <a:tcPr marL="64008" marR="64008" marT="27432" marB="27432" anchor="ctr">
                    <a:solidFill>
                      <a:srgbClr val="FFFFFF"/>
                    </a:solidFill>
                  </a:tcPr>
                </a:tc>
                <a:tc>
                  <a:txBody>
                    <a:bodyPr wrap="square"/>
                    <a:lstStyle/>
                    <a:p>
                      <a:r>
                        <a:rPr b="0" sz="1100" i="0">
                          <a:solidFill>
                            <a:srgbClr val="1A2233"/>
                          </a:solidFill>
                          <a:latin typeface="Calibri"/>
                        </a:rPr>
                        <a:t>10 yrs</a:t>
                      </a:r>
                    </a:p>
                  </a:txBody>
                  <a:tcPr marL="64008" marR="64008" marT="27432" marB="27432" anchor="ctr">
                    <a:solidFill>
                      <a:srgbClr val="FFFFFF"/>
                    </a:solidFill>
                  </a:tcPr>
                </a:tc>
                <a:tc>
                  <a:txBody>
                    <a:bodyPr wrap="square"/>
                    <a:lstStyle/>
                    <a:p>
                      <a:r>
                        <a:rPr b="0" sz="1100" i="0">
                          <a:solidFill>
                            <a:srgbClr val="1A2233"/>
                          </a:solidFill>
                          <a:latin typeface="Calibri"/>
                        </a:rPr>
                        <a:t>81,209</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2.18x</a:t>
                      </a:r>
                    </a:p>
                  </a:txBody>
                  <a:tcPr marL="64008" marR="64008" marT="27432" marB="27432" anchor="ctr">
                    <a:solidFill>
                      <a:srgbClr val="FFFFFF"/>
                    </a:solidFill>
                  </a:tcPr>
                </a:tc>
                <a:tc>
                  <a:txBody>
                    <a:bodyPr wrap="square"/>
                    <a:lstStyle/>
                    <a:p>
                      <a:r>
                        <a:rPr b="0" sz="1100" i="0">
                          <a:solidFill>
                            <a:srgbClr val="1A2233"/>
                          </a:solidFill>
                          <a:latin typeface="Calibri"/>
                        </a:rPr>
                        <a:t>46.9%</a:t>
                      </a:r>
                    </a:p>
                  </a:txBody>
                  <a:tcPr marL="64008" marR="64008" marT="27432" marB="27432" anchor="ctr">
                    <a:solidFill>
                      <a:srgbClr val="FFFFFF"/>
                    </a:solidFill>
                  </a:tcPr>
                </a:tc>
              </a:tr>
              <a:tr h="301752">
                <a:tc>
                  <a:txBody>
                    <a:bodyPr wrap="square"/>
                    <a:lstStyle/>
                    <a:p>
                      <a:r>
                        <a:rPr b="1" sz="1100" i="0">
                          <a:solidFill>
                            <a:srgbClr val="1A2233"/>
                          </a:solidFill>
                          <a:latin typeface="Calibri"/>
                        </a:rPr>
                        <a:t>2.00x</a:t>
                      </a:r>
                    </a:p>
                  </a:txBody>
                  <a:tcPr marL="64008" marR="64008" marT="27432" marB="27432" anchor="ctr">
                    <a:solidFill>
                      <a:srgbClr val="F3F6F9"/>
                    </a:solidFill>
                  </a:tcPr>
                </a:tc>
                <a:tc>
                  <a:txBody>
                    <a:bodyPr wrap="square"/>
                    <a:lstStyle/>
                    <a:p>
                      <a:r>
                        <a:rPr b="0" sz="1100" i="0">
                          <a:solidFill>
                            <a:srgbClr val="1A2233"/>
                          </a:solidFill>
                          <a:latin typeface="Calibri"/>
                        </a:rPr>
                        <a:t>12 yrs</a:t>
                      </a:r>
                    </a:p>
                  </a:txBody>
                  <a:tcPr marL="64008" marR="64008" marT="27432" marB="27432" anchor="ctr">
                    <a:solidFill>
                      <a:srgbClr val="F3F6F9"/>
                    </a:solidFill>
                  </a:tcPr>
                </a:tc>
                <a:tc>
                  <a:txBody>
                    <a:bodyPr wrap="square"/>
                    <a:lstStyle/>
                    <a:p>
                      <a:r>
                        <a:rPr b="0" sz="1100" i="0">
                          <a:solidFill>
                            <a:srgbClr val="1A2233"/>
                          </a:solidFill>
                          <a:latin typeface="Calibri"/>
                        </a:rPr>
                        <a:t>96,038</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2.57x</a:t>
                      </a:r>
                    </a:p>
                  </a:txBody>
                  <a:tcPr marL="64008" marR="64008" marT="27432" marB="27432" anchor="ctr">
                    <a:solidFill>
                      <a:srgbClr val="F3F6F9"/>
                    </a:solidFill>
                  </a:tcPr>
                </a:tc>
                <a:tc>
                  <a:txBody>
                    <a:bodyPr wrap="square"/>
                    <a:lstStyle/>
                    <a:p>
                      <a:r>
                        <a:rPr b="0" sz="1100" i="0">
                          <a:solidFill>
                            <a:srgbClr val="1A2233"/>
                          </a:solidFill>
                          <a:latin typeface="Calibri"/>
                        </a:rPr>
                        <a:t>46.6%</a:t>
                      </a:r>
                    </a:p>
                  </a:txBody>
                  <a:tcPr marL="64008" marR="64008" marT="27432" marB="27432" anchor="ctr">
                    <a:solidFill>
                      <a:srgbClr val="F3F6F9"/>
                    </a:solidFill>
                  </a:tcPr>
                </a:tc>
              </a:tr>
              <a:tr h="301752">
                <a:tc>
                  <a:txBody>
                    <a:bodyPr wrap="square"/>
                    <a:lstStyle/>
                    <a:p>
                      <a:r>
                        <a:rPr b="1" sz="1100" i="0">
                          <a:solidFill>
                            <a:srgbClr val="1A2233"/>
                          </a:solidFill>
                          <a:latin typeface="Calibri"/>
                        </a:rPr>
                        <a:t>2.25x</a:t>
                      </a:r>
                    </a:p>
                  </a:txBody>
                  <a:tcPr marL="64008" marR="64008" marT="27432" marB="27432" anchor="ctr">
                    <a:solidFill>
                      <a:srgbClr val="FFFFFF"/>
                    </a:solidFill>
                  </a:tcPr>
                </a:tc>
                <a:tc>
                  <a:txBody>
                    <a:bodyPr wrap="square"/>
                    <a:lstStyle/>
                    <a:p>
                      <a:r>
                        <a:rPr b="0" sz="1100" i="0">
                          <a:solidFill>
                            <a:srgbClr val="1A2233"/>
                          </a:solidFill>
                          <a:latin typeface="Calibri"/>
                        </a:rPr>
                        <a:t>8 yrs</a:t>
                      </a:r>
                    </a:p>
                  </a:txBody>
                  <a:tcPr marL="64008" marR="64008" marT="27432" marB="27432" anchor="ctr">
                    <a:solidFill>
                      <a:srgbClr val="FFFFFF"/>
                    </a:solidFill>
                  </a:tcPr>
                </a:tc>
                <a:tc>
                  <a:txBody>
                    <a:bodyPr wrap="square"/>
                    <a:lstStyle/>
                    <a:p>
                      <a:r>
                        <a:rPr b="0" sz="1100" i="0">
                          <a:solidFill>
                            <a:srgbClr val="1A2233"/>
                          </a:solidFill>
                          <a:latin typeface="Calibri"/>
                        </a:rPr>
                        <a:t>58,605</a:t>
                      </a:r>
                    </a:p>
                  </a:txBody>
                  <a:tcPr marL="64008" marR="64008" marT="27432" marB="27432" anchor="ctr">
                    <a:solidFill>
                      <a:srgbClr val="FFFFFF"/>
                    </a:solidFill>
                  </a:tcPr>
                </a:tc>
                <a:tc>
                  <a:txBody>
                    <a:bodyPr wrap="square"/>
                    <a:lstStyle/>
                    <a:p>
                      <a:r>
                        <a:rPr b="0" sz="1100" i="0">
                          <a:solidFill>
                            <a:srgbClr val="1A2233"/>
                          </a:solidFill>
                          <a:latin typeface="Calibri"/>
                        </a:rPr>
                        <a:t>58,605</a:t>
                      </a:r>
                    </a:p>
                  </a:txBody>
                  <a:tcPr marL="64008" marR="64008" marT="27432" marB="27432" anchor="ctr">
                    <a:solidFill>
                      <a:srgbClr val="FFFFFF"/>
                    </a:solidFill>
                  </a:tcPr>
                </a:tc>
                <a:tc>
                  <a:txBody>
                    <a:bodyPr wrap="square"/>
                    <a:lstStyle/>
                    <a:p>
                      <a:r>
                        <a:rPr b="0" sz="1100" i="0">
                          <a:solidFill>
                            <a:srgbClr val="1A2233"/>
                          </a:solidFill>
                          <a:latin typeface="Calibri"/>
                        </a:rPr>
                        <a:t>58.7%</a:t>
                      </a:r>
                    </a:p>
                  </a:txBody>
                  <a:tcPr marL="64008" marR="64008" marT="27432" marB="27432" anchor="ctr">
                    <a:solidFill>
                      <a:srgbClr val="FFFFFF"/>
                    </a:solidFill>
                  </a:tcPr>
                </a:tc>
                <a:tc>
                  <a:txBody>
                    <a:bodyPr wrap="square"/>
                    <a:lstStyle/>
                    <a:p>
                      <a:r>
                        <a:rPr b="0" sz="1100" i="0">
                          <a:solidFill>
                            <a:srgbClr val="1A2233"/>
                          </a:solidFill>
                          <a:latin typeface="Calibri"/>
                        </a:rPr>
                        <a:t>2.32x</a:t>
                      </a:r>
                    </a:p>
                  </a:txBody>
                  <a:tcPr marL="64008" marR="64008" marT="27432" marB="27432" anchor="ctr">
                    <a:solidFill>
                      <a:srgbClr val="FFFFFF"/>
                    </a:solidFill>
                  </a:tcPr>
                </a:tc>
                <a:tc>
                  <a:txBody>
                    <a:bodyPr wrap="square"/>
                    <a:lstStyle/>
                    <a:p>
                      <a:r>
                        <a:rPr b="0" sz="1100" i="0">
                          <a:solidFill>
                            <a:srgbClr val="1A2233"/>
                          </a:solidFill>
                          <a:latin typeface="Calibri"/>
                        </a:rPr>
                        <a:t>34.8%</a:t>
                      </a:r>
                    </a:p>
                  </a:txBody>
                  <a:tcPr marL="64008" marR="64008" marT="27432" marB="27432" anchor="ctr">
                    <a:solidFill>
                      <a:srgbClr val="FFFFFF"/>
                    </a:solidFill>
                  </a:tcPr>
                </a:tc>
              </a:tr>
              <a:tr h="301752">
                <a:tc>
                  <a:txBody>
                    <a:bodyPr wrap="square"/>
                    <a:lstStyle/>
                    <a:p>
                      <a:r>
                        <a:rPr b="1" sz="1100" i="0">
                          <a:solidFill>
                            <a:srgbClr val="1A2233"/>
                          </a:solidFill>
                          <a:latin typeface="Calibri"/>
                        </a:rPr>
                        <a:t>2.25x</a:t>
                      </a:r>
                    </a:p>
                  </a:txBody>
                  <a:tcPr marL="64008" marR="64008" marT="27432" marB="27432" anchor="ctr">
                    <a:solidFill>
                      <a:srgbClr val="F3F6F9"/>
                    </a:solidFill>
                  </a:tcPr>
                </a:tc>
                <a:tc>
                  <a:txBody>
                    <a:bodyPr wrap="square"/>
                    <a:lstStyle/>
                    <a:p>
                      <a:r>
                        <a:rPr b="0" sz="1100" i="0">
                          <a:solidFill>
                            <a:srgbClr val="1A2233"/>
                          </a:solidFill>
                          <a:latin typeface="Calibri"/>
                        </a:rPr>
                        <a:t>10 yrs</a:t>
                      </a:r>
                    </a:p>
                  </a:txBody>
                  <a:tcPr marL="64008" marR="64008" marT="27432" marB="27432" anchor="ctr">
                    <a:solidFill>
                      <a:srgbClr val="F3F6F9"/>
                    </a:solidFill>
                  </a:tcPr>
                </a:tc>
                <a:tc>
                  <a:txBody>
                    <a:bodyPr wrap="square"/>
                    <a:lstStyle/>
                    <a:p>
                      <a:r>
                        <a:rPr b="0" sz="1100" i="0">
                          <a:solidFill>
                            <a:srgbClr val="1A2233"/>
                          </a:solidFill>
                          <a:latin typeface="Calibri"/>
                        </a:rPr>
                        <a:t>72,154</a:t>
                      </a:r>
                    </a:p>
                  </a:txBody>
                  <a:tcPr marL="64008" marR="64008" marT="27432" marB="27432" anchor="ctr">
                    <a:solidFill>
                      <a:srgbClr val="F3F6F9"/>
                    </a:solidFill>
                  </a:tcPr>
                </a:tc>
                <a:tc>
                  <a:txBody>
                    <a:bodyPr wrap="square"/>
                    <a:lstStyle/>
                    <a:p>
                      <a:r>
                        <a:rPr b="0" sz="1100" i="0">
                          <a:solidFill>
                            <a:srgbClr val="1A2233"/>
                          </a:solidFill>
                          <a:latin typeface="Calibri"/>
                        </a:rPr>
                        <a:t>72,154</a:t>
                      </a:r>
                    </a:p>
                  </a:txBody>
                  <a:tcPr marL="64008" marR="64008" marT="27432" marB="27432" anchor="ctr">
                    <a:solidFill>
                      <a:srgbClr val="F3F6F9"/>
                    </a:solidFill>
                  </a:tcPr>
                </a:tc>
                <a:tc>
                  <a:txBody>
                    <a:bodyPr wrap="square"/>
                    <a:lstStyle/>
                    <a:p>
                      <a:r>
                        <a:rPr b="0" sz="1100" i="0">
                          <a:solidFill>
                            <a:srgbClr val="1A2233"/>
                          </a:solidFill>
                          <a:latin typeface="Calibri"/>
                        </a:rPr>
                        <a:t>71.4%</a:t>
                      </a:r>
                    </a:p>
                  </a:txBody>
                  <a:tcPr marL="64008" marR="64008" marT="27432" marB="27432" anchor="ctr">
                    <a:solidFill>
                      <a:srgbClr val="F3F6F9"/>
                    </a:solidFill>
                  </a:tcPr>
                </a:tc>
                <a:tc>
                  <a:txBody>
                    <a:bodyPr wrap="square"/>
                    <a:lstStyle/>
                    <a:p>
                      <a:r>
                        <a:rPr b="0" sz="1100" i="0">
                          <a:solidFill>
                            <a:srgbClr val="1A2233"/>
                          </a:solidFill>
                          <a:latin typeface="Calibri"/>
                        </a:rPr>
                        <a:t>2.30x</a:t>
                      </a:r>
                    </a:p>
                  </a:txBody>
                  <a:tcPr marL="64008" marR="64008" marT="27432" marB="27432" anchor="ctr">
                    <a:solidFill>
                      <a:srgbClr val="F3F6F9"/>
                    </a:solidFill>
                  </a:tcPr>
                </a:tc>
                <a:tc>
                  <a:txBody>
                    <a:bodyPr wrap="square"/>
                    <a:lstStyle/>
                    <a:p>
                      <a:r>
                        <a:rPr b="0" sz="1100" i="0">
                          <a:solidFill>
                            <a:srgbClr val="1A2233"/>
                          </a:solidFill>
                          <a:latin typeface="Calibri"/>
                        </a:rPr>
                        <a:t>43.0%</a:t>
                      </a:r>
                    </a:p>
                  </a:txBody>
                  <a:tcPr marL="64008" marR="64008" marT="27432" marB="27432" anchor="ctr">
                    <a:solidFill>
                      <a:srgbClr val="F3F6F9"/>
                    </a:solidFill>
                  </a:tcPr>
                </a:tc>
              </a:tr>
              <a:tr h="301752">
                <a:tc>
                  <a:txBody>
                    <a:bodyPr wrap="square"/>
                    <a:lstStyle/>
                    <a:p>
                      <a:r>
                        <a:rPr b="1" sz="1100" i="0">
                          <a:solidFill>
                            <a:srgbClr val="1A2233"/>
                          </a:solidFill>
                          <a:latin typeface="Calibri"/>
                        </a:rPr>
                        <a:t>2.25x</a:t>
                      </a:r>
                    </a:p>
                  </a:txBody>
                  <a:tcPr marL="64008" marR="64008" marT="27432" marB="27432" anchor="ctr">
                    <a:solidFill>
                      <a:srgbClr val="FFFFFF"/>
                    </a:solidFill>
                  </a:tcPr>
                </a:tc>
                <a:tc>
                  <a:txBody>
                    <a:bodyPr wrap="square"/>
                    <a:lstStyle/>
                    <a:p>
                      <a:r>
                        <a:rPr b="0" sz="1100" i="0">
                          <a:solidFill>
                            <a:srgbClr val="1A2233"/>
                          </a:solidFill>
                          <a:latin typeface="Calibri"/>
                        </a:rPr>
                        <a:t>12 yrs</a:t>
                      </a:r>
                    </a:p>
                  </a:txBody>
                  <a:tcPr marL="64008" marR="64008" marT="27432" marB="27432" anchor="ctr">
                    <a:solidFill>
                      <a:srgbClr val="FFFFFF"/>
                    </a:solidFill>
                  </a:tcPr>
                </a:tc>
                <a:tc>
                  <a:txBody>
                    <a:bodyPr wrap="square"/>
                    <a:lstStyle/>
                    <a:p>
                      <a:r>
                        <a:rPr b="0" sz="1100" i="0">
                          <a:solidFill>
                            <a:srgbClr val="1A2233"/>
                          </a:solidFill>
                          <a:latin typeface="Calibri"/>
                        </a:rPr>
                        <a:t>85,367</a:t>
                      </a:r>
                    </a:p>
                  </a:txBody>
                  <a:tcPr marL="64008" marR="64008" marT="27432" marB="27432" anchor="ctr">
                    <a:solidFill>
                      <a:srgbClr val="FFFFFF"/>
                    </a:solidFill>
                  </a:tcPr>
                </a:tc>
                <a:tc>
                  <a:txBody>
                    <a:bodyPr wrap="square"/>
                    <a:lstStyle/>
                    <a:p>
                      <a:r>
                        <a:rPr b="0" sz="1100" i="0">
                          <a:solidFill>
                            <a:srgbClr val="1A2233"/>
                          </a:solidFill>
                          <a:latin typeface="Calibri"/>
                        </a:rPr>
                        <a:t>76,052</a:t>
                      </a:r>
                    </a:p>
                  </a:txBody>
                  <a:tcPr marL="64008" marR="64008" marT="27432" marB="27432" anchor="ctr">
                    <a:solidFill>
                      <a:srgbClr val="FFFFFF"/>
                    </a:solidFill>
                  </a:tcPr>
                </a:tc>
                <a:tc>
                  <a:txBody>
                    <a:bodyPr wrap="square"/>
                    <a:lstStyle/>
                    <a:p>
                      <a:r>
                        <a:rPr b="0" sz="1100" i="0">
                          <a:solidFill>
                            <a:srgbClr val="1A2233"/>
                          </a:solidFill>
                          <a:latin typeface="Calibri"/>
                        </a:rPr>
                        <a:t>75.0%</a:t>
                      </a:r>
                    </a:p>
                  </a:txBody>
                  <a:tcPr marL="64008" marR="64008" marT="27432" marB="27432" anchor="ctr">
                    <a:solidFill>
                      <a:srgbClr val="FFFFFF"/>
                    </a:solidFill>
                  </a:tcPr>
                </a:tc>
                <a:tc>
                  <a:txBody>
                    <a:bodyPr wrap="square"/>
                    <a:lstStyle/>
                    <a:p>
                      <a:r>
                        <a:rPr b="0" sz="1100" i="0">
                          <a:solidFill>
                            <a:srgbClr val="1A2233"/>
                          </a:solidFill>
                          <a:latin typeface="Calibri"/>
                        </a:rPr>
                        <a:t>2.57x</a:t>
                      </a:r>
                    </a:p>
                  </a:txBody>
                  <a:tcPr marL="64008" marR="64008" marT="27432" marB="27432" anchor="ctr">
                    <a:solidFill>
                      <a:srgbClr val="FFFFFF"/>
                    </a:solidFill>
                  </a:tcPr>
                </a:tc>
                <a:tc>
                  <a:txBody>
                    <a:bodyPr wrap="square"/>
                    <a:lstStyle/>
                    <a:p>
                      <a:r>
                        <a:rPr b="0" sz="1100" i="0">
                          <a:solidFill>
                            <a:srgbClr val="1A2233"/>
                          </a:solidFill>
                          <a:latin typeface="Calibri"/>
                        </a:rPr>
                        <a:t>46.6%</a:t>
                      </a:r>
                    </a:p>
                  </a:txBody>
                  <a:tcPr marL="64008" marR="64008" marT="27432" marB="27432" anchor="ctr">
                    <a:solidFill>
                      <a:srgbClr val="FFFFFF"/>
                    </a:solidFill>
                  </a:tcPr>
                </a:tc>
              </a:tr>
              <a:tr h="301752">
                <a:tc>
                  <a:txBody>
                    <a:bodyPr wrap="square"/>
                    <a:lstStyle/>
                    <a:p>
                      <a:r>
                        <a:rPr b="1" sz="1100" i="0">
                          <a:solidFill>
                            <a:srgbClr val="1A2233"/>
                          </a:solidFill>
                          <a:latin typeface="Calibri"/>
                        </a:rPr>
                        <a:t>2.50x</a:t>
                      </a:r>
                    </a:p>
                  </a:txBody>
                  <a:tcPr marL="64008" marR="64008" marT="27432" marB="27432" anchor="ctr">
                    <a:solidFill>
                      <a:srgbClr val="F3F6F9"/>
                    </a:solidFill>
                  </a:tcPr>
                </a:tc>
                <a:tc>
                  <a:txBody>
                    <a:bodyPr wrap="square"/>
                    <a:lstStyle/>
                    <a:p>
                      <a:r>
                        <a:rPr b="0" sz="1100" i="0">
                          <a:solidFill>
                            <a:srgbClr val="1A2233"/>
                          </a:solidFill>
                          <a:latin typeface="Calibri"/>
                        </a:rPr>
                        <a:t>8 yrs</a:t>
                      </a:r>
                    </a:p>
                  </a:txBody>
                  <a:tcPr marL="64008" marR="64008" marT="27432" marB="27432" anchor="ctr">
                    <a:solidFill>
                      <a:srgbClr val="F3F6F9"/>
                    </a:solidFill>
                  </a:tcPr>
                </a:tc>
                <a:tc>
                  <a:txBody>
                    <a:bodyPr wrap="square"/>
                    <a:lstStyle/>
                    <a:p>
                      <a:r>
                        <a:rPr b="0" sz="1100" i="0">
                          <a:solidFill>
                            <a:srgbClr val="1A2233"/>
                          </a:solidFill>
                          <a:latin typeface="Calibri"/>
                        </a:rPr>
                        <a:t>52,704</a:t>
                      </a:r>
                    </a:p>
                  </a:txBody>
                  <a:tcPr marL="64008" marR="64008" marT="27432" marB="27432" anchor="ctr">
                    <a:solidFill>
                      <a:srgbClr val="F3F6F9"/>
                    </a:solidFill>
                  </a:tcPr>
                </a:tc>
                <a:tc>
                  <a:txBody>
                    <a:bodyPr wrap="square"/>
                    <a:lstStyle/>
                    <a:p>
                      <a:r>
                        <a:rPr b="0" sz="1100" i="0">
                          <a:solidFill>
                            <a:srgbClr val="1A2233"/>
                          </a:solidFill>
                          <a:latin typeface="Calibri"/>
                        </a:rPr>
                        <a:t>52,704</a:t>
                      </a:r>
                    </a:p>
                  </a:txBody>
                  <a:tcPr marL="64008" marR="64008" marT="27432" marB="27432" anchor="ctr">
                    <a:solidFill>
                      <a:srgbClr val="F3F6F9"/>
                    </a:solidFill>
                  </a:tcPr>
                </a:tc>
                <a:tc>
                  <a:txBody>
                    <a:bodyPr wrap="square"/>
                    <a:lstStyle/>
                    <a:p>
                      <a:r>
                        <a:rPr b="0" sz="1100" i="0">
                          <a:solidFill>
                            <a:srgbClr val="1A2233"/>
                          </a:solidFill>
                          <a:latin typeface="Calibri"/>
                        </a:rPr>
                        <a:t>53.0%</a:t>
                      </a:r>
                    </a:p>
                  </a:txBody>
                  <a:tcPr marL="64008" marR="64008" marT="27432" marB="27432" anchor="ctr">
                    <a:solidFill>
                      <a:srgbClr val="F3F6F9"/>
                    </a:solidFill>
                  </a:tcPr>
                </a:tc>
                <a:tc>
                  <a:txBody>
                    <a:bodyPr wrap="square"/>
                    <a:lstStyle/>
                    <a:p>
                      <a:r>
                        <a:rPr b="0" sz="1100" i="0">
                          <a:solidFill>
                            <a:srgbClr val="1A2233"/>
                          </a:solidFill>
                          <a:latin typeface="Calibri"/>
                        </a:rPr>
                        <a:t>2.59x</a:t>
                      </a:r>
                    </a:p>
                  </a:txBody>
                  <a:tcPr marL="64008" marR="64008" marT="27432" marB="27432" anchor="ctr">
                    <a:solidFill>
                      <a:srgbClr val="F3F6F9"/>
                    </a:solidFill>
                  </a:tcPr>
                </a:tc>
                <a:tc>
                  <a:txBody>
                    <a:bodyPr wrap="square"/>
                    <a:lstStyle/>
                    <a:p>
                      <a:r>
                        <a:rPr b="0" sz="1100" i="0">
                          <a:solidFill>
                            <a:srgbClr val="1A2233"/>
                          </a:solidFill>
                          <a:latin typeface="Calibri"/>
                        </a:rPr>
                        <a:t>32.5%</a:t>
                      </a:r>
                    </a:p>
                  </a:txBody>
                  <a:tcPr marL="64008" marR="64008" marT="27432" marB="27432" anchor="ctr">
                    <a:solidFill>
                      <a:srgbClr val="F3F6F9"/>
                    </a:solidFill>
                  </a:tcPr>
                </a:tc>
              </a:tr>
              <a:tr h="301752">
                <a:tc>
                  <a:txBody>
                    <a:bodyPr wrap="square"/>
                    <a:lstStyle/>
                    <a:p>
                      <a:r>
                        <a:rPr b="1" sz="1100" i="0">
                          <a:solidFill>
                            <a:srgbClr val="1A2233"/>
                          </a:solidFill>
                          <a:latin typeface="Calibri"/>
                        </a:rPr>
                        <a:t>2.50x</a:t>
                      </a:r>
                    </a:p>
                  </a:txBody>
                  <a:tcPr marL="64008" marR="64008" marT="27432" marB="27432" anchor="ctr">
                    <a:solidFill>
                      <a:srgbClr val="FFFFFF"/>
                    </a:solidFill>
                  </a:tcPr>
                </a:tc>
                <a:tc>
                  <a:txBody>
                    <a:bodyPr wrap="square"/>
                    <a:lstStyle/>
                    <a:p>
                      <a:r>
                        <a:rPr b="0" sz="1100" i="0">
                          <a:solidFill>
                            <a:srgbClr val="1A2233"/>
                          </a:solidFill>
                          <a:latin typeface="Calibri"/>
                        </a:rPr>
                        <a:t>10 yrs</a:t>
                      </a:r>
                    </a:p>
                  </a:txBody>
                  <a:tcPr marL="64008" marR="64008" marT="27432" marB="27432" anchor="ctr">
                    <a:solidFill>
                      <a:srgbClr val="FFFFFF"/>
                    </a:solidFill>
                  </a:tcPr>
                </a:tc>
                <a:tc>
                  <a:txBody>
                    <a:bodyPr wrap="square"/>
                    <a:lstStyle/>
                    <a:p>
                      <a:r>
                        <a:rPr b="0" sz="1100" i="0">
                          <a:solidFill>
                            <a:srgbClr val="1A2233"/>
                          </a:solidFill>
                          <a:latin typeface="Calibri"/>
                        </a:rPr>
                        <a:t>64,886</a:t>
                      </a:r>
                    </a:p>
                  </a:txBody>
                  <a:tcPr marL="64008" marR="64008" marT="27432" marB="27432" anchor="ctr">
                    <a:solidFill>
                      <a:srgbClr val="FFFFFF"/>
                    </a:solidFill>
                  </a:tcPr>
                </a:tc>
                <a:tc>
                  <a:txBody>
                    <a:bodyPr wrap="square"/>
                    <a:lstStyle/>
                    <a:p>
                      <a:r>
                        <a:rPr b="0" sz="1100" i="0">
                          <a:solidFill>
                            <a:srgbClr val="1A2233"/>
                          </a:solidFill>
                          <a:latin typeface="Calibri"/>
                        </a:rPr>
                        <a:t>64,886</a:t>
                      </a:r>
                    </a:p>
                  </a:txBody>
                  <a:tcPr marL="64008" marR="64008" marT="27432" marB="27432" anchor="ctr">
                    <a:solidFill>
                      <a:srgbClr val="FFFFFF"/>
                    </a:solidFill>
                  </a:tcPr>
                </a:tc>
                <a:tc>
                  <a:txBody>
                    <a:bodyPr wrap="square"/>
                    <a:lstStyle/>
                    <a:p>
                      <a:r>
                        <a:rPr b="0" sz="1100" i="0">
                          <a:solidFill>
                            <a:srgbClr val="1A2233"/>
                          </a:solidFill>
                          <a:latin typeface="Calibri"/>
                        </a:rPr>
                        <a:t>64.6%</a:t>
                      </a:r>
                    </a:p>
                  </a:txBody>
                  <a:tcPr marL="64008" marR="64008" marT="27432" marB="27432" anchor="ctr">
                    <a:solidFill>
                      <a:srgbClr val="FFFFFF"/>
                    </a:solidFill>
                  </a:tcPr>
                </a:tc>
                <a:tc>
                  <a:txBody>
                    <a:bodyPr wrap="square"/>
                    <a:lstStyle/>
                    <a:p>
                      <a:r>
                        <a:rPr b="0" sz="1100" i="0">
                          <a:solidFill>
                            <a:srgbClr val="1A2233"/>
                          </a:solidFill>
                          <a:latin typeface="Calibri"/>
                        </a:rPr>
                        <a:t>2.56x</a:t>
                      </a:r>
                    </a:p>
                  </a:txBody>
                  <a:tcPr marL="64008" marR="64008" marT="27432" marB="27432" anchor="ctr">
                    <a:solidFill>
                      <a:srgbClr val="FFFFFF"/>
                    </a:solidFill>
                  </a:tcPr>
                </a:tc>
                <a:tc>
                  <a:txBody>
                    <a:bodyPr wrap="square"/>
                    <a:lstStyle/>
                    <a:p>
                      <a:r>
                        <a:rPr b="0" sz="1100" i="0">
                          <a:solidFill>
                            <a:srgbClr val="1A2233"/>
                          </a:solidFill>
                          <a:latin typeface="Calibri"/>
                        </a:rPr>
                        <a:t>37.7%</a:t>
                      </a:r>
                    </a:p>
                  </a:txBody>
                  <a:tcPr marL="64008" marR="64008" marT="27432" marB="27432" anchor="ctr">
                    <a:solidFill>
                      <a:srgbClr val="FFFFFF"/>
                    </a:solidFill>
                  </a:tcPr>
                </a:tc>
              </a:tr>
              <a:tr h="301752">
                <a:tc>
                  <a:txBody>
                    <a:bodyPr wrap="square"/>
                    <a:lstStyle/>
                    <a:p>
                      <a:r>
                        <a:rPr b="1" sz="1100" i="0">
                          <a:solidFill>
                            <a:srgbClr val="1A2233"/>
                          </a:solidFill>
                          <a:latin typeface="Calibri"/>
                        </a:rPr>
                        <a:t>2.50x</a:t>
                      </a:r>
                    </a:p>
                  </a:txBody>
                  <a:tcPr marL="64008" marR="64008" marT="27432" marB="27432" anchor="ctr">
                    <a:solidFill>
                      <a:srgbClr val="F3F6F9"/>
                    </a:solidFill>
                  </a:tcPr>
                </a:tc>
                <a:tc>
                  <a:txBody>
                    <a:bodyPr wrap="square"/>
                    <a:lstStyle/>
                    <a:p>
                      <a:r>
                        <a:rPr b="0" sz="1100" i="0">
                          <a:solidFill>
                            <a:srgbClr val="1A2233"/>
                          </a:solidFill>
                          <a:latin typeface="Calibri"/>
                        </a:rPr>
                        <a:t>12 yrs</a:t>
                      </a:r>
                    </a:p>
                  </a:txBody>
                  <a:tcPr marL="64008" marR="64008" marT="27432" marB="27432" anchor="ctr">
                    <a:solidFill>
                      <a:srgbClr val="F3F6F9"/>
                    </a:solidFill>
                  </a:tcPr>
                </a:tc>
                <a:tc>
                  <a:txBody>
                    <a:bodyPr wrap="square"/>
                    <a:lstStyle/>
                    <a:p>
                      <a:r>
                        <a:rPr b="0" sz="1100" i="0">
                          <a:solidFill>
                            <a:srgbClr val="1A2233"/>
                          </a:solidFill>
                          <a:latin typeface="Calibri"/>
                        </a:rPr>
                        <a:t>76,830</a:t>
                      </a:r>
                    </a:p>
                  </a:txBody>
                  <a:tcPr marL="64008" marR="64008" marT="27432" marB="27432" anchor="ctr">
                    <a:solidFill>
                      <a:srgbClr val="F3F6F9"/>
                    </a:solidFill>
                  </a:tcPr>
                </a:tc>
                <a:tc>
                  <a:txBody>
                    <a:bodyPr wrap="square"/>
                    <a:lstStyle/>
                    <a:p>
                      <a:r>
                        <a:rPr b="0" sz="1100" i="0">
                          <a:solidFill>
                            <a:srgbClr val="1A2233"/>
                          </a:solidFill>
                          <a:latin typeface="Calibri"/>
                        </a:rPr>
                        <a:t>76,052</a:t>
                      </a:r>
                    </a:p>
                  </a:txBody>
                  <a:tcPr marL="64008" marR="64008" marT="27432" marB="27432" anchor="ctr">
                    <a:solidFill>
                      <a:srgbClr val="F3F6F9"/>
                    </a:solidFill>
                  </a:tcPr>
                </a:tc>
                <a:tc>
                  <a:txBody>
                    <a:bodyPr wrap="square"/>
                    <a:lstStyle/>
                    <a:p>
                      <a:r>
                        <a:rPr b="0" sz="1100" i="0">
                          <a:solidFill>
                            <a:srgbClr val="1A2233"/>
                          </a:solidFill>
                          <a:latin typeface="Calibri"/>
                        </a:rPr>
                        <a:t>75.0%</a:t>
                      </a:r>
                    </a:p>
                  </a:txBody>
                  <a:tcPr marL="64008" marR="64008" marT="27432" marB="27432" anchor="ctr">
                    <a:solidFill>
                      <a:srgbClr val="F3F6F9"/>
                    </a:solidFill>
                  </a:tcPr>
                </a:tc>
                <a:tc>
                  <a:txBody>
                    <a:bodyPr wrap="square"/>
                    <a:lstStyle/>
                    <a:p>
                      <a:r>
                        <a:rPr b="0" sz="1100" i="0">
                          <a:solidFill>
                            <a:srgbClr val="1A2233"/>
                          </a:solidFill>
                          <a:latin typeface="Calibri"/>
                        </a:rPr>
                        <a:t>2.57x</a:t>
                      </a:r>
                    </a:p>
                  </a:txBody>
                  <a:tcPr marL="64008" marR="64008" marT="27432" marB="27432" anchor="ctr">
                    <a:solidFill>
                      <a:srgbClr val="F3F6F9"/>
                    </a:solidFill>
                  </a:tcPr>
                </a:tc>
                <a:tc>
                  <a:txBody>
                    <a:bodyPr wrap="square"/>
                    <a:lstStyle/>
                    <a:p>
                      <a:r>
                        <a:rPr b="0" sz="1100" i="0">
                          <a:solidFill>
                            <a:srgbClr val="1A2233"/>
                          </a:solidFill>
                          <a:latin typeface="Calibri"/>
                        </a:rPr>
                        <a:t>46.6%</a:t>
                      </a:r>
                    </a:p>
                  </a:txBody>
                  <a:tcPr marL="64008" marR="64008" marT="27432" marB="27432" anchor="ctr">
                    <a:solidFill>
                      <a:srgbClr val="F3F6F9"/>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69</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OPTIMISE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Reading the grid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Lower target DSCR or longer tenor → more debt capacity → more leverage → higher sponsor IRR</a:t>
            </a:r>
          </a:p>
          <a:p>
            <a:pPr>
              <a:spcAft>
                <a:spcPts val="700"/>
              </a:spcAft>
            </a:pPr>
            <a:r>
              <a:rPr b="0" sz="2000" i="0">
                <a:solidFill>
                  <a:srgbClr val="1A2233"/>
                </a:solidFill>
                <a:latin typeface="Calibri"/>
              </a:rPr>
              <a:t>▪ Once the </a:t>
            </a:r>
            <a:r>
              <a:rPr b="1" sz="2000" i="0">
                <a:solidFill>
                  <a:srgbClr val="1A2233"/>
                </a:solidFill>
                <a:latin typeface="Calibri"/>
              </a:rPr>
              <a:t>gearing cap</a:t>
            </a:r>
            <a:r>
              <a:rPr b="0" sz="2000" i="0">
                <a:solidFill>
                  <a:srgbClr val="1A2233"/>
                </a:solidFill>
                <a:latin typeface="Calibri"/>
              </a:rPr>
              <a:t> binds (75% of cost) a lower DSCR target no longer adds debt: IRR is flat across those rows</a:t>
            </a:r>
          </a:p>
          <a:p>
            <a:pPr>
              <a:spcAft>
                <a:spcPts val="700"/>
              </a:spcAft>
            </a:pPr>
            <a:r>
              <a:rPr b="0" sz="2000" i="0">
                <a:solidFill>
                  <a:srgbClr val="1A2233"/>
                </a:solidFill>
                <a:latin typeface="Calibri"/>
              </a:rPr>
              <a:t>▪ The lender's view: minimum actual DSCR stays above the target because actual CFADS includes the interest tax shield</a:t>
            </a:r>
          </a:p>
          <a:p>
            <a:pPr>
              <a:spcAft>
                <a:spcPts val="700"/>
              </a:spcAft>
            </a:pPr>
            <a:r>
              <a:rPr b="0" sz="2000" i="0">
                <a:solidFill>
                  <a:srgbClr val="1A2233"/>
                </a:solidFill>
                <a:latin typeface="Calibri"/>
              </a:rPr>
              <a:t>▪ Choose the structure that is </a:t>
            </a:r>
            <a:r>
              <a:rPr b="1" sz="2000" i="0">
                <a:solidFill>
                  <a:srgbClr val="1A2233"/>
                </a:solidFill>
                <a:latin typeface="Calibri"/>
              </a:rPr>
              <a:t>bankable first</a:t>
            </a:r>
            <a:r>
              <a:rPr b="0" sz="2000" i="0">
                <a:solidFill>
                  <a:srgbClr val="1A2233"/>
                </a:solidFill>
                <a:latin typeface="Calibri"/>
              </a:rPr>
              <a:t>, then maximises return: the target DSCR and tenor are agreed in the term sheet, not optimised by the sponsor alone</a:t>
            </a:r>
          </a:p>
        </p:txBody>
      </p:sp>
      <p:sp>
        <p:nvSpPr>
          <p:cNvPr id="12" name="Rectangle 11"/>
          <p:cNvSpPr/>
          <p:nvPr/>
        </p:nvSpPr>
        <p:spPr>
          <a:xfrm>
            <a:off x="640080" y="5029200"/>
            <a:ext cx="1088136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502920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02920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Your answer to a credit committee: 'We propose X because it meets the lender's DSCR, LLCR and gearing tests and returns Y% to sponsors.'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70</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DATA TABLE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Optimise with a two-way data table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8640" y="15453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1</a:t>
            </a:r>
          </a:p>
        </p:txBody>
      </p:sp>
      <p:sp>
        <p:nvSpPr>
          <p:cNvPr id="12" name="TextBox 11"/>
          <p:cNvSpPr txBox="1"/>
          <p:nvPr/>
        </p:nvSpPr>
        <p:spPr>
          <a:xfrm>
            <a:off x="1078992" y="15087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Place the table on </a:t>
            </a:r>
            <a:r>
              <a:rPr b="1" sz="1600" i="0">
                <a:solidFill>
                  <a:srgbClr val="1A2233"/>
                </a:solidFill>
                <a:latin typeface="Calibri"/>
              </a:rPr>
              <a:t>InpC</a:t>
            </a:r>
            <a:r>
              <a:rPr b="0" sz="1600" i="0">
                <a:solidFill>
                  <a:srgbClr val="1A2233"/>
                </a:solidFill>
                <a:latin typeface="Calibri"/>
              </a:rPr>
              <a:t> (Data Tables need their input cells on the same sheet).</a:t>
            </a:r>
          </a:p>
        </p:txBody>
      </p:sp>
      <p:sp>
        <p:nvSpPr>
          <p:cNvPr id="13" name="Oval 12"/>
          <p:cNvSpPr/>
          <p:nvPr/>
        </p:nvSpPr>
        <p:spPr>
          <a:xfrm>
            <a:off x="548640" y="21930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2</a:t>
            </a:r>
          </a:p>
        </p:txBody>
      </p:sp>
      <p:sp>
        <p:nvSpPr>
          <p:cNvPr id="14" name="TextBox 13"/>
          <p:cNvSpPr txBox="1"/>
          <p:nvPr/>
        </p:nvSpPr>
        <p:spPr>
          <a:xfrm>
            <a:off x="1078992" y="21564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Top-left cell: </a:t>
            </a:r>
            <a:r>
              <a:rPr b="0" sz="1600" i="0">
                <a:solidFill>
                  <a:srgbClr val="0B5E82"/>
                </a:solidFill>
                <a:latin typeface="Consolas"/>
              </a:rPr>
              <a:t>=Val!F51</a:t>
            </a:r>
            <a:r>
              <a:rPr b="0" sz="1600" i="0">
                <a:solidFill>
                  <a:srgbClr val="1A2233"/>
                </a:solidFill>
                <a:latin typeface="Calibri"/>
              </a:rPr>
              <a:t> (blended IRR). Row across: target DSCR values; column down: tenors (quarters).</a:t>
            </a:r>
          </a:p>
        </p:txBody>
      </p:sp>
      <p:sp>
        <p:nvSpPr>
          <p:cNvPr id="15" name="Oval 14"/>
          <p:cNvSpPr/>
          <p:nvPr/>
        </p:nvSpPr>
        <p:spPr>
          <a:xfrm>
            <a:off x="548640" y="28407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3</a:t>
            </a:r>
          </a:p>
        </p:txBody>
      </p:sp>
      <p:sp>
        <p:nvSpPr>
          <p:cNvPr id="16" name="TextBox 15"/>
          <p:cNvSpPr txBox="1"/>
          <p:nvPr/>
        </p:nvSpPr>
        <p:spPr>
          <a:xfrm>
            <a:off x="1078992" y="28041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Select the block and open Data Table: </a:t>
            </a:r>
            <a:r>
              <a:rPr b="0" sz="1600" i="0">
                <a:solidFill>
                  <a:srgbClr val="0B5E82"/>
                </a:solidFill>
                <a:latin typeface="Consolas"/>
              </a:rPr>
              <a:t>Alt+A, W, T</a:t>
            </a:r>
            <a:r>
              <a:rPr b="0" sz="1600" i="0">
                <a:solidFill>
                  <a:srgbClr val="1A2233"/>
                </a:solidFill>
                <a:latin typeface="Calibri"/>
              </a:rPr>
              <a:t> / Data ▸ What-If Analysis ▸ Data Table (Mac).</a:t>
            </a:r>
          </a:p>
        </p:txBody>
      </p:sp>
      <p:sp>
        <p:nvSpPr>
          <p:cNvPr id="17" name="Oval 16"/>
          <p:cNvSpPr/>
          <p:nvPr/>
        </p:nvSpPr>
        <p:spPr>
          <a:xfrm>
            <a:off x="548640" y="34884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4</a:t>
            </a:r>
          </a:p>
        </p:txBody>
      </p:sp>
      <p:sp>
        <p:nvSpPr>
          <p:cNvPr id="18" name="TextBox 17"/>
          <p:cNvSpPr txBox="1"/>
          <p:nvPr/>
        </p:nvSpPr>
        <p:spPr>
          <a:xfrm>
            <a:off x="1078992" y="34518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Row input cell </a:t>
            </a:r>
            <a:r>
              <a:rPr b="0" sz="1600" i="0">
                <a:solidFill>
                  <a:srgbClr val="0B5E82"/>
                </a:solidFill>
                <a:latin typeface="Consolas"/>
              </a:rPr>
              <a:t>InpC!L140</a:t>
            </a:r>
            <a:r>
              <a:rPr b="0" sz="1600" i="0">
                <a:solidFill>
                  <a:srgbClr val="1A2233"/>
                </a:solidFill>
                <a:latin typeface="Calibri"/>
              </a:rPr>
              <a:t> (target DSCR); column input cell </a:t>
            </a:r>
            <a:r>
              <a:rPr b="0" sz="1600" i="0">
                <a:solidFill>
                  <a:srgbClr val="0B5E82"/>
                </a:solidFill>
                <a:latin typeface="Consolas"/>
              </a:rPr>
              <a:t>InpC!L139</a:t>
            </a:r>
            <a:r>
              <a:rPr b="0" sz="1600" i="0">
                <a:solidFill>
                  <a:srgbClr val="1A2233"/>
                </a:solidFill>
                <a:latin typeface="Calibri"/>
              </a:rPr>
              <a:t> (tenor).</a:t>
            </a:r>
          </a:p>
        </p:txBody>
      </p:sp>
      <p:sp>
        <p:nvSpPr>
          <p:cNvPr id="19" name="Oval 18"/>
          <p:cNvSpPr/>
          <p:nvPr/>
        </p:nvSpPr>
        <p:spPr>
          <a:xfrm>
            <a:off x="548640" y="41361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5</a:t>
            </a:r>
          </a:p>
        </p:txBody>
      </p:sp>
      <p:sp>
        <p:nvSpPr>
          <p:cNvPr id="20" name="TextBox 19"/>
          <p:cNvSpPr txBox="1"/>
          <p:nvPr/>
        </p:nvSpPr>
        <p:spPr>
          <a:xfrm>
            <a:off x="1078992" y="40995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Because debt drawn must match debt sized, run Goal Seek on Sculpt!F32 for the preferred case after reading the table.</a:t>
            </a:r>
          </a:p>
        </p:txBody>
      </p:sp>
      <p:sp>
        <p:nvSpPr>
          <p:cNvPr id="21" name="Oval 20"/>
          <p:cNvSpPr/>
          <p:nvPr/>
        </p:nvSpPr>
        <p:spPr>
          <a:xfrm>
            <a:off x="548640" y="4783836"/>
            <a:ext cx="420624" cy="420624"/>
          </a:xfrm>
          <a:prstGeom prst="ellipse">
            <a:avLst/>
          </a:prstGeom>
          <a:solidFill>
            <a:srgbClr val="141B4D"/>
          </a:solidFill>
          <a:ln>
            <a:noFill/>
          </a:ln>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400" b="1">
                <a:solidFill>
                  <a:srgbClr val="FFFFFF"/>
                </a:solidFill>
                <a:latin typeface="Calibri"/>
              </a:rPr>
              <a:t>6</a:t>
            </a:r>
          </a:p>
        </p:txBody>
      </p:sp>
      <p:sp>
        <p:nvSpPr>
          <p:cNvPr id="22" name="TextBox 21"/>
          <p:cNvSpPr txBox="1"/>
          <p:nvPr/>
        </p:nvSpPr>
        <p:spPr>
          <a:xfrm>
            <a:off x="1078992" y="4747260"/>
            <a:ext cx="10378440" cy="601980"/>
          </a:xfrm>
          <a:prstGeom prst="rect">
            <a:avLst/>
          </a:prstGeom>
          <a:noFill/>
        </p:spPr>
        <p:txBody>
          <a:bodyPr wrap="square" lIns="45720" rIns="45720" tIns="27432" bIns="27432" anchor="ctr">
            <a:spAutoFit/>
          </a:bodyPr>
          <a:lstStyle/>
          <a:p>
            <a:pPr algn="l"/>
            <a:r>
              <a:rPr b="0" sz="1600" i="0">
                <a:solidFill>
                  <a:srgbClr val="1A2233"/>
                </a:solidFill>
                <a:latin typeface="Calibri"/>
              </a:rPr>
              <a:t>Set Excel to 'Automatic except for data tables' while building: Formulas ▸ Calculation Options.</a:t>
            </a:r>
          </a:p>
        </p:txBody>
      </p:sp>
      <p:sp>
        <p:nvSpPr>
          <p:cNvPr id="23" name="Rectangle 22"/>
          <p:cNvSpPr/>
          <p:nvPr/>
        </p:nvSpPr>
        <p:spPr>
          <a:xfrm>
            <a:off x="548640" y="5486400"/>
            <a:ext cx="11064240" cy="685800"/>
          </a:xfrm>
          <a:prstGeom prst="rect">
            <a:avLst/>
          </a:prstGeom>
          <a:solidFill>
            <a:srgbClr val="E7F1F6"/>
          </a:solidFill>
          <a:ln w="15240">
            <a:solidFill>
              <a:srgbClr val="1C729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486400"/>
            <a:ext cx="82296" cy="685800"/>
          </a:xfrm>
          <a:prstGeom prst="rect">
            <a:avLst/>
          </a:prstGeom>
          <a:solidFill>
            <a:srgbClr val="1C72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486400"/>
            <a:ext cx="10835640" cy="685800"/>
          </a:xfrm>
          <a:prstGeom prst="rect">
            <a:avLst/>
          </a:prstGeom>
          <a:noFill/>
        </p:spPr>
        <p:txBody>
          <a:bodyPr wrap="square" lIns="45720" rIns="45720" tIns="27432" bIns="27432" anchor="ctr">
            <a:spAutoFit/>
          </a:bodyPr>
          <a:lstStyle/>
          <a:p>
            <a:pPr algn="l"/>
            <a:r>
              <a:rPr b="0" sz="1400" i="0">
                <a:solidFill>
                  <a:srgbClr val="1A2233"/>
                </a:solidFill>
                <a:latin typeface="Calibri"/>
              </a:rPr>
              <a:t>The table shows IRR before re-solving gearing; use it to shortlist, then Goal Seek to confirm.</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71</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EXERCISE</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Exercise 7.6: Optimise and defend</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463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YOUR TASK</a:t>
            </a:r>
          </a:p>
        </p:txBody>
      </p:sp>
      <p:sp>
        <p:nvSpPr>
          <p:cNvPr id="12" name="TextBox 11"/>
          <p:cNvSpPr txBox="1"/>
          <p:nvPr/>
        </p:nvSpPr>
        <p:spPr>
          <a:xfrm>
            <a:off x="548640" y="1737360"/>
            <a:ext cx="11064240" cy="777240"/>
          </a:xfrm>
          <a:prstGeom prst="rect">
            <a:avLst/>
          </a:prstGeom>
          <a:noFill/>
        </p:spPr>
        <p:txBody>
          <a:bodyPr wrap="square" lIns="45720" rIns="45720" tIns="27432" bIns="27432" anchor="t">
            <a:spAutoFit/>
          </a:bodyPr>
          <a:lstStyle/>
          <a:p>
            <a:pPr algn="l"/>
            <a:r>
              <a:rPr b="0" sz="1600" i="0">
                <a:solidFill>
                  <a:srgbClr val="1A2233"/>
                </a:solidFill>
                <a:latin typeface="Calibri"/>
              </a:rPr>
              <a:t>Find the structure with the highest sponsor IRR that keeps the actual minimum DSCR at or above 2.0x, DSRA at 6 months and gearing at or below 75%.</a:t>
            </a:r>
          </a:p>
        </p:txBody>
      </p:sp>
      <p:sp>
        <p:nvSpPr>
          <p:cNvPr id="13" name="TextBox 12"/>
          <p:cNvSpPr txBox="1"/>
          <p:nvPr/>
        </p:nvSpPr>
        <p:spPr>
          <a:xfrm>
            <a:off x="548640" y="2606040"/>
            <a:ext cx="2743200" cy="274320"/>
          </a:xfrm>
          <a:prstGeom prst="rect">
            <a:avLst/>
          </a:prstGeom>
          <a:noFill/>
        </p:spPr>
        <p:txBody>
          <a:bodyPr wrap="square" lIns="45720" rIns="45720" tIns="27432" bIns="27432" anchor="t">
            <a:spAutoFit/>
          </a:bodyPr>
          <a:lstStyle/>
          <a:p>
            <a:pPr algn="l"/>
            <a:r>
              <a:rPr b="1" sz="1100" i="0">
                <a:solidFill>
                  <a:srgbClr val="A8700F"/>
                </a:solidFill>
                <a:latin typeface="Calibri"/>
              </a:rPr>
              <a:t>STEPS</a:t>
            </a:r>
          </a:p>
        </p:txBody>
      </p:sp>
      <p:sp>
        <p:nvSpPr>
          <p:cNvPr id="14" name="TextBox 13"/>
          <p:cNvSpPr txBox="1"/>
          <p:nvPr/>
        </p:nvSpPr>
        <p:spPr>
          <a:xfrm>
            <a:off x="548640" y="2852928"/>
            <a:ext cx="11064240" cy="1965960"/>
          </a:xfrm>
          <a:prstGeom prst="rect">
            <a:avLst/>
          </a:prstGeom>
          <a:noFill/>
        </p:spPr>
        <p:txBody>
          <a:bodyPr wrap="square">
            <a:spAutoFit/>
          </a:bodyPr>
          <a:lstStyle/>
          <a:p>
            <a:pPr>
              <a:spcAft>
                <a:spcPts val="300"/>
              </a:spcAft>
            </a:pPr>
            <a:r>
              <a:rPr b="0" sz="1500" i="0">
                <a:solidFill>
                  <a:srgbClr val="1A2233"/>
                </a:solidFill>
                <a:latin typeface="Calibri"/>
              </a:rPr>
              <a:t>1.  Try target DSCR 2.0x and 2.25x with tenors 10 and 12 years</a:t>
            </a:r>
          </a:p>
          <a:p>
            <a:pPr>
              <a:spcAft>
                <a:spcPts val="300"/>
              </a:spcAft>
            </a:pPr>
            <a:r>
              <a:rPr b="0" sz="1500" i="0">
                <a:solidFill>
                  <a:srgbClr val="1A2233"/>
                </a:solidFill>
                <a:latin typeface="Calibri"/>
              </a:rPr>
              <a:t>2.  Goal Seek F32 each time</a:t>
            </a:r>
          </a:p>
          <a:p>
            <a:pPr>
              <a:spcAft>
                <a:spcPts val="300"/>
              </a:spcAft>
            </a:pPr>
            <a:r>
              <a:rPr b="0" sz="1500" i="0">
                <a:solidFill>
                  <a:srgbClr val="1A2233"/>
                </a:solidFill>
                <a:latin typeface="Calibri"/>
              </a:rPr>
              <a:t>3.  Record min DSCR (Ratios!F13), LLCR (F22), gearing (Constr!F53/F52), sponsor IRR (Val!F51)</a:t>
            </a:r>
          </a:p>
          <a:p>
            <a:pPr>
              <a:spcAft>
                <a:spcPts val="300"/>
              </a:spcAft>
            </a:pPr>
            <a:r>
              <a:rPr b="0" sz="1500" i="0">
                <a:solidFill>
                  <a:srgbClr val="1A2233"/>
                </a:solidFill>
                <a:latin typeface="Calibri"/>
              </a:rPr>
              <a:t>4.  Write a three-sentence recommendation</a:t>
            </a:r>
          </a:p>
        </p:txBody>
      </p:sp>
      <p:sp>
        <p:nvSpPr>
          <p:cNvPr id="15" name="Rectangle 14"/>
          <p:cNvSpPr/>
          <p:nvPr/>
        </p:nvSpPr>
        <p:spPr>
          <a:xfrm>
            <a:off x="640080" y="4983480"/>
            <a:ext cx="10881360" cy="128016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983480"/>
            <a:ext cx="82296" cy="128016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983480"/>
            <a:ext cx="10652760" cy="1280160"/>
          </a:xfrm>
          <a:prstGeom prst="rect">
            <a:avLst/>
          </a:prstGeom>
          <a:noFill/>
        </p:spPr>
        <p:txBody>
          <a:bodyPr wrap="square" lIns="45720" rIns="45720" tIns="27432" bIns="27432" anchor="ctr">
            <a:spAutoFit/>
          </a:bodyPr>
          <a:lstStyle/>
          <a:p>
            <a:pPr algn="l"/>
            <a:r>
              <a:rPr b="0" sz="1400" i="0">
                <a:solidFill>
                  <a:srgbClr val="1A2233"/>
                </a:solidFill>
                <a:latin typeface="Calibri"/>
              </a:rPr>
              <a:t>WHEN YOU ARE DONE:  compare your result with a neighbour. Your facilitator then confirms the answer and the reasoning in the room. Checkpoints for each model block are in the Model Prompt Book.</a:t>
            </a:r>
          </a:p>
        </p:txBody>
      </p:sp>
      <p:sp>
        <p:nvSpPr>
          <p:cNvPr id="18" name="Rounded Rectangle 17"/>
          <p:cNvSpPr/>
          <p:nvPr/>
        </p:nvSpPr>
        <p:spPr>
          <a:xfrm>
            <a:off x="10607040" y="274320"/>
            <a:ext cx="1097280" cy="3200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1300" i="0">
                <a:solidFill>
                  <a:srgbClr val="FFFFFF"/>
                </a:solidFill>
                <a:latin typeface="Calibri"/>
              </a:rPr>
              <a:t>30 min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72</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SIGN-OFF</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Final integrity checks before you sign off a model</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621024"/>
        </p:xfrm>
        <a:graphic>
          <a:graphicData uri="http://schemas.openxmlformats.org/drawingml/2006/table">
            <a:tbl>
              <a:tblPr firstRow="1" bandRow="1">
                <a:tableStyleId>{5C22544A-7EE6-4342-B048-85BDC9FD1C3A}</a:tableStyleId>
              </a:tblPr>
              <a:tblGrid>
                <a:gridCol w="640080"/>
                <a:gridCol w="3840480"/>
                <a:gridCol w="4206240"/>
                <a:gridCol w="2377440"/>
              </a:tblGrid>
              <a:tr h="329184">
                <a:tc>
                  <a:txBody>
                    <a:bodyPr wrap="square"/>
                    <a:lstStyle/>
                    <a:p>
                      <a:r>
                        <a:rPr b="1" sz="1200" i="0">
                          <a:solidFill>
                            <a:srgbClr val="FFFFFF"/>
                          </a:solidFill>
                          <a:latin typeface="Calibri"/>
                        </a:rPr>
                        <a:t>#</a:t>
                      </a:r>
                    </a:p>
                  </a:txBody>
                  <a:tcPr marL="64008" marR="64008" marT="27432" marB="27432" anchor="ctr">
                    <a:solidFill>
                      <a:srgbClr val="141B4D"/>
                    </a:solidFill>
                  </a:tcPr>
                </a:tc>
                <a:tc>
                  <a:txBody>
                    <a:bodyPr wrap="square"/>
                    <a:lstStyle/>
                    <a:p>
                      <a:r>
                        <a:rPr b="1" sz="1200" i="0">
                          <a:solidFill>
                            <a:srgbClr val="FFFFFF"/>
                          </a:solidFill>
                          <a:latin typeface="Calibri"/>
                        </a:rPr>
                        <a:t>Check</a:t>
                      </a:r>
                    </a:p>
                  </a:txBody>
                  <a:tcPr marL="64008" marR="64008" marT="27432" marB="27432" anchor="ctr">
                    <a:solidFill>
                      <a:srgbClr val="141B4D"/>
                    </a:solidFill>
                  </a:tcPr>
                </a:tc>
                <a:tc>
                  <a:txBody>
                    <a:bodyPr wrap="square"/>
                    <a:lstStyle/>
                    <a:p>
                      <a:r>
                        <a:rPr b="1" sz="1200" i="0">
                          <a:solidFill>
                            <a:srgbClr val="FFFFFF"/>
                          </a:solidFill>
                          <a:latin typeface="Calibri"/>
                        </a:rPr>
                        <a:t>Where</a:t>
                      </a:r>
                    </a:p>
                  </a:txBody>
                  <a:tcPr marL="64008" marR="64008" marT="27432" marB="27432" anchor="ctr">
                    <a:solidFill>
                      <a:srgbClr val="141B4D"/>
                    </a:solidFill>
                  </a:tcPr>
                </a:tc>
                <a:tc>
                  <a:txBody>
                    <a:bodyPr wrap="square"/>
                    <a:lstStyle/>
                    <a:p>
                      <a:r>
                        <a:rPr b="1" sz="1200" i="0">
                          <a:solidFill>
                            <a:srgbClr val="FFFFFF"/>
                          </a:solidFill>
                          <a:latin typeface="Calibri"/>
                        </a:rPr>
                        <a:t>Expected</a:t>
                      </a:r>
                    </a:p>
                  </a:txBody>
                  <a:tcPr marL="64008" marR="64008" marT="27432" marB="27432" anchor="ctr">
                    <a:solidFill>
                      <a:srgbClr val="141B4D"/>
                    </a:solidFill>
                  </a:tcPr>
                </a:tc>
              </a:tr>
              <a:tr h="329184">
                <a:tc>
                  <a:txBody>
                    <a:bodyPr wrap="square"/>
                    <a:lstStyle/>
                    <a:p>
                      <a:r>
                        <a:rPr b="1" sz="1200" i="0">
                          <a:solidFill>
                            <a:srgbClr val="1A2233"/>
                          </a:solidFill>
                          <a:latin typeface="Calibri"/>
                        </a:rPr>
                        <a:t>1</a:t>
                      </a:r>
                    </a:p>
                  </a:txBody>
                  <a:tcPr marL="64008" marR="64008" marT="27432" marB="27432" anchor="ctr">
                    <a:solidFill>
                      <a:srgbClr val="FFFFFF"/>
                    </a:solidFill>
                  </a:tcPr>
                </a:tc>
                <a:tc>
                  <a:txBody>
                    <a:bodyPr wrap="square"/>
                    <a:lstStyle/>
                    <a:p>
                      <a:r>
                        <a:rPr b="0" sz="1200" i="0">
                          <a:solidFill>
                            <a:srgbClr val="1A2233"/>
                          </a:solidFill>
                          <a:latin typeface="Calibri"/>
                        </a:rPr>
                        <a:t>Timeline checks</a:t>
                      </a:r>
                    </a:p>
                  </a:txBody>
                  <a:tcPr marL="64008" marR="64008" marT="27432" marB="27432" anchor="ctr">
                    <a:solidFill>
                      <a:srgbClr val="FFFFFF"/>
                    </a:solidFill>
                  </a:tcPr>
                </a:tc>
                <a:tc>
                  <a:txBody>
                    <a:bodyPr wrap="square"/>
                    <a:lstStyle/>
                    <a:p>
                      <a:r>
                        <a:rPr b="0" sz="1200" i="0">
                          <a:solidFill>
                            <a:srgbClr val="1A2233"/>
                          </a:solidFill>
                          <a:latin typeface="Calibri"/>
                        </a:rPr>
                        <a:t>Time!F120</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2</a:t>
                      </a:r>
                    </a:p>
                  </a:txBody>
                  <a:tcPr marL="64008" marR="64008" marT="27432" marB="27432" anchor="ctr">
                    <a:solidFill>
                      <a:srgbClr val="F3F6F9"/>
                    </a:solidFill>
                  </a:tcPr>
                </a:tc>
                <a:tc>
                  <a:txBody>
                    <a:bodyPr wrap="square"/>
                    <a:lstStyle/>
                    <a:p>
                      <a:r>
                        <a:rPr b="0" sz="1200" i="0">
                          <a:solidFill>
                            <a:srgbClr val="1A2233"/>
                          </a:solidFill>
                          <a:latin typeface="Calibri"/>
                        </a:rPr>
                        <a:t>Sources = uses</a:t>
                      </a:r>
                    </a:p>
                  </a:txBody>
                  <a:tcPr marL="64008" marR="64008" marT="27432" marB="27432" anchor="ctr">
                    <a:solidFill>
                      <a:srgbClr val="F3F6F9"/>
                    </a:solidFill>
                  </a:tcPr>
                </a:tc>
                <a:tc>
                  <a:txBody>
                    <a:bodyPr wrap="square"/>
                    <a:lstStyle/>
                    <a:p>
                      <a:r>
                        <a:rPr b="0" sz="1200" i="0">
                          <a:solidFill>
                            <a:srgbClr val="1A2233"/>
                          </a:solidFill>
                          <a:latin typeface="Calibri"/>
                        </a:rPr>
                        <a:t>Constr!H48; F55</a:t>
                      </a:r>
                    </a:p>
                  </a:txBody>
                  <a:tcPr marL="64008" marR="64008" marT="27432" marB="27432" anchor="ctr">
                    <a:solidFill>
                      <a:srgbClr val="F3F6F9"/>
                    </a:solidFill>
                  </a:tcPr>
                </a:tc>
                <a:tc>
                  <a:txBody>
                    <a:bodyPr wrap="square"/>
                    <a:lstStyle/>
                    <a:p>
                      <a:r>
                        <a:rPr b="0" sz="1200" i="0">
                          <a:solidFill>
                            <a:srgbClr val="1A2233"/>
                          </a:solidFill>
                          <a:latin typeface="Calibri"/>
                        </a:rPr>
                        <a:t>0; 0</a:t>
                      </a:r>
                    </a:p>
                  </a:txBody>
                  <a:tcPr marL="64008" marR="64008" marT="27432" marB="27432" anchor="ctr">
                    <a:solidFill>
                      <a:srgbClr val="F3F6F9"/>
                    </a:solidFill>
                  </a:tcPr>
                </a:tc>
              </a:tr>
              <a:tr h="329184">
                <a:tc>
                  <a:txBody>
                    <a:bodyPr wrap="square"/>
                    <a:lstStyle/>
                    <a:p>
                      <a:r>
                        <a:rPr b="1" sz="1200" i="0">
                          <a:solidFill>
                            <a:srgbClr val="1A2233"/>
                          </a:solidFill>
                          <a:latin typeface="Calibri"/>
                        </a:rPr>
                        <a:t>3</a:t>
                      </a:r>
                    </a:p>
                  </a:txBody>
                  <a:tcPr marL="64008" marR="64008" marT="27432" marB="27432" anchor="ctr">
                    <a:solidFill>
                      <a:srgbClr val="FFFFFF"/>
                    </a:solidFill>
                  </a:tcPr>
                </a:tc>
                <a:tc>
                  <a:txBody>
                    <a:bodyPr wrap="square"/>
                    <a:lstStyle/>
                    <a:p>
                      <a:r>
                        <a:rPr b="0" sz="1200" i="0">
                          <a:solidFill>
                            <a:srgbClr val="1A2233"/>
                          </a:solidFill>
                          <a:latin typeface="Calibri"/>
                        </a:rPr>
                        <a:t>Income statement check</a:t>
                      </a:r>
                    </a:p>
                  </a:txBody>
                  <a:tcPr marL="64008" marR="64008" marT="27432" marB="27432" anchor="ctr">
                    <a:solidFill>
                      <a:srgbClr val="FFFFFF"/>
                    </a:solidFill>
                  </a:tcPr>
                </a:tc>
                <a:tc>
                  <a:txBody>
                    <a:bodyPr wrap="square"/>
                    <a:lstStyle/>
                    <a:p>
                      <a:r>
                        <a:rPr b="0" sz="1200" i="0">
                          <a:solidFill>
                            <a:srgbClr val="1A2233"/>
                          </a:solidFill>
                          <a:latin typeface="Calibri"/>
                        </a:rPr>
                        <a:t>FinStat!F80</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4</a:t>
                      </a:r>
                    </a:p>
                  </a:txBody>
                  <a:tcPr marL="64008" marR="64008" marT="27432" marB="27432" anchor="ctr">
                    <a:solidFill>
                      <a:srgbClr val="F3F6F9"/>
                    </a:solidFill>
                  </a:tcPr>
                </a:tc>
                <a:tc>
                  <a:txBody>
                    <a:bodyPr wrap="square"/>
                    <a:lstStyle/>
                    <a:p>
                      <a:r>
                        <a:rPr b="0" sz="1200" i="0">
                          <a:solidFill>
                            <a:srgbClr val="1A2233"/>
                          </a:solidFill>
                          <a:latin typeface="Calibri"/>
                        </a:rPr>
                        <a:t>Cash flow check</a:t>
                      </a:r>
                    </a:p>
                  </a:txBody>
                  <a:tcPr marL="64008" marR="64008" marT="27432" marB="27432" anchor="ctr">
                    <a:solidFill>
                      <a:srgbClr val="F3F6F9"/>
                    </a:solidFill>
                  </a:tcPr>
                </a:tc>
                <a:tc>
                  <a:txBody>
                    <a:bodyPr wrap="square"/>
                    <a:lstStyle/>
                    <a:p>
                      <a:r>
                        <a:rPr b="0" sz="1200" i="0">
                          <a:solidFill>
                            <a:srgbClr val="1A2233"/>
                          </a:solidFill>
                          <a:latin typeface="Calibri"/>
                        </a:rPr>
                        <a:t>FinStat!F83</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5</a:t>
                      </a:r>
                    </a:p>
                  </a:txBody>
                  <a:tcPr marL="64008" marR="64008" marT="27432" marB="27432" anchor="ctr">
                    <a:solidFill>
                      <a:srgbClr val="FFFFFF"/>
                    </a:solidFill>
                  </a:tcPr>
                </a:tc>
                <a:tc>
                  <a:txBody>
                    <a:bodyPr wrap="square"/>
                    <a:lstStyle/>
                    <a:p>
                      <a:r>
                        <a:rPr b="0" sz="1200" i="0">
                          <a:solidFill>
                            <a:srgbClr val="1A2233"/>
                          </a:solidFill>
                          <a:latin typeface="Calibri"/>
                        </a:rPr>
                        <a:t>Balance sheet check</a:t>
                      </a:r>
                    </a:p>
                  </a:txBody>
                  <a:tcPr marL="64008" marR="64008" marT="27432" marB="27432" anchor="ctr">
                    <a:solidFill>
                      <a:srgbClr val="FFFFFF"/>
                    </a:solidFill>
                  </a:tcPr>
                </a:tc>
                <a:tc>
                  <a:txBody>
                    <a:bodyPr wrap="square"/>
                    <a:lstStyle/>
                    <a:p>
                      <a:r>
                        <a:rPr b="0" sz="1200" i="0">
                          <a:solidFill>
                            <a:srgbClr val="1A2233"/>
                          </a:solidFill>
                          <a:latin typeface="Calibri"/>
                        </a:rPr>
                        <a:t>FinStat!F86</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6</a:t>
                      </a:r>
                    </a:p>
                  </a:txBody>
                  <a:tcPr marL="64008" marR="64008" marT="27432" marB="27432" anchor="ctr">
                    <a:solidFill>
                      <a:srgbClr val="F3F6F9"/>
                    </a:solidFill>
                  </a:tcPr>
                </a:tc>
                <a:tc>
                  <a:txBody>
                    <a:bodyPr wrap="square"/>
                    <a:lstStyle/>
                    <a:p>
                      <a:r>
                        <a:rPr b="0" sz="1200" i="0">
                          <a:solidFill>
                            <a:srgbClr val="1A2233"/>
                          </a:solidFill>
                          <a:latin typeface="Calibri"/>
                        </a:rPr>
                        <a:t>Debt fully repaid</a:t>
                      </a:r>
                    </a:p>
                  </a:txBody>
                  <a:tcPr marL="64008" marR="64008" marT="27432" marB="27432" anchor="ctr">
                    <a:solidFill>
                      <a:srgbClr val="F3F6F9"/>
                    </a:solidFill>
                  </a:tcPr>
                </a:tc>
                <a:tc>
                  <a:txBody>
                    <a:bodyPr wrap="square"/>
                    <a:lstStyle/>
                    <a:p>
                      <a:r>
                        <a:rPr b="0" sz="1200" i="0">
                          <a:solidFill>
                            <a:srgbClr val="1A2233"/>
                          </a:solidFill>
                          <a:latin typeface="Calibri"/>
                        </a:rPr>
                        <a:t>Debt balance at Dec 2031</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7</a:t>
                      </a:r>
                    </a:p>
                  </a:txBody>
                  <a:tcPr marL="64008" marR="64008" marT="27432" marB="27432" anchor="ctr">
                    <a:solidFill>
                      <a:srgbClr val="FFFFFF"/>
                    </a:solidFill>
                  </a:tcPr>
                </a:tc>
                <a:tc>
                  <a:txBody>
                    <a:bodyPr wrap="square"/>
                    <a:lstStyle/>
                    <a:p>
                      <a:r>
                        <a:rPr b="0" sz="1200" i="0">
                          <a:solidFill>
                            <a:srgbClr val="1A2233"/>
                          </a:solidFill>
                          <a:latin typeface="Calibri"/>
                        </a:rPr>
                        <a:t>Shareholder loan repaid</a:t>
                      </a:r>
                    </a:p>
                  </a:txBody>
                  <a:tcPr marL="64008" marR="64008" marT="27432" marB="27432" anchor="ctr">
                    <a:solidFill>
                      <a:srgbClr val="FFFFFF"/>
                    </a:solidFill>
                  </a:tcPr>
                </a:tc>
                <a:tc>
                  <a:txBody>
                    <a:bodyPr wrap="square"/>
                    <a:lstStyle/>
                    <a:p>
                      <a:r>
                        <a:rPr b="0" sz="1200" i="0">
                          <a:solidFill>
                            <a:srgbClr val="1A2233"/>
                          </a:solidFill>
                          <a:latin typeface="Calibri"/>
                        </a:rPr>
                        <a:t>SHL!J24 at end</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8</a:t>
                      </a:r>
                    </a:p>
                  </a:txBody>
                  <a:tcPr marL="64008" marR="64008" marT="27432" marB="27432" anchor="ctr">
                    <a:solidFill>
                      <a:srgbClr val="F3F6F9"/>
                    </a:solidFill>
                  </a:tcPr>
                </a:tc>
                <a:tc>
                  <a:txBody>
                    <a:bodyPr wrap="square"/>
                    <a:lstStyle/>
                    <a:p>
                      <a:r>
                        <a:rPr b="0" sz="1200" i="0">
                          <a:solidFill>
                            <a:srgbClr val="1A2233"/>
                          </a:solidFill>
                          <a:latin typeface="Calibri"/>
                        </a:rPr>
                        <a:t>Deferred tax unwinds</a:t>
                      </a:r>
                    </a:p>
                  </a:txBody>
                  <a:tcPr marL="64008" marR="64008" marT="27432" marB="27432" anchor="ctr">
                    <a:solidFill>
                      <a:srgbClr val="F3F6F9"/>
                    </a:solidFill>
                  </a:tcPr>
                </a:tc>
                <a:tc>
                  <a:txBody>
                    <a:bodyPr wrap="square"/>
                    <a:lstStyle/>
                    <a:p>
                      <a:r>
                        <a:rPr b="0" sz="1200" i="0">
                          <a:solidFill>
                            <a:srgbClr val="1A2233"/>
                          </a:solidFill>
                          <a:latin typeface="Calibri"/>
                        </a:rPr>
                        <a:t>FinStat row 72, last column</a:t>
                      </a:r>
                    </a:p>
                  </a:txBody>
                  <a:tcPr marL="64008" marR="64008" marT="27432" marB="27432" anchor="ctr">
                    <a:solidFill>
                      <a:srgbClr val="F3F6F9"/>
                    </a:solidFill>
                  </a:tcPr>
                </a:tc>
                <a:tc>
                  <a:txBody>
                    <a:bodyPr wrap="square"/>
                    <a:lstStyle/>
                    <a:p>
                      <a:r>
                        <a:rPr b="0" sz="1200" i="0">
                          <a:solidFill>
                            <a:srgbClr val="1A2233"/>
                          </a:solidFill>
                          <a:latin typeface="Calibri"/>
                        </a:rPr>
                        <a:t>0</a:t>
                      </a:r>
                    </a:p>
                  </a:txBody>
                  <a:tcPr marL="64008" marR="64008" marT="27432" marB="27432" anchor="ctr">
                    <a:solidFill>
                      <a:srgbClr val="F3F6F9"/>
                    </a:solidFill>
                  </a:tcPr>
                </a:tc>
              </a:tr>
              <a:tr h="329184">
                <a:tc>
                  <a:txBody>
                    <a:bodyPr wrap="square"/>
                    <a:lstStyle/>
                    <a:p>
                      <a:r>
                        <a:rPr b="1" sz="1200" i="0">
                          <a:solidFill>
                            <a:srgbClr val="1A2233"/>
                          </a:solidFill>
                          <a:latin typeface="Calibri"/>
                        </a:rPr>
                        <a:t>9</a:t>
                      </a:r>
                    </a:p>
                  </a:txBody>
                  <a:tcPr marL="64008" marR="64008" marT="27432" marB="27432" anchor="ctr">
                    <a:solidFill>
                      <a:srgbClr val="FFFFFF"/>
                    </a:solidFill>
                  </a:tcPr>
                </a:tc>
                <a:tc>
                  <a:txBody>
                    <a:bodyPr wrap="square"/>
                    <a:lstStyle/>
                    <a:p>
                      <a:r>
                        <a:rPr b="0" sz="1200" i="0">
                          <a:solidFill>
                            <a:srgbClr val="1A2233"/>
                          </a:solidFill>
                          <a:latin typeface="Calibri"/>
                        </a:rPr>
                        <a:t>Debt drawn = debt sized</a:t>
                      </a:r>
                    </a:p>
                  </a:txBody>
                  <a:tcPr marL="64008" marR="64008" marT="27432" marB="27432" anchor="ctr">
                    <a:solidFill>
                      <a:srgbClr val="FFFFFF"/>
                    </a:solidFill>
                  </a:tcPr>
                </a:tc>
                <a:tc>
                  <a:txBody>
                    <a:bodyPr wrap="square"/>
                    <a:lstStyle/>
                    <a:p>
                      <a:r>
                        <a:rPr b="0" sz="1200" i="0">
                          <a:solidFill>
                            <a:srgbClr val="1A2233"/>
                          </a:solidFill>
                          <a:latin typeface="Calibri"/>
                        </a:rPr>
                        <a:t>Sculpt!F32</a:t>
                      </a:r>
                    </a:p>
                  </a:txBody>
                  <a:tcPr marL="64008" marR="64008" marT="27432" marB="27432" anchor="ctr">
                    <a:solidFill>
                      <a:srgbClr val="FFFFFF"/>
                    </a:solidFill>
                  </a:tcPr>
                </a:tc>
                <a:tc>
                  <a:txBody>
                    <a:bodyPr wrap="square"/>
                    <a:lstStyle/>
                    <a:p>
                      <a:r>
                        <a:rPr b="0" sz="1200" i="0">
                          <a:solidFill>
                            <a:srgbClr val="1A2233"/>
                          </a:solidFill>
                          <a:latin typeface="Calibri"/>
                        </a:rPr>
                        <a:t>0</a:t>
                      </a:r>
                    </a:p>
                  </a:txBody>
                  <a:tcPr marL="64008" marR="64008" marT="27432" marB="27432" anchor="ctr">
                    <a:solidFill>
                      <a:srgbClr val="FFFFFF"/>
                    </a:solidFill>
                  </a:tcPr>
                </a:tc>
              </a:tr>
              <a:tr h="329184">
                <a:tc>
                  <a:txBody>
                    <a:bodyPr wrap="square"/>
                    <a:lstStyle/>
                    <a:p>
                      <a:r>
                        <a:rPr b="1" sz="1200" i="0">
                          <a:solidFill>
                            <a:srgbClr val="1A2233"/>
                          </a:solidFill>
                          <a:latin typeface="Calibri"/>
                        </a:rPr>
                        <a:t>10</a:t>
                      </a:r>
                    </a:p>
                  </a:txBody>
                  <a:tcPr marL="64008" marR="64008" marT="27432" marB="27432" anchor="ctr">
                    <a:solidFill>
                      <a:srgbClr val="F3F6F9"/>
                    </a:solidFill>
                  </a:tcPr>
                </a:tc>
                <a:tc>
                  <a:txBody>
                    <a:bodyPr wrap="square"/>
                    <a:lstStyle/>
                    <a:p>
                      <a:r>
                        <a:rPr b="0" sz="1200" i="0">
                          <a:solidFill>
                            <a:srgbClr val="1A2233"/>
                          </a:solidFill>
                          <a:latin typeface="Calibri"/>
                        </a:rPr>
                        <a:t>Minimum DSCR ≥ covenant</a:t>
                      </a:r>
                    </a:p>
                  </a:txBody>
                  <a:tcPr marL="64008" marR="64008" marT="27432" marB="27432" anchor="ctr">
                    <a:solidFill>
                      <a:srgbClr val="F3F6F9"/>
                    </a:solidFill>
                  </a:tcPr>
                </a:tc>
                <a:tc>
                  <a:txBody>
                    <a:bodyPr wrap="square"/>
                    <a:lstStyle/>
                    <a:p>
                      <a:r>
                        <a:rPr b="0" sz="1200" i="0">
                          <a:solidFill>
                            <a:srgbClr val="1A2233"/>
                          </a:solidFill>
                          <a:latin typeface="Calibri"/>
                        </a:rPr>
                        <a:t>Ratios!F13</a:t>
                      </a:r>
                    </a:p>
                  </a:txBody>
                  <a:tcPr marL="64008" marR="64008" marT="27432" marB="27432" anchor="ctr">
                    <a:solidFill>
                      <a:srgbClr val="F3F6F9"/>
                    </a:solidFill>
                  </a:tcPr>
                </a:tc>
                <a:tc>
                  <a:txBody>
                    <a:bodyPr wrap="square"/>
                    <a:lstStyle/>
                    <a:p>
                      <a:r>
                        <a:rPr b="0" sz="1200" i="0">
                          <a:solidFill>
                            <a:srgbClr val="1A2233"/>
                          </a:solidFill>
                          <a:latin typeface="Calibri"/>
                        </a:rPr>
                        <a:t>≥ 2.30x</a:t>
                      </a:r>
                    </a:p>
                  </a:txBody>
                  <a:tcPr marL="64008" marR="64008" marT="27432" marB="27432" anchor="ctr">
                    <a:solidFill>
                      <a:srgbClr val="F3F6F9"/>
                    </a:solidFill>
                  </a:tcPr>
                </a:tc>
              </a:tr>
            </a:tbl>
          </a:graphicData>
        </a:graphic>
      </p:graphicFrame>
      <p:sp>
        <p:nvSpPr>
          <p:cNvPr id="12" name="Rectangle 11"/>
          <p:cNvSpPr/>
          <p:nvPr/>
        </p:nvSpPr>
        <p:spPr>
          <a:xfrm>
            <a:off x="548640" y="5312664"/>
            <a:ext cx="11064240" cy="640080"/>
          </a:xfrm>
          <a:prstGeom prst="rect">
            <a:avLst/>
          </a:prstGeom>
          <a:solidFill>
            <a:srgbClr val="E6F4EA"/>
          </a:solidFill>
          <a:ln w="15240">
            <a:solidFill>
              <a:srgbClr val="1E7B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312664"/>
            <a:ext cx="82296" cy="640080"/>
          </a:xfrm>
          <a:prstGeom prst="rect">
            <a:avLst/>
          </a:prstGeom>
          <a:solidFill>
            <a:srgbClr val="1E7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5312664"/>
            <a:ext cx="10835640" cy="640080"/>
          </a:xfrm>
          <a:prstGeom prst="rect">
            <a:avLst/>
          </a:prstGeom>
          <a:noFill/>
        </p:spPr>
        <p:txBody>
          <a:bodyPr wrap="square" lIns="45720" rIns="45720" tIns="27432" bIns="27432" anchor="ctr">
            <a:spAutoFit/>
          </a:bodyPr>
          <a:lstStyle/>
          <a:p>
            <a:pPr algn="l"/>
            <a:r>
              <a:rPr b="0" sz="1400" i="0">
                <a:solidFill>
                  <a:srgbClr val="1A2233"/>
                </a:solidFill>
                <a:latin typeface="Calibri"/>
              </a:rPr>
              <a:t>The Cover sheet shows ALL CHECKS PASSED when checks 1 to 5 are zero.</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73</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CHECKPOINTS</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Day 7 end-state checkpoints (solved Base case)</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548640" y="1508760"/>
          <a:ext cx="11064240" cy="3291840"/>
        </p:xfrm>
        <a:graphic>
          <a:graphicData uri="http://schemas.openxmlformats.org/drawingml/2006/table">
            <a:tbl>
              <a:tblPr firstRow="1" bandRow="1">
                <a:tableStyleId>{5C22544A-7EE6-4342-B048-85BDC9FD1C3A}</a:tableStyleId>
              </a:tblPr>
              <a:tblGrid>
                <a:gridCol w="2743200"/>
                <a:gridCol w="5303520"/>
                <a:gridCol w="3017520"/>
              </a:tblGrid>
              <a:tr h="329184">
                <a:tc>
                  <a:txBody>
                    <a:bodyPr wrap="square"/>
                    <a:lstStyle/>
                    <a:p>
                      <a:r>
                        <a:rPr b="1" sz="1300" i="0">
                          <a:solidFill>
                            <a:srgbClr val="FFFFFF"/>
                          </a:solidFill>
                          <a:latin typeface="Calibri"/>
                        </a:rPr>
                        <a:t>Cell</a:t>
                      </a:r>
                    </a:p>
                  </a:txBody>
                  <a:tcPr marL="64008" marR="64008" marT="27432" marB="27432" anchor="ctr">
                    <a:solidFill>
                      <a:srgbClr val="141B4D"/>
                    </a:solidFill>
                  </a:tcPr>
                </a:tc>
                <a:tc>
                  <a:txBody>
                    <a:bodyPr wrap="square"/>
                    <a:lstStyle/>
                    <a:p>
                      <a:r>
                        <a:rPr b="1" sz="1300" i="0">
                          <a:solidFill>
                            <a:srgbClr val="FFFFFF"/>
                          </a:solidFill>
                          <a:latin typeface="Calibri"/>
                        </a:rPr>
                        <a:t>Item</a:t>
                      </a:r>
                    </a:p>
                  </a:txBody>
                  <a:tcPr marL="64008" marR="64008" marT="27432" marB="27432" anchor="ctr">
                    <a:solidFill>
                      <a:srgbClr val="141B4D"/>
                    </a:solidFill>
                  </a:tcPr>
                </a:tc>
                <a:tc>
                  <a:txBody>
                    <a:bodyPr wrap="square"/>
                    <a:lstStyle/>
                    <a:p>
                      <a:r>
                        <a:rPr b="1" sz="1300" i="0">
                          <a:solidFill>
                            <a:srgbClr val="FFFFFF"/>
                          </a:solidFill>
                          <a:latin typeface="Calibri"/>
                        </a:rPr>
                        <a:t>Value</a:t>
                      </a:r>
                    </a:p>
                  </a:txBody>
                  <a:tcPr marL="64008" marR="64008" marT="27432" marB="27432" anchor="ctr">
                    <a:solidFill>
                      <a:srgbClr val="141B4D"/>
                    </a:solidFill>
                  </a:tcPr>
                </a:tc>
              </a:tr>
              <a:tr h="329184">
                <a:tc>
                  <a:txBody>
                    <a:bodyPr wrap="square"/>
                    <a:lstStyle/>
                    <a:p>
                      <a:r>
                        <a:rPr b="1" sz="1300" i="0">
                          <a:solidFill>
                            <a:srgbClr val="1A2233"/>
                          </a:solidFill>
                          <a:latin typeface="Calibri"/>
                        </a:rPr>
                        <a:t>Constr!F52</a:t>
                      </a:r>
                    </a:p>
                  </a:txBody>
                  <a:tcPr marL="64008" marR="64008" marT="27432" marB="27432" anchor="ctr">
                    <a:solidFill>
                      <a:srgbClr val="FFFFFF"/>
                    </a:solidFill>
                  </a:tcPr>
                </a:tc>
                <a:tc>
                  <a:txBody>
                    <a:bodyPr wrap="square"/>
                    <a:lstStyle/>
                    <a:p>
                      <a:r>
                        <a:rPr b="0" sz="1300" i="0">
                          <a:solidFill>
                            <a:srgbClr val="1A2233"/>
                          </a:solidFill>
                          <a:latin typeface="Calibri"/>
                        </a:rPr>
                        <a:t>Project cost ($000s)</a:t>
                      </a:r>
                    </a:p>
                  </a:txBody>
                  <a:tcPr marL="64008" marR="64008" marT="27432" marB="27432" anchor="ctr">
                    <a:solidFill>
                      <a:srgbClr val="FFFFFF"/>
                    </a:solidFill>
                  </a:tcPr>
                </a:tc>
                <a:tc>
                  <a:txBody>
                    <a:bodyPr wrap="square"/>
                    <a:lstStyle/>
                    <a:p>
                      <a:r>
                        <a:rPr b="0" sz="1300" i="0">
                          <a:solidFill>
                            <a:srgbClr val="1A2233"/>
                          </a:solidFill>
                          <a:latin typeface="Calibri"/>
                        </a:rPr>
                        <a:t>101,067.8</a:t>
                      </a:r>
                    </a:p>
                  </a:txBody>
                  <a:tcPr marL="64008" marR="64008" marT="27432" marB="27432" anchor="ctr">
                    <a:solidFill>
                      <a:srgbClr val="FFFFFF"/>
                    </a:solidFill>
                  </a:tcPr>
                </a:tc>
              </a:tr>
              <a:tr h="329184">
                <a:tc>
                  <a:txBody>
                    <a:bodyPr wrap="square"/>
                    <a:lstStyle/>
                    <a:p>
                      <a:r>
                        <a:rPr b="1" sz="1300" i="0">
                          <a:solidFill>
                            <a:srgbClr val="1A2233"/>
                          </a:solidFill>
                          <a:latin typeface="Calibri"/>
                        </a:rPr>
                        <a:t>Constr!F53</a:t>
                      </a:r>
                    </a:p>
                  </a:txBody>
                  <a:tcPr marL="64008" marR="64008" marT="27432" marB="27432" anchor="ctr">
                    <a:solidFill>
                      <a:srgbClr val="F3F6F9"/>
                    </a:solidFill>
                  </a:tcPr>
                </a:tc>
                <a:tc>
                  <a:txBody>
                    <a:bodyPr wrap="square"/>
                    <a:lstStyle/>
                    <a:p>
                      <a:r>
                        <a:rPr b="0" sz="1300" i="0">
                          <a:solidFill>
                            <a:srgbClr val="1A2233"/>
                          </a:solidFill>
                          <a:latin typeface="Calibri"/>
                        </a:rPr>
                        <a:t>Senior debt ($000s)</a:t>
                      </a:r>
                    </a:p>
                  </a:txBody>
                  <a:tcPr marL="64008" marR="64008" marT="27432" marB="27432" anchor="ctr">
                    <a:solidFill>
                      <a:srgbClr val="F3F6F9"/>
                    </a:solidFill>
                  </a:tcPr>
                </a:tc>
                <a:tc>
                  <a:txBody>
                    <a:bodyPr wrap="square"/>
                    <a:lstStyle/>
                    <a:p>
                      <a:r>
                        <a:rPr b="0" sz="1300" i="0">
                          <a:solidFill>
                            <a:srgbClr val="1A2233"/>
                          </a:solidFill>
                          <a:latin typeface="Calibri"/>
                        </a:rPr>
                        <a:t>72,154.2</a:t>
                      </a:r>
                    </a:p>
                  </a:txBody>
                  <a:tcPr marL="64008" marR="64008" marT="27432" marB="27432" anchor="ctr">
                    <a:solidFill>
                      <a:srgbClr val="F3F6F9"/>
                    </a:solidFill>
                  </a:tcPr>
                </a:tc>
              </a:tr>
              <a:tr h="329184">
                <a:tc>
                  <a:txBody>
                    <a:bodyPr wrap="square"/>
                    <a:lstStyle/>
                    <a:p>
                      <a:r>
                        <a:rPr b="1" sz="1300" i="0">
                          <a:solidFill>
                            <a:srgbClr val="1A2233"/>
                          </a:solidFill>
                          <a:latin typeface="Calibri"/>
                        </a:rPr>
                        <a:t>Sculpt!F26</a:t>
                      </a:r>
                    </a:p>
                  </a:txBody>
                  <a:tcPr marL="64008" marR="64008" marT="27432" marB="27432" anchor="ctr">
                    <a:solidFill>
                      <a:srgbClr val="FFFFFF"/>
                    </a:solidFill>
                  </a:tcPr>
                </a:tc>
                <a:tc>
                  <a:txBody>
                    <a:bodyPr wrap="square"/>
                    <a:lstStyle/>
                    <a:p>
                      <a:r>
                        <a:rPr b="0" sz="1300" i="0">
                          <a:solidFill>
                            <a:srgbClr val="1A2233"/>
                          </a:solidFill>
                          <a:latin typeface="Calibri"/>
                        </a:rPr>
                        <a:t>Debt capacity ($000s)</a:t>
                      </a:r>
                    </a:p>
                  </a:txBody>
                  <a:tcPr marL="64008" marR="64008" marT="27432" marB="27432" anchor="ctr">
                    <a:solidFill>
                      <a:srgbClr val="FFFFFF"/>
                    </a:solidFill>
                  </a:tcPr>
                </a:tc>
                <a:tc>
                  <a:txBody>
                    <a:bodyPr wrap="square"/>
                    <a:lstStyle/>
                    <a:p>
                      <a:r>
                        <a:rPr b="0" sz="1300" i="0">
                          <a:solidFill>
                            <a:srgbClr val="1A2233"/>
                          </a:solidFill>
                          <a:latin typeface="Calibri"/>
                        </a:rPr>
                        <a:t>72,154.2</a:t>
                      </a:r>
                    </a:p>
                  </a:txBody>
                  <a:tcPr marL="64008" marR="64008" marT="27432" marB="27432" anchor="ctr">
                    <a:solidFill>
                      <a:srgbClr val="FFFFFF"/>
                    </a:solidFill>
                  </a:tcPr>
                </a:tc>
              </a:tr>
              <a:tr h="329184">
                <a:tc>
                  <a:txBody>
                    <a:bodyPr wrap="square"/>
                    <a:lstStyle/>
                    <a:p>
                      <a:r>
                        <a:rPr b="1" sz="1300" i="0">
                          <a:solidFill>
                            <a:srgbClr val="1A2233"/>
                          </a:solidFill>
                          <a:latin typeface="Calibri"/>
                        </a:rPr>
                        <a:t>Ratios!F13</a:t>
                      </a:r>
                    </a:p>
                  </a:txBody>
                  <a:tcPr marL="64008" marR="64008" marT="27432" marB="27432" anchor="ctr">
                    <a:solidFill>
                      <a:srgbClr val="F3F6F9"/>
                    </a:solidFill>
                  </a:tcPr>
                </a:tc>
                <a:tc>
                  <a:txBody>
                    <a:bodyPr wrap="square"/>
                    <a:lstStyle/>
                    <a:p>
                      <a:r>
                        <a:rPr b="0" sz="1300" i="0">
                          <a:solidFill>
                            <a:srgbClr val="1A2233"/>
                          </a:solidFill>
                          <a:latin typeface="Calibri"/>
                        </a:rPr>
                        <a:t>Minimum DSCR</a:t>
                      </a:r>
                    </a:p>
                  </a:txBody>
                  <a:tcPr marL="64008" marR="64008" marT="27432" marB="27432" anchor="ctr">
                    <a:solidFill>
                      <a:srgbClr val="F3F6F9"/>
                    </a:solidFill>
                  </a:tcPr>
                </a:tc>
                <a:tc>
                  <a:txBody>
                    <a:bodyPr wrap="square"/>
                    <a:lstStyle/>
                    <a:p>
                      <a:r>
                        <a:rPr b="0" sz="1300" i="0">
                          <a:solidFill>
                            <a:srgbClr val="1A2233"/>
                          </a:solidFill>
                          <a:latin typeface="Calibri"/>
                        </a:rPr>
                        <a:t>2.30x</a:t>
                      </a:r>
                    </a:p>
                  </a:txBody>
                  <a:tcPr marL="64008" marR="64008" marT="27432" marB="27432" anchor="ctr">
                    <a:solidFill>
                      <a:srgbClr val="F3F6F9"/>
                    </a:solidFill>
                  </a:tcPr>
                </a:tc>
              </a:tr>
              <a:tr h="329184">
                <a:tc>
                  <a:txBody>
                    <a:bodyPr wrap="square"/>
                    <a:lstStyle/>
                    <a:p>
                      <a:r>
                        <a:rPr b="1" sz="1300" i="0">
                          <a:solidFill>
                            <a:srgbClr val="1A2233"/>
                          </a:solidFill>
                          <a:latin typeface="Calibri"/>
                        </a:rPr>
                        <a:t>Ratios!F22</a:t>
                      </a:r>
                    </a:p>
                  </a:txBody>
                  <a:tcPr marL="64008" marR="64008" marT="27432" marB="27432" anchor="ctr">
                    <a:solidFill>
                      <a:srgbClr val="FFFFFF"/>
                    </a:solidFill>
                  </a:tcPr>
                </a:tc>
                <a:tc>
                  <a:txBody>
                    <a:bodyPr wrap="square"/>
                    <a:lstStyle/>
                    <a:p>
                      <a:r>
                        <a:rPr b="0" sz="1300" i="0">
                          <a:solidFill>
                            <a:srgbClr val="1A2233"/>
                          </a:solidFill>
                          <a:latin typeface="Calibri"/>
                        </a:rPr>
                        <a:t>LLCR at COD</a:t>
                      </a:r>
                    </a:p>
                  </a:txBody>
                  <a:tcPr marL="64008" marR="64008" marT="27432" marB="27432" anchor="ctr">
                    <a:solidFill>
                      <a:srgbClr val="FFFFFF"/>
                    </a:solidFill>
                  </a:tcPr>
                </a:tc>
                <a:tc>
                  <a:txBody>
                    <a:bodyPr wrap="square"/>
                    <a:lstStyle/>
                    <a:p>
                      <a:r>
                        <a:rPr b="0" sz="1300" i="0">
                          <a:solidFill>
                            <a:srgbClr val="1A2233"/>
                          </a:solidFill>
                          <a:latin typeface="Calibri"/>
                        </a:rPr>
                        <a:t>2.40x</a:t>
                      </a:r>
                    </a:p>
                  </a:txBody>
                  <a:tcPr marL="64008" marR="64008" marT="27432" marB="27432" anchor="ctr">
                    <a:solidFill>
                      <a:srgbClr val="FFFFFF"/>
                    </a:solidFill>
                  </a:tcPr>
                </a:tc>
              </a:tr>
              <a:tr h="329184">
                <a:tc>
                  <a:txBody>
                    <a:bodyPr wrap="square"/>
                    <a:lstStyle/>
                    <a:p>
                      <a:r>
                        <a:rPr b="1" sz="1300" i="0">
                          <a:solidFill>
                            <a:srgbClr val="1A2233"/>
                          </a:solidFill>
                          <a:latin typeface="Calibri"/>
                        </a:rPr>
                        <a:t>Ratios!F28</a:t>
                      </a:r>
                    </a:p>
                  </a:txBody>
                  <a:tcPr marL="64008" marR="64008" marT="27432" marB="27432" anchor="ctr">
                    <a:solidFill>
                      <a:srgbClr val="F3F6F9"/>
                    </a:solidFill>
                  </a:tcPr>
                </a:tc>
                <a:tc>
                  <a:txBody>
                    <a:bodyPr wrap="square"/>
                    <a:lstStyle/>
                    <a:p>
                      <a:r>
                        <a:rPr b="0" sz="1300" i="0">
                          <a:solidFill>
                            <a:srgbClr val="1A2233"/>
                          </a:solidFill>
                          <a:latin typeface="Calibri"/>
                        </a:rPr>
                        <a:t>PLCR at COD</a:t>
                      </a:r>
                    </a:p>
                  </a:txBody>
                  <a:tcPr marL="64008" marR="64008" marT="27432" marB="27432" anchor="ctr">
                    <a:solidFill>
                      <a:srgbClr val="F3F6F9"/>
                    </a:solidFill>
                  </a:tcPr>
                </a:tc>
                <a:tc>
                  <a:txBody>
                    <a:bodyPr wrap="square"/>
                    <a:lstStyle/>
                    <a:p>
                      <a:r>
                        <a:rPr b="0" sz="1300" i="0">
                          <a:solidFill>
                            <a:srgbClr val="1A2233"/>
                          </a:solidFill>
                          <a:latin typeface="Calibri"/>
                        </a:rPr>
                        <a:t>4.19x</a:t>
                      </a:r>
                    </a:p>
                  </a:txBody>
                  <a:tcPr marL="64008" marR="64008" marT="27432" marB="27432" anchor="ctr">
                    <a:solidFill>
                      <a:srgbClr val="F3F6F9"/>
                    </a:solidFill>
                  </a:tcPr>
                </a:tc>
              </a:tr>
              <a:tr h="329184">
                <a:tc>
                  <a:txBody>
                    <a:bodyPr wrap="square"/>
                    <a:lstStyle/>
                    <a:p>
                      <a:r>
                        <a:rPr b="1" sz="1300" i="0">
                          <a:solidFill>
                            <a:srgbClr val="1A2233"/>
                          </a:solidFill>
                          <a:latin typeface="Calibri"/>
                        </a:rPr>
                        <a:t>SHL!F13</a:t>
                      </a:r>
                    </a:p>
                  </a:txBody>
                  <a:tcPr marL="64008" marR="64008" marT="27432" marB="27432" anchor="ctr">
                    <a:solidFill>
                      <a:srgbClr val="FFFFFF"/>
                    </a:solidFill>
                  </a:tcPr>
                </a:tc>
                <a:tc>
                  <a:txBody>
                    <a:bodyPr wrap="square"/>
                    <a:lstStyle/>
                    <a:p>
                      <a:r>
                        <a:rPr b="0" sz="1300" i="0">
                          <a:solidFill>
                            <a:srgbClr val="1A2233"/>
                          </a:solidFill>
                          <a:latin typeface="Calibri"/>
                        </a:rPr>
                        <a:t>Shareholder loan ($000s)</a:t>
                      </a:r>
                    </a:p>
                  </a:txBody>
                  <a:tcPr marL="64008" marR="64008" marT="27432" marB="27432" anchor="ctr">
                    <a:solidFill>
                      <a:srgbClr val="FFFFFF"/>
                    </a:solidFill>
                  </a:tcPr>
                </a:tc>
                <a:tc>
                  <a:txBody>
                    <a:bodyPr wrap="square"/>
                    <a:lstStyle/>
                    <a:p>
                      <a:r>
                        <a:rPr b="0" sz="1300" i="0">
                          <a:solidFill>
                            <a:srgbClr val="1A2233"/>
                          </a:solidFill>
                          <a:latin typeface="Calibri"/>
                        </a:rPr>
                        <a:t>17,348.1</a:t>
                      </a:r>
                    </a:p>
                  </a:txBody>
                  <a:tcPr marL="64008" marR="64008" marT="27432" marB="27432" anchor="ctr">
                    <a:solidFill>
                      <a:srgbClr val="FFFFFF"/>
                    </a:solidFill>
                  </a:tcPr>
                </a:tc>
              </a:tr>
              <a:tr h="329184">
                <a:tc>
                  <a:txBody>
                    <a:bodyPr wrap="square"/>
                    <a:lstStyle/>
                    <a:p>
                      <a:r>
                        <a:rPr b="1" sz="1300" i="0">
                          <a:solidFill>
                            <a:srgbClr val="1A2233"/>
                          </a:solidFill>
                          <a:latin typeface="Calibri"/>
                        </a:rPr>
                        <a:t>Val!F51</a:t>
                      </a:r>
                    </a:p>
                  </a:txBody>
                  <a:tcPr marL="64008" marR="64008" marT="27432" marB="27432" anchor="ctr">
                    <a:solidFill>
                      <a:srgbClr val="F3F6F9"/>
                    </a:solidFill>
                  </a:tcPr>
                </a:tc>
                <a:tc>
                  <a:txBody>
                    <a:bodyPr wrap="square"/>
                    <a:lstStyle/>
                    <a:p>
                      <a:r>
                        <a:rPr b="0" sz="1300" i="0">
                          <a:solidFill>
                            <a:srgbClr val="1A2233"/>
                          </a:solidFill>
                          <a:latin typeface="Calibri"/>
                        </a:rPr>
                        <a:t>Blended sponsor XIRR</a:t>
                      </a:r>
                    </a:p>
                  </a:txBody>
                  <a:tcPr marL="64008" marR="64008" marT="27432" marB="27432" anchor="ctr">
                    <a:solidFill>
                      <a:srgbClr val="F3F6F9"/>
                    </a:solidFill>
                  </a:tcPr>
                </a:tc>
                <a:tc>
                  <a:txBody>
                    <a:bodyPr wrap="square"/>
                    <a:lstStyle/>
                    <a:p>
                      <a:r>
                        <a:rPr b="0" sz="1300" i="0">
                          <a:solidFill>
                            <a:srgbClr val="1A2233"/>
                          </a:solidFill>
                          <a:latin typeface="Calibri"/>
                        </a:rPr>
                        <a:t>43.03%</a:t>
                      </a:r>
                    </a:p>
                  </a:txBody>
                  <a:tcPr marL="64008" marR="64008" marT="27432" marB="27432" anchor="ctr">
                    <a:solidFill>
                      <a:srgbClr val="F3F6F9"/>
                    </a:solidFill>
                  </a:tcPr>
                </a:tc>
              </a:tr>
              <a:tr h="329184">
                <a:tc>
                  <a:txBody>
                    <a:bodyPr wrap="square"/>
                    <a:lstStyle/>
                    <a:p>
                      <a:r>
                        <a:rPr b="1" sz="1300" i="0">
                          <a:solidFill>
                            <a:srgbClr val="1A2233"/>
                          </a:solidFill>
                          <a:latin typeface="Calibri"/>
                        </a:rPr>
                        <a:t>Dividends H51 ($000s)</a:t>
                      </a:r>
                    </a:p>
                  </a:txBody>
                  <a:tcPr marL="64008" marR="64008" marT="27432" marB="27432" anchor="ctr">
                    <a:solidFill>
                      <a:srgbClr val="FFFFFF"/>
                    </a:solidFill>
                  </a:tcPr>
                </a:tc>
                <a:tc>
                  <a:txBody>
                    <a:bodyPr wrap="square"/>
                    <a:lstStyle/>
                    <a:p>
                      <a:r>
                        <a:rPr b="0" sz="1300" i="0">
                          <a:solidFill>
                            <a:srgbClr val="1A2233"/>
                          </a:solidFill>
                          <a:latin typeface="Calibri"/>
                        </a:rPr>
                        <a:t>20-year dividends</a:t>
                      </a:r>
                    </a:p>
                  </a:txBody>
                  <a:tcPr marL="64008" marR="64008" marT="27432" marB="27432" anchor="ctr">
                    <a:solidFill>
                      <a:srgbClr val="FFFFFF"/>
                    </a:solidFill>
                  </a:tcPr>
                </a:tc>
                <a:tc>
                  <a:txBody>
                    <a:bodyPr wrap="square"/>
                    <a:lstStyle/>
                    <a:p>
                      <a:r>
                        <a:rPr b="0" sz="1300" i="0">
                          <a:solidFill>
                            <a:srgbClr val="1A2233"/>
                          </a:solidFill>
                          <a:latin typeface="Calibri"/>
                        </a:rPr>
                        <a:t>442,554</a:t>
                      </a:r>
                    </a:p>
                  </a:txBody>
                  <a:tcPr marL="64008" marR="64008" marT="27432" marB="27432" anchor="ctr">
                    <a:solidFill>
                      <a:srgbClr val="FFFFFF"/>
                    </a:solidFill>
                  </a:tcPr>
                </a:tc>
              </a:tr>
            </a:tbl>
          </a:graphicData>
        </a:graphic>
      </p:graphicFrame>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74</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A project has CFADS of 90 in a quarter and debt service of 60. What is the DSCR?</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1.50x</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0.67x</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1.00x</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30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75</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CHECK YOUR UNDERSTANDING</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Quick check</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1005840"/>
          </a:xfrm>
          <a:prstGeom prst="rect">
            <a:avLst/>
          </a:prstGeom>
          <a:noFill/>
        </p:spPr>
        <p:txBody>
          <a:bodyPr wrap="square" lIns="45720" rIns="45720" tIns="27432" bIns="27432" anchor="t">
            <a:spAutoFit/>
          </a:bodyPr>
          <a:lstStyle/>
          <a:p>
            <a:pPr algn="l"/>
            <a:r>
              <a:rPr b="1" sz="2000" i="0">
                <a:solidFill>
                  <a:srgbClr val="141B4D"/>
                </a:solidFill>
                <a:latin typeface="Georgia"/>
              </a:rPr>
              <a:t>Why do we size debt on CFADS with tax computed BEFORE the interest deduction?</a:t>
            </a:r>
          </a:p>
        </p:txBody>
      </p:sp>
      <p:sp>
        <p:nvSpPr>
          <p:cNvPr id="12" name="Oval 11"/>
          <p:cNvSpPr/>
          <p:nvPr/>
        </p:nvSpPr>
        <p:spPr>
          <a:xfrm>
            <a:off x="731520" y="269748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A</a:t>
            </a:r>
          </a:p>
        </p:txBody>
      </p:sp>
      <p:sp>
        <p:nvSpPr>
          <p:cNvPr id="13" name="TextBox 12"/>
          <p:cNvSpPr txBox="1"/>
          <p:nvPr/>
        </p:nvSpPr>
        <p:spPr>
          <a:xfrm>
            <a:off x="1463040" y="269748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avoids a circular reference (debt → interest → tax → CFADS → debt) and is conservative</a:t>
            </a:r>
          </a:p>
        </p:txBody>
      </p:sp>
      <p:sp>
        <p:nvSpPr>
          <p:cNvPr id="14" name="Oval 13"/>
          <p:cNvSpPr/>
          <p:nvPr/>
        </p:nvSpPr>
        <p:spPr>
          <a:xfrm>
            <a:off x="731520" y="347472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B</a:t>
            </a:r>
          </a:p>
        </p:txBody>
      </p:sp>
      <p:sp>
        <p:nvSpPr>
          <p:cNvPr id="15" name="TextBox 14"/>
          <p:cNvSpPr txBox="1"/>
          <p:nvPr/>
        </p:nvSpPr>
        <p:spPr>
          <a:xfrm>
            <a:off x="1463040" y="347472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Because interest is not tax deductible</a:t>
            </a:r>
          </a:p>
        </p:txBody>
      </p:sp>
      <p:sp>
        <p:nvSpPr>
          <p:cNvPr id="16" name="Oval 15"/>
          <p:cNvSpPr/>
          <p:nvPr/>
        </p:nvSpPr>
        <p:spPr>
          <a:xfrm>
            <a:off x="731520" y="425196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C</a:t>
            </a:r>
          </a:p>
        </p:txBody>
      </p:sp>
      <p:sp>
        <p:nvSpPr>
          <p:cNvPr id="17" name="TextBox 16"/>
          <p:cNvSpPr txBox="1"/>
          <p:nvPr/>
        </p:nvSpPr>
        <p:spPr>
          <a:xfrm>
            <a:off x="1463040" y="425196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Because Excel cannot calculate tax</a:t>
            </a:r>
          </a:p>
        </p:txBody>
      </p:sp>
      <p:sp>
        <p:nvSpPr>
          <p:cNvPr id="18" name="Oval 17"/>
          <p:cNvSpPr/>
          <p:nvPr/>
        </p:nvSpPr>
        <p:spPr>
          <a:xfrm>
            <a:off x="731520" y="5029200"/>
            <a:ext cx="548640" cy="59436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b="1" sz="2000" i="0">
                <a:solidFill>
                  <a:srgbClr val="FFFFFF"/>
                </a:solidFill>
                <a:latin typeface="Calibri"/>
              </a:rPr>
              <a:t>D</a:t>
            </a:r>
          </a:p>
        </p:txBody>
      </p:sp>
      <p:sp>
        <p:nvSpPr>
          <p:cNvPr id="19" name="TextBox 18"/>
          <p:cNvSpPr txBox="1"/>
          <p:nvPr/>
        </p:nvSpPr>
        <p:spPr>
          <a:xfrm>
            <a:off x="1463040" y="5029200"/>
            <a:ext cx="10058400" cy="640080"/>
          </a:xfrm>
          <a:prstGeom prst="rect">
            <a:avLst/>
          </a:prstGeom>
          <a:noFill/>
        </p:spPr>
        <p:txBody>
          <a:bodyPr wrap="square" lIns="45720" rIns="45720" tIns="27432" bIns="27432" anchor="ctr">
            <a:spAutoFit/>
          </a:bodyPr>
          <a:lstStyle/>
          <a:p>
            <a:pPr algn="l"/>
            <a:r>
              <a:rPr b="0" sz="1700" i="0">
                <a:solidFill>
                  <a:srgbClr val="1A2233"/>
                </a:solidFill>
                <a:latin typeface="Calibri"/>
              </a:rPr>
              <a:t>It makes DSCR lower than 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bs-logo.png"/>
          <p:cNvPicPr>
            <a:picLocks noChangeAspect="1"/>
          </p:cNvPicPr>
          <p:nvPr/>
        </p:nvPicPr>
        <p:blipFill>
          <a:blip r:embed="rId2"/>
          <a:stretch>
            <a:fillRect/>
          </a:stretch>
        </p:blipFill>
        <p:spPr>
          <a:xfrm>
            <a:off x="329184" y="6492240"/>
            <a:ext cx="821233" cy="283464"/>
          </a:xfrm>
          <a:prstGeom prst="rect">
            <a:avLst/>
          </a:prstGeom>
        </p:spPr>
      </p:pic>
      <p:sp>
        <p:nvSpPr>
          <p:cNvPr id="4" name="TextBox 3"/>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5C6B7A"/>
                </a:solidFill>
                <a:latin typeface="Calibri"/>
              </a:rPr>
              <a:t>MIPF Boot Camp  |  Day 7  |  Wed 21 Oct 2026  |  Project finance modelling II: debt sizing and returns</a:t>
            </a:r>
          </a:p>
        </p:txBody>
      </p:sp>
      <p:sp>
        <p:nvSpPr>
          <p:cNvPr id="5" name="TextBox 4"/>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5C6B7A"/>
                </a:solidFill>
                <a:latin typeface="Calibri"/>
              </a:rPr>
              <a:t>76</a:t>
            </a:r>
          </a:p>
        </p:txBody>
      </p:sp>
      <p:pic>
        <p:nvPicPr>
          <p:cNvPr id="6" name="Picture 5"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7" name="Picture 6" descr="bongo_ai_hex_256.png"/>
          <p:cNvPicPr>
            <a:picLocks noChangeAspect="1"/>
          </p:cNvPicPr>
          <p:nvPr/>
        </p:nvPicPr>
        <p:blipFill>
          <a:blip r:embed="rId4"/>
          <a:stretch>
            <a:fillRect/>
          </a:stretch>
        </p:blipFill>
        <p:spPr>
          <a:xfrm>
            <a:off x="11430000" y="6446520"/>
            <a:ext cx="365760" cy="365760"/>
          </a:xfrm>
          <a:prstGeom prst="rect">
            <a:avLst/>
          </a:prstGeom>
        </p:spPr>
      </p:pic>
      <p:sp>
        <p:nvSpPr>
          <p:cNvPr id="8" name="TextBox 7"/>
          <p:cNvSpPr txBox="1"/>
          <p:nvPr/>
        </p:nvSpPr>
        <p:spPr>
          <a:xfrm>
            <a:off x="457200" y="237744"/>
            <a:ext cx="11247120" cy="274320"/>
          </a:xfrm>
          <a:prstGeom prst="rect">
            <a:avLst/>
          </a:prstGeom>
          <a:noFill/>
        </p:spPr>
        <p:txBody>
          <a:bodyPr wrap="square" lIns="45720" rIns="45720" tIns="27432" bIns="27432" anchor="t">
            <a:spAutoFit/>
          </a:bodyPr>
          <a:lstStyle/>
          <a:p>
            <a:pPr algn="l"/>
            <a:r>
              <a:rPr b="1" sz="1100" i="0">
                <a:solidFill>
                  <a:srgbClr val="A8700F"/>
                </a:solidFill>
                <a:latin typeface="Calibri"/>
              </a:rPr>
              <a:t>RECAP</a:t>
            </a:r>
          </a:p>
        </p:txBody>
      </p:sp>
      <p:sp>
        <p:nvSpPr>
          <p:cNvPr id="9" name="TextBox 8"/>
          <p:cNvSpPr txBox="1"/>
          <p:nvPr/>
        </p:nvSpPr>
        <p:spPr>
          <a:xfrm>
            <a:off x="457200" y="475488"/>
            <a:ext cx="11247120" cy="777240"/>
          </a:xfrm>
          <a:prstGeom prst="rect">
            <a:avLst/>
          </a:prstGeom>
          <a:noFill/>
        </p:spPr>
        <p:txBody>
          <a:bodyPr wrap="square" lIns="45720" rIns="45720" tIns="27432" bIns="27432" anchor="ctr">
            <a:spAutoFit/>
          </a:bodyPr>
          <a:lstStyle/>
          <a:p>
            <a:pPr algn="l"/>
            <a:r>
              <a:rPr b="1" sz="2800" i="0">
                <a:solidFill>
                  <a:srgbClr val="141B4D"/>
                </a:solidFill>
                <a:latin typeface="Georgia"/>
              </a:rPr>
              <a:t>What you can now do</a:t>
            </a:r>
          </a:p>
        </p:txBody>
      </p:sp>
      <p:sp>
        <p:nvSpPr>
          <p:cNvPr id="10" name="Rectangle 9"/>
          <p:cNvSpPr/>
          <p:nvPr/>
        </p:nvSpPr>
        <p:spPr>
          <a:xfrm>
            <a:off x="502920" y="1252728"/>
            <a:ext cx="1463040" cy="3810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08760"/>
            <a:ext cx="10881360" cy="4754880"/>
          </a:xfrm>
          <a:prstGeom prst="rect">
            <a:avLst/>
          </a:prstGeom>
          <a:noFill/>
        </p:spPr>
        <p:txBody>
          <a:bodyPr wrap="square">
            <a:spAutoFit/>
          </a:bodyPr>
          <a:lstStyle/>
          <a:p>
            <a:pPr>
              <a:spcAft>
                <a:spcPts val="700"/>
              </a:spcAft>
            </a:pPr>
            <a:r>
              <a:rPr b="0" sz="2000" i="0">
                <a:solidFill>
                  <a:srgbClr val="1A2233"/>
                </a:solidFill>
                <a:latin typeface="Calibri"/>
              </a:rPr>
              <a:t>▪ Build a PF model from construction to returns: timeline, uses and sources, IDC, opening balances</a:t>
            </a:r>
          </a:p>
          <a:p>
            <a:pPr>
              <a:spcAft>
                <a:spcPts val="700"/>
              </a:spcAft>
            </a:pPr>
            <a:r>
              <a:rPr b="0" sz="2000" i="0">
                <a:solidFill>
                  <a:srgbClr val="1A2233"/>
                </a:solidFill>
                <a:latin typeface="Calibri"/>
              </a:rPr>
              <a:t>▪ Size and sculpt debt; test DSCR, LLCR and PLCR</a:t>
            </a:r>
          </a:p>
          <a:p>
            <a:pPr>
              <a:spcAft>
                <a:spcPts val="700"/>
              </a:spcAft>
            </a:pPr>
            <a:r>
              <a:rPr b="0" sz="2000" i="0">
                <a:solidFill>
                  <a:srgbClr val="1A2233"/>
                </a:solidFill>
                <a:latin typeface="Calibri"/>
              </a:rPr>
              <a:t>▪ Add DSRA and shareholder loan and integrate them into three balanced statements</a:t>
            </a:r>
          </a:p>
          <a:p>
            <a:pPr>
              <a:spcAft>
                <a:spcPts val="700"/>
              </a:spcAft>
            </a:pPr>
            <a:r>
              <a:rPr b="0" sz="2000" i="0">
                <a:solidFill>
                  <a:srgbClr val="1A2233"/>
                </a:solidFill>
                <a:latin typeface="Calibri"/>
              </a:rPr>
              <a:t>▪ Use Goal Seek and data tables to optimise and defend a capital structure</a:t>
            </a:r>
          </a:p>
          <a:p>
            <a:pPr>
              <a:spcAft>
                <a:spcPts val="700"/>
              </a:spcAft>
            </a:pPr>
            <a:r>
              <a:rPr b="0" sz="2000" i="0">
                <a:solidFill>
                  <a:srgbClr val="1A2233"/>
                </a:solidFill>
                <a:latin typeface="Calibri"/>
              </a:rPr>
              <a:t>▪ Run a sign-off checklist</a:t>
            </a:r>
          </a:p>
        </p:txBody>
      </p:sp>
      <p:sp>
        <p:nvSpPr>
          <p:cNvPr id="12" name="Rectangle 11"/>
          <p:cNvSpPr/>
          <p:nvPr/>
        </p:nvSpPr>
        <p:spPr>
          <a:xfrm>
            <a:off x="640080" y="4846320"/>
            <a:ext cx="10881360" cy="822960"/>
          </a:xfrm>
          <a:prstGeom prst="rect">
            <a:avLst/>
          </a:prstGeom>
          <a:solidFill>
            <a:srgbClr val="FBF0D9"/>
          </a:solidFill>
          <a:ln w="15240">
            <a:solidFill>
              <a:srgbClr val="D99A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846320"/>
            <a:ext cx="82296" cy="822960"/>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46320"/>
            <a:ext cx="10652760" cy="822960"/>
          </a:xfrm>
          <a:prstGeom prst="rect">
            <a:avLst/>
          </a:prstGeom>
          <a:noFill/>
        </p:spPr>
        <p:txBody>
          <a:bodyPr wrap="square" lIns="45720" rIns="45720" tIns="27432" bIns="27432" anchor="ctr">
            <a:spAutoFit/>
          </a:bodyPr>
          <a:lstStyle/>
          <a:p>
            <a:pPr algn="l"/>
            <a:r>
              <a:rPr b="0" sz="1400" i="0">
                <a:solidFill>
                  <a:srgbClr val="1A2233"/>
                </a:solidFill>
                <a:latin typeface="Calibri"/>
              </a:rPr>
              <a:t>Capstone: within two weeks, extend your model with your own assumptions (fare, tenor, DSCR, gearing) and submit with a one-page recommendation.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141B4D"/>
        </a:solidFill>
        <a:effectLst/>
      </p:bgPr>
    </p:bg>
    <p:spTree>
      <p:nvGrpSpPr>
        <p:cNvPr id="1" name=""/>
        <p:cNvGrpSpPr/>
        <p:nvPr/>
      </p:nvGrpSpPr>
      <p:grpSpPr/>
      <p:sp>
        <p:nvSpPr>
          <p:cNvPr id="2" name="Rectangle 1"/>
          <p:cNvSpPr/>
          <p:nvPr/>
        </p:nvSpPr>
        <p:spPr>
          <a:xfrm>
            <a:off x="0" y="6419088"/>
            <a:ext cx="12191695" cy="9525"/>
          </a:xfrm>
          <a:prstGeom prst="rect">
            <a:avLst/>
          </a:prstGeom>
          <a:solidFill>
            <a:srgbClr val="D99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6464808"/>
            <a:ext cx="1051560"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bs-logo.png"/>
          <p:cNvPicPr>
            <a:picLocks noChangeAspect="1"/>
          </p:cNvPicPr>
          <p:nvPr/>
        </p:nvPicPr>
        <p:blipFill>
          <a:blip r:embed="rId2"/>
          <a:stretch>
            <a:fillRect/>
          </a:stretch>
        </p:blipFill>
        <p:spPr>
          <a:xfrm>
            <a:off x="329184" y="6492240"/>
            <a:ext cx="821233" cy="283464"/>
          </a:xfrm>
          <a:prstGeom prst="rect">
            <a:avLst/>
          </a:prstGeom>
        </p:spPr>
      </p:pic>
      <p:sp>
        <p:nvSpPr>
          <p:cNvPr id="5" name="TextBox 4"/>
          <p:cNvSpPr txBox="1"/>
          <p:nvPr/>
        </p:nvSpPr>
        <p:spPr>
          <a:xfrm>
            <a:off x="1554480" y="6492240"/>
            <a:ext cx="7315200" cy="274320"/>
          </a:xfrm>
          <a:prstGeom prst="rect">
            <a:avLst/>
          </a:prstGeom>
          <a:noFill/>
        </p:spPr>
        <p:txBody>
          <a:bodyPr wrap="square" lIns="45720" rIns="45720" tIns="27432" bIns="27432" anchor="t">
            <a:spAutoFit/>
          </a:bodyPr>
          <a:lstStyle/>
          <a:p>
            <a:pPr algn="l"/>
            <a:r>
              <a:rPr b="0" sz="1000" i="0">
                <a:solidFill>
                  <a:srgbClr val="C9D3F5"/>
                </a:solidFill>
                <a:latin typeface="Calibri"/>
              </a:rPr>
              <a:t>MIPF Boot Camp  |  Day 7  |  Wed 21 Oct 2026  |  Project finance modelling II: debt sizing and returns</a:t>
            </a:r>
          </a:p>
        </p:txBody>
      </p:sp>
      <p:sp>
        <p:nvSpPr>
          <p:cNvPr id="6" name="TextBox 5"/>
          <p:cNvSpPr txBox="1"/>
          <p:nvPr/>
        </p:nvSpPr>
        <p:spPr>
          <a:xfrm>
            <a:off x="9692640" y="6492240"/>
            <a:ext cx="640080" cy="274320"/>
          </a:xfrm>
          <a:prstGeom prst="rect">
            <a:avLst/>
          </a:prstGeom>
          <a:noFill/>
        </p:spPr>
        <p:txBody>
          <a:bodyPr wrap="square" lIns="45720" rIns="45720" tIns="27432" bIns="27432" anchor="t">
            <a:spAutoFit/>
          </a:bodyPr>
          <a:lstStyle/>
          <a:p>
            <a:pPr algn="r"/>
            <a:r>
              <a:rPr b="0" sz="1000" i="0">
                <a:solidFill>
                  <a:srgbClr val="C9D3F5"/>
                </a:solidFill>
                <a:latin typeface="Calibri"/>
              </a:rPr>
              <a:t>77</a:t>
            </a:r>
          </a:p>
        </p:txBody>
      </p:sp>
      <p:pic>
        <p:nvPicPr>
          <p:cNvPr id="7" name="Picture 6" descr="mipf_hex_256.png"/>
          <p:cNvPicPr>
            <a:picLocks noChangeAspect="1"/>
          </p:cNvPicPr>
          <p:nvPr/>
        </p:nvPicPr>
        <p:blipFill>
          <a:blip r:embed="rId3"/>
          <a:stretch>
            <a:fillRect/>
          </a:stretch>
        </p:blipFill>
        <p:spPr>
          <a:xfrm>
            <a:off x="10927080" y="6446520"/>
            <a:ext cx="365760" cy="365760"/>
          </a:xfrm>
          <a:prstGeom prst="rect">
            <a:avLst/>
          </a:prstGeom>
        </p:spPr>
      </p:pic>
      <p:pic>
        <p:nvPicPr>
          <p:cNvPr id="8" name="Picture 7" descr="bongo_ai_hex_dark_256.png"/>
          <p:cNvPicPr>
            <a:picLocks noChangeAspect="1"/>
          </p:cNvPicPr>
          <p:nvPr/>
        </p:nvPicPr>
        <p:blipFill>
          <a:blip r:embed="rId4"/>
          <a:stretch>
            <a:fillRect/>
          </a:stretch>
        </p:blipFill>
        <p:spPr>
          <a:xfrm>
            <a:off x="11430000" y="6446520"/>
            <a:ext cx="365760" cy="365760"/>
          </a:xfrm>
          <a:prstGeom prst="rect">
            <a:avLst/>
          </a:prstGeom>
        </p:spPr>
      </p:pic>
      <p:sp>
        <p:nvSpPr>
          <p:cNvPr id="9" name="TextBox 8"/>
          <p:cNvSpPr txBox="1"/>
          <p:nvPr/>
        </p:nvSpPr>
        <p:spPr>
          <a:xfrm>
            <a:off x="731520" y="1554480"/>
            <a:ext cx="10058400" cy="365760"/>
          </a:xfrm>
          <a:prstGeom prst="rect">
            <a:avLst/>
          </a:prstGeom>
          <a:noFill/>
        </p:spPr>
        <p:txBody>
          <a:bodyPr wrap="square" lIns="45720" rIns="45720" tIns="27432" bIns="27432" anchor="t">
            <a:spAutoFit/>
          </a:bodyPr>
          <a:lstStyle/>
          <a:p>
            <a:pPr algn="l"/>
            <a:r>
              <a:rPr b="1" sz="1400" i="0">
                <a:solidFill>
                  <a:srgbClr val="D99A2B"/>
                </a:solidFill>
                <a:latin typeface="Calibri"/>
              </a:rPr>
              <a:t>QUESTIONS AND FOLLOW-UP</a:t>
            </a:r>
          </a:p>
        </p:txBody>
      </p:sp>
      <p:sp>
        <p:nvSpPr>
          <p:cNvPr id="10" name="TextBox 9"/>
          <p:cNvSpPr txBox="1"/>
          <p:nvPr/>
        </p:nvSpPr>
        <p:spPr>
          <a:xfrm>
            <a:off x="731520" y="1965960"/>
            <a:ext cx="10058400" cy="914400"/>
          </a:xfrm>
          <a:prstGeom prst="rect">
            <a:avLst/>
          </a:prstGeom>
          <a:noFill/>
        </p:spPr>
        <p:txBody>
          <a:bodyPr wrap="square" lIns="45720" rIns="45720" tIns="27432" bIns="27432" anchor="t">
            <a:spAutoFit/>
          </a:bodyPr>
          <a:lstStyle/>
          <a:p>
            <a:pPr algn="l"/>
            <a:r>
              <a:rPr b="1" sz="4400" i="0">
                <a:solidFill>
                  <a:srgbClr val="FFFFFF"/>
                </a:solidFill>
                <a:latin typeface="Georgia"/>
              </a:rPr>
              <a:t>Thank you</a:t>
            </a:r>
          </a:p>
        </p:txBody>
      </p:sp>
      <p:sp>
        <p:nvSpPr>
          <p:cNvPr id="11" name="TextBox 10"/>
          <p:cNvSpPr txBox="1"/>
          <p:nvPr/>
        </p:nvSpPr>
        <p:spPr>
          <a:xfrm>
            <a:off x="731520" y="3200400"/>
            <a:ext cx="8686800" cy="2194560"/>
          </a:xfrm>
          <a:prstGeom prst="rect">
            <a:avLst/>
          </a:prstGeom>
          <a:noFill/>
        </p:spPr>
        <p:txBody>
          <a:bodyPr wrap="square" lIns="45720" rIns="45720" tIns="27432" bIns="27432" anchor="t">
            <a:spAutoFit/>
          </a:bodyPr>
          <a:lstStyle/>
          <a:p>
            <a:pPr algn="l"/>
            <a:r>
              <a:rPr b="1" sz="2000" i="0">
                <a:solidFill>
                  <a:srgbClr val="D8DEF5"/>
                </a:solidFill>
                <a:latin typeface="Calibri"/>
              </a:rPr>
              <a:t>Prof Bongo Adi</a:t>
            </a:r>
          </a:p>
          <a:p>
            <a:pPr algn="l"/>
            <a:r>
              <a:rPr b="0" sz="2000" i="0">
                <a:solidFill>
                  <a:srgbClr val="D8DEF5"/>
                </a:solidFill>
                <a:latin typeface="Calibri"/>
              </a:rPr>
              <a:t>Lagos Business School, Pan-Atlantic University</a:t>
            </a:r>
          </a:p>
          <a:p>
            <a:pPr algn="l"/>
            <a:r>
              <a:rPr b="0" sz="2000" i="0">
                <a:solidFill>
                  <a:srgbClr val="D8DEF5"/>
                </a:solidFill>
                <a:latin typeface="Calibri"/>
              </a:rPr>
              <a:t>Phone / WhatsApp:  +234 706 164 8699</a:t>
            </a:r>
          </a:p>
          <a:p>
            <a:pPr algn="l"/>
            <a:r>
              <a:rPr b="0" sz="2000" i="0">
                <a:solidFill>
                  <a:srgbClr val="D8DEF5"/>
                </a:solidFill>
                <a:latin typeface="Calibri"/>
              </a:rPr>
              <a:t>Email:  badi@lbs.edu.ng</a:t>
            </a:r>
          </a:p>
          <a:p>
            <a:pPr algn="l"/>
            <a:r>
              <a:rPr b="0" sz="2000" i="0">
                <a:solidFill>
                  <a:srgbClr val="D8DEF5"/>
                </a:solidFill>
                <a:latin typeface="Calibri"/>
              </a:rPr>
              <a:t>Fulbright email:  bongo.adi@fulbrightmail.org</a:t>
            </a:r>
          </a:p>
        </p:txBody>
      </p:sp>
      <p:pic>
        <p:nvPicPr>
          <p:cNvPr id="12" name="Picture 11" descr="mipf_hex.png"/>
          <p:cNvPicPr>
            <a:picLocks noChangeAspect="1"/>
          </p:cNvPicPr>
          <p:nvPr/>
        </p:nvPicPr>
        <p:blipFill>
          <a:blip r:embed="rId5"/>
          <a:stretch>
            <a:fillRect/>
          </a:stretch>
        </p:blipFill>
        <p:spPr>
          <a:xfrm>
            <a:off x="9418320" y="1828800"/>
            <a:ext cx="2103120" cy="2103120"/>
          </a:xfrm>
          <a:prstGeom prst="rect">
            <a:avLst/>
          </a:prstGeom>
        </p:spPr>
      </p:pic>
      <p:pic>
        <p:nvPicPr>
          <p:cNvPr id="13" name="Picture 12" descr="bongo_ai_hex_dark_256.png"/>
          <p:cNvPicPr>
            <a:picLocks noChangeAspect="1"/>
          </p:cNvPicPr>
          <p:nvPr/>
        </p:nvPicPr>
        <p:blipFill>
          <a:blip r:embed="rId4"/>
          <a:stretch>
            <a:fillRect/>
          </a:stretch>
        </p:blipFill>
        <p:spPr>
          <a:xfrm>
            <a:off x="9692640" y="4114800"/>
            <a:ext cx="1554480" cy="1554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MIPF_Day7_Sizing_Returns_Deck (participant edition)</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