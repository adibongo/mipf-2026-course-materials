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handoutMasterIdLst>
    <p:handoutMasterId r:id="rId39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8"/>
    <p:sldId id="286" r:id="rId7"/>
    <p:sldId id="287" r:id="rId6"/>
    <p:sldId id="288" r:id="rId5"/>
    <p:sldId id="289" r:id="rId4"/>
    <p:sldId id="290" r:id="rId3"/>
    <p:sldId id="291" r:id="rId2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867"/>
    <a:srgbClr val="00A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518" autoAdjust="0"/>
    <p:restoredTop sz="94631" autoAdjust="0"/>
  </p:normalViewPr>
  <p:slideViewPr>
    <p:cSldViewPr>
      <p:cViewPr varScale="1">
        <p:scale>
          <a:sx n="57" d="100"/>
          <a:sy n="57" d="100"/>
        </p:scale>
        <p:origin x="1084" y="2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6.xml"/><Relationship Id="rId3" Type="http://schemas.openxmlformats.org/officeDocument/2006/relationships/slide" Target="slides/slide35.xml"/><Relationship Id="rId4" Type="http://schemas.openxmlformats.org/officeDocument/2006/relationships/slide" Target="slides/slide34.xml"/><Relationship Id="rId5" Type="http://schemas.openxmlformats.org/officeDocument/2006/relationships/slide" Target="slides/slide33.xml"/><Relationship Id="rId6" Type="http://schemas.openxmlformats.org/officeDocument/2006/relationships/slide" Target="slides/slide32.xml"/><Relationship Id="rId7" Type="http://schemas.openxmlformats.org/officeDocument/2006/relationships/slide" Target="slides/slide31.xml"/><Relationship Id="rId8" Type="http://schemas.openxmlformats.org/officeDocument/2006/relationships/slide" Target="slides/slide30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6/11/relationships/changesInfo" Target="changesInfos/changesInfo1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 Bongo Adi" userId="72139f47f6570099" providerId="LiveId" clId="{FD02D5E9-9C75-40C5-A1D6-4C28A95589FC}"/>
    <pc:docChg chg="modSld">
      <pc:chgData name="Prof Bongo Adi" userId="72139f47f6570099" providerId="LiveId" clId="{FD02D5E9-9C75-40C5-A1D6-4C28A95589FC}" dt="2025-10-20T03:47:23.809" v="8" actId="6549"/>
      <pc:docMkLst>
        <pc:docMk/>
      </pc:docMkLst>
      <pc:sldChg chg="modSp mod">
        <pc:chgData name="Prof Bongo Adi" userId="72139f47f6570099" providerId="LiveId" clId="{FD02D5E9-9C75-40C5-A1D6-4C28A95589FC}" dt="2025-10-20T03:47:23.809" v="8" actId="6549"/>
        <pc:sldMkLst>
          <pc:docMk/>
          <pc:sldMk cId="0" sldId="271"/>
        </pc:sldMkLst>
        <pc:spChg chg="mod">
          <ac:chgData name="Prof Bongo Adi" userId="72139f47f6570099" providerId="LiveId" clId="{FD02D5E9-9C75-40C5-A1D6-4C28A95589FC}" dt="2025-10-20T03:47:23.809" v="8" actId="6549"/>
          <ac:spMkLst>
            <pc:docMk/>
            <pc:sldMk cId="0" sldId="271"/>
            <ac:spMk id="4" creationId="{00000000-0000-0000-0000-000000000000}"/>
          </ac:spMkLst>
        </pc:spChg>
      </pc:sldChg>
    </pc:docChg>
  </pc:docChgLst>
  <pc:docChgLst>
    <pc:chgData name="Prof Bongo Adi" userId="72139f47f6570099" providerId="LiveId" clId="{428900C8-C5F0-4ADF-A6D5-09D42798E69C}"/>
    <pc:docChg chg="custSel addSld modSld">
      <pc:chgData name="Prof Bongo Adi" userId="72139f47f6570099" providerId="LiveId" clId="{428900C8-C5F0-4ADF-A6D5-09D42798E69C}" dt="2024-10-30T04:44:50.145" v="304" actId="5793"/>
      <pc:docMkLst>
        <pc:docMk/>
      </pc:docMkLst>
      <pc:sldChg chg="delSp mod">
        <pc:chgData name="Prof Bongo Adi" userId="72139f47f6570099" providerId="LiveId" clId="{428900C8-C5F0-4ADF-A6D5-09D42798E69C}" dt="2024-10-30T04:36:30.995" v="1" actId="478"/>
        <pc:sldMkLst>
          <pc:docMk/>
          <pc:sldMk cId="1173613512" sldId="288"/>
        </pc:sldMkLst>
      </pc:sldChg>
      <pc:sldChg chg="modSp mod">
        <pc:chgData name="Prof Bongo Adi" userId="72139f47f6570099" providerId="LiveId" clId="{428900C8-C5F0-4ADF-A6D5-09D42798E69C}" dt="2024-10-30T04:37:26.120" v="68" actId="20577"/>
        <pc:sldMkLst>
          <pc:docMk/>
          <pc:sldMk cId="941065244" sldId="306"/>
        </pc:sldMkLst>
      </pc:sldChg>
      <pc:sldChg chg="addSp delSp modSp new mod">
        <pc:chgData name="Prof Bongo Adi" userId="72139f47f6570099" providerId="LiveId" clId="{428900C8-C5F0-4ADF-A6D5-09D42798E69C}" dt="2024-10-30T04:44:50.145" v="304" actId="5793"/>
        <pc:sldMkLst>
          <pc:docMk/>
          <pc:sldMk cId="502375210" sldId="307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Risk peaks during construction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project risk</c:v>
                </c:pt>
              </c:strCache>
            </c:strRef>
          </c:tx>
          <c:spPr>
            <a:ln w="31750">
              <a:solidFill>
                <a:srgbClr val="002060"/>
              </a:solidFill>
            </a:ln>
          </c:spPr>
          <c:marker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Develop</c:v>
                </c:pt>
                <c:pt idx="1">
                  <c:v>Close</c:v>
                </c:pt>
                <c:pt idx="2">
                  <c:v>Build</c:v>
                </c:pt>
                <c:pt idx="3">
                  <c:v>Test</c:v>
                </c:pt>
                <c:pt idx="4">
                  <c:v>Yr 1</c:v>
                </c:pt>
                <c:pt idx="5">
                  <c:v>Yr 5</c:v>
                </c:pt>
                <c:pt idx="6">
                  <c:v>Yr 10</c:v>
                </c:pt>
                <c:pt idx="7">
                  <c:v>Yr 15</c:v>
                </c:pt>
                <c:pt idx="8">
                  <c:v>Yr 20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5</c:v>
                </c:pt>
                <c:pt idx="2">
                  <c:v>9</c:v>
                </c:pt>
                <c:pt idx="3">
                  <c:v>8</c:v>
                </c:pt>
                <c:pt idx="4">
                  <c:v>6</c:v>
                </c:pt>
                <c:pt idx="5">
                  <c:v>4.5</c:v>
                </c:pt>
                <c:pt idx="6">
                  <c:v>3.5</c:v>
                </c:pt>
                <c:pt idx="7">
                  <c:v>3</c:v>
                </c:pt>
                <c:pt idx="8">
                  <c:v>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Equity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Sheet1!$A$2:$A$2</c:f>
              <c:strCache>
                <c:ptCount val="1"/>
                <c:pt idx="0">
                  <c:v>Azura-Edo (US$m)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DFI mezzanine</c:v>
                </c:pt>
              </c:strCache>
            </c:strRef>
          </c:tx>
          <c:spPr>
            <a:solidFill>
              <a:srgbClr val="595959"/>
            </a:solidFill>
          </c:spPr>
          <c:cat>
            <c:strRef>
              <c:f>Sheet1!$A$2:$A$2</c:f>
              <c:strCache>
                <c:ptCount val="1"/>
                <c:pt idx="0">
                  <c:v>Azura-Edo (US$m)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Local banks (₦24bn)</c:v>
                </c:pt>
              </c:strCache>
            </c:strRef>
          </c:tx>
          <c:spPr>
            <a:solidFill>
              <a:srgbClr val="00B0F0"/>
            </a:solidFill>
          </c:spPr>
          <c:cat>
            <c:strRef>
              <c:f>Sheet1!$A$2:$A$2</c:f>
              <c:strCache>
                <c:ptCount val="1"/>
                <c:pt idx="0">
                  <c:v>Azura-Edo (US$m)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120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DFI senior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Sheet1!$A$2:$A$2</c:f>
              <c:strCache>
                <c:ptCount val="1"/>
                <c:pt idx="0">
                  <c:v>Azura-Edo (US$m)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267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Commercial (MIGA + IBRD cover)</c:v>
                </c:pt>
              </c:strCache>
            </c:strRef>
          </c:tx>
          <c:spPr>
            <a:solidFill>
              <a:srgbClr val="002060"/>
            </a:solidFill>
          </c:spPr>
          <c:cat>
            <c:strRef>
              <c:f>Sheet1!$A$2:$A$2</c:f>
              <c:strCache>
                <c:ptCount val="1"/>
                <c:pt idx="0">
                  <c:v>Azura-Edo (US$m)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234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Sahel Sun: CFADS vs sculpted debt service (US$m)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CFADS (US$m)</c:v>
                </c:pt>
              </c:strCache>
            </c:strRef>
          </c:tx>
          <c:spPr>
            <a:solidFill>
              <a:srgbClr val="002060"/>
            </a:solidFill>
          </c:spPr>
          <c:cat>
            <c:strRef>
              <c:f>Sheet1!$A$2:$A$21</c:f>
              <c:strCache>
                <c:ptCount val="20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  <c:pt idx="5">
                  <c:v>Y6</c:v>
                </c:pt>
                <c:pt idx="6">
                  <c:v>Y7</c:v>
                </c:pt>
                <c:pt idx="7">
                  <c:v>Y8</c:v>
                </c:pt>
                <c:pt idx="8">
                  <c:v>Y9</c:v>
                </c:pt>
                <c:pt idx="9">
                  <c:v>Y10</c:v>
                </c:pt>
                <c:pt idx="10">
                  <c:v>Y11</c:v>
                </c:pt>
                <c:pt idx="11">
                  <c:v>Y12</c:v>
                </c:pt>
                <c:pt idx="12">
                  <c:v>Y13</c:v>
                </c:pt>
                <c:pt idx="13">
                  <c:v>Y14</c:v>
                </c:pt>
                <c:pt idx="14">
                  <c:v>Y15</c:v>
                </c:pt>
                <c:pt idx="15">
                  <c:v>Y16</c:v>
                </c:pt>
                <c:pt idx="16">
                  <c:v>Y17</c:v>
                </c:pt>
                <c:pt idx="17">
                  <c:v>Y18</c:v>
                </c:pt>
                <c:pt idx="18">
                  <c:v>Y19</c:v>
                </c:pt>
                <c:pt idx="19">
                  <c:v>Y20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7.64</c:v>
                </c:pt>
                <c:pt idx="1">
                  <c:v>7.57</c:v>
                </c:pt>
                <c:pt idx="2">
                  <c:v>7.51</c:v>
                </c:pt>
                <c:pt idx="3">
                  <c:v>7.44</c:v>
                </c:pt>
                <c:pt idx="4">
                  <c:v>7.37</c:v>
                </c:pt>
                <c:pt idx="5">
                  <c:v>5.94</c:v>
                </c:pt>
                <c:pt idx="6">
                  <c:v>5.89</c:v>
                </c:pt>
                <c:pt idx="7">
                  <c:v>5.85</c:v>
                </c:pt>
                <c:pt idx="8">
                  <c:v>5.8</c:v>
                </c:pt>
                <c:pt idx="9">
                  <c:v>5.75</c:v>
                </c:pt>
                <c:pt idx="10">
                  <c:v>5.7</c:v>
                </c:pt>
                <c:pt idx="11">
                  <c:v>5.66</c:v>
                </c:pt>
                <c:pt idx="12">
                  <c:v>5.61</c:v>
                </c:pt>
                <c:pt idx="13">
                  <c:v>5.56</c:v>
                </c:pt>
                <c:pt idx="14">
                  <c:v>5.51</c:v>
                </c:pt>
                <c:pt idx="15">
                  <c:v>5.46</c:v>
                </c:pt>
                <c:pt idx="16">
                  <c:v>5.41</c:v>
                </c:pt>
                <c:pt idx="17">
                  <c:v>5.36</c:v>
                </c:pt>
                <c:pt idx="18">
                  <c:v>5.31</c:v>
                </c:pt>
                <c:pt idx="19">
                  <c:v>5.26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Scheduled debt service (US$m)</c:v>
                </c:pt>
              </c:strCache>
            </c:strRef>
          </c:tx>
          <c:spPr>
            <a:solidFill>
              <a:srgbClr val="00B0F0"/>
            </a:solidFill>
          </c:spPr>
          <c:cat>
            <c:strRef>
              <c:f>Sheet1!$A$2:$A$21</c:f>
              <c:strCache>
                <c:ptCount val="20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  <c:pt idx="5">
                  <c:v>Y6</c:v>
                </c:pt>
                <c:pt idx="6">
                  <c:v>Y7</c:v>
                </c:pt>
                <c:pt idx="7">
                  <c:v>Y8</c:v>
                </c:pt>
                <c:pt idx="8">
                  <c:v>Y9</c:v>
                </c:pt>
                <c:pt idx="9">
                  <c:v>Y10</c:v>
                </c:pt>
                <c:pt idx="10">
                  <c:v>Y11</c:v>
                </c:pt>
                <c:pt idx="11">
                  <c:v>Y12</c:v>
                </c:pt>
                <c:pt idx="12">
                  <c:v>Y13</c:v>
                </c:pt>
                <c:pt idx="13">
                  <c:v>Y14</c:v>
                </c:pt>
                <c:pt idx="14">
                  <c:v>Y15</c:v>
                </c:pt>
                <c:pt idx="15">
                  <c:v>Y16</c:v>
                </c:pt>
                <c:pt idx="16">
                  <c:v>Y17</c:v>
                </c:pt>
                <c:pt idx="17">
                  <c:v>Y18</c:v>
                </c:pt>
                <c:pt idx="18">
                  <c:v>Y19</c:v>
                </c:pt>
                <c:pt idx="19">
                  <c:v>Y20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5.66</c:v>
                </c:pt>
                <c:pt idx="1">
                  <c:v>5.61</c:v>
                </c:pt>
                <c:pt idx="2">
                  <c:v>5.56</c:v>
                </c:pt>
                <c:pt idx="3">
                  <c:v>5.51</c:v>
                </c:pt>
                <c:pt idx="4">
                  <c:v>5.46</c:v>
                </c:pt>
                <c:pt idx="5">
                  <c:v>4.4</c:v>
                </c:pt>
                <c:pt idx="6">
                  <c:v>4.37</c:v>
                </c:pt>
                <c:pt idx="7">
                  <c:v>4.33</c:v>
                </c:pt>
                <c:pt idx="8">
                  <c:v>4.3</c:v>
                </c:pt>
                <c:pt idx="9">
                  <c:v>4.26</c:v>
                </c:pt>
                <c:pt idx="10">
                  <c:v>4.23</c:v>
                </c:pt>
                <c:pt idx="11">
                  <c:v>4.19</c:v>
                </c:pt>
                <c:pt idx="12">
                  <c:v>4.15</c:v>
                </c:pt>
                <c:pt idx="13">
                  <c:v>4.12</c:v>
                </c:pt>
                <c:pt idx="14">
                  <c:v>4.08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US$m</c:v>
                </c:pt>
              </c:strCache>
            </c:strRef>
          </c:tx>
          <c:spPr>
            <a:solidFill>
              <a:srgbClr val="002060"/>
            </a:solidFill>
          </c:spPr>
          <c:cat>
            <c:strRef>
              <c:f>Sheet1!$A$2:$A$6</c:f>
              <c:strCache>
                <c:ptCount val="5"/>
                <c:pt idx="0">
                  <c:v>Initial DSRA</c:v>
                </c:pt>
                <c:pt idx="1">
                  <c:v>Fees &amp; IDC</c:v>
                </c:pt>
                <c:pt idx="2">
                  <c:v>Development &amp; ESIA</c:v>
                </c:pt>
                <c:pt idx="3">
                  <c:v>Grid connection</c:v>
                </c:pt>
                <c:pt idx="4">
                  <c:v>EPC contract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</c:v>
                </c:pt>
                <c:pt idx="1">
                  <c:v>3.0</c:v>
                </c:pt>
                <c:pt idx="2">
                  <c:v>3.0</c:v>
                </c:pt>
                <c:pt idx="3">
                  <c:v>3.5</c:v>
                </c:pt>
                <c:pt idx="4">
                  <c:v>44.0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Ordinary equity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Sheet1!$A$2:$A$2</c:f>
              <c:strCache>
                <c:ptCount val="1"/>
                <c:pt idx="0">
                  <c:v>Sahel Sun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Shareholder loan</c:v>
                </c:pt>
              </c:strCache>
            </c:strRef>
          </c:tx>
          <c:spPr>
            <a:solidFill>
              <a:srgbClr val="E3C766"/>
            </a:solidFill>
          </c:spPr>
          <c:cat>
            <c:strRef>
              <c:f>Sheet1!$A$2:$A$2</c:f>
              <c:strCache>
                <c:ptCount val="1"/>
                <c:pt idx="0">
                  <c:v>Sahel Sun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InfraCredit-guaranteed naira bond</c:v>
                </c:pt>
              </c:strCache>
            </c:strRef>
          </c:tx>
          <c:spPr>
            <a:solidFill>
              <a:srgbClr val="00B0F0"/>
            </a:solidFill>
          </c:spPr>
          <c:cat>
            <c:strRef>
              <c:f>Sheet1!$A$2:$A$2</c:f>
              <c:strCache>
                <c:ptCount val="1"/>
                <c:pt idx="0">
                  <c:v>Sahel Sun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DFI US$ loan</c:v>
                </c:pt>
              </c:strCache>
            </c:strRef>
          </c:tx>
          <c:spPr>
            <a:solidFill>
              <a:srgbClr val="002060"/>
            </a:solidFill>
          </c:spPr>
          <c:cat>
            <c:strRef>
              <c:f>Sheet1!$A$2:$A$2</c:f>
              <c:strCache>
                <c:ptCount val="1"/>
                <c:pt idx="0">
                  <c:v>Sahel Sun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22.4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Minimum DSCR under each shock (debt fixed at close)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Minimum DSCR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Sheet1!$A$2:$A$7</c:f>
              <c:strCache>
                <c:ptCount val="6"/>
                <c:pt idx="0">
                  <c:v>Naira −30%, 0% pass-through</c:v>
                </c:pt>
                <c:pt idx="1">
                  <c:v>Naira −30%, 50% pass-through</c:v>
                </c:pt>
                <c:pt idx="2">
                  <c:v>Offtaker pays 80%</c:v>
                </c:pt>
                <c:pt idx="3">
                  <c:v>Opex +25%</c:v>
                </c:pt>
                <c:pt idx="4">
                  <c:v>P90 output (−8%)</c:v>
                </c:pt>
                <c:pt idx="5">
                  <c:v>Base case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0.88</c:v>
                </c:pt>
                <c:pt idx="1">
                  <c:v>1.11</c:v>
                </c:pt>
                <c:pt idx="2">
                  <c:v>1.04</c:v>
                </c:pt>
                <c:pt idx="3">
                  <c:v>1.29</c:v>
                </c:pt>
                <c:pt idx="4">
                  <c:v>1.22</c:v>
                </c:pt>
                <c:pt idx="5">
                  <c:v>1.35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6"/>
          <c:min val="0.0"/>
        </c:scaling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Sahel Sun Year-1 generation (MWh)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Year-1 output, MWh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Sheet1!$A$2:$A$3</c:f>
              <c:strCache>
                <c:ptCount val="2"/>
                <c:pt idx="0">
                  <c:v>P50 (central)</c:v>
                </c:pt>
                <c:pt idx="1">
                  <c:v>P90 (conservative)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91980</c:v>
                </c:pt>
                <c:pt idx="1">
                  <c:v>84622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US$ value of ₦24bn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US$ value of ₦24bn (US$m)</c:v>
                </c:pt>
              </c:strCache>
            </c:strRef>
          </c:tx>
          <c:spPr>
            <a:solidFill>
              <a:srgbClr val="002060"/>
            </a:solidFill>
          </c:spPr>
          <c:cat>
            <c:strRef>
              <c:f>Sheet1!$A$2:$A$3</c:f>
              <c:strCache>
                <c:ptCount val="2"/>
                <c:pt idx="0">
                  <c:v>2015 (~₦200/US$)</c:v>
                </c:pt>
                <c:pt idx="1">
                  <c:v>Sept 2026 (~₦1,330/US$)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</c:v>
                </c:pt>
                <c:pt idx="1">
                  <c:v>18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81ECE-D100-4F8A-B693-B5DD87132E99}" type="datetimeFigureOut">
              <a:rPr lang="en-GB" smtClean="0"/>
              <a:pPr/>
              <a:t>20/10/2025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E6C98-9126-42F9-980C-8A2760443BDA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7AF68-7C23-4425-9A67-62701EE90A1A}" type="datetimeFigureOut">
              <a:rPr lang="en-GB" smtClean="0"/>
              <a:pPr/>
              <a:t>20/10/2025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D3643-0ADF-4029-A433-56A44630623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713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owerPoint template 1.jpg"/>
          <p:cNvPicPr>
            <a:picLocks noChangeAspect="1"/>
          </p:cNvPicPr>
          <p:nvPr userDrawn="1"/>
        </p:nvPicPr>
        <p:blipFill>
          <a:blip r:embed="rId2" cstate="print">
            <a:lum contrast="20000"/>
          </a:blip>
          <a:srcRect b="21762"/>
          <a:stretch>
            <a:fillRect/>
          </a:stretch>
        </p:blipFill>
        <p:spPr>
          <a:xfrm>
            <a:off x="0" y="-6823"/>
            <a:ext cx="9144000" cy="4659959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51520" y="3717032"/>
            <a:ext cx="3240360" cy="648072"/>
          </a:xfrm>
          <a:prstGeom prst="rect">
            <a:avLst/>
          </a:prstGeom>
        </p:spPr>
        <p:txBody>
          <a:bodyPr/>
          <a:lstStyle>
            <a:lvl1pPr algn="l">
              <a:defRPr sz="4000" b="1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/>
              <a:t>Main Title</a:t>
            </a:r>
            <a:endParaRPr lang="en-GB" dirty="0"/>
          </a:p>
        </p:txBody>
      </p:sp>
      <p:pic>
        <p:nvPicPr>
          <p:cNvPr id="11" name="Picture 10" descr="New LBS logo for dark backgounds.png"/>
          <p:cNvPicPr>
            <a:picLocks noChangeAspect="1"/>
          </p:cNvPicPr>
          <p:nvPr userDrawn="1"/>
        </p:nvPicPr>
        <p:blipFill>
          <a:blip r:embed="rId3" cstate="print">
            <a:lum contrast="20000"/>
          </a:blip>
          <a:stretch>
            <a:fillRect/>
          </a:stretch>
        </p:blipFill>
        <p:spPr>
          <a:xfrm>
            <a:off x="323528" y="332656"/>
            <a:ext cx="2105644" cy="720080"/>
          </a:xfrm>
          <a:prstGeom prst="rect">
            <a:avLst/>
          </a:prstGeom>
        </p:spPr>
      </p:pic>
      <p:pic>
        <p:nvPicPr>
          <p:cNvPr id="1026" name="Picture 2" descr="C:\Users\eagwu\Documents\Eze\2017\Power Point\AMBA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1720" y="5989856"/>
            <a:ext cx="1656184" cy="581360"/>
          </a:xfrm>
          <a:prstGeom prst="rect">
            <a:avLst/>
          </a:prstGeom>
          <a:noFill/>
        </p:spPr>
      </p:pic>
      <p:pic>
        <p:nvPicPr>
          <p:cNvPr id="2" name="Picture 2" descr="C:\Users\eagwu\Documents\Eze\Accreditation Logos\NewAACSBLogo&amp;BrandGuideline\AACSB-PNG.pn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520" y="6021288"/>
            <a:ext cx="1547181" cy="52419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New LBS logo for light backgrounds.png"/>
          <p:cNvPicPr>
            <a:picLocks noChangeAspect="1"/>
          </p:cNvPicPr>
          <p:nvPr userDrawn="1"/>
        </p:nvPicPr>
        <p:blipFill>
          <a:blip r:embed="rId2" cstate="print">
            <a:lum contrast="20000"/>
          </a:blip>
          <a:stretch>
            <a:fillRect/>
          </a:stretch>
        </p:blipFill>
        <p:spPr>
          <a:xfrm>
            <a:off x="467544" y="404664"/>
            <a:ext cx="2088232" cy="720793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51520" y="3501008"/>
            <a:ext cx="5616624" cy="576064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solidFill>
                  <a:srgbClr val="122867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/>
              <a:t>Section Header 1</a:t>
            </a:r>
            <a:endParaRPr lang="en-GB" dirty="0"/>
          </a:p>
        </p:txBody>
      </p:sp>
      <p:pic>
        <p:nvPicPr>
          <p:cNvPr id="5" name="Picture 4" descr="Section Header 1.jpg"/>
          <p:cNvPicPr>
            <a:picLocks noChangeAspect="1"/>
          </p:cNvPicPr>
          <p:nvPr userDrawn="1"/>
        </p:nvPicPr>
        <p:blipFill>
          <a:blip r:embed="rId3" cstate="print">
            <a:lum contrast="20000"/>
          </a:blip>
          <a:srcRect t="60449" r="15291"/>
          <a:stretch>
            <a:fillRect/>
          </a:stretch>
        </p:blipFill>
        <p:spPr>
          <a:xfrm>
            <a:off x="-1" y="4077072"/>
            <a:ext cx="9144001" cy="2780928"/>
          </a:xfrm>
          <a:prstGeom prst="rect">
            <a:avLst/>
          </a:prstGeom>
        </p:spPr>
      </p:pic>
      <p:pic>
        <p:nvPicPr>
          <p:cNvPr id="10" name="Picture 2" descr="C:\Users\eagwu\Documents\Eze\2017\Power Point\AMBA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92280" y="543384"/>
            <a:ext cx="1656184" cy="581360"/>
          </a:xfrm>
          <a:prstGeom prst="rect">
            <a:avLst/>
          </a:prstGeom>
          <a:noFill/>
        </p:spPr>
      </p:pic>
      <p:pic>
        <p:nvPicPr>
          <p:cNvPr id="2050" name="Picture 2" descr="C:\Users\eagwu\Documents\Eze\Accreditation Logos\NewAACSBLogo&amp;BrandGuideline\AACSB-PNG.pn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80112" y="620688"/>
            <a:ext cx="1368152" cy="46354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1520" y="2780928"/>
            <a:ext cx="5040560" cy="576064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solidFill>
                  <a:srgbClr val="122867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/>
              <a:t>Section Header 2</a:t>
            </a:r>
            <a:endParaRPr lang="en-GB" dirty="0"/>
          </a:p>
        </p:txBody>
      </p:sp>
      <p:pic>
        <p:nvPicPr>
          <p:cNvPr id="5" name="Picture 4" descr="Section Header 2.jpg"/>
          <p:cNvPicPr>
            <a:picLocks noChangeAspect="1"/>
          </p:cNvPicPr>
          <p:nvPr userDrawn="1"/>
        </p:nvPicPr>
        <p:blipFill>
          <a:blip r:embed="rId2" cstate="print">
            <a:lum contrast="20000"/>
          </a:blip>
          <a:srcRect r="15909" b="61658"/>
          <a:stretch>
            <a:fillRect/>
          </a:stretch>
        </p:blipFill>
        <p:spPr>
          <a:xfrm>
            <a:off x="-1" y="-6822"/>
            <a:ext cx="9144001" cy="2715743"/>
          </a:xfrm>
          <a:prstGeom prst="rect">
            <a:avLst/>
          </a:prstGeom>
        </p:spPr>
      </p:pic>
      <p:pic>
        <p:nvPicPr>
          <p:cNvPr id="6" name="Picture 5" descr="New LBS logo for dark backgounds.png"/>
          <p:cNvPicPr>
            <a:picLocks noChangeAspect="1"/>
          </p:cNvPicPr>
          <p:nvPr userDrawn="1"/>
        </p:nvPicPr>
        <p:blipFill>
          <a:blip r:embed="rId3" cstate="print">
            <a:lum contrast="20000"/>
          </a:blip>
          <a:stretch>
            <a:fillRect/>
          </a:stretch>
        </p:blipFill>
        <p:spPr>
          <a:xfrm>
            <a:off x="323528" y="332656"/>
            <a:ext cx="2105644" cy="720080"/>
          </a:xfrm>
          <a:prstGeom prst="rect">
            <a:avLst/>
          </a:prstGeom>
        </p:spPr>
      </p:pic>
      <p:pic>
        <p:nvPicPr>
          <p:cNvPr id="7" name="Picture 2" descr="C:\Users\eagwu\Documents\Eze\2017\Power Point\AMBA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1720" y="5989856"/>
            <a:ext cx="1656184" cy="581360"/>
          </a:xfrm>
          <a:prstGeom prst="rect">
            <a:avLst/>
          </a:prstGeom>
          <a:noFill/>
        </p:spPr>
      </p:pic>
      <p:pic>
        <p:nvPicPr>
          <p:cNvPr id="10" name="Picture 2" descr="C:\Users\eagwu\Documents\Eze\Accreditation Logos\NewAACSBLogo&amp;BrandGuideline\AACSB-PNG.pn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520" y="6021288"/>
            <a:ext cx="1547181" cy="52419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</p:spPr>
        <p:txBody>
          <a:bodyPr/>
          <a:lstStyle>
            <a:lvl1pPr>
              <a:buClr>
                <a:srgbClr val="122867"/>
              </a:buClr>
              <a:buFont typeface="Arial" pitchFamily="34" charset="0"/>
              <a:buChar char="•"/>
              <a:defRPr sz="2000">
                <a:latin typeface="Palatino Linotype" pitchFamily="18" charset="0"/>
                <a:ea typeface="Segoe UI" pitchFamily="34" charset="0"/>
                <a:cs typeface="Segoe UI" pitchFamily="34" charset="0"/>
              </a:defRPr>
            </a:lvl1pPr>
            <a:lvl2pPr>
              <a:buNone/>
              <a:defRPr sz="1800">
                <a:latin typeface="Palatino Linotype" pitchFamily="18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  <a:r>
              <a:rPr lang="en-US" sz="1800" dirty="0">
                <a:latin typeface="Palatino Linotype" pitchFamily="18" charset="0"/>
              </a:rPr>
              <a:t>			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</p:spPr>
        <p:txBody>
          <a:bodyPr/>
          <a:lstStyle>
            <a:lvl1pPr>
              <a:buClr>
                <a:srgbClr val="122867"/>
              </a:buClr>
              <a:buFont typeface="Arial" pitchFamily="34" charset="0"/>
              <a:buChar char="•"/>
              <a:defRPr sz="2000">
                <a:latin typeface="Palatino Linotype" pitchFamily="18" charset="0"/>
                <a:ea typeface="Segoe UI" pitchFamily="34" charset="0"/>
                <a:cs typeface="Segoe UI" pitchFamily="34" charset="0"/>
              </a:defRPr>
            </a:lvl1pPr>
            <a:lvl2pPr>
              <a:defRPr sz="1800">
                <a:latin typeface="Palatino Linotype" pitchFamily="18" charset="0"/>
              </a:defRPr>
            </a:lvl2pPr>
            <a:lvl3pPr>
              <a:buNone/>
              <a:defRPr sz="1800">
                <a:latin typeface="Palatino Linotype" pitchFamily="18" charset="0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icon to add media</a:t>
            </a:r>
            <a:endParaRPr lang="en-GB" dirty="0"/>
          </a:p>
          <a:p>
            <a:pPr lvl="2"/>
            <a:r>
              <a:rPr lang="en-US" dirty="0"/>
              <a:t>				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1124746"/>
            <a:ext cx="9144000" cy="45719"/>
          </a:xfrm>
          <a:prstGeom prst="rect">
            <a:avLst/>
          </a:prstGeom>
          <a:solidFill>
            <a:srgbClr val="122867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 userDrawn="1"/>
        </p:nvSpPr>
        <p:spPr>
          <a:xfrm>
            <a:off x="0" y="6309320"/>
            <a:ext cx="9144000" cy="548680"/>
          </a:xfrm>
          <a:prstGeom prst="rect">
            <a:avLst/>
          </a:prstGeom>
          <a:solidFill>
            <a:srgbClr val="122867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6237312"/>
            <a:ext cx="9144000" cy="7200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05200" y="6356350"/>
            <a:ext cx="21336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33DC04A1-30EA-482C-AE0A-8A410F1A358F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1" name="Picture 10" descr="New LBS logo for light backgrounds.png"/>
          <p:cNvPicPr>
            <a:picLocks noChangeAspect="1"/>
          </p:cNvPicPr>
          <p:nvPr userDrawn="1"/>
        </p:nvPicPr>
        <p:blipFill>
          <a:blip r:embed="rId2" cstate="print">
            <a:lum contrast="20000"/>
          </a:blip>
          <a:stretch>
            <a:fillRect/>
          </a:stretch>
        </p:blipFill>
        <p:spPr>
          <a:xfrm>
            <a:off x="395536" y="332656"/>
            <a:ext cx="1718722" cy="593251"/>
          </a:xfrm>
          <a:prstGeom prst="rect">
            <a:avLst/>
          </a:prstGeom>
        </p:spPr>
      </p:pic>
      <p:pic>
        <p:nvPicPr>
          <p:cNvPr id="14" name="Picture 2" descr="C:\Users\eagwu\Documents\Eze\2017\Power Point\AMBA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75490" y="537376"/>
            <a:ext cx="1072973" cy="376639"/>
          </a:xfrm>
          <a:prstGeom prst="rect">
            <a:avLst/>
          </a:prstGeom>
          <a:noFill/>
        </p:spPr>
      </p:pic>
      <p:pic>
        <p:nvPicPr>
          <p:cNvPr id="17" name="Picture 2" descr="C:\Users\eagwu\Documents\Eze\Accreditation Logos\NewAACSBLogo&amp;BrandGuideline\AACSB-PNG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93983" y="548680"/>
            <a:ext cx="1002353" cy="339605"/>
          </a:xfrm>
          <a:prstGeom prst="rect">
            <a:avLst/>
          </a:prstGeom>
          <a:noFill/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483768" y="490661"/>
            <a:ext cx="3960440" cy="490067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rgbClr val="122867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124746"/>
            <a:ext cx="9144000" cy="45719"/>
          </a:xfrm>
          <a:prstGeom prst="rect">
            <a:avLst/>
          </a:prstGeom>
          <a:solidFill>
            <a:srgbClr val="122867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 userDrawn="1"/>
        </p:nvSpPr>
        <p:spPr>
          <a:xfrm>
            <a:off x="0" y="6309320"/>
            <a:ext cx="9144000" cy="548680"/>
          </a:xfrm>
          <a:prstGeom prst="rect">
            <a:avLst/>
          </a:prstGeom>
          <a:solidFill>
            <a:srgbClr val="122867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New LBS logo for light backgrounds.png"/>
          <p:cNvPicPr>
            <a:picLocks noChangeAspect="1"/>
          </p:cNvPicPr>
          <p:nvPr userDrawn="1"/>
        </p:nvPicPr>
        <p:blipFill>
          <a:blip r:embed="rId2" cstate="print">
            <a:lum contrast="20000"/>
          </a:blip>
          <a:stretch>
            <a:fillRect/>
          </a:stretch>
        </p:blipFill>
        <p:spPr>
          <a:xfrm>
            <a:off x="395536" y="332656"/>
            <a:ext cx="1718722" cy="593251"/>
          </a:xfrm>
          <a:prstGeom prst="rect">
            <a:avLst/>
          </a:prstGeom>
        </p:spPr>
      </p:pic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600201"/>
            <a:ext cx="8363272" cy="4525963"/>
          </a:xfrm>
          <a:prstGeom prst="rect">
            <a:avLst/>
          </a:prstGeom>
        </p:spPr>
        <p:txBody>
          <a:bodyPr/>
          <a:lstStyle>
            <a:lvl1pPr>
              <a:buClr>
                <a:srgbClr val="122867"/>
              </a:buClr>
              <a:buFont typeface="Arial" pitchFamily="34" charset="0"/>
              <a:buChar char="•"/>
              <a:defRPr sz="2000">
                <a:latin typeface="Palatino Linotype" pitchFamily="18" charset="0"/>
                <a:ea typeface="Segoe UI" pitchFamily="34" charset="0"/>
                <a:cs typeface="Segoe UI" pitchFamily="34" charset="0"/>
              </a:defRPr>
            </a:lvl1pPr>
            <a:lvl2pPr>
              <a:buNone/>
              <a:defRPr sz="1800">
                <a:latin typeface="Palatino Linotype" pitchFamily="18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buNone/>
              <a:defRPr sz="1800">
                <a:latin typeface="Palatino Linotype" pitchFamily="18" charset="0"/>
              </a:defRPr>
            </a:lvl9pPr>
          </a:lstStyle>
          <a:p>
            <a:pPr lvl="0"/>
            <a:r>
              <a:rPr lang="en-US" dirty="0"/>
              <a:t>Click icon to add table</a:t>
            </a:r>
          </a:p>
          <a:p>
            <a:pPr lvl="0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6237312"/>
            <a:ext cx="9144000" cy="7200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05200" y="6356350"/>
            <a:ext cx="21336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33DC04A1-30EA-482C-AE0A-8A410F1A358F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5" name="Picture 2" descr="C:\Users\eagwu\Documents\Eze\2017\Power Point\AMBA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75490" y="537376"/>
            <a:ext cx="1072973" cy="376639"/>
          </a:xfrm>
          <a:prstGeom prst="rect">
            <a:avLst/>
          </a:prstGeom>
          <a:noFill/>
        </p:spPr>
      </p:pic>
      <p:pic>
        <p:nvPicPr>
          <p:cNvPr id="18" name="Picture 2" descr="C:\Users\eagwu\Documents\Eze\Accreditation Logos\NewAACSBLogo&amp;BrandGuideline\AACSB-PNG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93983" y="548680"/>
            <a:ext cx="1002353" cy="33960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1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2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chart" Target="../charts/chart3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chart" Target="../charts/chart4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chart" Target="../charts/chart5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chart" Target="../charts/chart6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Relationship Id="rId3" Type="http://schemas.openxmlformats.org/officeDocument/2006/relationships/chart" Target="../charts/chart7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8.xml"/><Relationship Id="rId3" Type="http://schemas.openxmlformats.org/officeDocument/2006/relationships/chart" Target="../charts/chart8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1417320"/>
            <a:ext cx="8321040" cy="2651760"/>
          </a:xfrm>
        </p:spPr>
        <p:txBody>
          <a:bodyPr wrap="square" anchor="b"/>
          <a:lstStyle/>
          <a:p>
            <a:r>
              <a:rPr sz="3000" b="1">
                <a:solidFill>
                  <a:srgbClr val="FFFFFF"/>
                </a:solidFill>
              </a:rPr>
              <a:t>Infrastructure Finance:
Structuring, Risk Management &amp; Sustainable Project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4754880"/>
            <a:ext cx="493776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500" b="1">
                <a:solidFill>
                  <a:srgbClr val="002060"/>
                </a:solidFill>
                <a:latin typeface="Calibri"/>
              </a:rPr>
              <a:t>Modules 1 &amp; 2</a:t>
            </a:r>
          </a:p>
          <a:p>
            <a:pPr algn="r"/>
            <a:r>
              <a:rPr sz="1300" b="0">
                <a:solidFill>
                  <a:srgbClr val="002060"/>
                </a:solidFill>
                <a:latin typeface="Calibri"/>
              </a:rPr>
              <a:t>Prof. Bongo Adi  |  Lagos Business School</a:t>
            </a:r>
          </a:p>
          <a:p>
            <a:pPr algn="r"/>
            <a:r>
              <a:rPr sz="1300" b="0">
                <a:solidFill>
                  <a:srgbClr val="002060"/>
                </a:solidFill>
                <a:latin typeface="Calibri"/>
              </a:rPr>
              <a:t>MIPF Boot Camp  |  Lagos Business School, Ajah</a:t>
            </a:r>
          </a:p>
          <a:p>
            <a:pPr algn="r"/>
            <a:r>
              <a:rPr sz="1300" b="0">
                <a:solidFill>
                  <a:srgbClr val="002060"/>
                </a:solidFill>
                <a:latin typeface="Calibri"/>
              </a:rPr>
              <a:t>Wednesday, 14 October 2026</a:t>
            </a:r>
          </a:p>
        </p:txBody>
      </p:sp>
      <p:pic>
        <p:nvPicPr>
          <p:cNvPr id="4" name="Picture 3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5" name="Picture 4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Today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25880"/>
          <a:ext cx="8321038" cy="432511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386839"/>
                <a:gridCol w="3566159"/>
                <a:gridCol w="3368040"/>
              </a:tblGrid>
              <a:tr h="393192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you will do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393192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9:00 – 9:10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Opening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Why infrastructure needs project finance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9:10 – 10:00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M1.1  SPVs &amp; non-recourse lending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Draw Azura-Edo vs a corporate loan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393192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10:00 – 11:00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M1.2  Designing the capital stack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Build the Sahel Sun capital stack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11:00 – 11:30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Coffee break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393192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11:30 – 12:30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M1.3  Appraising with cash-flow models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Size the debt; Lekki cases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12:30 – 2:00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M2.1  Risk: identify, allocate, mitigate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Complete the risk matrix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393192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2:00 – 2:45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M2.2  PPPs &amp; blended finance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2nd Niger Bridge; tax credits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2:45 – 3:30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M2.2  PPPs &amp; blended finance; M2.3  ESG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2nd Niger Bridge; tax credits; IFC PS, Equator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393192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3:30 – 4:30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M2.4  Negotiation &amp; credit committee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IFC PS, Equator, NSBP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1:30 – 2:00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M2.4  Negotiation &amp; credit committee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Fund, restructure or reject?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What you will be able to do by 2 p.m.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463040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371600"/>
            <a:ext cx="3474720" cy="7772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Explain SPVs, non-recourse and limited-recourse lending</a:t>
            </a:r>
          </a:p>
        </p:txBody>
      </p:sp>
      <p:sp>
        <p:nvSpPr>
          <p:cNvPr id="7" name="Oval 6"/>
          <p:cNvSpPr/>
          <p:nvPr/>
        </p:nvSpPr>
        <p:spPr>
          <a:xfrm>
            <a:off x="4617720" y="1463040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088" y="1371600"/>
            <a:ext cx="3474720" cy="7772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Design a layered capital stack that reconciles sponsor, lender and public interests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487168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95728"/>
            <a:ext cx="3474720" cy="7772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Appraise a deal with a cash-flow model: CFADS, DSCR, LLCR, sculpting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487168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2395728"/>
            <a:ext cx="3474720" cy="7772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Place Nigeria's landscape: CBN, InfraCorp, InfraCredit, infrastructure bonds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3511296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419856"/>
            <a:ext cx="3474720" cy="7772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Identify, allocate and mitigate construction, off-take, FX and regulatory risk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3511296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3419856"/>
            <a:ext cx="3474720" cy="7772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Use PPP, concession and blended-finance structures with DFIs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4535424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443984"/>
            <a:ext cx="3474720" cy="7772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Integrate ESG into appraisal and delivery</a:t>
            </a:r>
          </a:p>
        </p:txBody>
      </p:sp>
      <p:sp>
        <p:nvSpPr>
          <p:cNvPr id="19" name="Oval 18"/>
          <p:cNvSpPr/>
          <p:nvPr/>
        </p:nvSpPr>
        <p:spPr>
          <a:xfrm>
            <a:off x="4617720" y="4535424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4443984"/>
            <a:ext cx="3474720" cy="7772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Negotiate balanced terms and apply a risk framework in your institution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532120"/>
            <a:ext cx="832104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Outcomes 1–4 = Module 1 (morning)     |     Outcomes 5–8 = Module 2 (after 11:30)</a:t>
            </a:r>
          </a:p>
        </p:txBody>
      </p:sp>
      <p:pic>
        <p:nvPicPr>
          <p:cNvPr id="22" name="Picture 21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3" name="Picture 22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Our running case: Project Sahel Sun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RUNNING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50 MW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97480"/>
            <a:ext cx="192024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solar PV plant,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Kano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6916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US$55m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697480"/>
            <a:ext cx="192024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total project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916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20 yrs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97480"/>
            <a:ext cx="192024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power purchase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agreement (PPA)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6916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US$95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97480"/>
            <a:ext cx="192024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per MWh, dollar-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indexed tariff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474720"/>
            <a:ext cx="40690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 deal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58768"/>
            <a:ext cx="4069080" cy="162763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Sponsors: a Nigerian developer + an international solar IPP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Offtaker: state-licensed buyer under the Electricity Act 2023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EPC contractor: tier-1 solar builder, fixed-price contract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474720"/>
            <a:ext cx="40690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 questions for today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858768"/>
            <a:ext cx="4069080" cy="162763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How should it be structured? (M1.1)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How much debt can it carry? (M1.2–1.3)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Who takes which risk? (M2.1–2.2)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Is it green and bankable? (M2.3)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Would YOUR bank fund it? (M2.4)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669280"/>
            <a:ext cx="83210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Fictional teaching case. Numbers are illustrative but calibrated to Nigerian market conditions (MPR 26.5%, ₦≈1,330/US$, Sept 2026).</a:t>
            </a:r>
          </a:p>
        </p:txBody>
      </p:sp>
      <p:pic>
        <p:nvPicPr>
          <p:cNvPr id="19" name="Picture 18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0" name="Picture 19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The size of the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37360"/>
            <a:ext cx="4023360" cy="173736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US$2.3 trn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estimated infrastructure gap in Nigeria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737360"/>
            <a:ext cx="4023360" cy="173736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₦5.99 trn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allocated to infrastructure in the FGN 2025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657600"/>
            <a:ext cx="8321040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2060"/>
                </a:solidFill>
                <a:latin typeface="Calibri"/>
              </a:rPr>
              <a:t>What this means for banks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Public budgets can fund only a fraction; the rest must come from private and institutional capital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That capital only moves when projects are </a:t>
            </a:r>
            <a:r>
              <a:rPr sz="1400" b="1">
                <a:solidFill>
                  <a:srgbClr val="1A1A1A"/>
                </a:solidFill>
                <a:latin typeface="Calibri"/>
              </a:rPr>
              <a:t>bankable</a:t>
            </a:r>
            <a:r>
              <a:rPr sz="1400" b="0">
                <a:solidFill>
                  <a:srgbClr val="1A1A1A"/>
                </a:solidFill>
                <a:latin typeface="Calibri"/>
              </a:rPr>
              <a:t>: predictable cash flows, clear risk allocation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Banks are the arrangers, lenders and gatekeepers of bankability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715000"/>
            <a:ext cx="832104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Sources: NACCIMA / INFRACON 2026 (The Guardian, 2026); FGN 2025 budget (The Guardian, 5 May 2025).</a:t>
            </a:r>
          </a:p>
        </p:txBody>
      </p:sp>
      <p:pic>
        <p:nvPicPr>
          <p:cNvPr id="10" name="Picture 9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1" name="Picture 10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Why banks cannot simply lend from the balance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444752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71600"/>
            <a:ext cx="237744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Tenor mismatch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371600"/>
            <a:ext cx="53035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Deposits are short (0–1 yr); a power plant pays back over 15–20 yrs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267712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237744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Single-obligor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194560"/>
            <a:ext cx="53035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One US$500m project can exceed a bank's legal lending limit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090672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17520"/>
            <a:ext cx="237744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Currency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017520"/>
            <a:ext cx="53035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Equipment is bought in US$; revenues are often in naira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913632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237744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Capital &amp; risk appetite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840480"/>
            <a:ext cx="53035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Long, lumpy exposures eat regulatory capital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4736592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663440"/>
            <a:ext cx="237744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Sponsor capacity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663440"/>
            <a:ext cx="53035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Developers cannot carry billions on their own balance sheets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559552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project finance spreads the risk across many parties and lends against the project's own cash flow.</a:t>
            </a:r>
          </a:p>
        </p:txBody>
      </p:sp>
      <p:pic>
        <p:nvPicPr>
          <p:cNvPr id="21" name="Picture 20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2" name="Picture 21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3154680"/>
            <a:ext cx="8321040" cy="1188720"/>
          </a:xfrm>
        </p:spPr>
        <p:txBody>
          <a:bodyPr wrap="square"/>
          <a:lstStyle/>
          <a:p>
            <a:r>
              <a:rPr sz="2400" b="1">
                <a:solidFill>
                  <a:srgbClr val="002060"/>
                </a:solidFill>
              </a:rPr>
              <a:t>Infrastructure Finance Fundamentals: Project Structuring &amp; Capital Stack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88920"/>
            <a:ext cx="8229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34840"/>
            <a:ext cx="8321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Calibri"/>
              </a:rPr>
              <a:t>Session 1.1  SPVs, non-recourse lending and the contract web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Session 1.2  Designing layered capital stacks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Session 1.3  Appraising deals with cash-flow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395728"/>
            <a:ext cx="2057400" cy="4572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9:10 – 12:30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3154680"/>
            <a:ext cx="8321040" cy="1188720"/>
          </a:xfrm>
        </p:spPr>
        <p:txBody>
          <a:bodyPr wrap="square"/>
          <a:lstStyle/>
          <a:p>
            <a:r>
              <a:rPr sz="2400" b="1">
                <a:solidFill>
                  <a:srgbClr val="002060"/>
                </a:solidFill>
              </a:rPr>
              <a:t>SPVs, Non-Recourse Lending &amp; Cash-Flow-Based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88920"/>
            <a:ext cx="8229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Calibri"/>
              </a:rPr>
              <a:t>SESSION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34840"/>
            <a:ext cx="8321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Calibri"/>
              </a:rPr>
              <a:t>Objective: understand the SPV, recourse, CFADS and the contract web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Nigeria case: Azura-Edo IPP vs a corporate-financed plant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395728"/>
            <a:ext cx="2057400" cy="4572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40 minutes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Two ways to finance the same power plant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3977639" cy="4114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Corporate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25880"/>
            <a:ext cx="3977639" cy="4114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Project finance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920240"/>
            <a:ext cx="1188720" cy="502920"/>
          </a:xfrm>
          <a:prstGeom prst="roundRect">
            <a:avLst>
              <a:gd name="adj" fmla="val 8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Sponsor company (whole balance sheet)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2423160"/>
            <a:ext cx="0" cy="365760"/>
          </a:xfrm>
          <a:prstGeom prst="line">
            <a:avLst/>
          </a:prstGeom>
          <a:ln w="22225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3749039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02060"/>
                </a:solidFill>
                <a:latin typeface="Calibri"/>
              </a:rPr>
              <a:t>Plant 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69848" y="3429000"/>
            <a:ext cx="0" cy="320039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691640" y="3749039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02060"/>
                </a:solidFill>
                <a:latin typeface="Calibri"/>
              </a:rPr>
              <a:t>Plant 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12848" y="3429000"/>
            <a:ext cx="0" cy="320039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34640" y="3749039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02060"/>
                </a:solidFill>
                <a:latin typeface="Calibri"/>
              </a:rPr>
              <a:t>New plant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55848" y="3429000"/>
            <a:ext cx="0" cy="320039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4389120"/>
            <a:ext cx="3977639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Calibri"/>
              </a:rPr>
              <a:t>Lender relies on the whole company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Calibri"/>
              </a:rPr>
              <a:t>Debt sits on the sponsor's balance sheet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Calibri"/>
              </a:rPr>
              <a:t>Full recourse to all assets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1920240"/>
            <a:ext cx="1188720" cy="502920"/>
          </a:xfrm>
          <a:prstGeom prst="roundRect">
            <a:avLst>
              <a:gd name="adj" fmla="val 8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Banks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1920240"/>
            <a:ext cx="1371600" cy="5029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Sponsors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2788920"/>
            <a:ext cx="2377440" cy="64008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SPV: owns only the new plant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423160"/>
            <a:ext cx="320040" cy="36576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589520" y="2423160"/>
            <a:ext cx="228600" cy="365760"/>
          </a:xfrm>
          <a:prstGeom prst="line">
            <a:avLst/>
          </a:prstGeom>
          <a:ln w="22225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75120" y="2377440"/>
            <a:ext cx="11887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equity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749039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02060"/>
                </a:solidFill>
                <a:latin typeface="Calibri"/>
              </a:rPr>
              <a:t>New plant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40880" y="3429000"/>
            <a:ext cx="0" cy="320039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754880" y="4389120"/>
            <a:ext cx="3977639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Calibri"/>
              </a:rPr>
              <a:t>Lender relies on the plant's cash flow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Calibri"/>
              </a:rPr>
              <a:t>Debt is off the sponsor's balance sheet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Calibri"/>
              </a:rPr>
              <a:t>Non- or limited recourse to sponsors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62356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same plant, different credit question: 'Is the company good?' vs 'Is the project good?'</a:t>
            </a:r>
          </a:p>
        </p:txBody>
      </p:sp>
      <p:pic>
        <p:nvPicPr>
          <p:cNvPr id="27" name="Picture 2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8" name="Picture 27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What is project finance?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8321040" cy="1143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0">
                <a:solidFill>
                  <a:srgbClr val="002060"/>
                </a:solidFill>
                <a:latin typeface="Calibri"/>
              </a:rPr>
              <a:t>“A method of raising long-term debt for major projects through financial engineering, based on lending against the cash flow generated by the project alone; it depends on a detailed evaluation of the project's construction, operating and revenue risks, and their allocation between investors, lenders and other parties through contractual arrangements.”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— E. R. Yescombe, Principles of Project Finance, Ch.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743200"/>
            <a:ext cx="1920240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Long-term debt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246120"/>
            <a:ext cx="1920240" cy="15087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Tenors of 10–25 years, matched to the asset's life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2743200"/>
            <a:ext cx="1920240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Cash flow alone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3246120"/>
            <a:ext cx="1920240" cy="15087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Repayment comes from project revenue, not the sponsor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2743200"/>
            <a:ext cx="1920240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Detailed risk evaluation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3246120"/>
            <a:ext cx="1920240" cy="15087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Construction, operating and revenue risks are analysed one by 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2743200"/>
            <a:ext cx="1920240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Contractual allocation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3246120"/>
            <a:ext cx="1920240" cy="15087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Each risk is passed by contract to the party best able to carry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02920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project finance is a risk-allocation exercise wrapped in a loan.</a:t>
            </a:r>
          </a:p>
        </p:txBody>
      </p:sp>
      <p:pic>
        <p:nvPicPr>
          <p:cNvPr id="15" name="Picture 14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6" name="Picture 15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The Special Purpose Vehicle (SPV)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2651760"/>
            <a:ext cx="2926080" cy="118872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SPV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Sahel Sun Power Ltd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2331720"/>
            <a:ext cx="3566160" cy="1828800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4160520"/>
            <a:ext cx="35661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C00000"/>
                </a:solidFill>
                <a:latin typeface="Calibri"/>
              </a:rPr>
              <a:t>ring-fence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2194560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Single 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2194560" cy="10515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Owns and runs ONE project; nothing else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371600"/>
            <a:ext cx="2194560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New &amp; clean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2194560" cy="10515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No legacy debts or lawsuits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931920"/>
            <a:ext cx="2194560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Ring-fenced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297680"/>
            <a:ext cx="2194560" cy="10515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Project cash stays inside; sponsors' problems stay outside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3931920"/>
            <a:ext cx="2194560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Own contracts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4297680"/>
            <a:ext cx="2194560" cy="10515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Signs the PPA, EPC, O&amp;M and loans itself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57784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the SPV lets lenders finance the project, and only the project.</a:t>
            </a:r>
          </a:p>
        </p:txBody>
      </p:sp>
      <p:pic>
        <p:nvPicPr>
          <p:cNvPr id="17" name="Picture 1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8" name="Picture 17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Why sponsors and lenders both like the ring-fence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40690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For sponsors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4069080" cy="35478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Limits loss to the equity invested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Keeps big debts off the group balance sheet (subject to IFRS 10)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Allows higher leverage (70–80%) than a corporate could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Lets several partners co-invest in one vehicle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Protects the group if the project fails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371600"/>
            <a:ext cx="40690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For lenders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755648"/>
            <a:ext cx="4069080" cy="35478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Clear view of what is being financed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First claim on project cash and assets (security)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Protection from sponsors' other creditors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Control through covenants and step-in rights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Can share risk with DFIs, insurers, guarantors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532120"/>
            <a:ext cx="8321040" cy="5486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the SPV is a treaty between sponsors and lenders: it limits one side's loss and focuses the other's security.</a:t>
            </a:r>
          </a:p>
        </p:txBody>
      </p:sp>
      <p:pic>
        <p:nvPicPr>
          <p:cNvPr id="10" name="Picture 9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1" name="Picture 10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The recourse spectrum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804672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48640" y="2103120"/>
            <a:ext cx="8046720" cy="0"/>
          </a:xfrm>
          <a:prstGeom prst="line">
            <a:avLst/>
          </a:prstGeom>
          <a:ln w="38100">
            <a:solidFill>
              <a:srgbClr val="002060"/>
            </a:solidFill>
            <a:tailEnd type="triangle" w="med" len="me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508760" y="1874519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606040"/>
            <a:ext cx="2651760" cy="4114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Full recourse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017520"/>
            <a:ext cx="2651760" cy="14173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Corporate loan. Lender can claim against ALL sponsor assets.</a:t>
            </a:r>
          </a:p>
        </p:txBody>
      </p:sp>
      <p:sp>
        <p:nvSpPr>
          <p:cNvPr id="10" name="Oval 9"/>
          <p:cNvSpPr/>
          <p:nvPr/>
        </p:nvSpPr>
        <p:spPr>
          <a:xfrm>
            <a:off x="4343400" y="1874519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2651760" cy="4114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Limited recourse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3017520"/>
            <a:ext cx="2651760" cy="14173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Sponsor supports the project for defined risks or periods (e.g. until completion).</a:t>
            </a:r>
          </a:p>
        </p:txBody>
      </p:sp>
      <p:sp>
        <p:nvSpPr>
          <p:cNvPr id="13" name="Oval 12"/>
          <p:cNvSpPr/>
          <p:nvPr/>
        </p:nvSpPr>
        <p:spPr>
          <a:xfrm>
            <a:off x="7178040" y="1874519"/>
            <a:ext cx="457200" cy="45720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606040"/>
            <a:ext cx="2651760" cy="41148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Non-recourse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017520"/>
            <a:ext cx="2651760" cy="14173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Lender looks ONLY to the project's cash flow and assets.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617720"/>
            <a:ext cx="832104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Calibri"/>
              </a:rPr>
              <a:t>Most Nigerian infrastructure deals sit in the MIDDLE: limited recourse during construction, moving towards non-recourse once the plant is proven.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'non-recourse' is rarely pure; always ask 'recourse to whom, for what and until when?'</a:t>
            </a:r>
          </a:p>
        </p:txBody>
      </p:sp>
      <p:pic>
        <p:nvPicPr>
          <p:cNvPr id="18" name="Picture 1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9" name="Picture 1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What 'limited recourse' looks like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8321040" cy="340156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11680"/>
                <a:gridCol w="4206240"/>
                <a:gridCol w="2103120"/>
              </a:tblGrid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Support instrument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the sponsor promises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Typically ends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Completion guarantee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Repay or cure if the plant is not built to spec by a long-stop 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At 'financial completion'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Equity commitment letter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Inject the full equity, even if the sponsor's fortunes change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When equity is fully paid in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Cost overrun facility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Fund extra costs above budget (standby equity / sub-loan)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At completion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Debt service undertaking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Top up cash if DSCR falls below a floor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Negotiated, often 1–3 yrs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Share pledge &amp; retention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Pledge SPV shares; keep a minimum stake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Until debt is repaid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25780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recourse is highest in construction (highest risk) and falls away once the plant performs.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Lenders lend against CFADS, not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8321040" cy="82296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CFADS = Cash Flow Available for Debt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423160"/>
            <a:ext cx="4069080" cy="38404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Asset-based thinking (corporate)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807208"/>
            <a:ext cx="4069080" cy="24505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'What can I sell if they default?'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Collateral value, loan-to-value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Borrower's other businesses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Works for property, vehicles, trade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423160"/>
            <a:ext cx="40690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Cash-flow thinking (project)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807208"/>
            <a:ext cx="4069080" cy="24505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'Will the project earn enough to pay me?'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CFADS vs scheduled debt service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Strength of contracts (PPA, EPC, O&amp;M)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Safety margin = DSCR (e.g. 1.35x)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48640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security in project finance is the contracts and the cash flow they produce, not the steel and concrete.</a:t>
            </a:r>
          </a:p>
        </p:txBody>
      </p:sp>
      <p:pic>
        <p:nvPicPr>
          <p:cNvPr id="11" name="Picture 10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2" name="Picture 11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Building CFADS step by step: Sahel Sun, Year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RUNNING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2286000" cy="54864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371600"/>
            <a:ext cx="3931920" cy="54864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>
                <a:solidFill>
                  <a:srgbClr val="002060"/>
                </a:solidFill>
                <a:latin typeface="Calibri"/>
              </a:rPr>
              <a:t>50 MW × 8,760 hrs × 21% capacity factor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371600"/>
            <a:ext cx="2011680" cy="54864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r"/>
            <a:r>
              <a:rPr sz="1500" b="1">
                <a:solidFill>
                  <a:srgbClr val="002060"/>
                </a:solidFill>
                <a:latin typeface="Calibri"/>
              </a:rPr>
              <a:t>91,980 MWh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29967"/>
            <a:ext cx="2286000" cy="54864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× Tariff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29967"/>
            <a:ext cx="3931920" cy="54864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>
                <a:solidFill>
                  <a:srgbClr val="002060"/>
                </a:solidFill>
                <a:latin typeface="Calibri"/>
              </a:rPr>
              <a:t>US$95 per MWh (dollar-indexed PPA)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2029967"/>
            <a:ext cx="2011680" cy="54864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688336"/>
            <a:ext cx="2286000" cy="5486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=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688336"/>
            <a:ext cx="3931920" cy="5486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2688336"/>
            <a:ext cx="2011680" cy="5486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US$8.74m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346704"/>
            <a:ext cx="2286000" cy="54864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− Operating costs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3346704"/>
            <a:ext cx="3931920" cy="54864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>
                <a:solidFill>
                  <a:srgbClr val="002060"/>
                </a:solidFill>
                <a:latin typeface="Calibri"/>
              </a:rPr>
              <a:t>O&amp;M, insurance, land, security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3346704"/>
            <a:ext cx="2011680" cy="54864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r"/>
            <a:r>
              <a:rPr sz="1500" b="1">
                <a:solidFill>
                  <a:srgbClr val="002060"/>
                </a:solidFill>
                <a:latin typeface="Calibri"/>
              </a:rPr>
              <a:t>(US$1.10m)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005072"/>
            <a:ext cx="2286000" cy="54864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− Tax paid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4005072"/>
            <a:ext cx="3931920" cy="54864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>
                <a:solidFill>
                  <a:srgbClr val="002060"/>
                </a:solidFill>
                <a:latin typeface="Calibri"/>
              </a:rPr>
              <a:t>Nil: pioneer status years 1–5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4005072"/>
            <a:ext cx="2011680" cy="54864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r"/>
            <a:r>
              <a:rPr sz="1500" b="1">
                <a:solidFill>
                  <a:srgbClr val="002060"/>
                </a:solidFill>
                <a:latin typeface="Calibri"/>
              </a:rPr>
              <a:t>US$0.00m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663440"/>
            <a:ext cx="2286000" cy="5486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= CFADS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4663440"/>
            <a:ext cx="3931920" cy="5486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Cash available to service debt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4663440"/>
            <a:ext cx="2011680" cy="5486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US$7.64m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440680"/>
            <a:ext cx="8321040" cy="59436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CFADS = revenue − opex − tax (± working capital − maintenance capex). It is the number every lender sizes on.</a:t>
            </a:r>
          </a:p>
        </p:txBody>
      </p:sp>
      <p:pic>
        <p:nvPicPr>
          <p:cNvPr id="25" name="Picture 24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6" name="Picture 25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The contract web around the SPV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08760" y="1828800"/>
            <a:ext cx="3063240" cy="1783079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0" y="1783080"/>
            <a:ext cx="0" cy="1828799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572000" y="1828800"/>
            <a:ext cx="3063240" cy="1783079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4572000" y="3611879"/>
            <a:ext cx="3063240" cy="1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4572000" y="3611879"/>
            <a:ext cx="3063240" cy="1600201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572000" y="3611879"/>
            <a:ext cx="0" cy="1691641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508760" y="3611879"/>
            <a:ext cx="3063240" cy="1600201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508760" y="3611879"/>
            <a:ext cx="3063240" cy="1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49039" y="3246120"/>
            <a:ext cx="1645920" cy="73152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SPV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371600"/>
            <a:ext cx="219456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Sponsors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719072"/>
            <a:ext cx="2194560" cy="5486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Shareholders' agreement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Equity &amp; support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325880"/>
            <a:ext cx="219456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Lenders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1673352"/>
            <a:ext cx="2194560" cy="5486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Loan &amp; security docs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371600"/>
            <a:ext cx="219456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Offtaker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719072"/>
            <a:ext cx="2194560" cy="5486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PPA: buys the power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3154680"/>
            <a:ext cx="219456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Government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502152"/>
            <a:ext cx="2194560" cy="5486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Licence, concession,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guarantee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4754880"/>
            <a:ext cx="219456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O&amp;M operator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5102352"/>
            <a:ext cx="2194560" cy="5486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O&amp;M agreement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4846320"/>
            <a:ext cx="219456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EPC contractor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5193792"/>
            <a:ext cx="2194560" cy="5486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Fixed-price, date-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certain EPC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754880"/>
            <a:ext cx="219456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Insurers &amp; DFIs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102352"/>
            <a:ext cx="2194560" cy="5486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Insurance, PRG,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political risk cover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154680"/>
            <a:ext cx="219456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Land / grid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502152"/>
            <a:ext cx="2194560" cy="5486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Lease, grid connection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agreement (TCN)</a:t>
            </a:r>
          </a:p>
        </p:txBody>
      </p:sp>
      <p:pic>
        <p:nvPicPr>
          <p:cNvPr id="30" name="Picture 29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31" name="Picture 30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Every contract moves a risk to someone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8321037" cy="380390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39"/>
                <a:gridCol w="3840479"/>
                <a:gridCol w="2103119"/>
              </a:tblGrid>
              <a:tr h="47548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 it transfers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Who takes it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47548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EPC contract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Construction cost overrun, delay, performance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EPC contractor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Power Purchase Agreement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Market / price / volume risk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Offtaker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7548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O&amp;M agreement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Operating performance and cost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O&amp;M operator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Fuel / resource supply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Input availability and price (not for solar)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Supplier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7548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Insurance policies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Physical damage, business interruption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Insurers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Guarantees (PRG, MIGA)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Offtaker default, political events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World Bank Group / DFIs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7548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Shareholders' agreement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Equity funding, completion support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Sponsors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34924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a bankable project is a set of contracts that leaves the SPV with only the risks it can manage.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The project life cycle and its risk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5" name="Pentagon 4"/>
          <p:cNvSpPr/>
          <p:nvPr/>
        </p:nvSpPr>
        <p:spPr>
          <a:xfrm>
            <a:off x="411480" y="1371600"/>
            <a:ext cx="1572768" cy="50292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157276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70C0"/>
                </a:solidFill>
                <a:latin typeface="Calibri"/>
              </a:rPr>
              <a:t>1–3 yrs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94560"/>
            <a:ext cx="1572768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Studies, permits, contracts</a:t>
            </a:r>
          </a:p>
        </p:txBody>
      </p:sp>
      <p:sp>
        <p:nvSpPr>
          <p:cNvPr id="8" name="Chevron 7"/>
          <p:cNvSpPr/>
          <p:nvPr/>
        </p:nvSpPr>
        <p:spPr>
          <a:xfrm>
            <a:off x="2093976" y="1371600"/>
            <a:ext cx="1572768" cy="502920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Financial close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3976" y="1920240"/>
            <a:ext cx="157276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70C0"/>
                </a:solidFill>
                <a:latin typeface="Calibri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3976" y="2194560"/>
            <a:ext cx="1572768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Loans signed, CPs met</a:t>
            </a:r>
          </a:p>
        </p:txBody>
      </p:sp>
      <p:sp>
        <p:nvSpPr>
          <p:cNvPr id="11" name="Chevron 10"/>
          <p:cNvSpPr/>
          <p:nvPr/>
        </p:nvSpPr>
        <p:spPr>
          <a:xfrm>
            <a:off x="3776472" y="1371600"/>
            <a:ext cx="1572768" cy="502920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1920240"/>
            <a:ext cx="157276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70C0"/>
                </a:solidFill>
                <a:latin typeface="Calibri"/>
              </a:rPr>
              <a:t>1–2 yrs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194560"/>
            <a:ext cx="1572768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Money spent, no revenue</a:t>
            </a:r>
          </a:p>
        </p:txBody>
      </p:sp>
      <p:sp>
        <p:nvSpPr>
          <p:cNvPr id="14" name="Chevron 13"/>
          <p:cNvSpPr/>
          <p:nvPr/>
        </p:nvSpPr>
        <p:spPr>
          <a:xfrm>
            <a:off x="5458968" y="1371600"/>
            <a:ext cx="1572768" cy="502920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8" y="1920240"/>
            <a:ext cx="157276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70C0"/>
                </a:solidFill>
                <a:latin typeface="Calibri"/>
              </a:rPr>
              <a:t>15–25 yrs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2194560"/>
            <a:ext cx="1572768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Revenue repays debt</a:t>
            </a:r>
          </a:p>
        </p:txBody>
      </p:sp>
      <p:sp>
        <p:nvSpPr>
          <p:cNvPr id="17" name="Chevron 16"/>
          <p:cNvSpPr/>
          <p:nvPr/>
        </p:nvSpPr>
        <p:spPr>
          <a:xfrm>
            <a:off x="7141464" y="1371600"/>
            <a:ext cx="1572768" cy="502920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Handback / 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1464" y="1920240"/>
            <a:ext cx="157276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70C0"/>
                </a:solidFill>
                <a:latin typeface="Calibri"/>
              </a:rPr>
              <a:t>Yr 20+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2194560"/>
            <a:ext cx="1572768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Transfer or re-contract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11480" y="2788920"/>
          <a:ext cx="8321040" cy="2697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11480" y="557784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construction is the danger zone; structure the most protection there.</a:t>
            </a:r>
          </a:p>
        </p:txBody>
      </p:sp>
      <p:pic>
        <p:nvPicPr>
          <p:cNvPr id="22" name="Picture 21" descr="mipf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3" name="Picture 22" descr="bongo_ai_hex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Who is around the table?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965960" cy="4114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Sponsors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1965960" cy="14173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Develop &amp; own the project; put in equity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417320"/>
            <a:ext cx="1965960" cy="4114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Senior lenders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828800"/>
            <a:ext cx="1965960" cy="14173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Commercial banks, DFIs, bond investors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417320"/>
            <a:ext cx="1965960" cy="4114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Offtaker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1965960" cy="14173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Buys the output: NBET, DisCo, state utility, port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417320"/>
            <a:ext cx="1965960" cy="4114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Host government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828800"/>
            <a:ext cx="1965960" cy="14173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Licences, concession,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429000"/>
            <a:ext cx="1965960" cy="4114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EPC contractor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840480"/>
            <a:ext cx="1965960" cy="14173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Designs and builds, fixed price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3429000"/>
            <a:ext cx="1965960" cy="4114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O&amp;M operator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3840480"/>
            <a:ext cx="1965960" cy="14173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Runs and maintains the plant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3429000"/>
            <a:ext cx="1965960" cy="4114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Guarantors &amp; insurers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840480"/>
            <a:ext cx="1965960" cy="14173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World Bank, MIGA, AfDB, InfraCredit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3429000"/>
            <a:ext cx="1965960" cy="4114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Advisers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3840480"/>
            <a:ext cx="1965960" cy="14173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Legal, technical, model audit, insurance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57784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banks can play three roles here: lender, arranger and adviser. Know which one you are playing.</a:t>
            </a:r>
          </a:p>
        </p:txBody>
      </p:sp>
      <p:pic>
        <p:nvPicPr>
          <p:cNvPr id="22" name="Picture 21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3" name="Picture 22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Azura-Edo IPP: Nigeria's first project-financed IPP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~460 MW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06040"/>
            <a:ext cx="1920240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open-cycle gas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near Benin 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6459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US$876m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606040"/>
            <a:ext cx="1920240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total financing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(close: Dec 2015)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459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~78 :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06040"/>
            <a:ext cx="1920240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debt : equity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(US$686m : US$190m)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6459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06040"/>
            <a:ext cx="1920240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financiers from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14 countries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83280"/>
            <a:ext cx="40690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Key parties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67328"/>
            <a:ext cx="4069080" cy="16733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Sponsors: Amaya Capital (lead), AIIM, ARM-Harith, Aldwych, others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Offtaker: NBET under a long-term PPA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Gas: Seplat    EPC: Siemens / Julius Berger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383280"/>
            <a:ext cx="40690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767328"/>
            <a:ext cx="4069080" cy="16733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First IPP in Nigeria on a true project-finance basis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Template for the World Bank guarantee + MIGA layering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Tested in 2024 when payments lagged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623560"/>
            <a:ext cx="83210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Sources: IPP Journal; The Guardian (Jan 2016); MIGA Azura-Edo case study; TheCable (Oct 2024).</a:t>
            </a:r>
          </a:p>
        </p:txBody>
      </p:sp>
      <p:pic>
        <p:nvPicPr>
          <p:cNvPr id="19" name="Picture 18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0" name="Picture 19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Azura-Edo: the financing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600200"/>
          <a:ext cx="4754880" cy="3886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49240" y="1417320"/>
            <a:ext cx="338328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Calibri"/>
              </a:rPr>
              <a:t>Commercial tranche US$234m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International banks; covered by MIGA insurance and an IBRD guarantee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2240280"/>
            <a:ext cx="338328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Calibri"/>
              </a:rPr>
              <a:t>DFI tranche US$267m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IFC, FMO, KfW/DEG, Proparco, OPIC, EAIF and others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063240"/>
            <a:ext cx="338328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Calibri"/>
              </a:rPr>
              <a:t>Local bank tranche ₦24bn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Naira debt from Nigerian banks (~US$120m then)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3886200"/>
            <a:ext cx="338328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Calibri"/>
              </a:rPr>
              <a:t>DFI mezzanine US$65m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Subordinated; absorbs losses before senior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4709160"/>
            <a:ext cx="338328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Calibri"/>
              </a:rPr>
              <a:t>Equity ~US$190m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Sponsors: first-loss capital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623560"/>
            <a:ext cx="83210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Source: IPP Journal, financial close announcement (Dec 2015). Equity from The Guardian (Jan 2016).</a:t>
            </a:r>
          </a:p>
        </p:txBody>
      </p:sp>
      <p:pic>
        <p:nvPicPr>
          <p:cNvPr id="13" name="Picture 12" descr="mipf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4" name="Picture 13" descr="bongo_ai_hex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Azura-Edo: layers of payment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8321040" cy="694944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MIGA political risk insurance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Covers equity and commercial lenders against expropriation, war, transfer restriction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57984"/>
            <a:ext cx="8321040" cy="694944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FGN put-call option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If defaults persist, the FGN can be required to buy the plant for at least the debt outstanding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944368"/>
            <a:ext cx="8321040" cy="694944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World Bank Partial Risk Guarantee (PRG)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Backs the letter of credit; the FGN counter-indemnifies the World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730752"/>
            <a:ext cx="8321040" cy="694944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Letter of credit</a:t>
            </a:r>
          </a:p>
          <a:p>
            <a:pPr algn="l"/>
            <a:r>
              <a:rPr sz="1100" b="0">
                <a:solidFill>
                  <a:srgbClr val="002060"/>
                </a:solidFill>
                <a:latin typeface="Calibri"/>
              </a:rPr>
              <a:t>Short-term liquidity: covers several months of missed 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517136"/>
            <a:ext cx="8321040" cy="694944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PPA with NBET</a:t>
            </a:r>
          </a:p>
          <a:p>
            <a:pPr algn="l"/>
            <a:r>
              <a:rPr sz="1100" b="0">
                <a:solidFill>
                  <a:srgbClr val="002060"/>
                </a:solidFill>
                <a:latin typeface="Calibri"/>
              </a:rPr>
              <a:t>Take-or-pay: NBET pays for available capacity, whether or not the grid takes the power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440680"/>
            <a:ext cx="8321040" cy="5486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a weak offtaker can still support a bankable deal, if enough credit enhancement is stacked behind it.</a:t>
            </a:r>
          </a:p>
        </p:txBody>
      </p:sp>
      <p:pic>
        <p:nvPicPr>
          <p:cNvPr id="12" name="Picture 11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3" name="Picture 12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2024: when the guarantee gets tested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Oct 2024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Azura signals it may draw on the PRG-backed letter of credit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US$30–33m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monthly take-or-pay obligation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Grid limits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TCN cannot dispatch all available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337560"/>
            <a:ext cx="8321040" cy="2103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2060"/>
                </a:solidFill>
                <a:latin typeface="Calibri"/>
              </a:rPr>
              <a:t>Lessons for lenders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Take-or-pay protects the project, but the payer must have the cash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Guarantees move risk to the sovereign; they do not remove it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Grid and transmission capacity is a real project risk, even for a well-built plant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Watch the whole sector's liquidity, not just the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669280"/>
            <a:ext cx="832104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Source: TheCable, 21 Oct 2024; BusinessDay reporting on NBET obligations.</a:t>
            </a:r>
          </a:p>
        </p:txBody>
      </p:sp>
      <p:pic>
        <p:nvPicPr>
          <p:cNvPr id="11" name="Picture 10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2" name="Picture 11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Contrast: sponsor-backed corporate financing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600200"/>
          <a:ext cx="8321040" cy="35204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60320"/>
                <a:gridCol w="2926080"/>
                <a:gridCol w="2834640"/>
              </a:tblGrid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Sponsor-backed (e.g. large refinery)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Project finance (e.g. Azura-Edo)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Who borrows?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Group company or with group guarantee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Ring-fenced SPV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What does the lender rely on?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Group's total cash flow and assets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Project's CFADS and contracts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Is there a long-term offtake contract?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Not required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Essential (PPA, take-or-pay)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Speed and cost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Faster, cheaper to arrange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Slower, heavy due diligence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Risk to lenders if project fails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Group can still repay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Recovery limited to the project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Best when…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Sponsor very strong; project integrated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Contracts strong; sponsor wants ring-fence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34924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neither is 'better'; the choice depends on the sponsor's strength and the project's contracts.</a:t>
            </a:r>
          </a:p>
        </p:txBody>
      </p:sp>
      <p:pic>
        <p:nvPicPr>
          <p:cNvPr id="8" name="Picture 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9" name="Picture 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Exercise 1: draw both structures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8321040" cy="5486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Workbook page 2  |  Tables of 4–5  |  6 minutes + 2 minutes feedback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404872"/>
            <a:ext cx="740664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On the left, draw a corporate loan to a sponsor building a 450MW plant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36392"/>
            <a:ext cx="740664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On the right, draw Azura-Edo: SPV, sponsors, four debt tranches, NBET, Seplat, EPC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67912"/>
            <a:ext cx="740664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Add the credit enhancements: letter of credit, World Bank PRG, FGN put-call, MIGA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599432"/>
            <a:ext cx="740664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Circle the ONE contract without which the lenders would not lend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44068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answer to step 4: the PPA. No bankable offtake contract, no project finance.</a:t>
            </a:r>
          </a:p>
        </p:txBody>
      </p:sp>
      <p:pic>
        <p:nvPicPr>
          <p:cNvPr id="16" name="Picture 1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7" name="Picture 1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Check your understanding: Session 1.1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8321040" cy="868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1. In project finance, the lender's main source of repayment is…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A) sponsor's balance sheet   B) project CFADS   C) collateral sale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23160"/>
            <a:ext cx="8321040" cy="868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2. 'Limited recourse' usually means sponsors…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A) have no obligations   B) guarantee all debt   C) support the project for defined risks/periods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429000"/>
            <a:ext cx="8321040" cy="868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3. The contract that transfers construction delay risk is the…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A) EPC contract   B) PPA   C) O&amp;M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434840"/>
            <a:ext cx="8321040" cy="868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4. In Azura-Edo, the World Bank's main role was…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A) senior lender   B) guarantor of payment security   C) equity investor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if you can answer these four, you have the foundations for the rest of the day.</a:t>
            </a:r>
          </a:p>
        </p:txBody>
      </p:sp>
      <p:pic>
        <p:nvPicPr>
          <p:cNvPr id="11" name="Picture 10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2" name="Picture 11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3154680"/>
            <a:ext cx="8321040" cy="1188720"/>
          </a:xfrm>
        </p:spPr>
        <p:txBody>
          <a:bodyPr wrap="square"/>
          <a:lstStyle/>
          <a:p>
            <a:r>
              <a:rPr sz="3000" b="1">
                <a:solidFill>
                  <a:srgbClr val="002060"/>
                </a:solidFill>
              </a:rPr>
              <a:t>Designing Layered Capital Stacks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88920"/>
            <a:ext cx="8229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Calibri"/>
              </a:rPr>
              <a:t>SESSION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34840"/>
            <a:ext cx="8321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Calibri"/>
              </a:rPr>
              <a:t>Objective: design a stack that reconciles sponsor, lender and public-sector interests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Nigeria lens: CBN, InfraCorp, InfraCredit, infrastructure bonds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Exercise: build the Sahel Sun capital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395728"/>
            <a:ext cx="2057400" cy="4572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45 minutes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What is a capital stack?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5760720" cy="12344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Senior debt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Paid FIRST  •  lowest risk  •  lowest return  (e.g. 9–12% in US$)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74320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Mezzanine / subordinated debt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Paid after senior  •  medium risk  •  12–16%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749039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Equity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Paid LAST  •  first to absorb losses  •  highest target return (15–20%+)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46520" y="1463040"/>
            <a:ext cx="0" cy="3017520"/>
          </a:xfrm>
          <a:prstGeom prst="line">
            <a:avLst/>
          </a:prstGeom>
          <a:ln w="381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0" y="1554480"/>
            <a:ext cx="178308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Calibri"/>
              </a:rPr>
              <a:t>Risk and required return rise as you go DOWN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8595360" y="1463040"/>
            <a:ext cx="0" cy="3017520"/>
          </a:xfrm>
          <a:prstGeom prst="line">
            <a:avLst/>
          </a:prstGeom>
          <a:ln w="381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0" y="3291840"/>
            <a:ext cx="1874519" cy="10972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Calibri"/>
              </a:rPr>
              <a:t>Priority of payment rises as you go 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8463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the stack is a queue: whoever is paid first accepts the lowest return.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440680"/>
            <a:ext cx="832104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Returns shown are indicative US$ ranges for emerging-market infrastructure; naira pricing is materially higher (MPR 26.5%).</a:t>
            </a:r>
          </a:p>
        </p:txBody>
      </p:sp>
      <p:pic>
        <p:nvPicPr>
          <p:cNvPr id="14" name="Picture 13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5" name="Picture 14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Layer 1: senior debt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406908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Who provides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19072"/>
            <a:ext cx="4069080" cy="914399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Commercial banks, DFIs (IFC, AfDB, AFC, FMO), export credit agencies, bond investors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1371600"/>
            <a:ext cx="406908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Tenor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19072"/>
            <a:ext cx="4069080" cy="914399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Typically 12–18 years for power; matched to the PPA with a 'tail' of 2–3 years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743200"/>
            <a:ext cx="406908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090672"/>
            <a:ext cx="4069080" cy="914399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Base rate (e.g. SOFR or MPR-linked) + margin; DFIs may be cheaper and longer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2743200"/>
            <a:ext cx="406908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Repayment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090672"/>
            <a:ext cx="4069080" cy="914399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Sculpted to cash flow (not equal instalments)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114800"/>
            <a:ext cx="406908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462272"/>
            <a:ext cx="4069080" cy="914399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Share pledge, charges over assets &amp; accounts, assignment of contracts, step-in rights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4114800"/>
            <a:ext cx="406908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Protections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4462272"/>
            <a:ext cx="4069080" cy="914399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DSCR covenants, reserve accounts, distribution lock-up, cash sweep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57784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senior lenders accept a lower return in exchange for being paid first and holding all the security.</a:t>
            </a:r>
          </a:p>
        </p:txBody>
      </p:sp>
      <p:pic>
        <p:nvPicPr>
          <p:cNvPr id="18" name="Picture 1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9" name="Picture 1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Layer 2: mezzanine and shareholder loans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40690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DFI / third-party mezzanine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4069080" cy="28163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Subordinated to senior; ranks ahead of equity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Higher margin; sometimes an equity 'kicker'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Fills the gap when senior debt is capped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Example: Azura-Edo US$65m DFI mezzanine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371600"/>
            <a:ext cx="40690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Shareholder loan (sub-debt)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755648"/>
            <a:ext cx="4069080" cy="28163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Sponsors lend part of their contribution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Paid only after senior debt service and tests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Tax-efficient: interest may be deductible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Lets cash flow to sponsors when dividends are blocked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Lenders count it as equity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846320"/>
            <a:ext cx="8321040" cy="64008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mezzanine is flexible 'middle money': it lets you raise more capital without diluting the senior lenders' protection.</a:t>
            </a:r>
          </a:p>
        </p:txBody>
      </p:sp>
      <p:pic>
        <p:nvPicPr>
          <p:cNvPr id="10" name="Picture 9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1" name="Picture 10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Layer 3: equity, and why lenders insist on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25–35%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typical equity share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in Nigerian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371600"/>
            <a:ext cx="5349240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2060"/>
                </a:solidFill>
                <a:latin typeface="Calibri"/>
              </a:rPr>
              <a:t>Why lenders insist on equity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Skin in the game:</a:t>
            </a:r>
            <a:r>
              <a:rPr sz="1400" b="0">
                <a:solidFill>
                  <a:srgbClr val="1A1A1A"/>
                </a:solidFill>
                <a:latin typeface="Calibri"/>
              </a:rPr>
              <a:t> sponsors who can lose money manage the project well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First-loss cushion:</a:t>
            </a:r>
            <a:r>
              <a:rPr sz="1400" b="0">
                <a:solidFill>
                  <a:srgbClr val="1A1A1A"/>
                </a:solidFill>
                <a:latin typeface="Calibri"/>
              </a:rPr>
              <a:t> equity absorbs shortfalls before lenders do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Commitment signal:</a:t>
            </a:r>
            <a:r>
              <a:rPr sz="1400" b="0">
                <a:solidFill>
                  <a:srgbClr val="1A1A1A"/>
                </a:solidFill>
                <a:latin typeface="Calibri"/>
              </a:rPr>
              <a:t> serious sponsors put serious money in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Funding certainty:</a:t>
            </a:r>
            <a:r>
              <a:rPr sz="1400" b="0">
                <a:solidFill>
                  <a:srgbClr val="1A1A1A"/>
                </a:solidFill>
                <a:latin typeface="Calibri"/>
              </a:rPr>
              <a:t> usually paid in first, or pro rata with debt, backed by LCs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886200"/>
            <a:ext cx="8321040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Who provides equity in Nigeria?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270248"/>
            <a:ext cx="8321040" cy="10789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Developers and sponsors; infrastructure funds (e.g. AIIM, ARM-Harith, Chapel Hill Denham); DFIs taking minority stakes; pension funds via infrastructure funds; NSIA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equity is what makes debt safe. Too little equity and no one is truly accountable.</a:t>
            </a:r>
          </a:p>
        </p:txBody>
      </p:sp>
      <p:pic>
        <p:nvPicPr>
          <p:cNvPr id="10" name="Picture 9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1" name="Picture 10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The cash-flow waterfall: who gets paid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4206240" cy="493776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1.  Revenue into project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11095"/>
            <a:ext cx="4206240" cy="493776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2.  Operating costs &amp; taxes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496312"/>
            <a:ext cx="4206240" cy="49377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3.  Senior interest &amp; principal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39" y="3081528"/>
            <a:ext cx="4206240" cy="49377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4.  Top up Debt Service Reserve Account (DSRA)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3666744"/>
            <a:ext cx="4206240" cy="493776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5.  Mezzanine / shareholder-loan interest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4251960"/>
            <a:ext cx="4206240" cy="493776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6.  Distribution test: DSCR ≥ lock-up level?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4837176"/>
            <a:ext cx="4206240" cy="49377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7.  Dividends to equity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371600"/>
            <a:ext cx="2194560" cy="3840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Lock-up rule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2194560" cy="35021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If DSCR is below the lock-up level (e.g. 1.20x), cash stays in the project.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Below default level (e.g. 1.05x): lenders can accelerate.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seniority is enforced by the waterfall: lenders drink first, equity drinks last.</a:t>
            </a:r>
          </a:p>
        </p:txBody>
      </p:sp>
      <p:pic>
        <p:nvPicPr>
          <p:cNvPr id="15" name="Picture 14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6" name="Picture 15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How much debt? Two tests, take the lower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RUNNING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393192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Test 1: cash-flow (DSCR)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55648"/>
            <a:ext cx="3931920" cy="19019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Debt service each year = CFADS ÷ target DSCR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Debt = present value of that debt service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Sahel Sun: </a:t>
            </a:r>
            <a:r>
              <a:rPr sz="1400" b="1">
                <a:solidFill>
                  <a:srgbClr val="1A1A1A"/>
                </a:solidFill>
                <a:latin typeface="Calibri"/>
              </a:rPr>
              <a:t>US$37.4m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371600"/>
            <a:ext cx="393192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Test 2: gearing cap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755648"/>
            <a:ext cx="3931920" cy="19019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Debt ≤ maximum % of total project cost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Sahel Sun: 70% × US$55m = </a:t>
            </a:r>
            <a:r>
              <a:rPr sz="1400" b="1">
                <a:solidFill>
                  <a:srgbClr val="1A1A1A"/>
                </a:solidFill>
                <a:latin typeface="Calibri"/>
              </a:rPr>
              <a:t>US$38.5m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Protects against optimistic forecasts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388620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Debt = MIN(37.4, 38.5) = US$37.4m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DSCR is the binding constraint → gearing 68%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200400"/>
            <a:ext cx="45720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95959"/>
                </a:solidFill>
                <a:latin typeface="Calibri"/>
              </a:rPr>
              <a:t>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0749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cash flow decides how much debt a project can carry; the gearing cap stops over-optimism.</a:t>
            </a:r>
          </a:p>
        </p:txBody>
      </p:sp>
      <p:pic>
        <p:nvPicPr>
          <p:cNvPr id="13" name="Picture 12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4" name="Picture 13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DSCR: the lender's safety margin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RUNNING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8321040" cy="8686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DSCR  =  CFADS  ÷  Debt service (interest + principal)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68880"/>
            <a:ext cx="3931920" cy="21488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Sahel Sun, Year 1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CFADS = US$7.64m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Debt service = US$5.66m</a:t>
            </a:r>
          </a:p>
          <a:p>
            <a:pPr algn="l"/>
            <a:r>
              <a:rPr sz="1800" b="1">
                <a:solidFill>
                  <a:srgbClr val="0070C0"/>
                </a:solidFill>
                <a:latin typeface="Calibri"/>
              </a:rPr>
              <a:t>DSCR = 7.64 ÷ 5.66 = 1.35x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2468880"/>
          <a:ext cx="4160520" cy="213969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60320"/>
                <a:gridCol w="1600200"/>
              </a:tblGrid>
              <a:tr h="356616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 of project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Typical minimum DSCR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356616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Availability PPP (government pays)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1.20x – 1.30x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Contracted power, strong offtaker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1.25x – 1.40x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356616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Contracted, weak offtaker / FX 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1.40x – 1.60x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Toll road (traffic risk)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1.50x – 2.00x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356616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Merchant / uncontracted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2.00x 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4892040"/>
            <a:ext cx="8321040" cy="64008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DSCR below 1.0x means the project cannot pay its lenders that year. The cushion above 1.0x is the lender's margin of safety.</a:t>
            </a:r>
          </a:p>
        </p:txBody>
      </p:sp>
      <p:pic>
        <p:nvPicPr>
          <p:cNvPr id="10" name="Picture 9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1" name="Picture 10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Debt sculpting: shaping repayments to cash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RUNNING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325880"/>
          <a:ext cx="832104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937760"/>
            <a:ext cx="832104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Calibri"/>
              </a:rPr>
              <a:t>Year 6: tax holiday ends → CFADS falls → debt service falls with it. Year 16+: debt repaid, all CFADS to sponsors.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sculpting keeps DSCR constant, maximising debt without breaking the safety margin in any year.</a:t>
            </a:r>
          </a:p>
        </p:txBody>
      </p:sp>
      <p:pic>
        <p:nvPicPr>
          <p:cNvPr id="9" name="Picture 8" descr="mipf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0" name="Picture 9" descr="bongo_ai_hex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Sahel Sun: uses of funds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RUNNING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325880"/>
          <a:ext cx="484632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40680" y="1463040"/>
          <a:ext cx="3291839" cy="32004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11679"/>
                <a:gridCol w="640080"/>
                <a:gridCol w="640080"/>
              </a:tblGrid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 of funds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US$m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EPC (modules, inverters, BoS)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44.0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Grid connection / evacuation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Development, permits, land, ESIA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Financing fees &amp; IDC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Initial DSRA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Total project cost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55.0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lenders finance total project cost, not just the EPC price. Budget the 'soft' costs honestly.</a:t>
            </a:r>
          </a:p>
        </p:txBody>
      </p:sp>
      <p:pic>
        <p:nvPicPr>
          <p:cNvPr id="9" name="Picture 8" descr="mipf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0" name="Picture 9" descr="bongo_ai_hex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Sahel Sun: the capital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RUNNING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325880"/>
          <a:ext cx="384048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434840" y="1463040"/>
          <a:ext cx="4297680" cy="30175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926080"/>
                <a:gridCol w="685800"/>
                <a:gridCol w="685800"/>
              </a:tblGrid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US$m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Senior A: DFI US$ term loan (15 yrs)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22.4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Senior B: naira green bond, InfraCredit-guaranteed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15.0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Shareholder loan (subordinated)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8.8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Ordinary equity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8.8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Total = total uses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55.0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434840" y="4617720"/>
            <a:ext cx="2057400" cy="7315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68%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gearing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617720"/>
            <a:ext cx="2057400" cy="73152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10.3%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sponsor IRR (US$)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57784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note the sponsor IRR: 10.3% is below most sponsors' hurdle. Remember this for the negotiation at 1:30.</a:t>
            </a:r>
          </a:p>
        </p:txBody>
      </p:sp>
      <p:pic>
        <p:nvPicPr>
          <p:cNvPr id="11" name="Picture 10" descr="mipf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2" name="Picture 11" descr="bongo_ai_hex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Why two senior tranches? Matching 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40690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US$ debt (DFI loan)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4069080" cy="22677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Longer tenor (15–18 yrs)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Lower nominal rate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FX risk if revenue is really naira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Needs FX availability to repay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371600"/>
            <a:ext cx="4069080" cy="384048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Naira debt (bond / local banks)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755648"/>
            <a:ext cx="4069080" cy="22677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No FX mismatch on naira revenue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Higher nominal rate (MPR 26.5%)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Tenor limited unless credit-enhanced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Taps pension &amp; insurance money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206240"/>
            <a:ext cx="8321040" cy="1143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The FX lesson in one number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Azura's ₦24bn local tranche ≈ US$120m in 2015 (~₦200/US$). At ~₦1,330/US$ today, ₦24bn ≈ US$18m.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borrow in the currency you earn in, or make sure the tariff moves with the exchange rate.</a:t>
            </a:r>
          </a:p>
        </p:txBody>
      </p:sp>
      <p:pic>
        <p:nvPicPr>
          <p:cNvPr id="11" name="Picture 10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2" name="Picture 11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002060"/>
                </a:solidFill>
              </a:rPr>
              <a:t>InfraCredit: turning local savings into long-tenor debt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Project SPV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Issues a 10–20 yr naira bond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InfraCredit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Guarantees the bond: AAA(NG) rating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Pension funds &amp; insurers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Buy the bond: long-dated naira money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240280"/>
            <a:ext cx="182880" cy="0"/>
          </a:xfrm>
          <a:prstGeom prst="line">
            <a:avLst/>
          </a:prstGeom>
          <a:ln w="3175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97880" y="2240280"/>
            <a:ext cx="182880" cy="0"/>
          </a:xfrm>
          <a:prstGeom prst="line">
            <a:avLst/>
          </a:prstGeom>
          <a:ln w="3175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11480" y="3200400"/>
            <a:ext cx="4069080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InfraCredit 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584448"/>
            <a:ext cx="4069080" cy="17647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Established 2017; AAA(NG) national-scale rating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Backers include NSIA, GuarantCo (PIDG), AfDB, KfW, BII, FSD Africa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Guarantees across energy, telecoms, transport, industrial parks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3200400"/>
            <a:ext cx="40690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Why it matters to banks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3584448"/>
            <a:ext cx="4069080" cy="17647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Frees bank balance sheets for shorter tenors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Banks can arrange, underwrite and co-lend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Can refinance bank construction loans once operating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532120"/>
            <a:ext cx="832104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Source: InfraCredit (infracredit.ng); PIDG portfolio; GuarantCo press releases.</a:t>
            </a:r>
          </a:p>
        </p:txBody>
      </p:sp>
      <p:pic>
        <p:nvPicPr>
          <p:cNvPr id="16" name="Picture 1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7" name="Picture 1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Reconciling sponsor, lender and public interests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8321040" cy="340156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280160"/>
                <a:gridCol w="2377440"/>
                <a:gridCol w="2286000"/>
                <a:gridCol w="2377440"/>
              </a:tblGrid>
              <a:tr h="566928"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Sponsor wants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Lender wants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Public sector wants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Leverage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High (more debt, less equity)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Moderate (cushion)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Enough equity for accountability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Tenor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Long (lower annual payments)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Within asset &amp; contract life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Long (lower tariffs)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Tariff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Enough for DSCR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Low, affordable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Cash to equity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Early, unrestricted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Locked up until tests met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Reasonable, not excessive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Passed to others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Allocated to capable parties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Transferred to private sector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02920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a good structure makes each party's position acceptable, not perfect.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Nigeria's infrastructure finance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26974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Sovereign &amp; public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55648"/>
            <a:ext cx="2697480" cy="29077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NSIA / PIDF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ICRC (PPP regulator)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Federal &amp; state MDAs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FGN sukuk &amp; bonds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371600"/>
            <a:ext cx="26974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Development finance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8688" y="1755648"/>
            <a:ext cx="2697480" cy="29077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BOI, DBN (domestic DFIs)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AFC, AfDB, IFC, World Bank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MIGA, GuarantCo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InfraCorp (CBN/AFC/NSIA)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25896" y="1371600"/>
            <a:ext cx="2697480" cy="384048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Market &amp; private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25896" y="1755648"/>
            <a:ext cx="2697480" cy="29077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Commercial &amp; merchant banks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Pension funds &amp; insurers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Infrastructure funds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InfraCredit guarantees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846320"/>
            <a:ext cx="8321040" cy="64008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Plus: the Road Infrastructure Tax Credit Scheme (EO 007) lets companies build roads against future tax (see M2.2)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577840"/>
            <a:ext cx="832104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Calibri"/>
              </a:rPr>
              <a:t>Banks sit at the centre: arranging, lending, underwriting bonds and advising.</a:t>
            </a:r>
          </a:p>
        </p:txBody>
      </p:sp>
      <p:pic>
        <p:nvPicPr>
          <p:cNvPr id="14" name="Picture 13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5" name="Picture 14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The CBN: from direct lender to enabler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43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1417320"/>
            <a:ext cx="457200" cy="4572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11680"/>
            <a:ext cx="1965960" cy="4114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Before 2023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423160"/>
            <a:ext cx="1965960" cy="16002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CBN intervention funds: direct, subsidised lending through banks (agriculture, power, manufacturing)</a:t>
            </a:r>
          </a:p>
        </p:txBody>
      </p:sp>
      <p:sp>
        <p:nvSpPr>
          <p:cNvPr id="9" name="Oval 8"/>
          <p:cNvSpPr/>
          <p:nvPr/>
        </p:nvSpPr>
        <p:spPr>
          <a:xfrm>
            <a:off x="3246120" y="141732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2011680"/>
            <a:ext cx="196596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Dec 2023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423160"/>
            <a:ext cx="1965960" cy="16002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New applications for intervention funds suspended</a:t>
            </a:r>
          </a:p>
        </p:txBody>
      </p:sp>
      <p:sp>
        <p:nvSpPr>
          <p:cNvPr id="12" name="Oval 11"/>
          <p:cNvSpPr/>
          <p:nvPr/>
        </p:nvSpPr>
        <p:spPr>
          <a:xfrm>
            <a:off x="5349240" y="141732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011680"/>
            <a:ext cx="1965960" cy="4114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2024–2026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423160"/>
            <a:ext cx="1965960" cy="16002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Shift to institution-building: DFIs such as BOI, convening, credit-system reform</a:t>
            </a:r>
          </a:p>
        </p:txBody>
      </p:sp>
      <p:sp>
        <p:nvSpPr>
          <p:cNvPr id="15" name="Oval 14"/>
          <p:cNvSpPr/>
          <p:nvPr/>
        </p:nvSpPr>
        <p:spPr>
          <a:xfrm>
            <a:off x="7452360" y="141732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2011680"/>
            <a:ext cx="1965960" cy="4114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Sept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423160"/>
            <a:ext cx="1965960" cy="16002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Governor: 'Building systems is more important than just giving money'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71600" y="1645920"/>
            <a:ext cx="630936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4251960"/>
            <a:ext cx="4069080" cy="105156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&gt;₦10 trn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intervention portfolio (2025 assessment)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4251960"/>
            <a:ext cx="4069080" cy="105156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~₦4.7 trn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outstanding repayments reported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440680"/>
            <a:ext cx="832104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Sources: ThisDay (18 Sept 2026); BusinessDay; Vanguard (Dec 2023). Implication for banks: price and structure deals on commercial terms.</a:t>
            </a:r>
          </a:p>
        </p:txBody>
      </p:sp>
      <p:pic>
        <p:nvPicPr>
          <p:cNvPr id="22" name="Picture 21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3" name="Picture 22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InfraCorp: promise and reality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40690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55648"/>
            <a:ext cx="4069080" cy="26334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Promoters: CBN, Africa Finance Corporation, NSIA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₦1 trn seed capital; target ₦15 trn (~US$37bn)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Four appointed fund managers to originate and invest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Founding CEO appointed April 2022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71600"/>
            <a:ext cx="4069080" cy="3840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 reality (as reported)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755648"/>
            <a:ext cx="4069080" cy="26334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2023: seed funding delayed (BusinessDay)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May 2025: 'in limbo' five years after launch (The Guardian)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Little public disclosure of deployed capital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Lesson: vehicles need capital, governance and a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6177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announcing a vehicle is easy; a steady flow of bankable projects is the real constraint.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257800"/>
            <a:ext cx="832104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Sources: BusinessDay (May 2023); The Guardian (5 May 2025); ThisDay (Apr 2022).</a:t>
            </a:r>
          </a:p>
        </p:txBody>
      </p:sp>
      <p:pic>
        <p:nvPicPr>
          <p:cNvPr id="12" name="Picture 11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3" name="Picture 12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Exercise 2: build the Sahel Sun capital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8321040" cy="50292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Excel template → sheet 'Inputs' then 'Capital Stack'   |   7 minutes + 3 minutes debrief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103120"/>
            <a:ext cx="475488" cy="47548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75688"/>
            <a:ext cx="7498079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Confirm uses of funds total US$55m. What is missing if you only count the EPC?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61487"/>
            <a:ext cx="475488" cy="47548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34056"/>
            <a:ext cx="7498079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Read the debt capacity at a 1.35x DSCR. Is DSCR or gearing binding?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19856"/>
            <a:ext cx="475488" cy="47548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92424"/>
            <a:ext cx="7498079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Split senior debt between the DFI US$ loan and the naira bond. Justify your split.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078224"/>
            <a:ext cx="475488" cy="47548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50791"/>
            <a:ext cx="7498079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Change the target DSCR to 1.25x. What happens to debt, and why does it stop at US$38.5m?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736592"/>
            <a:ext cx="475488" cy="47548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09159"/>
            <a:ext cx="7498079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Write down the gearing and sponsor IRR. Would the sponsor be happy?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the capital stack is a result of the cash flow and the lenders' rules, not a choice made in isolation.</a:t>
            </a:r>
          </a:p>
        </p:txBody>
      </p:sp>
      <p:pic>
        <p:nvPicPr>
          <p:cNvPr id="18" name="Picture 1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9" name="Picture 1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Exercise 2: debrief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8321040" cy="362102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40"/>
                <a:gridCol w="5943600"/>
              </a:tblGrid>
              <a:tr h="603504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603504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 uses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US$55.0m (EPC 44.0 + grid 3.5 + dev 3.0 + fees/IDC 3.0 + DSRA 1.5)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Debt capacity at 1.35x DSCR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US$37.4m; the gearing cap is US$38.5m → DSCR binds; gearing 68%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603504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Senior split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e.g. 60% DFI US$ (US$22.4m) / 40% naira bond (US$15.0m): balance cost vs FX 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DSCR at 1.25x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Debt capped at US$38.5m (70% gearing). Only +US$1.1m of debt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603504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Sponsor IRR (base)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10.3% in US$: below a typical 15%+ hurdle for Nigeria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16636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lenders' rules fix the debt; only better economics (tariff, cost, rate) truly lift sponsor returns.</a:t>
            </a:r>
          </a:p>
        </p:txBody>
      </p:sp>
      <p:pic>
        <p:nvPicPr>
          <p:cNvPr id="8" name="Picture 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9" name="Picture 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3154680"/>
            <a:ext cx="8321040" cy="1188720"/>
          </a:xfrm>
        </p:spPr>
        <p:txBody>
          <a:bodyPr wrap="square"/>
          <a:lstStyle/>
          <a:p>
            <a:r>
              <a:rPr sz="3000" b="1">
                <a:solidFill>
                  <a:srgbClr val="002060"/>
                </a:solidFill>
              </a:rPr>
              <a:t>Coffee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88920"/>
            <a:ext cx="8229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Calibri"/>
              </a:rP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34840"/>
            <a:ext cx="8321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Calibri"/>
              </a:rPr>
              <a:t>Back at 10:50 sharp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Before you go: note one question about the capital stack on a sticky note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395728"/>
            <a:ext cx="2057400" cy="4572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10:35 – 10:50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3154680"/>
            <a:ext cx="8321040" cy="1188720"/>
          </a:xfrm>
        </p:spPr>
        <p:txBody>
          <a:bodyPr wrap="square"/>
          <a:lstStyle/>
          <a:p>
            <a:r>
              <a:rPr sz="3000" b="1">
                <a:solidFill>
                  <a:srgbClr val="002060"/>
                </a:solidFill>
              </a:rPr>
              <a:t>Appraising Deals with Cash-Flow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88920"/>
            <a:ext cx="8229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Calibri"/>
              </a:rPr>
              <a:t>SESSION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34840"/>
            <a:ext cx="8321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Calibri"/>
              </a:rPr>
              <a:t>Objective: read a project finance model the way a credit officer does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Ratios: DSCR, LLCR, gearing, reserve accounts, sensitivities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Nigeria cases: Lekki-Epe Expressway vs Lekki Deep Sea 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395728"/>
            <a:ext cx="2057400" cy="4572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40 minutes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Corporate model vs project finance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8321040" cy="371246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28800"/>
                <a:gridCol w="3017520"/>
                <a:gridCol w="3474720"/>
              </a:tblGrid>
              <a:tr h="530352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Corporate model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Project finance model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530352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Life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Indefinite (terminal value)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Finite: ends with the PPA or concession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Starting point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Historical financials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Contracts &amp; technical assumptions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30352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Key output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Enterprise value, EPS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CFADS, DSCR, LLCR, equity IRR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Debt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Given, refinanced over time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Sized and sculpted by the model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30352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Annual / quarterly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Construction monthly; operations semi-annual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Used by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Equity analysts, M&amp;A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Lenders, sponsors, model auditors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212080"/>
            <a:ext cx="832104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Further reading: Pignataro (2013) for corporate models; Bodmer (2014) Ch. 12 'Adding debt to a corporate or project finance model'.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Anatomy of a project finance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50</a:t>
            </a:r>
          </a:p>
        </p:txBody>
      </p:sp>
      <p:sp>
        <p:nvSpPr>
          <p:cNvPr id="5" name="Pentagon 4"/>
          <p:cNvSpPr/>
          <p:nvPr/>
        </p:nvSpPr>
        <p:spPr>
          <a:xfrm>
            <a:off x="411480" y="1645920"/>
            <a:ext cx="1325880" cy="82296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606040"/>
            <a:ext cx="12801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Capacity, yield, tariff, costs, tax, financing terms</a:t>
            </a:r>
          </a:p>
        </p:txBody>
      </p:sp>
      <p:sp>
        <p:nvSpPr>
          <p:cNvPr id="7" name="Pentagon 6"/>
          <p:cNvSpPr/>
          <p:nvPr/>
        </p:nvSpPr>
        <p:spPr>
          <a:xfrm>
            <a:off x="1810512" y="1645920"/>
            <a:ext cx="1325880" cy="822960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2606040"/>
            <a:ext cx="12801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Generation, revenue, opex</a:t>
            </a:r>
          </a:p>
        </p:txBody>
      </p:sp>
      <p:sp>
        <p:nvSpPr>
          <p:cNvPr id="9" name="Pentagon 8"/>
          <p:cNvSpPr/>
          <p:nvPr/>
        </p:nvSpPr>
        <p:spPr>
          <a:xfrm>
            <a:off x="3209544" y="1645920"/>
            <a:ext cx="1325880" cy="82296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CFADS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9544" y="2606040"/>
            <a:ext cx="12801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EBITDA − tax ± WC − capex</a:t>
            </a:r>
          </a:p>
        </p:txBody>
      </p:sp>
      <p:sp>
        <p:nvSpPr>
          <p:cNvPr id="11" name="Pentagon 10"/>
          <p:cNvSpPr/>
          <p:nvPr/>
        </p:nvSpPr>
        <p:spPr>
          <a:xfrm>
            <a:off x="4608576" y="1645920"/>
            <a:ext cx="1325880" cy="822960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Debt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606040"/>
            <a:ext cx="12801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Sizing, sculpting, schedule</a:t>
            </a:r>
          </a:p>
        </p:txBody>
      </p:sp>
      <p:sp>
        <p:nvSpPr>
          <p:cNvPr id="13" name="Pentagon 12"/>
          <p:cNvSpPr/>
          <p:nvPr/>
        </p:nvSpPr>
        <p:spPr>
          <a:xfrm>
            <a:off x="6007608" y="1645920"/>
            <a:ext cx="1325880" cy="82296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Ratios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2606040"/>
            <a:ext cx="12801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DSCR, LLCR, gearing</a:t>
            </a:r>
          </a:p>
        </p:txBody>
      </p:sp>
      <p:sp>
        <p:nvSpPr>
          <p:cNvPr id="15" name="Pentagon 14"/>
          <p:cNvSpPr/>
          <p:nvPr/>
        </p:nvSpPr>
        <p:spPr>
          <a:xfrm>
            <a:off x="7406640" y="1645920"/>
            <a:ext cx="1325880" cy="822960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606040"/>
            <a:ext cx="12801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Equity IRR, NPV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840480"/>
            <a:ext cx="8321040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 credit officer's first five 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224528"/>
            <a:ext cx="8321040" cy="10789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Are inputs traceable to contracts and adviser reports?  •  Are formulas consistent across years?  •  Does the balance sheet balance?  •  Do sources equal uses?  •  Has the model been independently audited?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the model is only as good as its inputs. Audit the assumptions before the outputs.</a:t>
            </a:r>
          </a:p>
        </p:txBody>
      </p:sp>
      <p:pic>
        <p:nvPicPr>
          <p:cNvPr id="20" name="Picture 19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1" name="Picture 20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The ratios lenders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1554480" cy="8686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DSCR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371600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CFADS ÷ debt service in a period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371600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Min 1.25–1.40x (contracted power)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359152"/>
            <a:ext cx="1554480" cy="86868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359152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PV of CFADS over loan life ÷ debt outstanding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359152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Min ~1.30–1.50x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346704"/>
            <a:ext cx="1554480" cy="86868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PLCR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3346704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PV of CFADS over project life ÷ debt outstanding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346704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Min ~1.50x+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334256"/>
            <a:ext cx="1554480" cy="86868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Gearing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4334256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Debt ÷ total project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334256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Max 65–80%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44068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DSCR tells you about one year; LLCR tells you whether the whole loan can be repaid.</a:t>
            </a:r>
          </a:p>
        </p:txBody>
      </p:sp>
      <p:pic>
        <p:nvPicPr>
          <p:cNvPr id="18" name="Picture 1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9" name="Picture 1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LLCR and reserve accounts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RUNNING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931920" cy="173736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LLCR = 1.35x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Sahel Sun at financial close (base case)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246120"/>
            <a:ext cx="3931920" cy="2103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Calibri"/>
              </a:rPr>
              <a:t>How to read it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PV of CFADS over the 15-yr loan = 1.35 × debt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If CFADS fell 26%, the loan could still just be repaid (1 ÷ 1.35 ≈ 0.74)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416052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Debt Service Reserve Account (DSRA)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755648"/>
            <a:ext cx="4160520" cy="15361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Holds ~6 months of debt service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Funded at close; topped up from cash flow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Drawn if CFADS falls short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474720"/>
            <a:ext cx="4160520" cy="384048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Maintenance Reserve Account (MRA)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858768"/>
            <a:ext cx="4160520" cy="14904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Saves for major overhauls (e.g. inverters)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Smooths lumpy capex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Protects CFADS in the replacement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reserves don't fix a bad project; they buy time to fix a temporary problem.</a:t>
            </a:r>
          </a:p>
        </p:txBody>
      </p:sp>
      <p:pic>
        <p:nvPicPr>
          <p:cNvPr id="13" name="Picture 12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4" name="Picture 13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Sensitivity: what breaks Sahel Sun?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RUNNING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53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325880"/>
          <a:ext cx="566928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6263640" y="1371600"/>
            <a:ext cx="24688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Reading the chart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755648"/>
            <a:ext cx="2468880" cy="36393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≥1.20x: comfortable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1.00–1.20x: lock-up; cash trapped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&lt;1.00x: cannot pay lenders in full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Biggest threats: offtaker payment and FX pass-through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559552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in Nigerian power, the tariff and the payer matter more than the sunshine.</a:t>
            </a:r>
          </a:p>
        </p:txBody>
      </p:sp>
      <p:pic>
        <p:nvPicPr>
          <p:cNvPr id="10" name="Picture 9" descr="mipf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1" name="Picture 10" descr="bongo_ai_hex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Lekki-Epe Expressway: the concession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377440"/>
            <a:ext cx="19202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concession signed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417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30 yrs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77440"/>
            <a:ext cx="19202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BOT concession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417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15 yrs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19202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AfDB loan tenor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417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₦5bn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377440"/>
            <a:ext cx="19202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Lagos State mezzanine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26080"/>
            <a:ext cx="40690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310128"/>
            <a:ext cx="4069080" cy="19933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SPV: Lekki Concession Company (LCC)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Sponsor/developer: ARM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Lenders: AfDB (15 yrs), Nigerian banks (~12 yrs)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Revenue: tolls paid by road users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926080"/>
            <a:ext cx="4069080" cy="3840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happened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310128"/>
            <a:ext cx="4069080" cy="19933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Strong public resistance to tolls and tariff increases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Traffic/revenue risk sat with the concessionaire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Lagos State bought back the concession (Dec 2013)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486400"/>
            <a:ext cx="832104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Sources: Trinity International LLP; IJGlobal; Vanguard (Nov 2013); TheCable.</a:t>
            </a:r>
          </a:p>
        </p:txBody>
      </p:sp>
      <p:pic>
        <p:nvPicPr>
          <p:cNvPr id="19" name="Picture 18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0" name="Picture 19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Lekki-Epe: tariff risk is political risk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55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481328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758952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Demand risk is hard to forecast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Traffic models are often optimistic; lenders need higher DSCRs (1.5–2.0x)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441448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758952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User tariffs are political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Every increase is a public event; protests can stop collection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3401568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758952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Government support must be credible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Buy-back, termination payments and support agreements matter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4361688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758952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Consider availability payments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Government pays for a road that is open and maintained; users may pay less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34924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when the public pays the tariff directly, political risk becomes revenue risk.</a:t>
            </a:r>
          </a:p>
        </p:txBody>
      </p:sp>
      <p:pic>
        <p:nvPicPr>
          <p:cNvPr id="15" name="Picture 14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6" name="Picture 15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002060"/>
                </a:solidFill>
              </a:rPr>
              <a:t>Lekki Deep Sea Port: a concession that reached completion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US$629m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377440"/>
            <a:ext cx="192024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China Development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Bank loan (2019)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417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45 yrs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77440"/>
            <a:ext cx="192024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concession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417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16.5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192024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water depth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417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Jan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377440"/>
            <a:ext cx="192024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commissioned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063240"/>
            <a:ext cx="40690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447288"/>
            <a:ext cx="4069080" cy="19019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SPV: Lekki Port LFTZ Enterprise Ltd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Sponsors: Tolaram, CHEC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Minority: Lagos State, NPA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Debt: CDB US$629m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063240"/>
            <a:ext cx="406908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Why it worked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447288"/>
            <a:ext cx="4069080" cy="19019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Strong sponsors with operating expertise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Government as shareholder: aligned interests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Revenue from shipping lines (commercial, US$-linked)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Committed long-tenor lender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486400"/>
            <a:ext cx="832104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Sources: Templars; Aluko &amp; Oyebode; Seatrade Maritime; The Africa Report (Jan 2023).</a:t>
            </a:r>
          </a:p>
        </p:txBody>
      </p:sp>
      <p:pic>
        <p:nvPicPr>
          <p:cNvPr id="19" name="Picture 18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0" name="Picture 19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Lekki-Epe vs Lekki Port: what made the difference?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57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8321040" cy="371246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11680"/>
                <a:gridCol w="3108960"/>
                <a:gridCol w="3200400"/>
              </a:tblGrid>
              <a:tr h="530352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Lekki-Epe Expressway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Lekki Deep Sea Port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530352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Who pays?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Individual road users (tolls)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Shipping lines &amp; cargo owners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Revenue currency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Naira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Largely US$-linked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30352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Political sensitivity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Very high: daily public tolls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Lower: business-to-business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Government role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Grantor, later buyer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Grantor AND shareholder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30352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Sponsor strength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Local developer + fund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Global operator + contractor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Concession bought back (2013)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Completed &amp; operating (2023)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25780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bankability comes from who pays, in what currency, and how aligned government is.</a:t>
            </a:r>
          </a:p>
        </p:txBody>
      </p:sp>
      <p:pic>
        <p:nvPicPr>
          <p:cNvPr id="8" name="Picture 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9" name="Picture 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The Bankability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58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26974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Sponsors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55648"/>
            <a:ext cx="2697480" cy="139903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Track record? Enough equity? Committed until completion?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371600"/>
            <a:ext cx="26974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Contracts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8688" y="1755648"/>
            <a:ext cx="2697480" cy="139903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Bankable PPA/concession? Fixed-price EPC? O&amp;M in place?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25896" y="1371600"/>
            <a:ext cx="26974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25896" y="1755648"/>
            <a:ext cx="2697480" cy="139903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Creditworthy payer? Payment security (LC, guarantee)?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291840"/>
            <a:ext cx="26974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Currency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75888"/>
            <a:ext cx="2697480" cy="139903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Revenue and debt in the same currency? FX pass-through?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3291840"/>
            <a:ext cx="26974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Numbers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3675888"/>
            <a:ext cx="2697480" cy="139903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Min DSCR ≥ target under base AND downside? LLCR?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25896" y="3291840"/>
            <a:ext cx="26974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Country &amp; ESG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25896" y="3675888"/>
            <a:ext cx="2697480" cy="139903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Change-in-law protection? IFC PS / Equator compliant?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34924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full 20-question checklist in your workbook, page 4. Use it on your next deal.</a:t>
            </a:r>
          </a:p>
        </p:txBody>
      </p:sp>
      <p:pic>
        <p:nvPicPr>
          <p:cNvPr id="19" name="Picture 18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0" name="Picture 19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Module 1 recap: six things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59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554480"/>
            <a:ext cx="594360" cy="5943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17320"/>
            <a:ext cx="34290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Project finance lends to an SPV against its own cash flow (CFADS)</a:t>
            </a:r>
          </a:p>
        </p:txBody>
      </p:sp>
      <p:sp>
        <p:nvSpPr>
          <p:cNvPr id="7" name="Oval 6"/>
          <p:cNvSpPr/>
          <p:nvPr/>
        </p:nvSpPr>
        <p:spPr>
          <a:xfrm>
            <a:off x="4617720" y="1554480"/>
            <a:ext cx="594360" cy="5943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417320"/>
            <a:ext cx="34290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Recourse is usually limited, highest in construction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880360"/>
            <a:ext cx="594360" cy="5943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43200"/>
            <a:ext cx="34290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Contracts allocate risk; the PPA/concession is the anchor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880360"/>
            <a:ext cx="594360" cy="5943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743200"/>
            <a:ext cx="34290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Debt = MIN(DSCR-based capacity, gearing cap), then sculpted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4206240"/>
            <a:ext cx="594360" cy="5943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34290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Match currencies; InfraCredit unlocks long naira money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4206240"/>
            <a:ext cx="594360" cy="5943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4069080"/>
            <a:ext cx="34290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Bankability depends on who pays, in what currency, with what security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48640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if you remember one formula from this morning: DSCR = CFADS ÷ debt service.</a:t>
            </a:r>
          </a:p>
        </p:txBody>
      </p:sp>
      <p:pic>
        <p:nvPicPr>
          <p:cNvPr id="18" name="Picture 1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9" name="Picture 1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3154680"/>
            <a:ext cx="8321040" cy="1188720"/>
          </a:xfrm>
        </p:spPr>
        <p:txBody>
          <a:bodyPr wrap="square"/>
          <a:lstStyle/>
          <a:p>
            <a:r>
              <a:rPr sz="2400" b="1">
                <a:solidFill>
                  <a:srgbClr val="002060"/>
                </a:solidFill>
              </a:rPr>
              <a:t>Risk Management, PPP Frameworks &amp; Sustainable Project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88920"/>
            <a:ext cx="8229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Calibri"/>
              </a:rP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34840"/>
            <a:ext cx="8321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Calibri"/>
              </a:rPr>
              <a:t>Session 2.1  Risk: identify, allocate, mitigate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Session 2.2  PPPs, concessions &amp; blended finance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Session 2.3  ESG in appraisal &amp; delivery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Session 2.4  Negotiation &amp; credit committee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395728"/>
            <a:ext cx="2057400" cy="4572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11:30 – 2:00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3154680"/>
            <a:ext cx="8321040" cy="1188720"/>
          </a:xfrm>
        </p:spPr>
        <p:txBody>
          <a:bodyPr wrap="square"/>
          <a:lstStyle/>
          <a:p>
            <a:r>
              <a:rPr sz="3000" b="1">
                <a:solidFill>
                  <a:srgbClr val="002060"/>
                </a:solidFill>
              </a:rPr>
              <a:t>Risk: Identify, Allocate, Mitigate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88920"/>
            <a:ext cx="8229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Calibri"/>
              </a:rPr>
              <a:t>SESSION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34840"/>
            <a:ext cx="8321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Calibri"/>
              </a:rPr>
              <a:t>Objective: handle construction, completion, off-take, currency and regulatory risk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Tool: the risk allocation matrix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Exercise: allocate Sahel Sun's risks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395728"/>
            <a:ext cx="2057400" cy="4572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45 minutes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What does 'risk' mean to a lender?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Risk = anything that can push DSCR below the level the lender 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560320"/>
            <a:ext cx="4069080" cy="3840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Lower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944368"/>
            <a:ext cx="4069080" cy="8961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Less output, lower tariff, offtaker doesn't pay, FX erodes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2560320"/>
            <a:ext cx="4069080" cy="384048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Higher costs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2944368"/>
            <a:ext cx="4069080" cy="8961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Construction overruns, opex inflation, taxes, change in law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977639"/>
            <a:ext cx="4069080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Delays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361688"/>
            <a:ext cx="4069080" cy="8961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Late completion: interest accrues, revenue starts late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977639"/>
            <a:ext cx="4069080" cy="38404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Loss of the asset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4361688"/>
            <a:ext cx="4069080" cy="8961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Force majeure, expropriation, termination of licence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504688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translate every risk into its effect on CFADS and DSCR. That is how a credit committee compares them.</a:t>
            </a:r>
          </a:p>
        </p:txBody>
      </p:sp>
      <p:pic>
        <p:nvPicPr>
          <p:cNvPr id="15" name="Picture 14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6" name="Picture 15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The risk management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63</a:t>
            </a:r>
          </a:p>
        </p:txBody>
      </p:sp>
      <p:sp>
        <p:nvSpPr>
          <p:cNvPr id="5" name="Oval 4"/>
          <p:cNvSpPr/>
          <p:nvPr/>
        </p:nvSpPr>
        <p:spPr>
          <a:xfrm>
            <a:off x="740664" y="1463040"/>
            <a:ext cx="914400" cy="9144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514600"/>
            <a:ext cx="1572768" cy="457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Identify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971800"/>
            <a:ext cx="1572768" cy="11887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List every risk by phase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91639" y="1920240"/>
            <a:ext cx="694945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423160" y="1463040"/>
            <a:ext cx="914400" cy="9144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93976" y="2514600"/>
            <a:ext cx="1572768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Assess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93976" y="2971800"/>
            <a:ext cx="1572768" cy="11887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Likelihood × impact on DSCR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74136" y="1920240"/>
            <a:ext cx="694944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105656" y="1463040"/>
            <a:ext cx="914400" cy="91440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6472" y="2514600"/>
            <a:ext cx="1572768" cy="4572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Allocate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76472" y="2971800"/>
            <a:ext cx="1572768" cy="11887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To the party best able to manage 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56631" y="1920240"/>
            <a:ext cx="694945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788152" y="146304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58968" y="2514600"/>
            <a:ext cx="157276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Mitigate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58968" y="2971800"/>
            <a:ext cx="1572768" cy="11887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Contracts, guarantees, insurance, reserves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39128" y="1920240"/>
            <a:ext cx="694944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70648" y="1463040"/>
            <a:ext cx="914400" cy="9144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41464" y="2514600"/>
            <a:ext cx="1572768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41464" y="2971800"/>
            <a:ext cx="1572768" cy="11887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Covenants, reports, site visits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434840"/>
            <a:ext cx="8321040" cy="86868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Nigerian practice gap: </a:t>
            </a:r>
          </a:p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strong at step 1, weaker at step 5. Budget for a lenders' technical adviser through operations.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risk management does not end at financial close; it lasts as long as the loan.</a:t>
            </a:r>
          </a:p>
        </p:txBody>
      </p:sp>
      <p:pic>
        <p:nvPicPr>
          <p:cNvPr id="26" name="Picture 2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7" name="Picture 2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The golden rule of risk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64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8321040" cy="12344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Allocate each risk to the party best able to CONTROL it,</a:t>
            </a:r>
          </a:p>
          <a:p>
            <a:pPr algn="ctr"/>
            <a:r>
              <a:rPr sz="1900" b="1">
                <a:solidFill>
                  <a:srgbClr val="00B0F0"/>
                </a:solidFill>
                <a:latin typeface="Calibri"/>
              </a:rPr>
              <a:t>or, if no one controls it, best able to ABSORB it at the lowest cost.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2834640"/>
          <a:ext cx="8321037" cy="24688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85999"/>
                <a:gridCol w="2194559"/>
                <a:gridCol w="3840479"/>
              </a:tblGrid>
              <a:tr h="41148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Best-placed party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Construction delay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EPC contractor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Controls the site, labour, suppliers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Solar resource (sunshine)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Sponsor / equity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Can diversify; lenders size on P90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1148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Tariff &amp; demand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Offtaker / government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Sets tariffs, controls the market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Change in law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Government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Makes the law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1148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Natural catastrophe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Insurers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Pool risk across many projects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misallocated risk doesn't disappear: it comes back as a higher price or a failed project.</a:t>
            </a:r>
          </a:p>
        </p:txBody>
      </p:sp>
      <p:pic>
        <p:nvPicPr>
          <p:cNvPr id="8" name="Picture 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9" name="Picture 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Construction and completion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65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4069080" cy="3840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can go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4069080" cy="3593591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Cost overrun (imports, FX, customs)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Delay (port clearance, permits, security)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Plant underperforms at testing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Contractor fails or walks away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Grid connection not ready (TCN)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371600"/>
            <a:ext cx="406908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Mitigants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755648"/>
            <a:ext cx="4069080" cy="3593591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Fixed-price, date-certain, turnkey EPC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Delay &amp; performance liquidated damages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Performance bond (10–15%) &amp; advance-payment guarantee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Sponsor completion guarantee / contingency (5–10%)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Lenders' technical adviser certifies drawdowns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the EPC contract is the lender's main shield during construction; read it as carefully as the PPA.</a:t>
            </a:r>
          </a:p>
        </p:txBody>
      </p:sp>
      <p:pic>
        <p:nvPicPr>
          <p:cNvPr id="10" name="Picture 9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1" name="Picture 10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Operating and resource risk: P50 and P90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RUNNING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66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371600"/>
          <a:ext cx="420624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800600" y="1371600"/>
            <a:ext cx="393192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Operating risks &amp; mitigants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755648"/>
            <a:ext cx="3931920" cy="299923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Yield: independent energy-yield study; size on P90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O&amp;M: long-term contract with availability guarantees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Harmattan dust: cleaning regime, budgeted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Equipment: warranties, spares, MRA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Security: site protection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892040"/>
            <a:ext cx="8321040" cy="5486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P90 output → min DSCR 1.22x: still above 1.20x lock-up. Survivable.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53212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lenders plan for a bad year, not the average year.</a:t>
            </a:r>
          </a:p>
        </p:txBody>
      </p:sp>
      <p:pic>
        <p:nvPicPr>
          <p:cNvPr id="11" name="Picture 10" descr="mipf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2" name="Picture 11" descr="bongo_ai_hex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Off-take and payment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67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Consumers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20" y="1737360"/>
            <a:ext cx="219456" cy="0"/>
          </a:xfrm>
          <a:prstGeom prst="line">
            <a:avLst/>
          </a:prstGeom>
          <a:ln w="317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93976" y="141732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DisCos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57016" y="1737360"/>
            <a:ext cx="219456" cy="0"/>
          </a:xfrm>
          <a:prstGeom prst="line">
            <a:avLst/>
          </a:prstGeom>
          <a:ln w="317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76472" y="141732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NBET / market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39512" y="1737360"/>
            <a:ext cx="219456" cy="0"/>
          </a:xfrm>
          <a:prstGeom prst="line">
            <a:avLst/>
          </a:prstGeom>
          <a:ln w="317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58968" y="141732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IPP (SPV)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22008" y="1737360"/>
            <a:ext cx="219456" cy="0"/>
          </a:xfrm>
          <a:prstGeom prst="line">
            <a:avLst/>
          </a:prstGeom>
          <a:ln w="317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41464" y="141732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Lenders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148840"/>
            <a:ext cx="832104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Calibri"/>
              </a:rPr>
              <a:t>Cash flows left to right. A shortfall anywhere reaches the IPP and its lenders.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97480"/>
            <a:ext cx="4069080" cy="3840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Risks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081528"/>
            <a:ext cx="4069080" cy="22219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Offtaker lacks cash (tariff shortfall, losses)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Grid can't take the power (TCN constraints)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New state-level offtakers of untested credit (Electricity Act 2023)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697480"/>
            <a:ext cx="406908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Mitigants (weaker → stronger)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081528"/>
            <a:ext cx="4069080" cy="22219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Take-or-pay / deemed-energy clauses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Escrow of receivables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Letter of credit (3–6 months)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Sovereign or DFI guarantee (e.g. World Bank PRG)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Put option / termination payment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in Nigeria, ask 'who pays, and can they really pay?' before you ask anything else.</a:t>
            </a:r>
          </a:p>
        </p:txBody>
      </p:sp>
      <p:pic>
        <p:nvPicPr>
          <p:cNvPr id="20" name="Picture 19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1" name="Picture 20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Currency risk: devaluation, convertibility,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68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371600"/>
          <a:ext cx="402336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17720" y="1463040"/>
          <a:ext cx="4114800" cy="226771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188720"/>
                <a:gridCol w="1463040"/>
                <a:gridCol w="1463040"/>
              </a:tblGrid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FX risk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Mitigant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Devaluation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Naira buys fewer US$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Tariff pass-through; naira debt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Convertibility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Can't buy US$ locally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FX liquidity facility; MIGA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Transfer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Can't remit US$ abroad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MIGA; offshore accounts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02920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if the revenue is in naira and the debt is in dollars, somebody holds FX risk. Make sure you know who.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669280"/>
            <a:ext cx="83210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Rates: CBN official rate ~₦1,330/US$ (Sept 2026). 2015 rate approximate, implied by ₦24bn ≈ US$120m.</a:t>
            </a:r>
          </a:p>
        </p:txBody>
      </p:sp>
      <p:pic>
        <p:nvPicPr>
          <p:cNvPr id="9" name="Picture 8" descr="mipf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0" name="Picture 9" descr="bongo_ai_hex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Regulatory and political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69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8321037" cy="3657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03119"/>
                <a:gridCol w="3291839"/>
                <a:gridCol w="2926079"/>
              </a:tblGrid>
              <a:tr h="7315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Mitigant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73152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Change in law or tax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New levies, CIT changes, import duties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Change-in-law compensation clause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Tariff review delays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Regulator doesn't approve cost-reflective tariffs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Indexation formula in the PPA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73152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New regulatory 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Electricity Act 2023: states can regulate their markets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Due diligence on the regulator; step-in rights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Expropriation / breach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Government cancels or breaches the contract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Termination payments; MIGA; PRG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21208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you cannot contract away politics, but you can price it, insure it and make exit expensive for the state.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Stress-testing Sahel Sun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RUNNING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70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8321039" cy="3657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749039"/>
                <a:gridCol w="1097280"/>
                <a:gridCol w="1097280"/>
                <a:gridCol w="1280160"/>
                <a:gridCol w="1097280"/>
              </a:tblGrid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Scenario (debt fixed at close)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Min DSCR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LLCR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Sponsor IRR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Yrs &lt; 1.0x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Calibri"/>
                        </a:rPr>
                        <a:t>1.35x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1.35x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10.3%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P90 output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Calibri"/>
                        </a:rPr>
                        <a:t>1.22x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1.23x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Opex +25%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Calibri"/>
                        </a:rPr>
                        <a:t>1.29x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1.30x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8.7%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Offtaker pays 80%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1">
                          <a:solidFill>
                            <a:srgbClr val="E07B00"/>
                          </a:solidFill>
                          <a:latin typeface="Calibri"/>
                        </a:rPr>
                        <a:t>1.04x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1.06x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Naira −30%, 50% pass-through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1">
                          <a:solidFill>
                            <a:srgbClr val="E07B00"/>
                          </a:solidFill>
                          <a:latin typeface="Calibri"/>
                        </a:rPr>
                        <a:t>1.11x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1.13x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Naira −30%, 0% pass-through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Calibri"/>
                        </a:rPr>
                        <a:t>0.88x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0.91x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-1.5%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Combined: −30% naira, 50% PT, pays 90%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Calibri"/>
                        </a:rPr>
                        <a:t>0.98x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1.00x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212080"/>
            <a:ext cx="8321040" cy="59436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green ≥1.20x, amber 1.00–1.20x (lock-up), red &lt;1.00x (default). Payment and FX risk turn the deal red.</a:t>
            </a:r>
          </a:p>
        </p:txBody>
      </p:sp>
      <p:pic>
        <p:nvPicPr>
          <p:cNvPr id="8" name="Picture 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9" name="Picture 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The risk allocation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71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17320"/>
          <a:ext cx="8321034" cy="20116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645919"/>
                <a:gridCol w="1005839"/>
                <a:gridCol w="914399"/>
                <a:gridCol w="1280159"/>
                <a:gridCol w="2194559"/>
                <a:gridCol w="1280159"/>
              </a:tblGrid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Likelihood (1–5)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Impact (1–5)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Allocated to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Mitigant / instrument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Residual for lenders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e.g. Construction delay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EPC contractor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Delay LDs; completion guarantee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3611880"/>
            <a:ext cx="8321040" cy="384048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How to fill it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995928"/>
            <a:ext cx="8321040" cy="13075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Score likelihood and impact on DSCR, 1 (low) to 5 (high)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Allocate using the golden rule: control first, then cost of absorbing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Name the specific contract clause or instrument, not just 'insurance'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a risk without a named owner and a named instrument is unallocated risk.</a:t>
            </a:r>
          </a:p>
        </p:txBody>
      </p:sp>
      <p:pic>
        <p:nvPicPr>
          <p:cNvPr id="10" name="Picture 9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1" name="Picture 10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Exercise 3: allocate Sahel Sun's risks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8321040" cy="50292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Workbook page 5  |  Each table plays one role  |  7 minutes + 3 minutes report-back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057400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Table A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EPC contractor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057400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Table B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Sponsors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057400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Table C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Offtaker / state government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057400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Table 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Senior lenders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00400"/>
            <a:ext cx="8321040" cy="2103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Allocate these eight risks: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Construction cost overrun  •  Completion delay  •  P90 output year  •  Offtaker late payment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Naira devaluation  •  Change in tax law  •  Grid evacuation failure  •  Community land dispute</a:t>
            </a:r>
          </a:p>
          <a:p>
            <a:pPr marL="219456" indent="-182880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Then answer: which ONE risk would you refuse to accept at any price?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everyone wants to give risk away. The matrix forces a decision on who holds it.</a:t>
            </a:r>
          </a:p>
        </p:txBody>
      </p:sp>
      <p:pic>
        <p:nvPicPr>
          <p:cNvPr id="13" name="Picture 12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4" name="Picture 13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Exercise 3: model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73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8321037" cy="386791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60319"/>
                <a:gridCol w="2377439"/>
                <a:gridCol w="3383279"/>
              </a:tblGrid>
              <a:tr h="42976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Allocated to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instrument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Construction cost overrun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EPC contractor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Fixed-price turnkey EPC; contingency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Completion delay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EPC → sponsor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Delay LDs; completion guarantee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P90 output year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Sponsor /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Size on P90; DSRA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Offtaker late payment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Offtaker, backed by guarantor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LC; PRG; escrow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Naira devaluation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Offtaker (via tariff)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US$ indexation / pass-through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Change in tax law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Government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Change-in-law clause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Grid evacuation failure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Offtaker / TCN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Deemed-energy payments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Community land dispute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Sponsor (+ state support)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ESIA, RAP, community agreement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44068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the SPV and its lenders should be left only with risks they can manage and have priced.</a:t>
            </a:r>
          </a:p>
        </p:txBody>
      </p:sp>
      <p:pic>
        <p:nvPicPr>
          <p:cNvPr id="8" name="Picture 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9" name="Picture 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3154680"/>
            <a:ext cx="8321040" cy="1188720"/>
          </a:xfrm>
        </p:spPr>
        <p:txBody>
          <a:bodyPr wrap="square"/>
          <a:lstStyle/>
          <a:p>
            <a:r>
              <a:rPr sz="3000" b="1">
                <a:solidFill>
                  <a:srgbClr val="002060"/>
                </a:solidFill>
              </a:rPr>
              <a:t>PPPs, Concessions &amp; Blended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88920"/>
            <a:ext cx="8229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Calibri"/>
              </a:rPr>
              <a:t>SESSION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34840"/>
            <a:ext cx="8321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Calibri"/>
              </a:rPr>
              <a:t>Objective: understand PPP frameworks, concession models and DFI blended finance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Nigeria lens: ICRC Act 2005; 2nd Niger Bridge; Road Infrastructure Tax Credit Scheme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395728"/>
            <a:ext cx="2057400" cy="4572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30 minutes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What is a Public-Private Partnership?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75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Traditional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procurement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46888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Govt designs, finances, owns; contractor builds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4630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Management /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O&amp;M 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46888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Private operates; govt owns &amp; finances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4630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PPP / concession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46888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Private finances, builds, operates; returns asset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4630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Privatisation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46888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Private owns permanently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840480"/>
            <a:ext cx="8046720" cy="0"/>
          </a:xfrm>
          <a:prstGeom prst="line">
            <a:avLst/>
          </a:prstGeom>
          <a:ln w="381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3931920"/>
            <a:ext cx="83210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Calibri"/>
              </a:rPr>
              <a:t>More private finance, risk and control 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389120"/>
            <a:ext cx="832104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 PPP has three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773168"/>
            <a:ext cx="8321040" cy="5760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Long-term contract (15–30+ yrs)  •  Private finance at risk  •  Payment linked to performance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a PPP is a risk-sharing contract, not a way to hide public borrowing.</a:t>
            </a:r>
          </a:p>
        </p:txBody>
      </p:sp>
      <p:pic>
        <p:nvPicPr>
          <p:cNvPr id="18" name="Picture 1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9" name="Picture 1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PPP and concession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76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8321040" cy="35204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63040"/>
                <a:gridCol w="2743200"/>
                <a:gridCol w="1737360"/>
                <a:gridCol w="2377440"/>
              </a:tblGrid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Who pays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Nigerian example / fit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Build, Operate, Transfer back at end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Users or government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Lekki-Epe Expressway (2006)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BOOT / BOO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Build, Own, Operate (Transfer)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Offtaker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IPPs such as Azura-Edo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Rehabilitate, Operate, Transfer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Existing roads, terminals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DBFO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Design, Build, Finance, Operate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Government (availability)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Roads, hospitals, schools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Landlord concession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Authority owns land; operator runs terminal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Port users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Lekki Deep Sea 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Availability PPP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Paid for keeping asset available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Government budget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Where user tariffs are hard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0749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pick the model by asking one question: who is best placed to pay, users or the state?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Nigeria's PPP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77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40690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 law and the regulator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4069080" cy="19933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ICRC Act 2005: federal PPP concessions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National Policy on PPP (2009)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ICRC regulates and certifies federal PPPs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State PPP laws and offices (e.g. Lagos)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371600"/>
            <a:ext cx="40690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lenders must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755648"/>
            <a:ext cx="4069080" cy="19933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ICRC certificate at OBC and FBC stage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Federal Executive Council approval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Grantor's legal authority and budget cover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Termination compensation terms</a:t>
            </a:r>
          </a:p>
        </p:txBody>
      </p:sp>
      <p:sp>
        <p:nvSpPr>
          <p:cNvPr id="9" name="Pentagon 8"/>
          <p:cNvSpPr/>
          <p:nvPr/>
        </p:nvSpPr>
        <p:spPr>
          <a:xfrm>
            <a:off x="411480" y="3931920"/>
            <a:ext cx="1143000" cy="640080"/>
          </a:xfrm>
          <a:prstGeom prst="homePlate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Identify</a:t>
            </a:r>
          </a:p>
        </p:txBody>
      </p:sp>
      <p:sp>
        <p:nvSpPr>
          <p:cNvPr id="10" name="Pentagon 9"/>
          <p:cNvSpPr/>
          <p:nvPr/>
        </p:nvSpPr>
        <p:spPr>
          <a:xfrm>
            <a:off x="1609344" y="3931920"/>
            <a:ext cx="1143000" cy="640080"/>
          </a:xfrm>
          <a:prstGeom prst="homePlate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OBC</a:t>
            </a:r>
          </a:p>
        </p:txBody>
      </p:sp>
      <p:sp>
        <p:nvSpPr>
          <p:cNvPr id="11" name="Pentagon 10"/>
          <p:cNvSpPr/>
          <p:nvPr/>
        </p:nvSpPr>
        <p:spPr>
          <a:xfrm>
            <a:off x="2807208" y="3931920"/>
            <a:ext cx="1143000" cy="640080"/>
          </a:xfrm>
          <a:prstGeom prst="homePlat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ICRC cert.</a:t>
            </a:r>
          </a:p>
        </p:txBody>
      </p:sp>
      <p:sp>
        <p:nvSpPr>
          <p:cNvPr id="12" name="Pentagon 11"/>
          <p:cNvSpPr/>
          <p:nvPr/>
        </p:nvSpPr>
        <p:spPr>
          <a:xfrm>
            <a:off x="4005072" y="3931920"/>
            <a:ext cx="1143000" cy="640080"/>
          </a:xfrm>
          <a:prstGeom prst="homePlate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Procure</a:t>
            </a:r>
          </a:p>
        </p:txBody>
      </p:sp>
      <p:sp>
        <p:nvSpPr>
          <p:cNvPr id="13" name="Pentagon 12"/>
          <p:cNvSpPr/>
          <p:nvPr/>
        </p:nvSpPr>
        <p:spPr>
          <a:xfrm>
            <a:off x="5202936" y="3931920"/>
            <a:ext cx="1143000" cy="640080"/>
          </a:xfrm>
          <a:prstGeom prst="homePlate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FBC</a:t>
            </a:r>
          </a:p>
        </p:txBody>
      </p:sp>
      <p:sp>
        <p:nvSpPr>
          <p:cNvPr id="14" name="Pentagon 13"/>
          <p:cNvSpPr/>
          <p:nvPr/>
        </p:nvSpPr>
        <p:spPr>
          <a:xfrm>
            <a:off x="6400800" y="3931920"/>
            <a:ext cx="1143000" cy="640080"/>
          </a:xfrm>
          <a:prstGeom prst="homePlat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ICRC + FEC</a:t>
            </a:r>
          </a:p>
        </p:txBody>
      </p:sp>
      <p:sp>
        <p:nvSpPr>
          <p:cNvPr id="15" name="Pentagon 14"/>
          <p:cNvSpPr/>
          <p:nvPr/>
        </p:nvSpPr>
        <p:spPr>
          <a:xfrm>
            <a:off x="7598664" y="3931920"/>
            <a:ext cx="1143000" cy="640080"/>
          </a:xfrm>
          <a:prstGeom prst="homePlate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Close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572000"/>
            <a:ext cx="83210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OBC = Outline Business Case  •  FBC = Full Business Case  •  FEC = Federal Executive Council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0749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a PPP that skipped a statutory step is a legal risk your security package cannot fix.</a:t>
            </a:r>
          </a:p>
        </p:txBody>
      </p:sp>
      <p:pic>
        <p:nvPicPr>
          <p:cNvPr id="18" name="Picture 1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9" name="Picture 1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Blended finance: mixing public and private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78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40690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Guarantees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4069080" cy="139903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Cover specific risks (payment, political, credit)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070C0"/>
                </a:solidFill>
                <a:latin typeface="Calibri"/>
              </a:rPr>
              <a:t>e.g. World Bank PRG; InfraCredit; GuarantCo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1371600"/>
            <a:ext cx="40690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First-loss / subordinated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55648"/>
            <a:ext cx="4069080" cy="139903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Concessional money absorbs losses first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070C0"/>
                </a:solidFill>
                <a:latin typeface="Calibri"/>
              </a:rPr>
              <a:t>e.g. DFI mezzanine; climate funds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91840"/>
            <a:ext cx="40690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Concessional debt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675888"/>
            <a:ext cx="4069080" cy="139903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Below-market rates or longer tenors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070C0"/>
                </a:solidFill>
                <a:latin typeface="Calibri"/>
              </a:rPr>
              <a:t>e.g. AfDB, climate funds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3291840"/>
            <a:ext cx="40690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Technical assistance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675888"/>
            <a:ext cx="4069080" cy="139903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Grants for studies, preparation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070C0"/>
                </a:solidFill>
                <a:latin typeface="Calibri"/>
              </a:rPr>
              <a:t>e.g. Project preparation facilities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34924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the goal of blended finance is to crowd private money in, then step back.</a:t>
            </a:r>
          </a:p>
        </p:txBody>
      </p:sp>
      <p:pic>
        <p:nvPicPr>
          <p:cNvPr id="14" name="Picture 13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5" name="Picture 14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The DFI and multilateral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79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8321040" cy="3657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03120"/>
                <a:gridCol w="2926080"/>
                <a:gridCol w="3291840"/>
              </a:tblGrid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Institution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Main tools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Typical role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World Bank (IBRD/IDA)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Partial risk &amp; credit guarantees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Backs government payment obligations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MIGA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Political risk insurance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Covers expropriation, war, transfer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IFC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Loans, equity, mobilisation (B-loans)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Lead DFI lender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AfDB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Loans, guarantees, climate funds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Long-tenor lender; e.g. Lekki-Epe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AFC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Debt, equity, project development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Africa-focused investor; InfraCorp promoter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GuarantCo / PIDG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Local-currency guarantees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Counter-guarantees InfraCredit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InfraCredit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Naira bond guarantees (AAA(NG))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Unlocks pension money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21208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lenders lend; guarantors make it safe for others to lend. You usually need both.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2nd Niger Bridge: the PPP that didn't close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80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572768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2007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1572768" cy="11887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Flagged off as a tolled PPP; ~₦58.6bn proposal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093976" y="1417320"/>
            <a:ext cx="1572768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2007–15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093976" y="1920240"/>
            <a:ext cx="1572768" cy="11887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Stalls across administrations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76472" y="1417320"/>
            <a:ext cx="1572768" cy="5029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Aug 2015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6472" y="1920240"/>
            <a:ext cx="1572768" cy="11887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PPP contract cancelled; moved to PIDF (NSIA)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8" y="1417320"/>
            <a:ext cx="1572768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Dec 2022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58968" y="1920240"/>
            <a:ext cx="1572768" cy="11887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Opened to traffic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1464" y="1417320"/>
            <a:ext cx="1572768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May 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41464" y="1920240"/>
            <a:ext cx="1572768" cy="11887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Construction completed; ~₦336bn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337560"/>
            <a:ext cx="8321040" cy="10972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500" b="1">
                <a:solidFill>
                  <a:srgbClr val="00B0F0"/>
                </a:solidFill>
                <a:latin typeface="Calibri"/>
              </a:rPr>
              <a:t>Table discussion (3 min):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Why did the PPP never reach financial close? What would have made it bankable?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572000"/>
            <a:ext cx="8321040" cy="8686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Hints: demand certainty for tolls  •  political acceptability of tolling  •  government support &amp; termination terms  •  approval timelines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669280"/>
            <a:ext cx="83210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Sources: Daily Trust; BusinessDay; ThisDay (2022); public project records.</a:t>
            </a:r>
          </a:p>
        </p:txBody>
      </p:sp>
      <p:pic>
        <p:nvPicPr>
          <p:cNvPr id="19" name="Picture 18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0" name="Picture 19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Road Infrastructure Tax Credit Scheme (EO 007)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81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Company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Funds &amp; builds an approved road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011680"/>
            <a:ext cx="228600" cy="0"/>
          </a:xfrm>
          <a:prstGeom prst="line">
            <a:avLst/>
          </a:prstGeom>
          <a:ln w="317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141732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Government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Certifies cost; issues tax credit certificate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0" y="2011680"/>
            <a:ext cx="228600" cy="0"/>
          </a:xfrm>
          <a:prstGeom prst="line">
            <a:avLst/>
          </a:prstGeom>
          <a:ln w="317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80760" y="141732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Company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Offsets CIT over time (+ MPR + 2% uplift)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34640"/>
            <a:ext cx="40690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Key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4069080" cy="21305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Created by Executive Order 007 (2019)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CIT offset capped at 50%/yr (except disadvantaged areas)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Credits carried forward; tradable with approval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Scheme sunset: January 2029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834640"/>
            <a:ext cx="40690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3218688"/>
            <a:ext cx="4069080" cy="21305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Dangote: Apapa–Oworonshoki–Ojota; Obajana–Kabba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Others: NLNG, BUA, Access Bank, Transcorp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Banks: bridge-finance contractors; trade credits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no tolls, no demand risk: the company's real exposure is construction cost and its own future tax bill.</a:t>
            </a:r>
          </a:p>
        </p:txBody>
      </p:sp>
      <p:pic>
        <p:nvPicPr>
          <p:cNvPr id="16" name="Picture 1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7" name="Picture 1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Three routes to a road: who carries what?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NIGERIA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82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8321040" cy="340156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554480"/>
                <a:gridCol w="2194560"/>
                <a:gridCol w="2468880"/>
                <a:gridCol w="2103120"/>
              </a:tblGrid>
              <a:tr h="566928">
                <a:tc>
                  <a:txBody>
                    <a:bodyPr wrap="square" lIns="54864" rIns="54864" tIns="27432" bIns="27432"/>
                    <a:lstStyle/>
                    <a:p/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Toll PPP (Lekki-Epe)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Sovereign fund (PIDF / 2nd Niger Bridge)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Tax credit (EO 007)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Who finances?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Private lenders +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NSIA-managed fund / FGN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Private company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Who repays?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Road users (tolls)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Public funds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Future tax revenue forgone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Demand 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Concessionaire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Government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Construction risk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Concessionaire / EPC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Government / contractor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Company / contractor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Role for banks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Lender, arranger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Bridge finance, credit trading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498348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every route moves risk and cost somewhere. Follow the money to see who really pays.</a:t>
            </a:r>
          </a:p>
        </p:txBody>
      </p:sp>
      <p:pic>
        <p:nvPicPr>
          <p:cNvPr id="8" name="Picture 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9" name="Picture 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3154680"/>
            <a:ext cx="8321040" cy="1188720"/>
          </a:xfrm>
        </p:spPr>
        <p:txBody>
          <a:bodyPr wrap="square"/>
          <a:lstStyle/>
          <a:p>
            <a:r>
              <a:rPr sz="3000" b="1">
                <a:solidFill>
                  <a:srgbClr val="002060"/>
                </a:solidFill>
              </a:rPr>
              <a:t>Lunch &amp; Case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88920"/>
            <a:ext cx="8229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Calibri"/>
              </a:rPr>
              <a:t>WORKING LUNCH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34840"/>
            <a:ext cx="8321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Calibri"/>
              </a:rPr>
              <a:t>Read the Credit Committee Case Pack (workbook pages 7–9) over lunch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Your role will be on your name card. Prepare your position.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Back at 1:10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395728"/>
            <a:ext cx="2057400" cy="4572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12:45 – 1:10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3154680"/>
            <a:ext cx="8321040" cy="1188720"/>
          </a:xfrm>
        </p:spPr>
        <p:txBody>
          <a:bodyPr wrap="square"/>
          <a:lstStyle/>
          <a:p>
            <a:r>
              <a:rPr sz="3000" b="1">
                <a:solidFill>
                  <a:srgbClr val="002060"/>
                </a:solidFill>
              </a:rPr>
              <a:t>ESG in Infrastructure Appraisal &amp;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88920"/>
            <a:ext cx="8229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Calibri"/>
              </a:rPr>
              <a:t>SESSION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34840"/>
            <a:ext cx="8321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Calibri"/>
              </a:rPr>
              <a:t>Objective: integrate environmental, social and governance factors into appraisal and delivery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Frameworks: IFC Performance Standards, Equator Principles, Nigerian Sustainable Banking Principles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395728"/>
            <a:ext cx="2057400" cy="4572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20 minutes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Why ESG is a credit 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85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Environmental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417320"/>
            <a:ext cx="3108960" cy="105156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Pollution, biodiversity, water, climate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32120" y="1943100"/>
            <a:ext cx="320040" cy="0"/>
          </a:xfrm>
          <a:prstGeom prst="line">
            <a:avLst/>
          </a:prstGeom>
          <a:ln w="317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897880" y="1417320"/>
            <a:ext cx="2834640" cy="105156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C00000"/>
                </a:solidFill>
                <a:latin typeface="Calibri"/>
              </a:rPr>
              <a:t>Fines, clean-up costs, permit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5176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651760"/>
            <a:ext cx="3108960" cy="105156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Land, resettlement, community, labour, security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32120" y="3177540"/>
            <a:ext cx="320040" cy="0"/>
          </a:xfrm>
          <a:prstGeom prst="line">
            <a:avLst/>
          </a:prstGeom>
          <a:ln w="317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97880" y="2651760"/>
            <a:ext cx="2834640" cy="105156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C00000"/>
                </a:solidFill>
                <a:latin typeface="Calibri"/>
              </a:rPr>
              <a:t>Protests, delays, cost overruns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88620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3886200"/>
            <a:ext cx="3108960" cy="105156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Corruption, procurement, disclosure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32120" y="4411980"/>
            <a:ext cx="320040" cy="0"/>
          </a:xfrm>
          <a:prstGeom prst="line">
            <a:avLst/>
          </a:prstGeom>
          <a:ln w="317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97880" y="3886200"/>
            <a:ext cx="2834640" cy="105156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C00000"/>
                </a:solidFill>
                <a:latin typeface="Calibri"/>
              </a:rPr>
              <a:t>Contract cancellation, DFI exit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25780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every ESG failure eventually shows up as a delay, a cost or a lost lender.</a:t>
            </a:r>
          </a:p>
        </p:txBody>
      </p:sp>
      <p:pic>
        <p:nvPicPr>
          <p:cNvPr id="18" name="Picture 1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9" name="Picture 1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IFC Performance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86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965960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PS1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1965960" cy="10972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Assessment &amp; management of E&amp;S risks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417320"/>
            <a:ext cx="1965960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PS2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920240"/>
            <a:ext cx="1965960" cy="10972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Labour &amp; working conditions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417320"/>
            <a:ext cx="1965960" cy="50292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PS3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920240"/>
            <a:ext cx="1965960" cy="10972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Resource efficiency &amp; pollution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417320"/>
            <a:ext cx="1965960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PS4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920240"/>
            <a:ext cx="1965960" cy="10972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Community health, safety &amp; security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00400"/>
            <a:ext cx="1965960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PS5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03320"/>
            <a:ext cx="1965960" cy="10972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Land acquisition &amp; involuntary resettlement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3200400"/>
            <a:ext cx="1965960" cy="50292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PS6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3703320"/>
            <a:ext cx="1965960" cy="10972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Biodiversity &amp; natural resources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3200400"/>
            <a:ext cx="1965960" cy="50292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PS7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703320"/>
            <a:ext cx="1965960" cy="10972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Indigenous peoples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3200400"/>
            <a:ext cx="1965960" cy="50292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PS8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3703320"/>
            <a:ext cx="1965960" cy="10972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Cultural heritage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120640"/>
            <a:ext cx="8321040" cy="59436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blue = most relevant for Sahel Sun. Land (PS5) is where solar projects in Nigeria most often run into trouble.</a:t>
            </a:r>
          </a:p>
        </p:txBody>
      </p:sp>
      <p:pic>
        <p:nvPicPr>
          <p:cNvPr id="22" name="Picture 21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3" name="Picture 22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002060"/>
                </a:solidFill>
              </a:rPr>
              <a:t>Equator Principles and Nigerian Sustainable Banking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40233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Calibri"/>
              </a:rPr>
              <a:t>Equator Principles: categorise every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Category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1783080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Significant, diverse, irreversible impacts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807208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Category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2807208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Limited, site-specific, reversible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831336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Category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3831336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Minimal or no adverse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371600"/>
            <a:ext cx="406908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Nigerian Sustainable Banking Principles (2012)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755648"/>
            <a:ext cx="4069080" cy="30906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Manage E&amp;S risk in lending and operations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Report E&amp;S performance regularly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Sector guidelines incl. power, oil &amp; gas, agriculture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Focus on human rights, women, financial inclusion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Backed by the CBN; applies to Nigerian banks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0749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a 50MW solar plant is usually Category B; land and community issues can push it towards A.</a:t>
            </a:r>
          </a:p>
        </p:txBody>
      </p:sp>
      <p:pic>
        <p:nvPicPr>
          <p:cNvPr id="15" name="Picture 14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6" name="Picture 15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ESG through the project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88</a:t>
            </a:r>
          </a:p>
        </p:txBody>
      </p:sp>
      <p:sp>
        <p:nvSpPr>
          <p:cNvPr id="5" name="Pentagon 4"/>
          <p:cNvSpPr/>
          <p:nvPr/>
        </p:nvSpPr>
        <p:spPr>
          <a:xfrm>
            <a:off x="411480" y="1463040"/>
            <a:ext cx="1965960" cy="54864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Develop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1965960" cy="15544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ESIA; stakeholder engagement; land due diligence</a:t>
            </a:r>
          </a:p>
        </p:txBody>
      </p:sp>
      <p:sp>
        <p:nvSpPr>
          <p:cNvPr id="7" name="Chevron 6"/>
          <p:cNvSpPr/>
          <p:nvPr/>
        </p:nvSpPr>
        <p:spPr>
          <a:xfrm>
            <a:off x="2514600" y="1463040"/>
            <a:ext cx="1965960" cy="548640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148840"/>
            <a:ext cx="1965960" cy="15544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ESAP agreed; E&amp;S covenants in loan</a:t>
            </a:r>
          </a:p>
        </p:txBody>
      </p:sp>
      <p:sp>
        <p:nvSpPr>
          <p:cNvPr id="9" name="Chevron 8"/>
          <p:cNvSpPr/>
          <p:nvPr/>
        </p:nvSpPr>
        <p:spPr>
          <a:xfrm>
            <a:off x="4617720" y="1463040"/>
            <a:ext cx="1965960" cy="548640"/>
          </a:xfrm>
          <a:prstGeom prst="chevron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148840"/>
            <a:ext cx="1965960" cy="15544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Contractor E&amp;S plan; labour, safety, grievance mechanism</a:t>
            </a:r>
          </a:p>
        </p:txBody>
      </p:sp>
      <p:sp>
        <p:nvSpPr>
          <p:cNvPr id="11" name="Chevron 10"/>
          <p:cNvSpPr/>
          <p:nvPr/>
        </p:nvSpPr>
        <p:spPr>
          <a:xfrm>
            <a:off x="6720840" y="1463040"/>
            <a:ext cx="1965960" cy="548640"/>
          </a:xfrm>
          <a:prstGeom prst="chevr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Operate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148840"/>
            <a:ext cx="1965960" cy="15544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Monitoring reports; audits; end-of-life panel plan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3886200"/>
          <a:ext cx="8321040" cy="135331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371600"/>
                <a:gridCol w="6949440"/>
              </a:tblGrid>
              <a:tr h="3383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Document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3383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ESIA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Environmental &amp; social impact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ESAP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Action plan: becomes a loan covenant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338328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Resettlement action plan (if people move)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11480" y="544068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once the ESAP is in the loan agreement, breaching it is an event of default.</a:t>
            </a:r>
          </a:p>
        </p:txBody>
      </p:sp>
      <p:pic>
        <p:nvPicPr>
          <p:cNvPr id="15" name="Picture 14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6" name="Picture 15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How good ESG lowers the cost of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89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406908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Strong ESG unlocks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4069080" cy="28163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DFI long-tenor loans (IFC, AfDB, FMO)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Green bonds: naira green bonds with InfraCredit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Climate finance, e.g. GCF FP104 Nigeria Solar IPP Support Programme (AfDB)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Broader investor base → lower margins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371600"/>
            <a:ext cx="4069080" cy="3840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Weak ESG leads 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755648"/>
            <a:ext cx="4069080" cy="28163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DFIs decline to participate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Only short, expensive commercial debt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Community disputes delay construction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Reputational and legal risk for lenders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8463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ESG is not a cost centre. It is a ticket to cheaper, longer money.</a:t>
            </a:r>
          </a:p>
        </p:txBody>
      </p:sp>
      <p:pic>
        <p:nvPicPr>
          <p:cNvPr id="10" name="Picture 9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1" name="Picture 10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Sahel Sun: ESG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RUNNING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90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8321040" cy="35204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017520"/>
                <a:gridCol w="1097280"/>
                <a:gridCol w="4206240"/>
              </a:tblGrid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lenders will require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~100 ha of land; farmers or herders using 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Land due diligence; RAP / livelihood restoration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Host community expectations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PS1, PS4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Stakeholder engagement plan; grievance mechanism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Construction workforce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PS2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Labour standards; health &amp; safety; GBV prevention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Site security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PS4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Security plan consistent with human rights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Water for panel cleaning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Water-use plan; low-water cleaning methods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End-of-life panels &amp; batteries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PS3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Decommissioning &amp; recycling plan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12064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for solar in northern Nigeria, land and community are the ESG risks most likely to delay the project.</a:t>
            </a:r>
          </a:p>
        </p:txBody>
      </p:sp>
      <p:pic>
        <p:nvPicPr>
          <p:cNvPr id="8" name="Picture 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9" name="Picture 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3154680"/>
            <a:ext cx="8321040" cy="1188720"/>
          </a:xfrm>
        </p:spPr>
        <p:txBody>
          <a:bodyPr wrap="square"/>
          <a:lstStyle/>
          <a:p>
            <a:r>
              <a:rPr sz="3000" b="1">
                <a:solidFill>
                  <a:srgbClr val="002060"/>
                </a:solidFill>
              </a:rPr>
              <a:t>Negotiation &amp; Credit Committee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88920"/>
            <a:ext cx="8229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Calibri"/>
              </a:rPr>
              <a:t>SESSION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34840"/>
            <a:ext cx="8321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Calibri"/>
              </a:rPr>
              <a:t>Objective: negotiate terms that balance sponsor, lender and public-sector interests</a:t>
            </a:r>
          </a:p>
          <a:p>
            <a:r>
              <a:rPr sz="1500" b="0">
                <a:solidFill>
                  <a:srgbClr val="595959"/>
                </a:solidFill>
                <a:latin typeface="Calibri"/>
              </a:rPr>
              <a:t>Apply a structured risk framework to a real decision: fund, restructure or reject?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395728"/>
            <a:ext cx="2057400" cy="4572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30 minutes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Anatomy of a term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92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1965960" cy="457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Amount &amp; tenor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1965960" cy="12801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US$37.4m; 15 years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371600"/>
            <a:ext cx="1965960" cy="457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828800"/>
            <a:ext cx="1965960" cy="12801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Margin over base rate; fees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371600"/>
            <a:ext cx="1965960" cy="457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Target DSCR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1965960" cy="12801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1.35x sizing; 1.20x lock-up; 1.05x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371600"/>
            <a:ext cx="1965960" cy="457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Gearing cap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828800"/>
            <a:ext cx="1965960" cy="12801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Max 70% debt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46120"/>
            <a:ext cx="1965960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Reserves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03320"/>
            <a:ext cx="1965960" cy="12801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DSRA 6 months; MRA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3246120"/>
            <a:ext cx="1965960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Conditions precedent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3703320"/>
            <a:ext cx="1965960" cy="12801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PPA, EPC, permits, ESIA, equity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3246120"/>
            <a:ext cx="1965960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Distributions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703320"/>
            <a:ext cx="1965960" cy="12801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Only if DSCR tests met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3246120"/>
            <a:ext cx="1965960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3703320"/>
            <a:ext cx="1965960" cy="12801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Shares, assets, accounts, contracts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3035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every term moves risk or return between sponsor and lender. Know what you are trading.</a:t>
            </a:r>
          </a:p>
        </p:txBody>
      </p:sp>
      <p:pic>
        <p:nvPicPr>
          <p:cNvPr id="22" name="Picture 21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3" name="Picture 22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The negotiation: what each side asks for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RUNNING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93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8321040" cy="2514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931920"/>
                <a:gridCol w="1463040"/>
                <a:gridCol w="1371600"/>
                <a:gridCol w="1554480"/>
              </a:tblGrid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Debt (US$m)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Gearing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Sponsor IRR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Base: DSCR 1.35x, 15 yrs, US$95/MWh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37.4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10.3%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Sponsor ask 1: DSCR 1.25x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38.5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10.3%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Sponsor ask 2: 18-year tenor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38.5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10.3%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Better economics: tariff US$105/MWh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38.5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14.9%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4069080"/>
            <a:ext cx="8321040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Why the sponsor's asks don't help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453128"/>
            <a:ext cx="8321040" cy="8503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Both asks hit the 70% gearing cap, so debt rises by only US$1.1m and IRR stays at ~10%. Only the tariff (economics) moves IRR materially.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48640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fight over the economics and risk allocation, not over a few basis points of cover.</a:t>
            </a:r>
          </a:p>
        </p:txBody>
      </p:sp>
      <p:pic>
        <p:nvPicPr>
          <p:cNvPr id="10" name="Picture 9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1" name="Picture 10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Credit committee simulation: the brief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94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965960" cy="4114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1965960" cy="11430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Runs the meeting; forces a 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371600"/>
            <a:ext cx="1965960" cy="4114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Relationship Manager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783080"/>
            <a:ext cx="1965960" cy="11430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Presents and supports the deal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371600"/>
            <a:ext cx="196596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Credit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783080"/>
            <a:ext cx="1965960" cy="11430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Challenges assumptions and stress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371600"/>
            <a:ext cx="196596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DFI lender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783080"/>
            <a:ext cx="1965960" cy="11430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Needs ESG compliance &amp; additionality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063240"/>
            <a:ext cx="19659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Pension fund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474720"/>
            <a:ext cx="1965960" cy="11430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Wants AAA(NG) paper, long tenor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3063240"/>
            <a:ext cx="1965960" cy="4114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Regulator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3474720"/>
            <a:ext cx="1965960" cy="11430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Prudential limits, FX exposure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063240"/>
            <a:ext cx="1965960" cy="41148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Sponsor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474720"/>
            <a:ext cx="1965960" cy="11430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Wants the deal at acceptable IRR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306324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02060"/>
                </a:solidFill>
                <a:latin typeface="Calibri"/>
              </a:rPr>
              <a:t>Output</a:t>
            </a:r>
          </a:p>
          <a:p>
            <a:pPr algn="ctr"/>
            <a:r>
              <a:rPr sz="1200" b="0">
                <a:solidFill>
                  <a:srgbClr val="002060"/>
                </a:solidFill>
                <a:latin typeface="Calibri"/>
              </a:rPr>
              <a:t>Decision + up to 3 conditions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89204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12 minutes to decide. A committee that cannot decide has decided to reject.</a:t>
            </a:r>
          </a:p>
        </p:txBody>
      </p:sp>
      <p:pic>
        <p:nvPicPr>
          <p:cNvPr id="22" name="Picture 21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23" name="Picture 22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The shock: six months after financial close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95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8321040" cy="1417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SCENARIO CARD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The naira falls 30% against the US$. The PPA only passes through 50% of FX movements. The state offtaker pays only 90% of invoices on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01752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0.98x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069080"/>
            <a:ext cx="19202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minimum DSCR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301752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1.00x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4069080"/>
            <a:ext cx="19202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LLCR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301752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069080"/>
            <a:ext cx="19202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years below 1.0x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01752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069080"/>
            <a:ext cx="19202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sponsor IRR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572000"/>
            <a:ext cx="8321040" cy="73152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002060"/>
                </a:solidFill>
                <a:latin typeface="Calibri"/>
              </a:rPr>
              <a:t>Your decision: FUND as is  •  RESTRUCTURE with conditions  •  REJECT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48640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the question is not only 'is it risky?' but 'can it be restructured to be bankable?'</a:t>
            </a:r>
          </a:p>
        </p:txBody>
      </p:sp>
      <p:pic>
        <p:nvPicPr>
          <p:cNvPr id="17" name="Picture 1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8" name="Picture 17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Testing the fixes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96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8321040" cy="30175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931920"/>
                <a:gridCol w="1097280"/>
                <a:gridCol w="1097280"/>
                <a:gridCol w="1097280"/>
                <a:gridCol w="1097280"/>
              </a:tblGrid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Structuring option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Debt (US$m)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Min DSCR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Yrs &lt; 1.0x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Sponsor IRR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Stressed deal (no fix)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37.4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Calibri"/>
                        </a:rPr>
                        <a:t>0.98x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Fix A: size at DSCR 1.50x (less debt)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33.7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1">
                          <a:solidFill>
                            <a:srgbClr val="E07B00"/>
                          </a:solidFill>
                          <a:latin typeface="Calibri"/>
                        </a:rPr>
                        <a:t>1.09x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Fix B: payment security (LC/PRG) → 100% paid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37.4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1">
                          <a:solidFill>
                            <a:srgbClr val="E07B00"/>
                          </a:solidFill>
                          <a:latin typeface="Calibri"/>
                        </a:rPr>
                        <a:t>1.11x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Fix C: full FX pass-through in PPA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37.4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1">
                          <a:solidFill>
                            <a:srgbClr val="E07B00"/>
                          </a:solidFill>
                          <a:latin typeface="Calibri"/>
                        </a:rPr>
                        <a:t>1.19x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6.2%</a:t>
                      </a:r>
                    </a:p>
                  </a:txBody>
                  <a:tcPr marL="54864" marR="54864" marT="27432" marB="27432" anchor="ctr"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Fix B + C together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37.4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Calibri"/>
                        </a:rPr>
                        <a:t>1.35x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10.3%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4572000"/>
            <a:ext cx="8321040" cy="59436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contract fixes (payment security + FX pass-through) restore bankability; cutting debt alone does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03520"/>
            <a:ext cx="832104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All results from the Sahel Sun template: debt sized on the base case, stresses applied after close.</a:t>
            </a:r>
          </a:p>
        </p:txBody>
      </p:sp>
      <p:pic>
        <p:nvPicPr>
          <p:cNvPr id="9" name="Picture 8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0" name="Picture 9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What a strong committee answer looks like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9400" y="6391656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97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832104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Decision: RESTRUCTURE and fund, subject to three conditions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404872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758952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Amend the PPA for full US$ indexation (FX pass-through), or convert more debt to naira via InfraCredit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73552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200400"/>
            <a:ext cx="758952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Payment security: 6-month letter of credit backed by a DFI or state guarantee; escrow of offtaker receivables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142231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69079"/>
            <a:ext cx="758952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Keep the 1.35x sizing, 1.20x lock-up and 6-month DSRA; sponsor tops up the DSRA if DSCR &lt; 1.10x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02920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good credit decisions name the risk, name the fix and name who pays for the fix.</a:t>
            </a:r>
          </a:p>
        </p:txBody>
      </p:sp>
      <p:pic>
        <p:nvPicPr>
          <p:cNvPr id="14" name="Picture 13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5" name="Picture 14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002060"/>
                </a:solidFill>
              </a:rPr>
              <a:t>Take it home: five questions for your institution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98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417320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763524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Who pays, in what currency, and how certain is the payment?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219456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763524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Which risks have no named owner and no named instrument?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971800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763524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What is the minimum DSCR in a realistic downside, not just the base case?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749039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763524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Which DFI, guarantee or bond structure could lengthen our tenor?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452628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80560"/>
            <a:ext cx="763524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Does the project meet IFC PS / Equator / NSBP, and is the ESAP in the loan?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39496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put these five questions into your credit paper template.</a:t>
            </a:r>
          </a:p>
        </p:txBody>
      </p:sp>
      <p:pic>
        <p:nvPicPr>
          <p:cNvPr id="16" name="Picture 1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7" name="Picture 1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Module 2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99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2697480" cy="4114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83080"/>
            <a:ext cx="2697480" cy="13716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Every risk → effect on DSCR; allocate by control, then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8688" y="1371600"/>
            <a:ext cx="2697480" cy="4114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Nigeria's big two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783080"/>
            <a:ext cx="2697480" cy="13716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Offtaker payment and FX pass-through</a:t>
            </a:r>
          </a:p>
        </p:txBody>
      </p:sp>
      <p:sp>
        <p:nvSpPr>
          <p:cNvPr id="9" name="Rectangle 8"/>
          <p:cNvSpPr/>
          <p:nvPr/>
        </p:nvSpPr>
        <p:spPr>
          <a:xfrm>
            <a:off x="6025896" y="1371600"/>
            <a:ext cx="2697480" cy="4114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25896" y="1783080"/>
            <a:ext cx="2697480" cy="13716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Choose the model by who can pay; follow ICRC steps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291840"/>
            <a:ext cx="2697480" cy="4114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Blended finance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703320"/>
            <a:ext cx="2697480" cy="13716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Guarantees crowd in private money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3291840"/>
            <a:ext cx="2697480" cy="4114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ESG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3703320"/>
            <a:ext cx="2697480" cy="13716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A credit issue and a ticket to cheaper money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25896" y="3291840"/>
            <a:ext cx="2697480" cy="4114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Negotiation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25896" y="3703320"/>
            <a:ext cx="2697480" cy="13716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Fight on economics and allocation, not basis 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34924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a bankable project is a well-allocated set of risks with a creditworthy payer at the end.</a:t>
            </a:r>
          </a:p>
        </p:txBody>
      </p:sp>
      <p:pic>
        <p:nvPicPr>
          <p:cNvPr id="18" name="Picture 17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9" name="Picture 18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01168"/>
            <a:ext cx="4434840" cy="896112"/>
          </a:xfrm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02060"/>
                </a:solidFill>
              </a:rPr>
              <a:t>Further reading and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6217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FFFFF"/>
                </a:solidFill>
                <a:latin typeface="Calibri"/>
              </a:rPr>
              <a:t>MIPF Boot Camp, Day 1  |  Infrastructure Finance: Structuring, Risk Management &amp; Sustainable Project Delivery  |  14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406908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4069080" cy="3593591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Yescombe, Principles of Project Finance: Ch. 2 (what is PF), Ch. 5 (lenders), Ch. 8–10 (commercial, macro, political risk), Ch. 12 (modelling)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Bodmer, Corporate and Project Finance Modeling: Ch. 12 (adding debt)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Pignataro, Financial Modeling and Valuation (corporate model contrast)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371600"/>
            <a:ext cx="4069080" cy="3840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Institutions &amp; frameworks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755648"/>
            <a:ext cx="4069080" cy="3593591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ICRC: icrc.gov.ng (PPP process &amp; certificates)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InfraCredit: infracredit.ng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IFC Performance Standards (2012)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Equator Principles (EP4)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Nigerian Sustainable Banking Principles (2012)</a:t>
            </a:r>
          </a:p>
          <a:p>
            <a:pPr algn="l" marL="219456" indent="-18288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World Bank PPP Reference Guide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532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002060"/>
                </a:solidFill>
                <a:latin typeface="Calibri"/>
              </a:rPr>
              <a:t>KEY POINT:  your take-home kit: this deck, the Sahel Sun Excel template, the workbook and the primer.</a:t>
            </a:r>
          </a:p>
        </p:txBody>
      </p:sp>
      <p:pic>
        <p:nvPicPr>
          <p:cNvPr id="10" name="Picture 9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11" name="Picture 10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2011680"/>
            <a:ext cx="8321040" cy="2103120"/>
          </a:xfrm>
        </p:spPr>
        <p:txBody>
          <a:bodyPr anchor="b"/>
          <a:lstStyle/>
          <a:p>
            <a:r>
              <a:rPr sz="4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4754880"/>
            <a:ext cx="493776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500" b="1">
                <a:solidFill>
                  <a:srgbClr val="002060"/>
                </a:solidFill>
                <a:latin typeface="Calibri"/>
              </a:rPr>
              <a:t>Prof. Bongo Adi</a:t>
            </a:r>
          </a:p>
          <a:p>
            <a:pPr algn="r"/>
            <a:r>
              <a:rPr sz="1300" b="0">
                <a:solidFill>
                  <a:srgbClr val="002060"/>
                </a:solidFill>
                <a:latin typeface="Calibri"/>
              </a:rPr>
              <a:t>Lagos Business School, Pan-Atlantic University</a:t>
            </a:r>
          </a:p>
          <a:p>
            <a:pPr algn="r"/>
            <a:r>
              <a:rPr sz="1300" b="0">
                <a:solidFill>
                  <a:srgbClr val="002060"/>
                </a:solidFill>
                <a:latin typeface="Calibri"/>
              </a:rPr>
              <a:t>badi@lbs.edu.ng  |  +234 706 164 8699  |  bongo.adi@fulbrightmail.org</a:t>
            </a:r>
          </a:p>
        </p:txBody>
      </p:sp>
      <p:pic>
        <p:nvPicPr>
          <p:cNvPr id="4" name="Picture 3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384048" cy="384048"/>
          </a:xfrm>
          <a:prstGeom prst="rect">
            <a:avLst/>
          </a:prstGeom>
        </p:spPr>
      </p:pic>
      <p:pic>
        <p:nvPicPr>
          <p:cNvPr id="5" name="Picture 4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LBS">
      <a:dk1>
        <a:srgbClr val="002060"/>
      </a:dk1>
      <a:lt1>
        <a:srgbClr val="FFFFFF"/>
      </a:lt1>
      <a:dk2>
        <a:srgbClr val="002060"/>
      </a:dk2>
      <a:lt2>
        <a:srgbClr val="00B0F0"/>
      </a:lt2>
      <a:accent1>
        <a:srgbClr val="94B6D2"/>
      </a:accent1>
      <a:accent2>
        <a:srgbClr val="0070C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BS PP Template-May 15" id="{6DBFA9BD-802A-9746-B35D-7443839016DF}" vid="{E7EC011B-8E6A-784E-8424-3C43F13906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LBS PP Template-May 15</Template>
  <TotalTime>311</TotalTime>
  <Words>2593</Words>
  <Application>Microsoft Office PowerPoint</Application>
  <PresentationFormat>On-screen Show (4:3)</PresentationFormat>
  <Paragraphs>254</Paragraphs>
  <Slides>36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Humnst777 BT</vt:lpstr>
      <vt:lpstr>Palatino Linotype</vt:lpstr>
      <vt:lpstr>Segoe UI</vt:lpstr>
      <vt:lpstr>Verdana</vt:lpstr>
      <vt:lpstr>Custom Design</vt:lpstr>
      <vt:lpstr>Understanding Infrastructure Challenges and PPPs</vt:lpstr>
      <vt:lpstr>Infrastructure: What is it?</vt:lpstr>
      <vt:lpstr>Infrastructure </vt:lpstr>
      <vt:lpstr>Non-traditional Infrastructure</vt:lpstr>
      <vt:lpstr>Networks and Local Utilities </vt:lpstr>
      <vt:lpstr>Two generalizations about traditional Infrastructure</vt:lpstr>
      <vt:lpstr>Economic Rationale for Open Access</vt:lpstr>
      <vt:lpstr>Comedy vs Tragedy of the Commons</vt:lpstr>
      <vt:lpstr>Classification of Infrastructure Resources</vt:lpstr>
      <vt:lpstr>Resource Classification</vt:lpstr>
      <vt:lpstr>Characteristics of Infrastructure</vt:lpstr>
      <vt:lpstr>Overview of Total Core Infrastructure Stock per Country</vt:lpstr>
      <vt:lpstr>Nigeria’s core infrastructure stock level compared to benchmark countries</vt:lpstr>
      <vt:lpstr>Overview of Current Infra Spend in Nigeria</vt:lpstr>
      <vt:lpstr>Example benchmarks of Infrastructure stock</vt:lpstr>
      <vt:lpstr>Overview of starting position per region</vt:lpstr>
      <vt:lpstr>Asset Class Allocation per Region: 2014 - 2043</vt:lpstr>
      <vt:lpstr>PowerPoint Presentation</vt:lpstr>
      <vt:lpstr>Management mode of public utility: (1) Direct Management</vt:lpstr>
      <vt:lpstr>Management modes of a public utility: (2) Delegated Management</vt:lpstr>
      <vt:lpstr>….. Public Vs Private Provision</vt:lpstr>
      <vt:lpstr>PPP</vt:lpstr>
      <vt:lpstr>Components of PPP</vt:lpstr>
      <vt:lpstr>…. PPP Components</vt:lpstr>
      <vt:lpstr>Terminologies</vt:lpstr>
      <vt:lpstr>…. Terminologies</vt:lpstr>
      <vt:lpstr>PPP Value Drivers</vt:lpstr>
      <vt:lpstr>…..PPP Value Drivers </vt:lpstr>
      <vt:lpstr>Rationale for PPPs</vt:lpstr>
      <vt:lpstr>Drawbacks of Delegation</vt:lpstr>
      <vt:lpstr>The Performance Issue</vt:lpstr>
      <vt:lpstr>PPPs: Mixed Result</vt:lpstr>
      <vt:lpstr>What’s deterring private investment?</vt:lpstr>
      <vt:lpstr>Comparison of Nigeria’s PPP Project count to other countries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Infrastructure Challenges and PPPs</dc:title>
  <dc:creator>bongo.adi@gmail.com</dc:creator>
  <cp:lastModifiedBy>Bongo Adi</cp:lastModifiedBy>
  <cp:revision>3</cp:revision>
  <dcterms:created xsi:type="dcterms:W3CDTF">2017-10-03T03:00:47Z</dcterms:created>
  <dcterms:modified xsi:type="dcterms:W3CDTF">2025-10-20T03:47:27Z</dcterms:modified>
</cp:coreProperties>
</file>