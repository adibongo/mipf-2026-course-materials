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notesSlide" Target="../notesSlides/notesSlide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notesSlide" Target="../notesSlides/notesSlide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notesSlide" Target="../notesSlides/notesSlide1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notesSlide" Target="../notesSlides/notesSlide1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notesSlide" Target="../notesSlides/notesSlide1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notesSlide" Target="../notesSlides/notesSlide1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notesSlide" Target="../notesSlides/notesSlide18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notesSlide" Target="../notesSlides/notesSlide19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notesSlide" Target="../notesSlides/notesSlide20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notesSlide" Target="../notesSlides/notesSlide2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notesSlide" Target="../notesSlides/notesSlide2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notesSlide" Target="../notesSlides/notesSlide23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notesSlide" Target="../notesSlides/notesSlide24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notesSlide" Target="../notesSlides/notesSlide25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notesSlide" Target="../notesSlides/notesSlide26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notesSlide" Target="../notesSlides/notesSlide2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notesSlide" Target="../notesSlides/notesSlide28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notesSlide" Target="../notesSlides/notesSlide29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notesSlide" Target="../notesSlides/notesSlide30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notesSlide" Target="../notesSlides/notesSlide31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notesSlide" Target="../notesSlides/notesSlide3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notesSlide" Target="../notesSlides/notesSlide33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notesSlide" Target="../notesSlides/notesSlide34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notesSlide" Target="../notesSlides/notesSlide35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notesSlide" Target="../notesSlides/notesSlide36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notesSlide" Target="../notesSlides/notesSlide3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notesSlide" Target="../notesSlides/notesSlide38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notesSlide" Target="../notesSlides/notesSlide39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notesSlide" Target="../notesSlides/notesSlide40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notesSlide" Target="../notesSlides/notesSlide41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notesSlide" Target="../notesSlides/notesSlide42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notesSlide" Target="../notesSlides/notesSlide43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notesSlide" Target="../notesSlides/notesSlide44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notesSlide" Target="../notesSlides/notesSlide45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411480"/>
            <a:ext cx="3200400" cy="1051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b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502920"/>
            <a:ext cx="2516682" cy="868680"/>
          </a:xfrm>
          <a:prstGeom prst="rect">
            <a:avLst/>
          </a:prstGeom>
        </p:spPr>
      </p:pic>
      <p:pic>
        <p:nvPicPr>
          <p:cNvPr id="4" name="Picture 3" descr="mipf_he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457200"/>
            <a:ext cx="2377440" cy="2377440"/>
          </a:xfrm>
          <a:prstGeom prst="rect">
            <a:avLst/>
          </a:prstGeom>
        </p:spPr>
      </p:pic>
      <p:pic>
        <p:nvPicPr>
          <p:cNvPr id="5" name="Picture 4" descr="bongo_ai_hex_dark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07040" y="5074920"/>
            <a:ext cx="1188720" cy="1188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0" y="6035040"/>
            <a:ext cx="146304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b="0" sz="1100" i="0">
                <a:solidFill>
                  <a:srgbClr val="C9D3F5"/>
                </a:solidFill>
                <a:latin typeface="Calibri"/>
              </a:rPr>
              <a:t>bongo.ai  ·  MIPF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31720"/>
            <a:ext cx="84124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400" i="0">
                <a:solidFill>
                  <a:srgbClr val="D99A2B"/>
                </a:solidFill>
                <a:latin typeface="Calibri"/>
              </a:rPr>
              <a:t>MASTERING INFRASTRUCTURE AND PROJECT FINANCE BOOT CAMP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743200"/>
            <a:ext cx="8595360" cy="1737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4000" i="0">
                <a:solidFill>
                  <a:srgbClr val="FFFFFF"/>
                </a:solidFill>
                <a:latin typeface="Georgia"/>
              </a:rPr>
              <a:t>Excel Foundations for Project Finance Modelling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526280"/>
            <a:ext cx="8595360" cy="822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800" i="0">
                <a:solidFill>
                  <a:srgbClr val="D8DEF5"/>
                </a:solidFill>
                <a:latin typeface="Calibri"/>
              </a:rPr>
              <a:t>A zero-knowledge tutorial: spreadsheets, formulas, references, functions, shortcuts (Windows and Mac) and model-building habits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669280"/>
            <a:ext cx="859536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500" i="0">
                <a:solidFill>
                  <a:srgbClr val="FFFFFF"/>
                </a:solidFill>
                <a:latin typeface="Calibri"/>
              </a:rPr>
              <a:t>Used on Day 3 (4.30 pm preview) and as the opening of Day 4  |  Facilitator: Promise Godbold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053328"/>
            <a:ext cx="10058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100" i="0">
                <a:solidFill>
                  <a:srgbClr val="C9D3F5"/>
                </a:solidFill>
                <a:latin typeface="Calibri"/>
              </a:rPr>
              <a:t>Prof Bongo Adi  |  +234 706 164 8699  |  badi@lbs.edu.ng  |  bongo.adi@fulbrightmail.org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5532120"/>
            <a:ext cx="2194560" cy="38100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178308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D99A2B"/>
                </a:solidFill>
                <a:latin typeface="Calibri"/>
              </a:rPr>
              <a:t>PARTICIPANT EDITION  ·  exercise answers and facilitator notes are withheld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19088"/>
            <a:ext cx="12191695" cy="9525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b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6492240"/>
            <a:ext cx="821233" cy="2834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5448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000" i="0">
                <a:solidFill>
                  <a:srgbClr val="5C6B7A"/>
                </a:solidFill>
                <a:latin typeface="Calibri"/>
              </a:rPr>
              <a:t>MIPF Boot Camp  |  Excel Foundations  |  Excel from zero for project finance modelling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649224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b="0" sz="1000" i="0">
                <a:solidFill>
                  <a:srgbClr val="5C6B7A"/>
                </a:solidFill>
                <a:latin typeface="Calibri"/>
              </a:rPr>
              <a:t>2</a:t>
            </a:r>
          </a:p>
        </p:txBody>
      </p:sp>
      <p:pic>
        <p:nvPicPr>
          <p:cNvPr id="6" name="Picture 5" descr="mipf_hex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6446520"/>
            <a:ext cx="365760" cy="365760"/>
          </a:xfrm>
          <a:prstGeom prst="rect">
            <a:avLst/>
          </a:prstGeom>
        </p:spPr>
      </p:pic>
      <p:pic>
        <p:nvPicPr>
          <p:cNvPr id="7" name="Picture 6" descr="bongo_ai_hex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0" y="6446520"/>
            <a:ext cx="365760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237744"/>
            <a:ext cx="112471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100" i="0">
                <a:solidFill>
                  <a:srgbClr val="A8700F"/>
                </a:solidFill>
                <a:latin typeface="Calibri"/>
              </a:rPr>
              <a:t>OUTCOMES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5488"/>
            <a:ext cx="1124712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b="1" sz="2800" i="0">
                <a:solidFill>
                  <a:srgbClr val="141B4D"/>
                </a:solidFill>
                <a:latin typeface="Georgia"/>
              </a:rPr>
              <a:t>What you will be able to do by the end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52728"/>
            <a:ext cx="1463040" cy="38100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5087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b="0" sz="2000" i="0">
                <a:solidFill>
                  <a:srgbClr val="1A2233"/>
                </a:solidFill>
                <a:latin typeface="Calibri"/>
              </a:rPr>
              <a:t>▪ Read any cell address and say what is in it (Name Box, formula bar)</a:t>
            </a:r>
          </a:p>
          <a:p>
            <a:pPr>
              <a:spcAft>
                <a:spcPts val="700"/>
              </a:spcAft>
            </a:pPr>
            <a:r>
              <a:rPr b="0" sz="2000" i="0">
                <a:solidFill>
                  <a:srgbClr val="1A2233"/>
                </a:solidFill>
                <a:latin typeface="Calibri"/>
              </a:rPr>
              <a:t>▪ Write a formula, copy it, and predict what each copied formula will say</a:t>
            </a:r>
          </a:p>
          <a:p>
            <a:pPr>
              <a:spcAft>
                <a:spcPts val="700"/>
              </a:spcAft>
            </a:pPr>
            <a:r>
              <a:rPr b="0" sz="2000" i="0">
                <a:solidFill>
                  <a:srgbClr val="1A2233"/>
                </a:solidFill>
                <a:latin typeface="Calibri"/>
              </a:rPr>
              <a:t>▪ Use $ signs correctly: </a:t>
            </a:r>
            <a:r>
              <a:rPr b="0" sz="2000" i="0">
                <a:solidFill>
                  <a:srgbClr val="0B5E82"/>
                </a:solidFill>
                <a:latin typeface="Consolas"/>
              </a:rPr>
              <a:t>$F37</a:t>
            </a:r>
            <a:r>
              <a:rPr b="0" sz="2000" i="0">
                <a:solidFill>
                  <a:srgbClr val="1A2233"/>
                </a:solidFill>
                <a:latin typeface="Calibri"/>
              </a:rPr>
              <a:t>, </a:t>
            </a:r>
            <a:r>
              <a:rPr b="0" sz="2000" i="0">
                <a:solidFill>
                  <a:srgbClr val="0B5E82"/>
                </a:solidFill>
                <a:latin typeface="Consolas"/>
              </a:rPr>
              <a:t>J$39</a:t>
            </a:r>
            <a:r>
              <a:rPr b="0" sz="2000" i="0">
                <a:solidFill>
                  <a:srgbClr val="1A2233"/>
                </a:solidFill>
                <a:latin typeface="Calibri"/>
              </a:rPr>
              <a:t>, </a:t>
            </a:r>
            <a:r>
              <a:rPr b="0" sz="2000" i="0">
                <a:solidFill>
                  <a:srgbClr val="0B5E82"/>
                </a:solidFill>
                <a:latin typeface="Consolas"/>
              </a:rPr>
              <a:t>$F$4</a:t>
            </a:r>
          </a:p>
          <a:p>
            <a:pPr>
              <a:spcAft>
                <a:spcPts val="700"/>
              </a:spcAft>
            </a:pPr>
            <a:r>
              <a:rPr b="0" sz="2000" i="0">
                <a:solidFill>
                  <a:srgbClr val="1A2233"/>
                </a:solidFill>
                <a:latin typeface="Calibri"/>
              </a:rPr>
              <a:t>▪ Use the 12 functions that build 95% of a project finance model</a:t>
            </a:r>
          </a:p>
          <a:p>
            <a:pPr>
              <a:spcAft>
                <a:spcPts val="700"/>
              </a:spcAft>
            </a:pPr>
            <a:r>
              <a:rPr b="0" sz="2000" i="0">
                <a:solidFill>
                  <a:srgbClr val="1A2233"/>
                </a:solidFill>
                <a:latin typeface="Calibri"/>
              </a:rPr>
              <a:t>▪ Move, select, fill and audit with the keyboard on Windows or Mac</a:t>
            </a:r>
          </a:p>
          <a:p>
            <a:pPr>
              <a:spcAft>
                <a:spcPts val="700"/>
              </a:spcAft>
            </a:pPr>
            <a:r>
              <a:rPr b="0" sz="2000" i="0">
                <a:solidFill>
                  <a:srgbClr val="1A2233"/>
                </a:solidFill>
                <a:latin typeface="Calibri"/>
              </a:rPr>
              <a:t>▪ Follow the TrainStat layout: label, constant, unit, total, timeline</a:t>
            </a:r>
          </a:p>
          <a:p>
            <a:pPr>
              <a:spcAft>
                <a:spcPts val="700"/>
              </a:spcAft>
            </a:pPr>
            <a:r>
              <a:rPr b="0" sz="2000" i="0">
                <a:solidFill>
                  <a:srgbClr val="1A2233"/>
                </a:solidFill>
                <a:latin typeface="Calibri"/>
              </a:rPr>
              <a:t>▪ Spot and fix the six common Excel errors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19088"/>
            <a:ext cx="12191695" cy="9525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b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6492240"/>
            <a:ext cx="821233" cy="2834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5448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000" i="0">
                <a:solidFill>
                  <a:srgbClr val="5C6B7A"/>
                </a:solidFill>
                <a:latin typeface="Calibri"/>
              </a:rPr>
              <a:t>MIPF Boot Camp  |  Excel Foundations  |  Excel from zero for project finance modelling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649224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b="0" sz="1000" i="0">
                <a:solidFill>
                  <a:srgbClr val="5C6B7A"/>
                </a:solidFill>
                <a:latin typeface="Calibri"/>
              </a:rPr>
              <a:t>3</a:t>
            </a:r>
          </a:p>
        </p:txBody>
      </p:sp>
      <p:pic>
        <p:nvPicPr>
          <p:cNvPr id="6" name="Picture 5" descr="mipf_hex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6446520"/>
            <a:ext cx="365760" cy="365760"/>
          </a:xfrm>
          <a:prstGeom prst="rect">
            <a:avLst/>
          </a:prstGeom>
        </p:spPr>
      </p:pic>
      <p:pic>
        <p:nvPicPr>
          <p:cNvPr id="7" name="Picture 6" descr="bongo_ai_hex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0" y="6446520"/>
            <a:ext cx="365760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237744"/>
            <a:ext cx="112471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100" i="0">
                <a:solidFill>
                  <a:srgbClr val="A8700F"/>
                </a:solidFill>
                <a:latin typeface="Calibri"/>
              </a:rPr>
              <a:t>SETUP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5488"/>
            <a:ext cx="1124712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b="1" sz="2800" i="0">
                <a:solidFill>
                  <a:srgbClr val="141B4D"/>
                </a:solidFill>
                <a:latin typeface="Georgia"/>
              </a:rPr>
              <a:t>How to read this deck: Windows and Mac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52728"/>
            <a:ext cx="1463040" cy="38100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463040"/>
            <a:ext cx="5394960" cy="411480"/>
          </a:xfrm>
          <a:prstGeom prst="rect">
            <a:avLst/>
          </a:prstGeom>
          <a:solidFill>
            <a:srgbClr val="141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27432" bIns="27432"/>
          <a:lstStyle/>
          <a:p>
            <a:pPr algn="l"/>
            <a:r>
              <a:rPr b="1" sz="1700" i="0">
                <a:solidFill>
                  <a:srgbClr val="FFFFFF"/>
                </a:solidFill>
                <a:latin typeface="Calibri"/>
              </a:rPr>
              <a:t>Windows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874519"/>
            <a:ext cx="5394960" cy="3611880"/>
          </a:xfrm>
          <a:prstGeom prst="rect">
            <a:avLst/>
          </a:prstGeom>
          <a:solidFill>
            <a:srgbClr val="F3F6F9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1938528"/>
            <a:ext cx="52578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0" sz="1700" i="0">
                <a:solidFill>
                  <a:srgbClr val="1A2233"/>
                </a:solidFill>
                <a:latin typeface="Calibri"/>
              </a:rPr>
              <a:t>▪ </a:t>
            </a:r>
            <a:r>
              <a:rPr b="0" sz="1700" i="0">
                <a:solidFill>
                  <a:srgbClr val="0B5E82"/>
                </a:solidFill>
                <a:latin typeface="Consolas"/>
              </a:rPr>
              <a:t>Ctrl</a:t>
            </a:r>
            <a:r>
              <a:rPr b="0" sz="1700" i="0">
                <a:solidFill>
                  <a:srgbClr val="1A2233"/>
                </a:solidFill>
                <a:latin typeface="Calibri"/>
              </a:rPr>
              <a:t> is the Control key</a:t>
            </a:r>
          </a:p>
          <a:p>
            <a:pPr>
              <a:spcAft>
                <a:spcPts val="600"/>
              </a:spcAft>
            </a:pPr>
            <a:r>
              <a:rPr b="0" sz="1700" i="0">
                <a:solidFill>
                  <a:srgbClr val="1A2233"/>
                </a:solidFill>
                <a:latin typeface="Calibri"/>
              </a:rPr>
              <a:t>▪ </a:t>
            </a:r>
            <a:r>
              <a:rPr b="0" sz="1700" i="0">
                <a:solidFill>
                  <a:srgbClr val="0B5E82"/>
                </a:solidFill>
                <a:latin typeface="Consolas"/>
              </a:rPr>
              <a:t>Alt</a:t>
            </a:r>
            <a:r>
              <a:rPr b="0" sz="1700" i="0">
                <a:solidFill>
                  <a:srgbClr val="1A2233"/>
                </a:solidFill>
                <a:latin typeface="Calibri"/>
              </a:rPr>
              <a:t> opens ribbon key tips (Alt then letters)</a:t>
            </a:r>
          </a:p>
          <a:p>
            <a:pPr>
              <a:spcAft>
                <a:spcPts val="600"/>
              </a:spcAft>
            </a:pPr>
            <a:r>
              <a:rPr b="0" sz="1700" i="0">
                <a:solidFill>
                  <a:srgbClr val="1A2233"/>
                </a:solidFill>
                <a:latin typeface="Calibri"/>
              </a:rPr>
              <a:t>▪ Function keys work directly: </a:t>
            </a:r>
            <a:r>
              <a:rPr b="0" sz="1700" i="0">
                <a:solidFill>
                  <a:srgbClr val="0B5E82"/>
                </a:solidFill>
                <a:latin typeface="Consolas"/>
              </a:rPr>
              <a:t>F2</a:t>
            </a:r>
            <a:r>
              <a:rPr b="0" sz="1700" i="0">
                <a:solidFill>
                  <a:srgbClr val="1A2233"/>
                </a:solidFill>
                <a:latin typeface="Calibri"/>
              </a:rPr>
              <a:t>, </a:t>
            </a:r>
            <a:r>
              <a:rPr b="0" sz="1700" i="0">
                <a:solidFill>
                  <a:srgbClr val="0B5E82"/>
                </a:solidFill>
                <a:latin typeface="Consolas"/>
              </a:rPr>
              <a:t>F4</a:t>
            </a:r>
            <a:r>
              <a:rPr b="0" sz="1700" i="0">
                <a:solidFill>
                  <a:srgbClr val="1A2233"/>
                </a:solidFill>
                <a:latin typeface="Calibri"/>
              </a:rPr>
              <a:t>, </a:t>
            </a:r>
            <a:r>
              <a:rPr b="0" sz="1700" i="0">
                <a:solidFill>
                  <a:srgbClr val="0B5E82"/>
                </a:solidFill>
                <a:latin typeface="Consolas"/>
              </a:rPr>
              <a:t>F9</a:t>
            </a:r>
          </a:p>
          <a:p>
            <a:pPr>
              <a:spcAft>
                <a:spcPts val="600"/>
              </a:spcAft>
            </a:pPr>
            <a:r>
              <a:rPr b="0" sz="1700" i="0">
                <a:solidFill>
                  <a:srgbClr val="1A2233"/>
                </a:solidFill>
                <a:latin typeface="Calibri"/>
              </a:rPr>
              <a:t>▪ Right-click: right mouse button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1463040"/>
            <a:ext cx="5394960" cy="411480"/>
          </a:xfrm>
          <a:prstGeom prst="rect">
            <a:avLst/>
          </a:prstGeom>
          <a:solidFill>
            <a:srgbClr val="141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27432" bIns="27432"/>
          <a:lstStyle/>
          <a:p>
            <a:pPr algn="l"/>
            <a:r>
              <a:rPr b="1" sz="1700" i="0">
                <a:solidFill>
                  <a:srgbClr val="FFFFFF"/>
                </a:solidFill>
                <a:latin typeface="Calibri"/>
              </a:rPr>
              <a:t>Mac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1874519"/>
            <a:ext cx="5394960" cy="3611880"/>
          </a:xfrm>
          <a:prstGeom prst="rect">
            <a:avLst/>
          </a:prstGeom>
          <a:solidFill>
            <a:srgbClr val="F3F6F9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36792" y="1938528"/>
            <a:ext cx="52578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0" sz="1700" i="0">
                <a:solidFill>
                  <a:srgbClr val="1A2233"/>
                </a:solidFill>
                <a:latin typeface="Calibri"/>
              </a:rPr>
              <a:t>▪ Most </a:t>
            </a:r>
            <a:r>
              <a:rPr b="0" sz="1700" i="0">
                <a:solidFill>
                  <a:srgbClr val="0B5E82"/>
                </a:solidFill>
                <a:latin typeface="Consolas"/>
              </a:rPr>
              <a:t>Ctrl</a:t>
            </a:r>
            <a:r>
              <a:rPr b="0" sz="1700" i="0">
                <a:solidFill>
                  <a:srgbClr val="1A2233"/>
                </a:solidFill>
                <a:latin typeface="Calibri"/>
              </a:rPr>
              <a:t> shortcuts become </a:t>
            </a:r>
            <a:r>
              <a:rPr b="0" sz="1700" i="0">
                <a:solidFill>
                  <a:srgbClr val="0B5E82"/>
                </a:solidFill>
                <a:latin typeface="Consolas"/>
              </a:rPr>
              <a:t>Cmd</a:t>
            </a:r>
            <a:r>
              <a:rPr b="0" sz="1700" i="0">
                <a:solidFill>
                  <a:srgbClr val="1A2233"/>
                </a:solidFill>
                <a:latin typeface="Calibri"/>
              </a:rPr>
              <a:t> (⌘); some stay </a:t>
            </a:r>
            <a:r>
              <a:rPr b="0" sz="1700" i="0">
                <a:solidFill>
                  <a:srgbClr val="0B5E82"/>
                </a:solidFill>
                <a:latin typeface="Consolas"/>
              </a:rPr>
              <a:t>Ctrl</a:t>
            </a:r>
          </a:p>
          <a:p>
            <a:pPr>
              <a:spcAft>
                <a:spcPts val="600"/>
              </a:spcAft>
            </a:pPr>
            <a:r>
              <a:rPr b="0" sz="1700" i="0">
                <a:solidFill>
                  <a:srgbClr val="1A2233"/>
                </a:solidFill>
                <a:latin typeface="Calibri"/>
              </a:rPr>
              <a:t>▪ No Alt key tips: use the ribbon menus</a:t>
            </a:r>
          </a:p>
          <a:p>
            <a:pPr>
              <a:spcAft>
                <a:spcPts val="600"/>
              </a:spcAft>
            </a:pPr>
            <a:r>
              <a:rPr b="0" sz="1700" i="0">
                <a:solidFill>
                  <a:srgbClr val="1A2233"/>
                </a:solidFill>
                <a:latin typeface="Calibri"/>
              </a:rPr>
              <a:t>▪ Function keys may need </a:t>
            </a:r>
            <a:r>
              <a:rPr b="0" sz="1700" i="0">
                <a:solidFill>
                  <a:srgbClr val="0B5E82"/>
                </a:solidFill>
                <a:latin typeface="Consolas"/>
              </a:rPr>
              <a:t>Fn</a:t>
            </a:r>
            <a:r>
              <a:rPr b="0" sz="1700" i="0">
                <a:solidFill>
                  <a:srgbClr val="1A2233"/>
                </a:solidFill>
                <a:latin typeface="Calibri"/>
              </a:rPr>
              <a:t> first (F2 → Fn+F2); </a:t>
            </a:r>
            <a:r>
              <a:rPr b="0" sz="1700" i="0">
                <a:solidFill>
                  <a:srgbClr val="0B5E82"/>
                </a:solidFill>
                <a:latin typeface="Consolas"/>
              </a:rPr>
              <a:t>Ctrl+U</a:t>
            </a:r>
            <a:r>
              <a:rPr b="0" sz="1700" i="0">
                <a:solidFill>
                  <a:srgbClr val="1A2233"/>
                </a:solidFill>
                <a:latin typeface="Calibri"/>
              </a:rPr>
              <a:t> edits a cell</a:t>
            </a:r>
          </a:p>
          <a:p>
            <a:pPr>
              <a:spcAft>
                <a:spcPts val="600"/>
              </a:spcAft>
            </a:pPr>
            <a:r>
              <a:rPr b="0" sz="1700" i="0">
                <a:solidFill>
                  <a:srgbClr val="1A2233"/>
                </a:solidFill>
                <a:latin typeface="Calibri"/>
              </a:rPr>
              <a:t>▪ Right-click: two-finger tap or Ctrl+click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486400"/>
            <a:ext cx="11064240" cy="731520"/>
          </a:xfrm>
          <a:prstGeom prst="rect">
            <a:avLst/>
          </a:prstGeom>
          <a:solidFill>
            <a:srgbClr val="E7F1F6"/>
          </a:solidFill>
          <a:ln w="15240"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5486400"/>
            <a:ext cx="82296" cy="73152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5486400"/>
            <a:ext cx="10835640" cy="7315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b="0" sz="1400" i="0">
                <a:solidFill>
                  <a:srgbClr val="1A2233"/>
                </a:solidFill>
                <a:latin typeface="Calibri"/>
              </a:rPr>
              <a:t>Every keystroke in this course is shown for both systems side by side. If a Mac shortcut is a menu path, it says so.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19088"/>
            <a:ext cx="12191695" cy="9525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6464808"/>
            <a:ext cx="1051560" cy="3474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b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6492240"/>
            <a:ext cx="821233" cy="28346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5448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000" i="0">
                <a:solidFill>
                  <a:srgbClr val="C9D3F5"/>
                </a:solidFill>
                <a:latin typeface="Calibri"/>
              </a:rPr>
              <a:t>MIPF Boot Camp  |  Excel Foundations  |  Excel from zero for project finance modelling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92640" y="649224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b="0" sz="1000" i="0">
                <a:solidFill>
                  <a:srgbClr val="C9D3F5"/>
                </a:solidFill>
                <a:latin typeface="Calibri"/>
              </a:rPr>
              <a:t>4</a:t>
            </a:r>
          </a:p>
        </p:txBody>
      </p:sp>
      <p:pic>
        <p:nvPicPr>
          <p:cNvPr id="7" name="Picture 6" descr="mipf_hex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6446520"/>
            <a:ext cx="365760" cy="365760"/>
          </a:xfrm>
          <a:prstGeom prst="rect">
            <a:avLst/>
          </a:prstGeom>
        </p:spPr>
      </p:pic>
      <p:pic>
        <p:nvPicPr>
          <p:cNvPr id="8" name="Picture 7" descr="bongo_ai_hex_dark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0" y="6446520"/>
            <a:ext cx="365760" cy="3657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" y="2011680"/>
            <a:ext cx="100584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400" i="0">
                <a:solidFill>
                  <a:srgbClr val="D99A2B"/>
                </a:solidFill>
                <a:latin typeface="Calibri"/>
              </a:rPr>
              <a:t>FOUNDATIONS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423160"/>
            <a:ext cx="10241280" cy="1554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3800" i="0">
                <a:solidFill>
                  <a:srgbClr val="FFFFFF"/>
                </a:solidFill>
                <a:latin typeface="Georgia"/>
              </a:rPr>
              <a:t>Section A: The spreadsheet from zero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114800"/>
            <a:ext cx="9601200" cy="1463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800" i="0">
                <a:solidFill>
                  <a:srgbClr val="D8DEF5"/>
                </a:solidFill>
                <a:latin typeface="Calibri"/>
              </a:rPr>
              <a:t>Workbook, worksheet, cell, range, address, formula. In ten slides.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19088"/>
            <a:ext cx="12191695" cy="9525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b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6492240"/>
            <a:ext cx="821233" cy="2834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5448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000" i="0">
                <a:solidFill>
                  <a:srgbClr val="5C6B7A"/>
                </a:solidFill>
                <a:latin typeface="Calibri"/>
              </a:rPr>
              <a:t>MIPF Boot Camp  |  Excel Foundations  |  Excel from zero for project finance modelling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649224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b="0" sz="1000" i="0">
                <a:solidFill>
                  <a:srgbClr val="5C6B7A"/>
                </a:solidFill>
                <a:latin typeface="Calibri"/>
              </a:rPr>
              <a:t>5</a:t>
            </a:r>
          </a:p>
        </p:txBody>
      </p:sp>
      <p:pic>
        <p:nvPicPr>
          <p:cNvPr id="6" name="Picture 5" descr="mipf_hex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6446520"/>
            <a:ext cx="365760" cy="365760"/>
          </a:xfrm>
          <a:prstGeom prst="rect">
            <a:avLst/>
          </a:prstGeom>
        </p:spPr>
      </p:pic>
      <p:pic>
        <p:nvPicPr>
          <p:cNvPr id="7" name="Picture 6" descr="bongo_ai_hex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0" y="6446520"/>
            <a:ext cx="365760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237744"/>
            <a:ext cx="112471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100" i="0">
                <a:solidFill>
                  <a:srgbClr val="A8700F"/>
                </a:solidFill>
                <a:latin typeface="Calibri"/>
              </a:rPr>
              <a:t>CONCEPT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5488"/>
            <a:ext cx="1124712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b="1" sz="2800" i="0">
                <a:solidFill>
                  <a:srgbClr val="141B4D"/>
                </a:solidFill>
                <a:latin typeface="Georgia"/>
              </a:rPr>
              <a:t>What is a spreadsheet, and why do bankers use one?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52728"/>
            <a:ext cx="1463040" cy="38100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508760"/>
            <a:ext cx="3657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100" i="0">
                <a:solidFill>
                  <a:srgbClr val="A8700F"/>
                </a:solidFill>
                <a:latin typeface="Calibri"/>
              </a:rPr>
              <a:t>IN PLAIN ENGLISH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783080"/>
            <a:ext cx="10881360" cy="12344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2000" i="0">
                <a:solidFill>
                  <a:srgbClr val="1A2233"/>
                </a:solidFill>
                <a:latin typeface="Calibri"/>
              </a:rPr>
              <a:t>A spreadsheet is a giant grid of boxes called cells. Each cell can hold a word, a number, a date, or a formula that calculates from other cells. When you change one number, every formula that depends on it updates by itself.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108960"/>
            <a:ext cx="3657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100" i="0">
                <a:solidFill>
                  <a:srgbClr val="A8700F"/>
                </a:solidFill>
                <a:latin typeface="Calibri"/>
              </a:rPr>
              <a:t>WORKED EXAMPLE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383279"/>
            <a:ext cx="10881360" cy="21031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600" i="0">
                <a:solidFill>
                  <a:srgbClr val="1A2233"/>
                </a:solidFill>
                <a:latin typeface="Calibri"/>
              </a:rPr>
              <a:t>A lender asks: 'What if passengers are 10% lower?' You change one cell (occupancy) and every revenue, tax, loan and return figure updates in a second.</a:t>
            </a:r>
          </a:p>
          <a:p>
            <a:pPr algn="l"/>
            <a:r>
              <a:rPr b="0" sz="1600" i="0">
                <a:solidFill>
                  <a:srgbClr val="1A2233"/>
                </a:solidFill>
                <a:latin typeface="Calibri"/>
              </a:rPr>
              <a:t>On paper this would take days. This 'what-if' power is why project finance models are built in Excel.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5532120"/>
            <a:ext cx="10881360" cy="731520"/>
          </a:xfrm>
          <a:prstGeom prst="rect">
            <a:avLst/>
          </a:prstGeom>
          <a:solidFill>
            <a:srgbClr val="FBF0D9"/>
          </a:solidFill>
          <a:ln w="15240">
            <a:solidFill>
              <a:srgbClr val="D99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5532120"/>
            <a:ext cx="82296" cy="731520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5532120"/>
            <a:ext cx="10652760" cy="7315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b="0" sz="1400" i="0">
                <a:solidFill>
                  <a:srgbClr val="1A2233"/>
                </a:solidFill>
                <a:latin typeface="Calibri"/>
              </a:rPr>
              <a:t>A model is only as good as its structure: every number appears once, and everything else is calculated from it.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19088"/>
            <a:ext cx="12191695" cy="9525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b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6492240"/>
            <a:ext cx="821233" cy="2834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5448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000" i="0">
                <a:solidFill>
                  <a:srgbClr val="5C6B7A"/>
                </a:solidFill>
                <a:latin typeface="Calibri"/>
              </a:rPr>
              <a:t>MIPF Boot Camp  |  Excel Foundations  |  Excel from zero for project finance modelling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649224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b="0" sz="1000" i="0">
                <a:solidFill>
                  <a:srgbClr val="5C6B7A"/>
                </a:solidFill>
                <a:latin typeface="Calibri"/>
              </a:rPr>
              <a:t>6</a:t>
            </a:r>
          </a:p>
        </p:txBody>
      </p:sp>
      <p:pic>
        <p:nvPicPr>
          <p:cNvPr id="6" name="Picture 5" descr="mipf_hex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6446520"/>
            <a:ext cx="365760" cy="365760"/>
          </a:xfrm>
          <a:prstGeom prst="rect">
            <a:avLst/>
          </a:prstGeom>
        </p:spPr>
      </p:pic>
      <p:pic>
        <p:nvPicPr>
          <p:cNvPr id="7" name="Picture 6" descr="bongo_ai_hex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0" y="6446520"/>
            <a:ext cx="365760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237744"/>
            <a:ext cx="112471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100" i="0">
                <a:solidFill>
                  <a:srgbClr val="A8700F"/>
                </a:solidFill>
                <a:latin typeface="Calibri"/>
              </a:rPr>
              <a:t>ANATOMY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5488"/>
            <a:ext cx="1124712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b="1" sz="2800" i="0">
                <a:solidFill>
                  <a:srgbClr val="141B4D"/>
                </a:solidFill>
                <a:latin typeface="Georgia"/>
              </a:rPr>
              <a:t>The grid: workbook, sheet, cell, range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52728"/>
            <a:ext cx="1463040" cy="38100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481328"/>
            <a:ext cx="10058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5C6B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b="1" sz="1300" i="0">
                <a:solidFill>
                  <a:srgbClr val="1A2233"/>
                </a:solidFill>
                <a:latin typeface="Consolas"/>
              </a:rPr>
              <a:t>D2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481328"/>
            <a:ext cx="411480" cy="347472"/>
          </a:xfrm>
          <a:prstGeom prst="rect">
            <a:avLst/>
          </a:prstGeom>
          <a:solidFill>
            <a:srgbClr val="F3F6F9"/>
          </a:solidFill>
          <a:ln w="12700">
            <a:solidFill>
              <a:srgbClr val="5C6B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b="1" sz="1300" i="1">
                <a:solidFill>
                  <a:srgbClr val="5C6B7A"/>
                </a:solidFill>
                <a:latin typeface="Calibri"/>
              </a:rPr>
              <a:t>fx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57400" y="1481328"/>
            <a:ext cx="46634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5C6B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l"/>
            <a:r>
              <a:rPr b="0" sz="1300" i="0">
                <a:solidFill>
                  <a:srgbClr val="1A2233"/>
                </a:solidFill>
                <a:latin typeface="Consolas"/>
              </a:rPr>
              <a:t>=B2*C2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48640" y="1938528"/>
          <a:ext cx="6217920" cy="21762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"/>
                <a:gridCol w="1143000"/>
                <a:gridCol w="1143000"/>
                <a:gridCol w="1143000"/>
                <a:gridCol w="1143000"/>
                <a:gridCol w="1143000"/>
              </a:tblGrid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2233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9144" marB="9144" anchor="ctr">
                    <a:solidFill>
                      <a:srgbClr val="D9DE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A2233"/>
                          </a:solidFill>
                          <a:latin typeface="Calibri"/>
                        </a:rPr>
                        <a:t>A</a:t>
                      </a:r>
                    </a:p>
                  </a:txBody>
                  <a:tcPr marL="45720" marR="45720" marT="9144" marB="9144" anchor="ctr">
                    <a:solidFill>
                      <a:srgbClr val="D9DE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A2233"/>
                          </a:solidFill>
                          <a:latin typeface="Calibri"/>
                        </a:rPr>
                        <a:t>B</a:t>
                      </a:r>
                    </a:p>
                  </a:txBody>
                  <a:tcPr marL="45720" marR="45720" marT="9144" marB="9144" anchor="ctr">
                    <a:solidFill>
                      <a:srgbClr val="D9DE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A2233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 marL="45720" marR="45720" marT="9144" marB="9144" anchor="ctr">
                    <a:solidFill>
                      <a:srgbClr val="D9DE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A2233"/>
                          </a:solidFill>
                          <a:latin typeface="Calibri"/>
                        </a:rPr>
                        <a:t>D</a:t>
                      </a:r>
                    </a:p>
                  </a:txBody>
                  <a:tcPr marL="45720" marR="45720" marT="9144" marB="9144" anchor="ctr">
                    <a:solidFill>
                      <a:srgbClr val="D9DE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A2233"/>
                          </a:solidFill>
                          <a:latin typeface="Calibri"/>
                        </a:rPr>
                        <a:t>E</a:t>
                      </a:r>
                    </a:p>
                  </a:txBody>
                  <a:tcPr marL="45720" marR="45720" marT="9144" marB="9144" anchor="ctr">
                    <a:solidFill>
                      <a:srgbClr val="D9DEE6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A223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45720" marR="45720" marT="9144" marB="9144" anchor="ctr">
                    <a:solidFill>
                      <a:srgbClr val="D9DE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2233"/>
                          </a:solidFill>
                          <a:latin typeface="Calibri"/>
                        </a:rPr>
                        <a:t>Item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2233"/>
                          </a:solidFill>
                          <a:latin typeface="Calibri"/>
                        </a:rPr>
                        <a:t>Qty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2233"/>
                          </a:solidFill>
                          <a:latin typeface="Calibri"/>
                        </a:rPr>
                        <a:t>Price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2233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2233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A223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45720" marR="45720" marT="9144" marB="9144" anchor="ctr">
                    <a:solidFill>
                      <a:srgbClr val="D9DE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2233"/>
                          </a:solidFill>
                          <a:latin typeface="Calibri"/>
                        </a:rPr>
                        <a:t>Tickets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A2233"/>
                          </a:solidFill>
                          <a:latin typeface="Calibri"/>
                        </a:rPr>
                        <a:t>100</a:t>
                      </a:r>
                    </a:p>
                  </a:txBody>
                  <a:tcPr marL="45720" marR="45720" marT="9144" marB="9144" anchor="ctr">
                    <a:solidFill>
                      <a:srgbClr val="FBF0D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A2233"/>
                          </a:solidFill>
                          <a:latin typeface="Calibri"/>
                        </a:rPr>
                        <a:t>7.15</a:t>
                      </a:r>
                    </a:p>
                  </a:txBody>
                  <a:tcPr marL="45720" marR="45720" marT="9144" marB="9144" anchor="ctr">
                    <a:solidFill>
                      <a:srgbClr val="FBF0D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A2233"/>
                          </a:solidFill>
                          <a:latin typeface="Consolas"/>
                        </a:rPr>
                        <a:t>=B2*C2</a:t>
                      </a:r>
                    </a:p>
                  </a:txBody>
                  <a:tcPr marL="45720" marR="45720" marT="9144" marB="9144" anchor="ctr">
                    <a:solidFill>
                      <a:srgbClr val="FFE9B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2233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A223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9144" marB="9144" anchor="ctr">
                    <a:solidFill>
                      <a:srgbClr val="D9DE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2233"/>
                          </a:solidFill>
                          <a:latin typeface="Calibri"/>
                        </a:rPr>
                        <a:t>Snacks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2233"/>
                          </a:solidFill>
                          <a:latin typeface="Calibri"/>
                        </a:rPr>
                        <a:t>40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2233"/>
                          </a:solidFill>
                          <a:latin typeface="Calibri"/>
                        </a:rPr>
                        <a:t>2.5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2233"/>
                          </a:solidFill>
                          <a:latin typeface="Consolas"/>
                        </a:rPr>
                        <a:t>=B3*C3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2233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A223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45720" marR="45720" marT="9144" marB="9144" anchor="ctr">
                    <a:solidFill>
                      <a:srgbClr val="D9DE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2233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2233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2233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2233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2233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A223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45720" marR="45720" marT="9144" marB="9144" anchor="ctr">
                    <a:solidFill>
                      <a:srgbClr val="D9DE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2233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2233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2233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2233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2233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A2233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45720" marR="45720" marT="9144" marB="9144" anchor="ctr">
                    <a:solidFill>
                      <a:srgbClr val="D9DE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2233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2233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2233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2233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2233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548640" y="4206240"/>
            <a:ext cx="6217920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300" i="1">
                <a:solidFill>
                  <a:srgbClr val="5C6B7A"/>
                </a:solidFill>
                <a:latin typeface="Calibri"/>
              </a:rPr>
              <a:t>Highlighted cells are the inputs of the formula in D2.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040879" y="1481328"/>
            <a:ext cx="4617720" cy="347472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l"/>
            <a:r>
              <a:rPr b="1" sz="1200" i="0">
                <a:solidFill>
                  <a:srgbClr val="FFFFFF"/>
                </a:solidFill>
                <a:latin typeface="Calibri"/>
              </a:rPr>
              <a:t>HOW IT WORKS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79" y="1920240"/>
            <a:ext cx="46177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0" sz="1500" i="0">
                <a:solidFill>
                  <a:srgbClr val="1A2233"/>
                </a:solidFill>
                <a:latin typeface="Calibri"/>
              </a:rPr>
              <a:t>▪ </a:t>
            </a:r>
            <a:r>
              <a:rPr b="1" sz="1500" i="0">
                <a:solidFill>
                  <a:srgbClr val="1A2233"/>
                </a:solidFill>
                <a:latin typeface="Calibri"/>
              </a:rPr>
              <a:t>Workbook</a:t>
            </a:r>
            <a:r>
              <a:rPr b="0" sz="1500" i="0">
                <a:solidFill>
                  <a:srgbClr val="1A2233"/>
                </a:solidFill>
                <a:latin typeface="Calibri"/>
              </a:rPr>
              <a:t>: the whole Excel file (TrainStat_StartModel.xlsx)</a:t>
            </a:r>
          </a:p>
          <a:p>
            <a:pPr>
              <a:spcAft>
                <a:spcPts val="600"/>
              </a:spcAft>
            </a:pPr>
            <a:r>
              <a:rPr b="0" sz="1500" i="0">
                <a:solidFill>
                  <a:srgbClr val="1A2233"/>
                </a:solidFill>
                <a:latin typeface="Calibri"/>
              </a:rPr>
              <a:t>▪ </a:t>
            </a:r>
            <a:r>
              <a:rPr b="1" sz="1500" i="0">
                <a:solidFill>
                  <a:srgbClr val="1A2233"/>
                </a:solidFill>
                <a:latin typeface="Calibri"/>
              </a:rPr>
              <a:t>Worksheet</a:t>
            </a:r>
            <a:r>
              <a:rPr b="0" sz="1500" i="0">
                <a:solidFill>
                  <a:srgbClr val="1A2233"/>
                </a:solidFill>
                <a:latin typeface="Calibri"/>
              </a:rPr>
              <a:t>: one tab inside it (InpC, Time, OpRev ...)</a:t>
            </a:r>
          </a:p>
          <a:p>
            <a:pPr>
              <a:spcAft>
                <a:spcPts val="600"/>
              </a:spcAft>
            </a:pPr>
            <a:r>
              <a:rPr b="0" sz="1500" i="0">
                <a:solidFill>
                  <a:srgbClr val="1A2233"/>
                </a:solidFill>
                <a:latin typeface="Calibri"/>
              </a:rPr>
              <a:t>▪ </a:t>
            </a:r>
            <a:r>
              <a:rPr b="1" sz="1500" i="0">
                <a:solidFill>
                  <a:srgbClr val="1A2233"/>
                </a:solidFill>
                <a:latin typeface="Calibri"/>
              </a:rPr>
              <a:t>Cell</a:t>
            </a:r>
            <a:r>
              <a:rPr b="0" sz="1500" i="0">
                <a:solidFill>
                  <a:srgbClr val="1A2233"/>
                </a:solidFill>
                <a:latin typeface="Calibri"/>
              </a:rPr>
              <a:t>: one box. Its address is column letter + row number: </a:t>
            </a:r>
            <a:r>
              <a:rPr b="0" sz="1500" i="0">
                <a:solidFill>
                  <a:srgbClr val="0B5E82"/>
                </a:solidFill>
                <a:latin typeface="Consolas"/>
              </a:rPr>
              <a:t>D2</a:t>
            </a:r>
          </a:p>
          <a:p>
            <a:pPr>
              <a:spcAft>
                <a:spcPts val="600"/>
              </a:spcAft>
            </a:pPr>
            <a:r>
              <a:rPr b="0" sz="1500" i="0">
                <a:solidFill>
                  <a:srgbClr val="1A2233"/>
                </a:solidFill>
                <a:latin typeface="Calibri"/>
              </a:rPr>
              <a:t>▪ </a:t>
            </a:r>
            <a:r>
              <a:rPr b="1" sz="1500" i="0">
                <a:solidFill>
                  <a:srgbClr val="1A2233"/>
                </a:solidFill>
                <a:latin typeface="Calibri"/>
              </a:rPr>
              <a:t>Range</a:t>
            </a:r>
            <a:r>
              <a:rPr b="0" sz="1500" i="0">
                <a:solidFill>
                  <a:srgbClr val="1A2233"/>
                </a:solidFill>
                <a:latin typeface="Calibri"/>
              </a:rPr>
              <a:t>: a block of cells, written </a:t>
            </a:r>
            <a:r>
              <a:rPr b="0" sz="1500" i="0">
                <a:solidFill>
                  <a:srgbClr val="0B5E82"/>
                </a:solidFill>
                <a:latin typeface="Consolas"/>
              </a:rPr>
              <a:t>B2:C3</a:t>
            </a:r>
            <a:r>
              <a:rPr b="0" sz="1500" i="0">
                <a:solidFill>
                  <a:srgbClr val="1A2233"/>
                </a:solidFill>
                <a:latin typeface="Calibri"/>
              </a:rPr>
              <a:t> (corner to corner)</a:t>
            </a:r>
          </a:p>
          <a:p>
            <a:pPr>
              <a:spcAft>
                <a:spcPts val="600"/>
              </a:spcAft>
            </a:pPr>
            <a:r>
              <a:rPr b="0" sz="1500" i="0">
                <a:solidFill>
                  <a:srgbClr val="1A2233"/>
                </a:solidFill>
                <a:latin typeface="Calibri"/>
              </a:rPr>
              <a:t>▪ </a:t>
            </a:r>
            <a:r>
              <a:rPr b="1" sz="1500" i="0">
                <a:solidFill>
                  <a:srgbClr val="1A2233"/>
                </a:solidFill>
                <a:latin typeface="Calibri"/>
              </a:rPr>
              <a:t>Name Box</a:t>
            </a:r>
            <a:r>
              <a:rPr b="0" sz="1500" i="0">
                <a:solidFill>
                  <a:srgbClr val="1A2233"/>
                </a:solidFill>
                <a:latin typeface="Calibri"/>
              </a:rPr>
              <a:t>: shows the active cell (top left). </a:t>
            </a:r>
            <a:r>
              <a:rPr b="1" sz="1500" i="0">
                <a:solidFill>
                  <a:srgbClr val="1A2233"/>
                </a:solidFill>
                <a:latin typeface="Calibri"/>
              </a:rPr>
              <a:t>Formula bar</a:t>
            </a:r>
            <a:r>
              <a:rPr b="0" sz="1500" i="0">
                <a:solidFill>
                  <a:srgbClr val="1A2233"/>
                </a:solidFill>
                <a:latin typeface="Calibri"/>
              </a:rPr>
              <a:t>: shows what is inside it.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19088"/>
            <a:ext cx="12191695" cy="9525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b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6492240"/>
            <a:ext cx="821233" cy="2834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5448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000" i="0">
                <a:solidFill>
                  <a:srgbClr val="5C6B7A"/>
                </a:solidFill>
                <a:latin typeface="Calibri"/>
              </a:rPr>
              <a:t>MIPF Boot Camp  |  Excel Foundations  |  Excel from zero for project finance modelling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649224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b="0" sz="1000" i="0">
                <a:solidFill>
                  <a:srgbClr val="5C6B7A"/>
                </a:solidFill>
                <a:latin typeface="Calibri"/>
              </a:rPr>
              <a:t>7</a:t>
            </a:r>
          </a:p>
        </p:txBody>
      </p:sp>
      <p:pic>
        <p:nvPicPr>
          <p:cNvPr id="6" name="Picture 5" descr="mipf_hex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6446520"/>
            <a:ext cx="365760" cy="365760"/>
          </a:xfrm>
          <a:prstGeom prst="rect">
            <a:avLst/>
          </a:prstGeom>
        </p:spPr>
      </p:pic>
      <p:pic>
        <p:nvPicPr>
          <p:cNvPr id="7" name="Picture 6" descr="bongo_ai_hex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0" y="6446520"/>
            <a:ext cx="365760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237744"/>
            <a:ext cx="112471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100" i="0">
                <a:solidFill>
                  <a:srgbClr val="A8700F"/>
                </a:solidFill>
                <a:latin typeface="Calibri"/>
              </a:rPr>
              <a:t>ANATOMY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5488"/>
            <a:ext cx="1124712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b="1" sz="2800" i="0">
                <a:solidFill>
                  <a:srgbClr val="141B4D"/>
                </a:solidFill>
                <a:latin typeface="Georgia"/>
              </a:rPr>
              <a:t>Typing into cells: text, numbers, dates, formulas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52728"/>
            <a:ext cx="1463040" cy="38100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481328"/>
            <a:ext cx="10058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5C6B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b="1" sz="1300" i="0">
                <a:solidFill>
                  <a:srgbClr val="1A2233"/>
                </a:solidFill>
                <a:latin typeface="Consolas"/>
              </a:rPr>
              <a:t>A5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481328"/>
            <a:ext cx="411480" cy="347472"/>
          </a:xfrm>
          <a:prstGeom prst="rect">
            <a:avLst/>
          </a:prstGeom>
          <a:solidFill>
            <a:srgbClr val="F3F6F9"/>
          </a:solidFill>
          <a:ln w="12700">
            <a:solidFill>
              <a:srgbClr val="5C6B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b="1" sz="1300" i="1">
                <a:solidFill>
                  <a:srgbClr val="5C6B7A"/>
                </a:solidFill>
                <a:latin typeface="Calibri"/>
              </a:rPr>
              <a:t>fx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57400" y="1481328"/>
            <a:ext cx="67208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5C6B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l"/>
            <a:r>
              <a:rPr b="0" sz="1300" i="0">
                <a:solidFill>
                  <a:srgbClr val="1A2233"/>
                </a:solidFill>
                <a:latin typeface="Consolas"/>
              </a:rPr>
              <a:t>=2+3*4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48640" y="1938528"/>
          <a:ext cx="8275320" cy="21762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"/>
                <a:gridCol w="1554480"/>
                <a:gridCol w="1554480"/>
                <a:gridCol w="1554480"/>
                <a:gridCol w="1554480"/>
                <a:gridCol w="1554480"/>
              </a:tblGrid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2233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9144" marB="9144" anchor="ctr">
                    <a:solidFill>
                      <a:srgbClr val="D9DE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A2233"/>
                          </a:solidFill>
                          <a:latin typeface="Calibri"/>
                        </a:rPr>
                        <a:t>A</a:t>
                      </a:r>
                    </a:p>
                  </a:txBody>
                  <a:tcPr marL="45720" marR="45720" marT="9144" marB="9144" anchor="ctr">
                    <a:solidFill>
                      <a:srgbClr val="D9DE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A2233"/>
                          </a:solidFill>
                          <a:latin typeface="Calibri"/>
                        </a:rPr>
                        <a:t>B</a:t>
                      </a:r>
                    </a:p>
                  </a:txBody>
                  <a:tcPr marL="45720" marR="45720" marT="9144" marB="9144" anchor="ctr">
                    <a:solidFill>
                      <a:srgbClr val="D9DE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A2233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 marL="45720" marR="45720" marT="9144" marB="9144" anchor="ctr">
                    <a:solidFill>
                      <a:srgbClr val="D9DE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A2233"/>
                          </a:solidFill>
                          <a:latin typeface="Calibri"/>
                        </a:rPr>
                        <a:t>D</a:t>
                      </a:r>
                    </a:p>
                  </a:txBody>
                  <a:tcPr marL="45720" marR="45720" marT="9144" marB="9144" anchor="ctr">
                    <a:solidFill>
                      <a:srgbClr val="D9DE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A2233"/>
                          </a:solidFill>
                          <a:latin typeface="Calibri"/>
                        </a:rPr>
                        <a:t>E</a:t>
                      </a:r>
                    </a:p>
                  </a:txBody>
                  <a:tcPr marL="45720" marR="45720" marT="9144" marB="9144" anchor="ctr">
                    <a:solidFill>
                      <a:srgbClr val="D9DEE6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A223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45720" marR="45720" marT="9144" marB="9144" anchor="ctr">
                    <a:solidFill>
                      <a:srgbClr val="D9DE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2233"/>
                          </a:solidFill>
                          <a:latin typeface="Calibri"/>
                        </a:rPr>
                        <a:t>Typed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2233"/>
                          </a:solidFill>
                          <a:latin typeface="Calibri"/>
                        </a:rPr>
                        <a:t>Excel stores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2233"/>
                          </a:solidFill>
                          <a:latin typeface="Calibri"/>
                        </a:rPr>
                        <a:t>Aligned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2233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2233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A223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45720" marR="45720" marT="9144" marB="9144" anchor="ctr">
                    <a:solidFill>
                      <a:srgbClr val="D9DE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2233"/>
                          </a:solidFill>
                          <a:latin typeface="Calibri"/>
                        </a:rPr>
                        <a:t>Passengers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2233"/>
                          </a:solidFill>
                          <a:latin typeface="Calibri"/>
                        </a:rPr>
                        <a:t>text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2233"/>
                          </a:solidFill>
                          <a:latin typeface="Calibri"/>
                        </a:rPr>
                        <a:t>left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2233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2233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A223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9144" marB="9144" anchor="ctr">
                    <a:solidFill>
                      <a:srgbClr val="D9DE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2233"/>
                          </a:solidFill>
                          <a:latin typeface="Calibri"/>
                        </a:rPr>
                        <a:t>2347725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2233"/>
                          </a:solidFill>
                          <a:latin typeface="Calibri"/>
                        </a:rPr>
                        <a:t>number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2233"/>
                          </a:solidFill>
                          <a:latin typeface="Calibri"/>
                        </a:rPr>
                        <a:t>right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2233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2233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A223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45720" marR="45720" marT="9144" marB="9144" anchor="ctr">
                    <a:solidFill>
                      <a:srgbClr val="D9DE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2233"/>
                          </a:solidFill>
                          <a:latin typeface="Calibri"/>
                        </a:rPr>
                        <a:t>31/12/2021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2233"/>
                          </a:solidFill>
                          <a:latin typeface="Calibri"/>
                        </a:rPr>
                        <a:t>date (a number!)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2233"/>
                          </a:solidFill>
                          <a:latin typeface="Calibri"/>
                        </a:rPr>
                        <a:t>right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2233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2233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A223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45720" marR="45720" marT="9144" marB="9144" anchor="ctr">
                    <a:solidFill>
                      <a:srgbClr val="D9DE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A2233"/>
                          </a:solidFill>
                          <a:latin typeface="Consolas"/>
                        </a:rPr>
                        <a:t>=2+3*4</a:t>
                      </a:r>
                    </a:p>
                  </a:txBody>
                  <a:tcPr marL="45720" marR="45720" marT="9144" marB="9144" anchor="ctr">
                    <a:solidFill>
                      <a:srgbClr val="FFE9B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2233"/>
                          </a:solidFill>
                          <a:latin typeface="Calibri"/>
                        </a:rPr>
                        <a:t>formula → 14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2233"/>
                          </a:solidFill>
                          <a:latin typeface="Calibri"/>
                        </a:rPr>
                        <a:t>right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2233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2233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A2233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45720" marR="45720" marT="9144" marB="9144" anchor="ctr">
                    <a:solidFill>
                      <a:srgbClr val="D9DE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2233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2233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2233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2233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2233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Rectangle 14"/>
          <p:cNvSpPr/>
          <p:nvPr/>
        </p:nvSpPr>
        <p:spPr>
          <a:xfrm>
            <a:off x="9098280" y="1481328"/>
            <a:ext cx="2560319" cy="347472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l"/>
            <a:r>
              <a:rPr b="1" sz="1200" i="0">
                <a:solidFill>
                  <a:srgbClr val="FFFFFF"/>
                </a:solidFill>
                <a:latin typeface="Calibri"/>
              </a:rPr>
              <a:t>HOW IT WORKS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98280" y="1920240"/>
            <a:ext cx="2560319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0" sz="1500" i="0">
                <a:solidFill>
                  <a:srgbClr val="1A2233"/>
                </a:solidFill>
                <a:latin typeface="Calibri"/>
              </a:rPr>
              <a:t>▪ Text sits left, numbers sit right. If a number sits left it is probably text: a common error.</a:t>
            </a:r>
          </a:p>
          <a:p>
            <a:pPr>
              <a:spcAft>
                <a:spcPts val="600"/>
              </a:spcAft>
            </a:pPr>
            <a:r>
              <a:rPr b="0" sz="1500" i="0">
                <a:solidFill>
                  <a:srgbClr val="1A2233"/>
                </a:solidFill>
                <a:latin typeface="Calibri"/>
              </a:rPr>
              <a:t>▪ A </a:t>
            </a:r>
            <a:r>
              <a:rPr b="1" sz="1500" i="0">
                <a:solidFill>
                  <a:srgbClr val="1A2233"/>
                </a:solidFill>
                <a:latin typeface="Calibri"/>
              </a:rPr>
              <a:t>formula always starts with `=`</a:t>
            </a:r>
            <a:r>
              <a:rPr b="0" sz="1500" i="0">
                <a:solidFill>
                  <a:srgbClr val="1A2233"/>
                </a:solidFill>
                <a:latin typeface="Calibri"/>
              </a:rPr>
              <a:t> (or </a:t>
            </a:r>
            <a:r>
              <a:rPr b="0" sz="1500" i="0">
                <a:solidFill>
                  <a:srgbClr val="0B5E82"/>
                </a:solidFill>
                <a:latin typeface="Consolas"/>
              </a:rPr>
              <a:t>+</a:t>
            </a:r>
            <a:r>
              <a:rPr b="0" sz="1500" i="0">
                <a:solidFill>
                  <a:srgbClr val="1A2233"/>
                </a:solidFill>
                <a:latin typeface="Calibri"/>
              </a:rPr>
              <a:t>).</a:t>
            </a:r>
          </a:p>
          <a:p>
            <a:pPr>
              <a:spcAft>
                <a:spcPts val="600"/>
              </a:spcAft>
            </a:pPr>
            <a:r>
              <a:rPr b="0" sz="1500" i="0">
                <a:solidFill>
                  <a:srgbClr val="1A2233"/>
                </a:solidFill>
                <a:latin typeface="Calibri"/>
              </a:rPr>
              <a:t>▪ Dates are numbers underneath (31 Dec 2021 = 44561). That is why you can add days or months to them.</a:t>
            </a:r>
          </a:p>
          <a:p>
            <a:pPr>
              <a:spcAft>
                <a:spcPts val="600"/>
              </a:spcAft>
            </a:pPr>
            <a:r>
              <a:rPr b="0" sz="1500" i="0">
                <a:solidFill>
                  <a:srgbClr val="1A2233"/>
                </a:solidFill>
                <a:latin typeface="Calibri"/>
              </a:rPr>
              <a:t>▪ Press </a:t>
            </a:r>
            <a:r>
              <a:rPr b="0" sz="1500" i="0">
                <a:solidFill>
                  <a:srgbClr val="0B5E82"/>
                </a:solidFill>
                <a:latin typeface="Consolas"/>
              </a:rPr>
              <a:t>Enter</a:t>
            </a:r>
            <a:r>
              <a:rPr b="0" sz="1500" i="0">
                <a:solidFill>
                  <a:srgbClr val="1A2233"/>
                </a:solidFill>
                <a:latin typeface="Calibri"/>
              </a:rPr>
              <a:t> to confirm, </a:t>
            </a:r>
            <a:r>
              <a:rPr b="0" sz="1500" i="0">
                <a:solidFill>
                  <a:srgbClr val="0B5E82"/>
                </a:solidFill>
                <a:latin typeface="Consolas"/>
              </a:rPr>
              <a:t>Esc</a:t>
            </a:r>
            <a:r>
              <a:rPr b="0" sz="1500" i="0">
                <a:solidFill>
                  <a:srgbClr val="1A2233"/>
                </a:solidFill>
                <a:latin typeface="Calibri"/>
              </a:rPr>
              <a:t> to cancel.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19088"/>
            <a:ext cx="12191695" cy="9525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b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6492240"/>
            <a:ext cx="821233" cy="2834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5448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000" i="0">
                <a:solidFill>
                  <a:srgbClr val="5C6B7A"/>
                </a:solidFill>
                <a:latin typeface="Calibri"/>
              </a:rPr>
              <a:t>MIPF Boot Camp  |  Excel Foundations  |  Excel from zero for project finance modelling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649224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b="0" sz="1000" i="0">
                <a:solidFill>
                  <a:srgbClr val="5C6B7A"/>
                </a:solidFill>
                <a:latin typeface="Calibri"/>
              </a:rPr>
              <a:t>8</a:t>
            </a:r>
          </a:p>
        </p:txBody>
      </p:sp>
      <p:pic>
        <p:nvPicPr>
          <p:cNvPr id="6" name="Picture 5" descr="mipf_hex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6446520"/>
            <a:ext cx="365760" cy="365760"/>
          </a:xfrm>
          <a:prstGeom prst="rect">
            <a:avLst/>
          </a:prstGeom>
        </p:spPr>
      </p:pic>
      <p:pic>
        <p:nvPicPr>
          <p:cNvPr id="7" name="Picture 6" descr="bongo_ai_hex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0" y="6446520"/>
            <a:ext cx="365760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237744"/>
            <a:ext cx="112471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100" i="0">
                <a:solidFill>
                  <a:srgbClr val="A8700F"/>
                </a:solidFill>
                <a:latin typeface="Calibri"/>
              </a:rPr>
              <a:t>FORMULAS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5488"/>
            <a:ext cx="1124712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b="1" sz="2800" i="0">
                <a:solidFill>
                  <a:srgbClr val="141B4D"/>
                </a:solidFill>
                <a:latin typeface="Georgia"/>
              </a:rPr>
              <a:t>The operators and the order Excel calculates 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52728"/>
            <a:ext cx="1463040" cy="38100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48640" y="1508760"/>
          <a:ext cx="11064240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3291840"/>
                <a:gridCol w="2926080"/>
                <a:gridCol w="246888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b="1" sz="1300" i="0">
                          <a:solidFill>
                            <a:srgbClr val="FFFFFF"/>
                          </a:solidFill>
                          <a:latin typeface="Calibri"/>
                        </a:rPr>
                        <a:t>Operator</a:t>
                      </a:r>
                    </a:p>
                  </a:txBody>
                  <a:tcPr marL="64008" marR="64008" marT="27432" marB="27432" anchor="ctr">
                    <a:solidFill>
                      <a:srgbClr val="141B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300" i="0">
                          <a:solidFill>
                            <a:srgbClr val="FFFFFF"/>
                          </a:solidFill>
                          <a:latin typeface="Calibri"/>
                        </a:rPr>
                        <a:t>Meaning</a:t>
                      </a:r>
                    </a:p>
                  </a:txBody>
                  <a:tcPr marL="64008" marR="64008" marT="27432" marB="27432" anchor="ctr">
                    <a:solidFill>
                      <a:srgbClr val="141B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300" i="0">
                          <a:solidFill>
                            <a:srgbClr val="FFFFFF"/>
                          </a:solidFill>
                          <a:latin typeface="Calibri"/>
                        </a:rPr>
                        <a:t>Example</a:t>
                      </a:r>
                    </a:p>
                  </a:txBody>
                  <a:tcPr marL="64008" marR="64008" marT="27432" marB="27432" anchor="ctr">
                    <a:solidFill>
                      <a:srgbClr val="141B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300" i="0">
                          <a:solidFill>
                            <a:srgbClr val="FFFFFF"/>
                          </a:solidFill>
                          <a:latin typeface="Calibri"/>
                        </a:rPr>
                        <a:t>Result</a:t>
                      </a:r>
                    </a:p>
                  </a:txBody>
                  <a:tcPr marL="64008" marR="64008" marT="27432" marB="27432" anchor="ctr">
                    <a:solidFill>
                      <a:srgbClr val="141B4D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b="1" sz="1300" i="0">
                          <a:solidFill>
                            <a:srgbClr val="1A2233"/>
                          </a:solidFill>
                          <a:latin typeface="Consolas"/>
                        </a:rPr>
                        <a:t>^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Power (first)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onsolas"/>
                        </a:rPr>
                        <a:t>=2^3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b="1" sz="1300" i="0">
                          <a:solidFill>
                            <a:srgbClr val="1A2233"/>
                          </a:solidFill>
                          <a:latin typeface="Consolas"/>
                        </a:rPr>
                        <a:t>* and /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Multiply, divide (second)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onsolas"/>
                        </a:rPr>
                        <a:t>=10/2*3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b="1" sz="1300" i="0">
                          <a:solidFill>
                            <a:srgbClr val="1A2233"/>
                          </a:solidFill>
                          <a:latin typeface="Consolas"/>
                        </a:rPr>
                        <a:t>+ and -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Add, subtract (third)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onsolas"/>
                        </a:rPr>
                        <a:t>=2+3*4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b="1" sz="1300" i="0">
                          <a:solidFill>
                            <a:srgbClr val="1A2233"/>
                          </a:solidFill>
                          <a:latin typeface="Consolas"/>
                        </a:rPr>
                        <a:t>( )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Brackets always win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onsolas"/>
                        </a:rPr>
                        <a:t>=(2+3)*4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b="1" sz="1300" i="0">
                          <a:solidFill>
                            <a:srgbClr val="1A2233"/>
                          </a:solidFill>
                          <a:latin typeface="Consolas"/>
                        </a:rPr>
                        <a:t>=  &lt;  &gt;  &lt;=  &gt;=  &lt;&gt;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Compare: give TRUE/FALSE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onsolas"/>
                        </a:rPr>
                        <a:t>=5&gt;3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TRUE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b="1" sz="1300" i="0">
                          <a:solidFill>
                            <a:srgbClr val="1A2233"/>
                          </a:solidFill>
                          <a:latin typeface="Consolas"/>
                        </a:rPr>
                        <a:t>&amp;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Join text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onsolas"/>
                        </a:rPr>
                        <a:t>="Q"&amp;1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Q1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548640" y="5212080"/>
            <a:ext cx="11064240" cy="777240"/>
          </a:xfrm>
          <a:prstGeom prst="rect">
            <a:avLst/>
          </a:prstGeom>
          <a:solidFill>
            <a:srgbClr val="FBF0D9"/>
          </a:solidFill>
          <a:ln w="15240">
            <a:solidFill>
              <a:srgbClr val="D99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5212080"/>
            <a:ext cx="82296" cy="777240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5212080"/>
            <a:ext cx="1083564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b="0" sz="1400" i="0">
                <a:solidFill>
                  <a:srgbClr val="1A2233"/>
                </a:solidFill>
                <a:latin typeface="Calibri"/>
              </a:rPr>
              <a:t>Rule: when in doubt, add brackets. The model uses </a:t>
            </a:r>
            <a:r>
              <a:rPr b="0" sz="1400" i="0">
                <a:solidFill>
                  <a:srgbClr val="0B5E82"/>
                </a:solidFill>
                <a:latin typeface="Consolas"/>
              </a:rPr>
              <a:t>=(J12-$F10)/$F11</a:t>
            </a:r>
            <a:r>
              <a:rPr b="0" sz="1400" i="0">
                <a:solidFill>
                  <a:srgbClr val="1A2233"/>
                </a:solidFill>
                <a:latin typeface="Calibri"/>
              </a:rPr>
              <a:t>: brackets force the subtraction first.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19088"/>
            <a:ext cx="12191695" cy="9525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b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6492240"/>
            <a:ext cx="821233" cy="2834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5448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000" i="0">
                <a:solidFill>
                  <a:srgbClr val="5C6B7A"/>
                </a:solidFill>
                <a:latin typeface="Calibri"/>
              </a:rPr>
              <a:t>MIPF Boot Camp  |  Excel Foundations  |  Excel from zero for project finance modelling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649224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b="0" sz="1000" i="0">
                <a:solidFill>
                  <a:srgbClr val="5C6B7A"/>
                </a:solidFill>
                <a:latin typeface="Calibri"/>
              </a:rPr>
              <a:t>9</a:t>
            </a:r>
          </a:p>
        </p:txBody>
      </p:sp>
      <p:pic>
        <p:nvPicPr>
          <p:cNvPr id="6" name="Picture 5" descr="mipf_hex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6446520"/>
            <a:ext cx="365760" cy="365760"/>
          </a:xfrm>
          <a:prstGeom prst="rect">
            <a:avLst/>
          </a:prstGeom>
        </p:spPr>
      </p:pic>
      <p:pic>
        <p:nvPicPr>
          <p:cNvPr id="7" name="Picture 6" descr="bongo_ai_hex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0" y="6446520"/>
            <a:ext cx="365760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237744"/>
            <a:ext cx="112471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100" i="0">
                <a:solidFill>
                  <a:srgbClr val="A8700F"/>
                </a:solidFill>
                <a:latin typeface="Calibri"/>
              </a:rPr>
              <a:t>EXERCISE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5488"/>
            <a:ext cx="1124712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b="1" sz="2800" i="0">
                <a:solidFill>
                  <a:srgbClr val="141B4D"/>
                </a:solidFill>
                <a:latin typeface="Georgia"/>
              </a:rPr>
              <a:t>Exercise XL1: Your first formulas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52728"/>
            <a:ext cx="1463040" cy="38100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463040"/>
            <a:ext cx="2743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100" i="0">
                <a:solidFill>
                  <a:srgbClr val="A8700F"/>
                </a:solidFill>
                <a:latin typeface="Calibri"/>
              </a:rPr>
              <a:t>YOUR TASK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737360"/>
            <a:ext cx="11064240" cy="7772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600" i="0">
                <a:solidFill>
                  <a:srgbClr val="1A2233"/>
                </a:solidFill>
                <a:latin typeface="Calibri"/>
              </a:rPr>
              <a:t>Open a blank workbook. Reproduce the Tickets / Snacks table from the earlier slide and calculate the Total column, then the grand total.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606040"/>
            <a:ext cx="2743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100" i="0">
                <a:solidFill>
                  <a:srgbClr val="A8700F"/>
                </a:solidFill>
                <a:latin typeface="Calibri"/>
              </a:rPr>
              <a:t>STEPS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852928"/>
            <a:ext cx="1106424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b="0" sz="1500" i="0">
                <a:solidFill>
                  <a:srgbClr val="1A2233"/>
                </a:solidFill>
                <a:latin typeface="Calibri"/>
              </a:rPr>
              <a:t>1.  Type the labels and numbers; use Tab to move right and Enter to move down</a:t>
            </a:r>
          </a:p>
          <a:p>
            <a:pPr>
              <a:spcAft>
                <a:spcPts val="300"/>
              </a:spcAft>
            </a:pPr>
            <a:r>
              <a:rPr b="0" sz="1500" i="0">
                <a:solidFill>
                  <a:srgbClr val="1A2233"/>
                </a:solidFill>
                <a:latin typeface="Calibri"/>
              </a:rPr>
              <a:t>2.  Click D2, type </a:t>
            </a:r>
            <a:r>
              <a:rPr b="0" sz="1500" i="0">
                <a:solidFill>
                  <a:srgbClr val="0B5E82"/>
                </a:solidFill>
                <a:latin typeface="Consolas"/>
              </a:rPr>
              <a:t>=B2*C2</a:t>
            </a:r>
            <a:r>
              <a:rPr b="0" sz="1500" i="0">
                <a:solidFill>
                  <a:srgbClr val="1A2233"/>
                </a:solidFill>
                <a:latin typeface="Calibri"/>
              </a:rPr>
              <a:t>, press Enter</a:t>
            </a:r>
          </a:p>
          <a:p>
            <a:pPr>
              <a:spcAft>
                <a:spcPts val="300"/>
              </a:spcAft>
            </a:pPr>
            <a:r>
              <a:rPr b="0" sz="1500" i="0">
                <a:solidFill>
                  <a:srgbClr val="1A2233"/>
                </a:solidFill>
                <a:latin typeface="Calibri"/>
              </a:rPr>
              <a:t>3.  Click D3 and type </a:t>
            </a:r>
            <a:r>
              <a:rPr b="0" sz="1500" i="0">
                <a:solidFill>
                  <a:srgbClr val="0B5E82"/>
                </a:solidFill>
                <a:latin typeface="Consolas"/>
              </a:rPr>
              <a:t>=B3*C3</a:t>
            </a:r>
          </a:p>
          <a:p>
            <a:pPr>
              <a:spcAft>
                <a:spcPts val="300"/>
              </a:spcAft>
            </a:pPr>
            <a:r>
              <a:rPr b="0" sz="1500" i="0">
                <a:solidFill>
                  <a:srgbClr val="1A2233"/>
                </a:solidFill>
                <a:latin typeface="Calibri"/>
              </a:rPr>
              <a:t>4.  In D4 press </a:t>
            </a:r>
            <a:r>
              <a:rPr b="0" sz="1500" i="0">
                <a:solidFill>
                  <a:srgbClr val="0B5E82"/>
                </a:solidFill>
                <a:latin typeface="Consolas"/>
              </a:rPr>
              <a:t>Alt+=</a:t>
            </a:r>
            <a:r>
              <a:rPr b="0" sz="1500" i="0">
                <a:solidFill>
                  <a:srgbClr val="1A2233"/>
                </a:solidFill>
                <a:latin typeface="Calibri"/>
              </a:rPr>
              <a:t> (Windows) or </a:t>
            </a:r>
            <a:r>
              <a:rPr b="0" sz="1500" i="0">
                <a:solidFill>
                  <a:srgbClr val="0B5E82"/>
                </a:solidFill>
                <a:latin typeface="Consolas"/>
              </a:rPr>
              <a:t>Cmd+Shift+T</a:t>
            </a:r>
            <a:r>
              <a:rPr b="0" sz="1500" i="0">
                <a:solidFill>
                  <a:srgbClr val="1A2233"/>
                </a:solidFill>
                <a:latin typeface="Calibri"/>
              </a:rPr>
              <a:t> (Mac): AutoSum picks D2:D3</a:t>
            </a:r>
          </a:p>
          <a:p>
            <a:pPr>
              <a:spcAft>
                <a:spcPts val="300"/>
              </a:spcAft>
            </a:pPr>
            <a:r>
              <a:rPr b="0" sz="1500" i="0">
                <a:solidFill>
                  <a:srgbClr val="1A2233"/>
                </a:solidFill>
                <a:latin typeface="Calibri"/>
              </a:rPr>
              <a:t>5.  Press Enter and read the total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983480"/>
            <a:ext cx="10881360" cy="1280160"/>
          </a:xfrm>
          <a:prstGeom prst="rect">
            <a:avLst/>
          </a:prstGeom>
          <a:solidFill>
            <a:srgbClr val="E6F4EA"/>
          </a:solidFill>
          <a:ln w="15240">
            <a:solidFill>
              <a:srgbClr val="1E7B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4983480"/>
            <a:ext cx="82296" cy="1280160"/>
          </a:xfrm>
          <a:prstGeom prst="rect">
            <a:avLst/>
          </a:prstGeom>
          <a:solidFill>
            <a:srgbClr val="1E7B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983480"/>
            <a:ext cx="10652760" cy="12801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b="0" sz="1400" i="0">
                <a:solidFill>
                  <a:srgbClr val="1A2233"/>
                </a:solidFill>
                <a:latin typeface="Calibri"/>
              </a:rPr>
              <a:t>WHEN YOU ARE DONE:  compare your result with a neighbour. Your facilitator then confirms the answer and the reasoning in the room.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607040" y="274320"/>
            <a:ext cx="1097280" cy="320040"/>
          </a:xfrm>
          <a:prstGeom prst="round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b="1" sz="1300" i="0">
                <a:solidFill>
                  <a:srgbClr val="FFFFFF"/>
                </a:solidFill>
                <a:latin typeface="Calibri"/>
              </a:rPr>
              <a:t>5 min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19088"/>
            <a:ext cx="12191695" cy="9525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b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6492240"/>
            <a:ext cx="821233" cy="2834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5448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000" i="0">
                <a:solidFill>
                  <a:srgbClr val="5C6B7A"/>
                </a:solidFill>
                <a:latin typeface="Calibri"/>
              </a:rPr>
              <a:t>MIPF Boot Camp  |  Excel Foundations  |  Excel from zero for project finance modelling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649224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b="0" sz="1000" i="0">
                <a:solidFill>
                  <a:srgbClr val="5C6B7A"/>
                </a:solidFill>
                <a:latin typeface="Calibri"/>
              </a:rPr>
              <a:t>10</a:t>
            </a:r>
          </a:p>
        </p:txBody>
      </p:sp>
      <p:pic>
        <p:nvPicPr>
          <p:cNvPr id="6" name="Picture 5" descr="mipf_hex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6446520"/>
            <a:ext cx="365760" cy="365760"/>
          </a:xfrm>
          <a:prstGeom prst="rect">
            <a:avLst/>
          </a:prstGeom>
        </p:spPr>
      </p:pic>
      <p:pic>
        <p:nvPicPr>
          <p:cNvPr id="7" name="Picture 6" descr="bongo_ai_hex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0" y="6446520"/>
            <a:ext cx="365760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237744"/>
            <a:ext cx="112471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100" i="0">
                <a:solidFill>
                  <a:srgbClr val="A8700F"/>
                </a:solidFill>
                <a:latin typeface="Calibri"/>
              </a:rPr>
              <a:t>FORMATS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5488"/>
            <a:ext cx="1124712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b="1" sz="2800" i="0">
                <a:solidFill>
                  <a:srgbClr val="141B4D"/>
                </a:solidFill>
                <a:latin typeface="Georgia"/>
              </a:rPr>
              <a:t>Number formats: what you see is not what is stored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52728"/>
            <a:ext cx="1463040" cy="38100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48640" y="1508760"/>
          <a:ext cx="1106424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011680"/>
                <a:gridCol w="2377440"/>
                <a:gridCol w="2560320"/>
                <a:gridCol w="210312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b="1" sz="1300" i="0">
                          <a:solidFill>
                            <a:srgbClr val="FFFFFF"/>
                          </a:solidFill>
                          <a:latin typeface="Calibri"/>
                        </a:rPr>
                        <a:t>Stored value</a:t>
                      </a:r>
                    </a:p>
                  </a:txBody>
                  <a:tcPr marL="64008" marR="64008" marT="27432" marB="27432" anchor="ctr">
                    <a:solidFill>
                      <a:srgbClr val="141B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300" i="0">
                          <a:solidFill>
                            <a:srgbClr val="FFFFFF"/>
                          </a:solidFill>
                          <a:latin typeface="Calibri"/>
                        </a:rPr>
                        <a:t>General</a:t>
                      </a:r>
                    </a:p>
                  </a:txBody>
                  <a:tcPr marL="64008" marR="64008" marT="27432" marB="27432" anchor="ctr">
                    <a:solidFill>
                      <a:srgbClr val="141B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300" i="0">
                          <a:solidFill>
                            <a:srgbClr val="FFFFFF"/>
                          </a:solidFill>
                          <a:latin typeface="Calibri"/>
                        </a:rPr>
                        <a:t>Number (#,##0)</a:t>
                      </a:r>
                    </a:p>
                  </a:txBody>
                  <a:tcPr marL="64008" marR="64008" marT="27432" marB="27432" anchor="ctr">
                    <a:solidFill>
                      <a:srgbClr val="141B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300" i="0">
                          <a:solidFill>
                            <a:srgbClr val="FFFFFF"/>
                          </a:solidFill>
                          <a:latin typeface="Calibri"/>
                        </a:rPr>
                        <a:t>Percentage (0.0%)</a:t>
                      </a:r>
                    </a:p>
                  </a:txBody>
                  <a:tcPr marL="64008" marR="64008" marT="27432" marB="27432" anchor="ctr">
                    <a:solidFill>
                      <a:srgbClr val="141B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300" i="0">
                          <a:solidFill>
                            <a:srgbClr val="FFFFFF"/>
                          </a:solidFill>
                          <a:latin typeface="Calibri"/>
                        </a:rPr>
                        <a:t>Date (dd mmm yy)</a:t>
                      </a:r>
                    </a:p>
                  </a:txBody>
                  <a:tcPr marL="64008" marR="64008" marT="27432" marB="27432" anchor="ctr">
                    <a:solidFill>
                      <a:srgbClr val="141B4D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b="1" sz="1300" i="0">
                          <a:solidFill>
                            <a:srgbClr val="1A2233"/>
                          </a:solidFill>
                          <a:latin typeface="Calibri"/>
                        </a:rPr>
                        <a:t>0.2525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0.2525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25.3%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00 Jan 00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b="1" sz="1300" i="0">
                          <a:solidFill>
                            <a:srgbClr val="1A2233"/>
                          </a:solidFill>
                          <a:latin typeface="Calibri"/>
                        </a:rPr>
                        <a:t>44561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44561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44,561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4456100.0%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31 Dec 21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b="1" sz="1300" i="0">
                          <a:solidFill>
                            <a:srgbClr val="1A2233"/>
                          </a:solidFill>
                          <a:latin typeface="Calibri"/>
                        </a:rPr>
                        <a:t>1234567.891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1234567.891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1,234,568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123456789.1%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(a date far away)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548640" y="4754880"/>
            <a:ext cx="11064240" cy="777240"/>
          </a:xfrm>
          <a:prstGeom prst="rect">
            <a:avLst/>
          </a:prstGeom>
          <a:solidFill>
            <a:srgbClr val="FBF0D9"/>
          </a:solidFill>
          <a:ln w="15240">
            <a:solidFill>
              <a:srgbClr val="D99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4754880"/>
            <a:ext cx="82296" cy="777240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4754880"/>
            <a:ext cx="1083564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b="0" sz="1400" i="0">
                <a:solidFill>
                  <a:srgbClr val="1A2233"/>
                </a:solidFill>
                <a:latin typeface="Calibri"/>
              </a:rPr>
              <a:t>Formatting changes the display only. Never round by formatting what you later use in a calculation; use ROUND() if you really need to.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19088"/>
            <a:ext cx="12191695" cy="9525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b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6492240"/>
            <a:ext cx="821233" cy="2834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5448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000" i="0">
                <a:solidFill>
                  <a:srgbClr val="5C6B7A"/>
                </a:solidFill>
                <a:latin typeface="Calibri"/>
              </a:rPr>
              <a:t>MIPF Boot Camp  |  Excel Foundations  |  Excel from zero for project finance modelling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649224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b="0" sz="1000" i="0">
                <a:solidFill>
                  <a:srgbClr val="5C6B7A"/>
                </a:solidFill>
                <a:latin typeface="Calibri"/>
              </a:rPr>
              <a:t>11</a:t>
            </a:r>
          </a:p>
        </p:txBody>
      </p:sp>
      <p:pic>
        <p:nvPicPr>
          <p:cNvPr id="6" name="Picture 5" descr="mipf_hex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6446520"/>
            <a:ext cx="365760" cy="365760"/>
          </a:xfrm>
          <a:prstGeom prst="rect">
            <a:avLst/>
          </a:prstGeom>
        </p:spPr>
      </p:pic>
      <p:pic>
        <p:nvPicPr>
          <p:cNvPr id="7" name="Picture 6" descr="bongo_ai_hex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0" y="6446520"/>
            <a:ext cx="365760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237744"/>
            <a:ext cx="112471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100" i="0">
                <a:solidFill>
                  <a:srgbClr val="A8700F"/>
                </a:solidFill>
                <a:latin typeface="Calibri"/>
              </a:rPr>
              <a:t>CHECK YOUR UNDERSTANDING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5488"/>
            <a:ext cx="1124712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b="1" sz="2800" i="0">
                <a:solidFill>
                  <a:srgbClr val="141B4D"/>
                </a:solidFill>
                <a:latin typeface="Georgia"/>
              </a:rPr>
              <a:t>Quick check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52728"/>
            <a:ext cx="1463040" cy="38100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508760"/>
            <a:ext cx="10881360" cy="10058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2000" i="0">
                <a:solidFill>
                  <a:srgbClr val="141B4D"/>
                </a:solidFill>
                <a:latin typeface="Georgia"/>
              </a:rPr>
              <a:t>In cell A1 you type 25 and in B1 you type =A1*2%. Which result will Excel show?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2697480"/>
            <a:ext cx="548640" cy="59436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b="1" sz="2000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2697480"/>
            <a:ext cx="1005840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b="0" sz="1700" i="0">
                <a:solidFill>
                  <a:srgbClr val="1A2233"/>
                </a:solidFill>
                <a:latin typeface="Calibri"/>
              </a:rPr>
              <a:t>0.5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3474720"/>
            <a:ext cx="548640" cy="59436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b="1" sz="2000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474720"/>
            <a:ext cx="1005840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b="0" sz="1700" i="0">
                <a:solidFill>
                  <a:srgbClr val="1A2233"/>
                </a:solidFill>
                <a:latin typeface="Calibri"/>
              </a:rPr>
              <a:t>50</a:t>
            </a:r>
          </a:p>
        </p:txBody>
      </p:sp>
      <p:sp>
        <p:nvSpPr>
          <p:cNvPr id="16" name="Oval 15"/>
          <p:cNvSpPr/>
          <p:nvPr/>
        </p:nvSpPr>
        <p:spPr>
          <a:xfrm>
            <a:off x="731520" y="4251960"/>
            <a:ext cx="548640" cy="59436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b="1" sz="2000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251960"/>
            <a:ext cx="1005840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b="0" sz="1700" i="0">
                <a:solidFill>
                  <a:srgbClr val="1A2233"/>
                </a:solidFill>
                <a:latin typeface="Calibri"/>
              </a:rPr>
              <a:t>5</a:t>
            </a:r>
          </a:p>
        </p:txBody>
      </p:sp>
      <p:sp>
        <p:nvSpPr>
          <p:cNvPr id="18" name="Oval 17"/>
          <p:cNvSpPr/>
          <p:nvPr/>
        </p:nvSpPr>
        <p:spPr>
          <a:xfrm>
            <a:off x="731520" y="5029200"/>
            <a:ext cx="548640" cy="59436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b="1" sz="2000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5029200"/>
            <a:ext cx="1005840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b="0" sz="1700" i="0">
                <a:solidFill>
                  <a:srgbClr val="1A2233"/>
                </a:solidFill>
                <a:latin typeface="Calibri"/>
              </a:rPr>
              <a:t>#NAME?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19088"/>
            <a:ext cx="12191695" cy="9525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b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6492240"/>
            <a:ext cx="821233" cy="2834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5448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000" i="0">
                <a:solidFill>
                  <a:srgbClr val="5C6B7A"/>
                </a:solidFill>
                <a:latin typeface="Calibri"/>
              </a:rPr>
              <a:t>MIPF Boot Camp  |  Excel Foundations  |  Excel from zero for project finance modelling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649224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b="0" sz="1000" i="0">
                <a:solidFill>
                  <a:srgbClr val="5C6B7A"/>
                </a:solidFill>
                <a:latin typeface="Calibri"/>
              </a:rPr>
              <a:t>12</a:t>
            </a:r>
          </a:p>
        </p:txBody>
      </p:sp>
      <p:pic>
        <p:nvPicPr>
          <p:cNvPr id="6" name="Picture 5" descr="mipf_hex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6446520"/>
            <a:ext cx="365760" cy="365760"/>
          </a:xfrm>
          <a:prstGeom prst="rect">
            <a:avLst/>
          </a:prstGeom>
        </p:spPr>
      </p:pic>
      <p:pic>
        <p:nvPicPr>
          <p:cNvPr id="7" name="Picture 6" descr="bongo_ai_hex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0" y="6446520"/>
            <a:ext cx="365760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237744"/>
            <a:ext cx="112471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100" i="0">
                <a:solidFill>
                  <a:srgbClr val="A8700F"/>
                </a:solidFill>
                <a:latin typeface="Calibri"/>
              </a:rPr>
              <a:t>CHECK YOUR UNDERSTANDING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5488"/>
            <a:ext cx="1124712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b="1" sz="2800" i="0">
                <a:solidFill>
                  <a:srgbClr val="141B4D"/>
                </a:solidFill>
                <a:latin typeface="Georgia"/>
              </a:rPr>
              <a:t>Quick check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52728"/>
            <a:ext cx="1463040" cy="38100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508760"/>
            <a:ext cx="10881360" cy="10058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2000" i="0">
                <a:solidFill>
                  <a:srgbClr val="141B4D"/>
                </a:solidFill>
                <a:latin typeface="Georgia"/>
              </a:rPr>
              <a:t>What does =(A1+A2)/2 calculate?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2697480"/>
            <a:ext cx="548640" cy="59436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b="1" sz="2000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2697480"/>
            <a:ext cx="1005840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b="0" sz="1700" i="0">
                <a:solidFill>
                  <a:srgbClr val="1A2233"/>
                </a:solidFill>
                <a:latin typeface="Calibri"/>
              </a:rPr>
              <a:t>The sum divided by two, i.e. the average of the two cells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3474720"/>
            <a:ext cx="548640" cy="59436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b="1" sz="2000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474720"/>
            <a:ext cx="1005840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b="0" sz="1700" i="0">
                <a:solidFill>
                  <a:srgbClr val="1A2233"/>
                </a:solidFill>
                <a:latin typeface="Calibri"/>
              </a:rPr>
              <a:t>A1 plus half of A2</a:t>
            </a:r>
          </a:p>
        </p:txBody>
      </p:sp>
      <p:sp>
        <p:nvSpPr>
          <p:cNvPr id="16" name="Oval 15"/>
          <p:cNvSpPr/>
          <p:nvPr/>
        </p:nvSpPr>
        <p:spPr>
          <a:xfrm>
            <a:off x="731520" y="4251960"/>
            <a:ext cx="548640" cy="59436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b="1" sz="2000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251960"/>
            <a:ext cx="1005840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b="0" sz="1700" i="0">
                <a:solidFill>
                  <a:srgbClr val="1A2233"/>
                </a:solidFill>
                <a:latin typeface="Calibri"/>
              </a:rPr>
              <a:t>A1 plus A2 divided by A1</a:t>
            </a:r>
          </a:p>
        </p:txBody>
      </p:sp>
      <p:sp>
        <p:nvSpPr>
          <p:cNvPr id="18" name="Oval 17"/>
          <p:cNvSpPr/>
          <p:nvPr/>
        </p:nvSpPr>
        <p:spPr>
          <a:xfrm>
            <a:off x="731520" y="5029200"/>
            <a:ext cx="548640" cy="59436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b="1" sz="2000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5029200"/>
            <a:ext cx="1005840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b="0" sz="1700" i="0">
                <a:solidFill>
                  <a:srgbClr val="1A2233"/>
                </a:solidFill>
                <a:latin typeface="Calibri"/>
              </a:rPr>
              <a:t>It gives an error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19088"/>
            <a:ext cx="12191695" cy="9525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6464808"/>
            <a:ext cx="1051560" cy="3474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b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6492240"/>
            <a:ext cx="821233" cy="28346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5448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000" i="0">
                <a:solidFill>
                  <a:srgbClr val="C9D3F5"/>
                </a:solidFill>
                <a:latin typeface="Calibri"/>
              </a:rPr>
              <a:t>MIPF Boot Camp  |  Excel Foundations  |  Excel from zero for project finance modelling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92640" y="649224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b="0" sz="1000" i="0">
                <a:solidFill>
                  <a:srgbClr val="C9D3F5"/>
                </a:solidFill>
                <a:latin typeface="Calibri"/>
              </a:rPr>
              <a:t>13</a:t>
            </a:r>
          </a:p>
        </p:txBody>
      </p:sp>
      <p:pic>
        <p:nvPicPr>
          <p:cNvPr id="7" name="Picture 6" descr="mipf_hex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6446520"/>
            <a:ext cx="365760" cy="365760"/>
          </a:xfrm>
          <a:prstGeom prst="rect">
            <a:avLst/>
          </a:prstGeom>
        </p:spPr>
      </p:pic>
      <p:pic>
        <p:nvPicPr>
          <p:cNvPr id="8" name="Picture 7" descr="bongo_ai_hex_dark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0" y="6446520"/>
            <a:ext cx="365760" cy="3657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" y="2011680"/>
            <a:ext cx="100584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400" i="0">
                <a:solidFill>
                  <a:srgbClr val="D99A2B"/>
                </a:solidFill>
                <a:latin typeface="Calibri"/>
              </a:rPr>
              <a:t>FOUNDATIONS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423160"/>
            <a:ext cx="10241280" cy="1554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3800" i="0">
                <a:solidFill>
                  <a:srgbClr val="FFFFFF"/>
                </a:solidFill>
                <a:latin typeface="Georgia"/>
              </a:rPr>
              <a:t>Section B: Cell references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114800"/>
            <a:ext cx="9601200" cy="1463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800" i="0">
                <a:solidFill>
                  <a:srgbClr val="D8DEF5"/>
                </a:solidFill>
                <a:latin typeface="Calibri"/>
              </a:rPr>
              <a:t>The single most important idea for building a model: relative, absolute and mixed references.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19088"/>
            <a:ext cx="12191695" cy="9525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b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6492240"/>
            <a:ext cx="821233" cy="2834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5448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000" i="0">
                <a:solidFill>
                  <a:srgbClr val="5C6B7A"/>
                </a:solidFill>
                <a:latin typeface="Calibri"/>
              </a:rPr>
              <a:t>MIPF Boot Camp  |  Excel Foundations  |  Excel from zero for project finance modelling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649224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b="0" sz="1000" i="0">
                <a:solidFill>
                  <a:srgbClr val="5C6B7A"/>
                </a:solidFill>
                <a:latin typeface="Calibri"/>
              </a:rPr>
              <a:t>14</a:t>
            </a:r>
          </a:p>
        </p:txBody>
      </p:sp>
      <p:pic>
        <p:nvPicPr>
          <p:cNvPr id="6" name="Picture 5" descr="mipf_hex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6446520"/>
            <a:ext cx="365760" cy="365760"/>
          </a:xfrm>
          <a:prstGeom prst="rect">
            <a:avLst/>
          </a:prstGeom>
        </p:spPr>
      </p:pic>
      <p:pic>
        <p:nvPicPr>
          <p:cNvPr id="7" name="Picture 6" descr="bongo_ai_hex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0" y="6446520"/>
            <a:ext cx="365760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237744"/>
            <a:ext cx="112471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100" i="0">
                <a:solidFill>
                  <a:srgbClr val="A8700F"/>
                </a:solidFill>
                <a:latin typeface="Calibri"/>
              </a:rPr>
              <a:t>REFERENCES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5488"/>
            <a:ext cx="1124712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b="1" sz="2800" i="0">
                <a:solidFill>
                  <a:srgbClr val="141B4D"/>
                </a:solidFill>
                <a:latin typeface="Georgia"/>
              </a:rPr>
              <a:t>Relative reference: formulas that move with you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52728"/>
            <a:ext cx="1463040" cy="38100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481328"/>
            <a:ext cx="10058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5C6B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b="1" sz="1300" i="0">
                <a:solidFill>
                  <a:srgbClr val="1A2233"/>
                </a:solidFill>
                <a:latin typeface="Consolas"/>
              </a:rPr>
              <a:t>C2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481328"/>
            <a:ext cx="411480" cy="347472"/>
          </a:xfrm>
          <a:prstGeom prst="rect">
            <a:avLst/>
          </a:prstGeom>
          <a:solidFill>
            <a:srgbClr val="F3F6F9"/>
          </a:solidFill>
          <a:ln w="12700">
            <a:solidFill>
              <a:srgbClr val="5C6B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b="1" sz="1300" i="1">
                <a:solidFill>
                  <a:srgbClr val="5C6B7A"/>
                </a:solidFill>
                <a:latin typeface="Calibri"/>
              </a:rPr>
              <a:t>fx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57400" y="1481328"/>
            <a:ext cx="46634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5C6B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l"/>
            <a:r>
              <a:rPr b="0" sz="1300" i="0">
                <a:solidFill>
                  <a:srgbClr val="1A2233"/>
                </a:solidFill>
                <a:latin typeface="Consolas"/>
              </a:rPr>
              <a:t>=A2*B2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48640" y="1938528"/>
          <a:ext cx="6217920" cy="1865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"/>
                <a:gridCol w="1143000"/>
                <a:gridCol w="1143000"/>
                <a:gridCol w="1143000"/>
                <a:gridCol w="1143000"/>
                <a:gridCol w="1143000"/>
              </a:tblGrid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2233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9144" marB="9144" anchor="ctr">
                    <a:solidFill>
                      <a:srgbClr val="D9DE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A2233"/>
                          </a:solidFill>
                          <a:latin typeface="Calibri"/>
                        </a:rPr>
                        <a:t>A</a:t>
                      </a:r>
                    </a:p>
                  </a:txBody>
                  <a:tcPr marL="45720" marR="45720" marT="9144" marB="9144" anchor="ctr">
                    <a:solidFill>
                      <a:srgbClr val="D9DE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A2233"/>
                          </a:solidFill>
                          <a:latin typeface="Calibri"/>
                        </a:rPr>
                        <a:t>B</a:t>
                      </a:r>
                    </a:p>
                  </a:txBody>
                  <a:tcPr marL="45720" marR="45720" marT="9144" marB="9144" anchor="ctr">
                    <a:solidFill>
                      <a:srgbClr val="D9DE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A2233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 marL="45720" marR="45720" marT="9144" marB="9144" anchor="ctr">
                    <a:solidFill>
                      <a:srgbClr val="D9DE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A2233"/>
                          </a:solidFill>
                          <a:latin typeface="Calibri"/>
                        </a:rPr>
                        <a:t>D</a:t>
                      </a:r>
                    </a:p>
                  </a:txBody>
                  <a:tcPr marL="45720" marR="45720" marT="9144" marB="9144" anchor="ctr">
                    <a:solidFill>
                      <a:srgbClr val="D9DE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A2233"/>
                          </a:solidFill>
                          <a:latin typeface="Calibri"/>
                        </a:rPr>
                        <a:t>E</a:t>
                      </a:r>
                    </a:p>
                  </a:txBody>
                  <a:tcPr marL="45720" marR="45720" marT="9144" marB="9144" anchor="ctr">
                    <a:solidFill>
                      <a:srgbClr val="D9DEE6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A223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45720" marR="45720" marT="9144" marB="9144" anchor="ctr">
                    <a:solidFill>
                      <a:srgbClr val="D9DE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2233"/>
                          </a:solidFill>
                          <a:latin typeface="Calibri"/>
                        </a:rPr>
                        <a:t>Qty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2233"/>
                          </a:solidFill>
                          <a:latin typeface="Calibri"/>
                        </a:rPr>
                        <a:t>Price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2233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2233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2233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A223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45720" marR="45720" marT="9144" marB="9144" anchor="ctr">
                    <a:solidFill>
                      <a:srgbClr val="D9DE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A2233"/>
                          </a:solidFill>
                          <a:latin typeface="Calibri"/>
                        </a:rPr>
                        <a:t>100</a:t>
                      </a:r>
                    </a:p>
                  </a:txBody>
                  <a:tcPr marL="45720" marR="45720" marT="9144" marB="9144" anchor="ctr">
                    <a:solidFill>
                      <a:srgbClr val="FBF0D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A2233"/>
                          </a:solidFill>
                          <a:latin typeface="Calibri"/>
                        </a:rPr>
                        <a:t>7.15</a:t>
                      </a:r>
                    </a:p>
                  </a:txBody>
                  <a:tcPr marL="45720" marR="45720" marT="9144" marB="9144" anchor="ctr">
                    <a:solidFill>
                      <a:srgbClr val="FBF0D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A2233"/>
                          </a:solidFill>
                          <a:latin typeface="Consolas"/>
                        </a:rPr>
                        <a:t>=A2*B2</a:t>
                      </a:r>
                    </a:p>
                  </a:txBody>
                  <a:tcPr marL="45720" marR="45720" marT="9144" marB="9144" anchor="ctr">
                    <a:solidFill>
                      <a:srgbClr val="FFE9B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2233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2233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A223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9144" marB="9144" anchor="ctr">
                    <a:solidFill>
                      <a:srgbClr val="D9DE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2233"/>
                          </a:solidFill>
                          <a:latin typeface="Calibri"/>
                        </a:rPr>
                        <a:t>40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2233"/>
                          </a:solidFill>
                          <a:latin typeface="Calibri"/>
                        </a:rPr>
                        <a:t>2.5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2233"/>
                          </a:solidFill>
                          <a:latin typeface="Consolas"/>
                        </a:rPr>
                        <a:t>=A3*B3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2233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2233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A223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45720" marR="45720" marT="9144" marB="9144" anchor="ctr">
                    <a:solidFill>
                      <a:srgbClr val="D9DE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2233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2233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2233"/>
                          </a:solidFill>
                          <a:latin typeface="Consolas"/>
                        </a:rPr>
                        <a:t>=A4*B4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2233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2233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A223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45720" marR="45720" marT="9144" marB="9144" anchor="ctr">
                    <a:solidFill>
                      <a:srgbClr val="D9DE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2233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2233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2233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2233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2233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Rectangle 14"/>
          <p:cNvSpPr/>
          <p:nvPr/>
        </p:nvSpPr>
        <p:spPr>
          <a:xfrm>
            <a:off x="7040879" y="1481328"/>
            <a:ext cx="4617720" cy="347472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l"/>
            <a:r>
              <a:rPr b="1" sz="1200" i="0">
                <a:solidFill>
                  <a:srgbClr val="FFFFFF"/>
                </a:solidFill>
                <a:latin typeface="Calibri"/>
              </a:rPr>
              <a:t>HOW IT WORKS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79" y="1920240"/>
            <a:ext cx="46177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0" sz="1500" i="0">
                <a:solidFill>
                  <a:srgbClr val="1A2233"/>
                </a:solidFill>
                <a:latin typeface="Calibri"/>
              </a:rPr>
              <a:t>▪ </a:t>
            </a:r>
            <a:r>
              <a:rPr b="0" sz="1500" i="0">
                <a:solidFill>
                  <a:srgbClr val="0B5E82"/>
                </a:solidFill>
                <a:latin typeface="Consolas"/>
              </a:rPr>
              <a:t>=A2*B2</a:t>
            </a:r>
            <a:r>
              <a:rPr b="0" sz="1500" i="0">
                <a:solidFill>
                  <a:srgbClr val="1A2233"/>
                </a:solidFill>
                <a:latin typeface="Calibri"/>
              </a:rPr>
              <a:t> means 'two cells to my left times one cell to my left'</a:t>
            </a:r>
          </a:p>
          <a:p>
            <a:pPr>
              <a:spcAft>
                <a:spcPts val="600"/>
              </a:spcAft>
            </a:pPr>
            <a:r>
              <a:rPr b="0" sz="1500" i="0">
                <a:solidFill>
                  <a:srgbClr val="1A2233"/>
                </a:solidFill>
                <a:latin typeface="Calibri"/>
              </a:rPr>
              <a:t>▪ Copy it down: Excel keeps the </a:t>
            </a:r>
            <a:r>
              <a:rPr b="1" sz="1500" i="0">
                <a:solidFill>
                  <a:srgbClr val="1A2233"/>
                </a:solidFill>
                <a:latin typeface="Calibri"/>
              </a:rPr>
              <a:t>relative position</a:t>
            </a:r>
            <a:r>
              <a:rPr b="0" sz="1500" i="0">
                <a:solidFill>
                  <a:srgbClr val="1A2233"/>
                </a:solidFill>
                <a:latin typeface="Calibri"/>
              </a:rPr>
              <a:t>, so C3 becomes </a:t>
            </a:r>
            <a:r>
              <a:rPr b="0" sz="1500" i="0">
                <a:solidFill>
                  <a:srgbClr val="0B5E82"/>
                </a:solidFill>
                <a:latin typeface="Consolas"/>
              </a:rPr>
              <a:t>=A3*B3</a:t>
            </a:r>
          </a:p>
          <a:p>
            <a:pPr>
              <a:spcAft>
                <a:spcPts val="600"/>
              </a:spcAft>
            </a:pPr>
            <a:r>
              <a:rPr b="0" sz="1500" i="0">
                <a:solidFill>
                  <a:srgbClr val="1A2233"/>
                </a:solidFill>
                <a:latin typeface="Calibri"/>
              </a:rPr>
              <a:t>▪ Select C2:C4 and press </a:t>
            </a:r>
            <a:r>
              <a:rPr b="0" sz="1500" i="0">
                <a:solidFill>
                  <a:srgbClr val="0B5E82"/>
                </a:solidFill>
                <a:latin typeface="Consolas"/>
              </a:rPr>
              <a:t>Ctrl+D</a:t>
            </a:r>
            <a:r>
              <a:rPr b="0" sz="1500" i="0">
                <a:solidFill>
                  <a:srgbClr val="1A2233"/>
                </a:solidFill>
                <a:latin typeface="Calibri"/>
              </a:rPr>
              <a:t> (Win) or </a:t>
            </a:r>
            <a:r>
              <a:rPr b="0" sz="1500" i="0">
                <a:solidFill>
                  <a:srgbClr val="0B5E82"/>
                </a:solidFill>
                <a:latin typeface="Consolas"/>
              </a:rPr>
              <a:t>Cmd+D</a:t>
            </a:r>
            <a:r>
              <a:rPr b="0" sz="1500" i="0">
                <a:solidFill>
                  <a:srgbClr val="1A2233"/>
                </a:solidFill>
                <a:latin typeface="Calibri"/>
              </a:rPr>
              <a:t> (Mac) to fill down</a:t>
            </a:r>
          </a:p>
          <a:p>
            <a:pPr>
              <a:spcAft>
                <a:spcPts val="600"/>
              </a:spcAft>
            </a:pPr>
            <a:r>
              <a:rPr b="0" sz="1500" i="0">
                <a:solidFill>
                  <a:srgbClr val="1A2233"/>
                </a:solidFill>
                <a:latin typeface="Calibri"/>
              </a:rPr>
              <a:t>▪ In the model, copying a formula across the timeline works because of this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19088"/>
            <a:ext cx="12191695" cy="9525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b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6492240"/>
            <a:ext cx="821233" cy="2834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5448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000" i="0">
                <a:solidFill>
                  <a:srgbClr val="5C6B7A"/>
                </a:solidFill>
                <a:latin typeface="Calibri"/>
              </a:rPr>
              <a:t>MIPF Boot Camp  |  Excel Foundations  |  Excel from zero for project finance modelling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649224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b="0" sz="1000" i="0">
                <a:solidFill>
                  <a:srgbClr val="5C6B7A"/>
                </a:solidFill>
                <a:latin typeface="Calibri"/>
              </a:rPr>
              <a:t>15</a:t>
            </a:r>
          </a:p>
        </p:txBody>
      </p:sp>
      <p:pic>
        <p:nvPicPr>
          <p:cNvPr id="6" name="Picture 5" descr="mipf_hex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6446520"/>
            <a:ext cx="365760" cy="365760"/>
          </a:xfrm>
          <a:prstGeom prst="rect">
            <a:avLst/>
          </a:prstGeom>
        </p:spPr>
      </p:pic>
      <p:pic>
        <p:nvPicPr>
          <p:cNvPr id="7" name="Picture 6" descr="bongo_ai_hex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0" y="6446520"/>
            <a:ext cx="365760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237744"/>
            <a:ext cx="112471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100" i="0">
                <a:solidFill>
                  <a:srgbClr val="A8700F"/>
                </a:solidFill>
                <a:latin typeface="Calibri"/>
              </a:rPr>
              <a:t>REFERENCES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5488"/>
            <a:ext cx="1124712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b="1" sz="2800" i="0">
                <a:solidFill>
                  <a:srgbClr val="141B4D"/>
                </a:solidFill>
                <a:latin typeface="Georgia"/>
              </a:rPr>
              <a:t>Absolute reference: the dollar sign freezes a cell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52728"/>
            <a:ext cx="1463040" cy="38100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481328"/>
            <a:ext cx="10058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5C6B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b="1" sz="1300" i="0">
                <a:solidFill>
                  <a:srgbClr val="1A2233"/>
                </a:solidFill>
                <a:latin typeface="Consolas"/>
              </a:rPr>
              <a:t>B3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481328"/>
            <a:ext cx="411480" cy="347472"/>
          </a:xfrm>
          <a:prstGeom prst="rect">
            <a:avLst/>
          </a:prstGeom>
          <a:solidFill>
            <a:srgbClr val="F3F6F9"/>
          </a:solidFill>
          <a:ln w="12700">
            <a:solidFill>
              <a:srgbClr val="5C6B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b="1" sz="1300" i="1">
                <a:solidFill>
                  <a:srgbClr val="5C6B7A"/>
                </a:solidFill>
                <a:latin typeface="Calibri"/>
              </a:rPr>
              <a:t>fx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57400" y="1481328"/>
            <a:ext cx="46634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5C6B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l"/>
            <a:r>
              <a:rPr b="0" sz="1300" i="0">
                <a:solidFill>
                  <a:srgbClr val="1A2233"/>
                </a:solidFill>
                <a:latin typeface="Consolas"/>
              </a:rPr>
              <a:t>=A3*(1+$B$1)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48640" y="1938528"/>
          <a:ext cx="6217920" cy="1865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"/>
                <a:gridCol w="1143000"/>
                <a:gridCol w="1143000"/>
                <a:gridCol w="1143000"/>
                <a:gridCol w="1143000"/>
                <a:gridCol w="1143000"/>
              </a:tblGrid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2233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9144" marB="9144" anchor="ctr">
                    <a:solidFill>
                      <a:srgbClr val="D9DE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A2233"/>
                          </a:solidFill>
                          <a:latin typeface="Calibri"/>
                        </a:rPr>
                        <a:t>A</a:t>
                      </a:r>
                    </a:p>
                  </a:txBody>
                  <a:tcPr marL="45720" marR="45720" marT="9144" marB="9144" anchor="ctr">
                    <a:solidFill>
                      <a:srgbClr val="D9DE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A2233"/>
                          </a:solidFill>
                          <a:latin typeface="Calibri"/>
                        </a:rPr>
                        <a:t>B</a:t>
                      </a:r>
                    </a:p>
                  </a:txBody>
                  <a:tcPr marL="45720" marR="45720" marT="9144" marB="9144" anchor="ctr">
                    <a:solidFill>
                      <a:srgbClr val="D9DE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A2233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 marL="45720" marR="45720" marT="9144" marB="9144" anchor="ctr">
                    <a:solidFill>
                      <a:srgbClr val="D9DE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A2233"/>
                          </a:solidFill>
                          <a:latin typeface="Calibri"/>
                        </a:rPr>
                        <a:t>D</a:t>
                      </a:r>
                    </a:p>
                  </a:txBody>
                  <a:tcPr marL="45720" marR="45720" marT="9144" marB="9144" anchor="ctr">
                    <a:solidFill>
                      <a:srgbClr val="D9DE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A2233"/>
                          </a:solidFill>
                          <a:latin typeface="Calibri"/>
                        </a:rPr>
                        <a:t>E</a:t>
                      </a:r>
                    </a:p>
                  </a:txBody>
                  <a:tcPr marL="45720" marR="45720" marT="9144" marB="9144" anchor="ctr">
                    <a:solidFill>
                      <a:srgbClr val="D9DEE6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A223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45720" marR="45720" marT="9144" marB="9144" anchor="ctr">
                    <a:solidFill>
                      <a:srgbClr val="D9DE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2233"/>
                          </a:solidFill>
                          <a:latin typeface="Calibri"/>
                        </a:rPr>
                        <a:t>VAT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A2233"/>
                          </a:solidFill>
                          <a:latin typeface="Calibri"/>
                        </a:rPr>
                        <a:t>7.5%</a:t>
                      </a:r>
                    </a:p>
                  </a:txBody>
                  <a:tcPr marL="45720" marR="45720" marT="9144" marB="9144" anchor="ctr">
                    <a:solidFill>
                      <a:srgbClr val="FBF0D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2233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2233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2233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A223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45720" marR="45720" marT="9144" marB="9144" anchor="ctr">
                    <a:solidFill>
                      <a:srgbClr val="D9DE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2233"/>
                          </a:solidFill>
                          <a:latin typeface="Calibri"/>
                        </a:rPr>
                        <a:t>Net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2233"/>
                          </a:solidFill>
                          <a:latin typeface="Calibri"/>
                        </a:rPr>
                        <a:t>Gross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2233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2233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2233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A223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9144" marB="9144" anchor="ctr">
                    <a:solidFill>
                      <a:srgbClr val="D9DE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2233"/>
                          </a:solidFill>
                          <a:latin typeface="Calibri"/>
                        </a:rPr>
                        <a:t>100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A2233"/>
                          </a:solidFill>
                          <a:latin typeface="Consolas"/>
                        </a:rPr>
                        <a:t>=A3*(1+$B$1)</a:t>
                      </a:r>
                    </a:p>
                  </a:txBody>
                  <a:tcPr marL="45720" marR="45720" marT="9144" marB="9144" anchor="ctr">
                    <a:solidFill>
                      <a:srgbClr val="FFE9B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2233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2233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2233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A223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45720" marR="45720" marT="9144" marB="9144" anchor="ctr">
                    <a:solidFill>
                      <a:srgbClr val="D9DE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2233"/>
                          </a:solidFill>
                          <a:latin typeface="Calibri"/>
                        </a:rPr>
                        <a:t>250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2233"/>
                          </a:solidFill>
                          <a:latin typeface="Consolas"/>
                        </a:rPr>
                        <a:t>=A4*(1+$B$1)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2233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2233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2233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A223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45720" marR="45720" marT="9144" marB="9144" anchor="ctr">
                    <a:solidFill>
                      <a:srgbClr val="D9DE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2233"/>
                          </a:solidFill>
                          <a:latin typeface="Calibri"/>
                        </a:rPr>
                        <a:t>40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2233"/>
                          </a:solidFill>
                          <a:latin typeface="Consolas"/>
                        </a:rPr>
                        <a:t>=A5*(1+$B$1)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2233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2233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2233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Rectangle 14"/>
          <p:cNvSpPr/>
          <p:nvPr/>
        </p:nvSpPr>
        <p:spPr>
          <a:xfrm>
            <a:off x="7040879" y="1481328"/>
            <a:ext cx="4617720" cy="347472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l"/>
            <a:r>
              <a:rPr b="1" sz="1200" i="0">
                <a:solidFill>
                  <a:srgbClr val="FFFFFF"/>
                </a:solidFill>
                <a:latin typeface="Calibri"/>
              </a:rPr>
              <a:t>HOW IT WORKS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79" y="1920240"/>
            <a:ext cx="46177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0" sz="1500" i="0">
                <a:solidFill>
                  <a:srgbClr val="1A2233"/>
                </a:solidFill>
                <a:latin typeface="Calibri"/>
              </a:rPr>
              <a:t>▪ </a:t>
            </a:r>
            <a:r>
              <a:rPr b="0" sz="1500" i="0">
                <a:solidFill>
                  <a:srgbClr val="0B5E82"/>
                </a:solidFill>
                <a:latin typeface="Consolas"/>
              </a:rPr>
              <a:t>$B$1</a:t>
            </a:r>
            <a:r>
              <a:rPr b="0" sz="1500" i="0">
                <a:solidFill>
                  <a:srgbClr val="1A2233"/>
                </a:solidFill>
                <a:latin typeface="Calibri"/>
              </a:rPr>
              <a:t> means 'always cell B1, whatever I am copied to'</a:t>
            </a:r>
          </a:p>
          <a:p>
            <a:pPr>
              <a:spcAft>
                <a:spcPts val="600"/>
              </a:spcAft>
            </a:pPr>
            <a:r>
              <a:rPr b="0" sz="1500" i="0">
                <a:solidFill>
                  <a:srgbClr val="1A2233"/>
                </a:solidFill>
                <a:latin typeface="Calibri"/>
              </a:rPr>
              <a:t>▪ Without the $ signs, B4 would become </a:t>
            </a:r>
            <a:r>
              <a:rPr b="0" sz="1500" i="0">
                <a:solidFill>
                  <a:srgbClr val="0B5E82"/>
                </a:solidFill>
                <a:latin typeface="Consolas"/>
              </a:rPr>
              <a:t>=A4*(1+B2)</a:t>
            </a:r>
            <a:r>
              <a:rPr b="0" sz="1500" i="0">
                <a:solidFill>
                  <a:srgbClr val="1A2233"/>
                </a:solidFill>
                <a:latin typeface="Calibri"/>
              </a:rPr>
              <a:t>: a wrong answer, no error message</a:t>
            </a:r>
          </a:p>
          <a:p>
            <a:pPr>
              <a:spcAft>
                <a:spcPts val="600"/>
              </a:spcAft>
            </a:pPr>
            <a:r>
              <a:rPr b="0" sz="1500" i="0">
                <a:solidFill>
                  <a:srgbClr val="1A2233"/>
                </a:solidFill>
                <a:latin typeface="Calibri"/>
              </a:rPr>
              <a:t>▪ Press </a:t>
            </a:r>
            <a:r>
              <a:rPr b="0" sz="1500" i="0">
                <a:solidFill>
                  <a:srgbClr val="0B5E82"/>
                </a:solidFill>
                <a:latin typeface="Consolas"/>
              </a:rPr>
              <a:t>F4</a:t>
            </a:r>
            <a:r>
              <a:rPr b="0" sz="1500" i="0">
                <a:solidFill>
                  <a:srgbClr val="1A2233"/>
                </a:solidFill>
                <a:latin typeface="Calibri"/>
              </a:rPr>
              <a:t> (Win) or </a:t>
            </a:r>
            <a:r>
              <a:rPr b="0" sz="1500" i="0">
                <a:solidFill>
                  <a:srgbClr val="0B5E82"/>
                </a:solidFill>
                <a:latin typeface="Consolas"/>
              </a:rPr>
              <a:t>Cmd+T</a:t>
            </a:r>
            <a:r>
              <a:rPr b="0" sz="1500" i="0">
                <a:solidFill>
                  <a:srgbClr val="1A2233"/>
                </a:solidFill>
                <a:latin typeface="Calibri"/>
              </a:rPr>
              <a:t> (Mac) with the cursor on the reference to add the $ signs</a:t>
            </a:r>
          </a:p>
          <a:p>
            <a:pPr>
              <a:spcAft>
                <a:spcPts val="600"/>
              </a:spcAft>
            </a:pPr>
            <a:r>
              <a:rPr b="0" sz="1500" i="0">
                <a:solidFill>
                  <a:srgbClr val="1A2233"/>
                </a:solidFill>
                <a:latin typeface="Calibri"/>
              </a:rPr>
              <a:t>▪ Every assumption in a model should be referenced absolutely or via a labelled constant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19088"/>
            <a:ext cx="12191695" cy="9525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b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6492240"/>
            <a:ext cx="821233" cy="2834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5448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000" i="0">
                <a:solidFill>
                  <a:srgbClr val="5C6B7A"/>
                </a:solidFill>
                <a:latin typeface="Calibri"/>
              </a:rPr>
              <a:t>MIPF Boot Camp  |  Excel Foundations  |  Excel from zero for project finance modelling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649224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b="0" sz="1000" i="0">
                <a:solidFill>
                  <a:srgbClr val="5C6B7A"/>
                </a:solidFill>
                <a:latin typeface="Calibri"/>
              </a:rPr>
              <a:t>16</a:t>
            </a:r>
          </a:p>
        </p:txBody>
      </p:sp>
      <p:pic>
        <p:nvPicPr>
          <p:cNvPr id="6" name="Picture 5" descr="mipf_hex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6446520"/>
            <a:ext cx="365760" cy="365760"/>
          </a:xfrm>
          <a:prstGeom prst="rect">
            <a:avLst/>
          </a:prstGeom>
        </p:spPr>
      </p:pic>
      <p:pic>
        <p:nvPicPr>
          <p:cNvPr id="7" name="Picture 6" descr="bongo_ai_hex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0" y="6446520"/>
            <a:ext cx="365760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237744"/>
            <a:ext cx="112471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100" i="0">
                <a:solidFill>
                  <a:srgbClr val="A8700F"/>
                </a:solidFill>
                <a:latin typeface="Calibri"/>
              </a:rPr>
              <a:t>REFERENCES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5488"/>
            <a:ext cx="1124712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b="1" sz="2800" i="0">
                <a:solidFill>
                  <a:srgbClr val="141B4D"/>
                </a:solidFill>
                <a:latin typeface="Georgia"/>
              </a:rPr>
              <a:t>Four kinds of reference: F4 cycles through them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52728"/>
            <a:ext cx="1463040" cy="38100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48640" y="1508760"/>
          <a:ext cx="11064239" cy="2197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1463040"/>
                <a:gridCol w="1828800"/>
                <a:gridCol w="1828800"/>
                <a:gridCol w="3749039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b="1" sz="1300" i="0">
                          <a:solidFill>
                            <a:srgbClr val="FFFFFF"/>
                          </a:solidFill>
                          <a:latin typeface="Calibri"/>
                        </a:rPr>
                        <a:t>Press F4 (Cmd+T) …</a:t>
                      </a:r>
                    </a:p>
                  </a:txBody>
                  <a:tcPr marL="64008" marR="64008" marT="27432" marB="27432" anchor="ctr">
                    <a:solidFill>
                      <a:srgbClr val="141B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300" i="0">
                          <a:solidFill>
                            <a:srgbClr val="FFFFFF"/>
                          </a:solidFill>
                          <a:latin typeface="Calibri"/>
                        </a:rPr>
                        <a:t>You get</a:t>
                      </a:r>
                    </a:p>
                  </a:txBody>
                  <a:tcPr marL="64008" marR="64008" marT="27432" marB="27432" anchor="ctr">
                    <a:solidFill>
                      <a:srgbClr val="141B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300" i="0">
                          <a:solidFill>
                            <a:srgbClr val="FFFFFF"/>
                          </a:solidFill>
                          <a:latin typeface="Calibri"/>
                        </a:rPr>
                        <a:t>Column moves?</a:t>
                      </a:r>
                    </a:p>
                  </a:txBody>
                  <a:tcPr marL="64008" marR="64008" marT="27432" marB="27432" anchor="ctr">
                    <a:solidFill>
                      <a:srgbClr val="141B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300" i="0">
                          <a:solidFill>
                            <a:srgbClr val="FFFFFF"/>
                          </a:solidFill>
                          <a:latin typeface="Calibri"/>
                        </a:rPr>
                        <a:t>Row moves?</a:t>
                      </a:r>
                    </a:p>
                  </a:txBody>
                  <a:tcPr marL="64008" marR="64008" marT="27432" marB="27432" anchor="ctr">
                    <a:solidFill>
                      <a:srgbClr val="141B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300" i="0">
                          <a:solidFill>
                            <a:srgbClr val="FFFFFF"/>
                          </a:solidFill>
                          <a:latin typeface="Calibri"/>
                        </a:rPr>
                        <a:t>TrainStat example</a:t>
                      </a:r>
                    </a:p>
                  </a:txBody>
                  <a:tcPr marL="64008" marR="64008" marT="27432" marB="27432" anchor="ctr">
                    <a:solidFill>
                      <a:srgbClr val="141B4D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b="1" sz="1300" i="0">
                          <a:solidFill>
                            <a:srgbClr val="1A2233"/>
                          </a:solidFill>
                          <a:latin typeface="Calibri"/>
                        </a:rPr>
                        <a:t>0 times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onsolas"/>
                        </a:rPr>
                        <a:t>J39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0B5E82"/>
                          </a:solidFill>
                          <a:latin typeface="Consolas"/>
                        </a:rPr>
                        <a:t>=J34*...</a:t>
                      </a:r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 relative to the timeline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b="1" sz="1300" i="0">
                          <a:solidFill>
                            <a:srgbClr val="1A2233"/>
                          </a:solidFill>
                          <a:latin typeface="Calibri"/>
                        </a:rPr>
                        <a:t>1 time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onsolas"/>
                        </a:rPr>
                        <a:t>$J$39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0B5E82"/>
                          </a:solidFill>
                          <a:latin typeface="Consolas"/>
                        </a:rPr>
                        <a:t>$F$4</a:t>
                      </a:r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 the scenario switch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</a:tr>
              <a:tr h="522478">
                <a:tc>
                  <a:txBody>
                    <a:bodyPr wrap="square"/>
                    <a:lstStyle/>
                    <a:p>
                      <a:r>
                        <a:rPr b="1" sz="1300" i="0">
                          <a:solidFill>
                            <a:srgbClr val="1A2233"/>
                          </a:solidFill>
                          <a:latin typeface="Calibri"/>
                        </a:rPr>
                        <a:t>2 times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onsolas"/>
                        </a:rPr>
                        <a:t>J$39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0B5E82"/>
                          </a:solidFill>
                          <a:latin typeface="Consolas"/>
                        </a:rPr>
                        <a:t>J$17</a:t>
                      </a:r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 timeline flag: copy across, row fixed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522478">
                <a:tc>
                  <a:txBody>
                    <a:bodyPr wrap="square"/>
                    <a:lstStyle/>
                    <a:p>
                      <a:r>
                        <a:rPr b="1" sz="1300" i="0">
                          <a:solidFill>
                            <a:srgbClr val="1A2233"/>
                          </a:solidFill>
                          <a:latin typeface="Calibri"/>
                        </a:rPr>
                        <a:t>3 times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onsolas"/>
                        </a:rPr>
                        <a:t>$J39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0B5E82"/>
                          </a:solidFill>
                          <a:latin typeface="Consolas"/>
                        </a:rPr>
                        <a:t>$F37</a:t>
                      </a:r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 constant in column F: copy across, column fixed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548640" y="4663440"/>
            <a:ext cx="11064240" cy="777240"/>
          </a:xfrm>
          <a:prstGeom prst="rect">
            <a:avLst/>
          </a:prstGeom>
          <a:solidFill>
            <a:srgbClr val="FBF0D9"/>
          </a:solidFill>
          <a:ln w="15240">
            <a:solidFill>
              <a:srgbClr val="D99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4663440"/>
            <a:ext cx="82296" cy="777240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4663440"/>
            <a:ext cx="1083564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b="0" sz="1400" i="0">
                <a:solidFill>
                  <a:srgbClr val="1A2233"/>
                </a:solidFill>
                <a:latin typeface="Calibri"/>
              </a:rPr>
              <a:t>Memory aid: the $ sits in front of the part that must NOT change. </a:t>
            </a:r>
            <a:r>
              <a:rPr b="0" sz="1400" i="0">
                <a:solidFill>
                  <a:srgbClr val="0B5E82"/>
                </a:solidFill>
                <a:latin typeface="Consolas"/>
              </a:rPr>
              <a:t>$F37</a:t>
            </a:r>
            <a:r>
              <a:rPr b="0" sz="1400" i="0">
                <a:solidFill>
                  <a:srgbClr val="1A2233"/>
                </a:solidFill>
                <a:latin typeface="Calibri"/>
              </a:rPr>
              <a:t>: column F is fixed. </a:t>
            </a:r>
            <a:r>
              <a:rPr b="0" sz="1400" i="0">
                <a:solidFill>
                  <a:srgbClr val="0B5E82"/>
                </a:solidFill>
                <a:latin typeface="Consolas"/>
              </a:rPr>
              <a:t>J$17</a:t>
            </a:r>
            <a:r>
              <a:rPr b="0" sz="1400" i="0">
                <a:solidFill>
                  <a:srgbClr val="1A2233"/>
                </a:solidFill>
                <a:latin typeface="Calibri"/>
              </a:rPr>
              <a:t>: row 17 is fixed.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19088"/>
            <a:ext cx="12191695" cy="9525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b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6492240"/>
            <a:ext cx="821233" cy="2834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5448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000" i="0">
                <a:solidFill>
                  <a:srgbClr val="5C6B7A"/>
                </a:solidFill>
                <a:latin typeface="Calibri"/>
              </a:rPr>
              <a:t>MIPF Boot Camp  |  Excel Foundations  |  Excel from zero for project finance modelling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649224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b="0" sz="1000" i="0">
                <a:solidFill>
                  <a:srgbClr val="5C6B7A"/>
                </a:solidFill>
                <a:latin typeface="Calibri"/>
              </a:rPr>
              <a:t>17</a:t>
            </a:r>
          </a:p>
        </p:txBody>
      </p:sp>
      <p:pic>
        <p:nvPicPr>
          <p:cNvPr id="6" name="Picture 5" descr="mipf_hex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6446520"/>
            <a:ext cx="365760" cy="365760"/>
          </a:xfrm>
          <a:prstGeom prst="rect">
            <a:avLst/>
          </a:prstGeom>
        </p:spPr>
      </p:pic>
      <p:pic>
        <p:nvPicPr>
          <p:cNvPr id="7" name="Picture 6" descr="bongo_ai_hex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0" y="6446520"/>
            <a:ext cx="365760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237744"/>
            <a:ext cx="112471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100" i="0">
                <a:solidFill>
                  <a:srgbClr val="A8700F"/>
                </a:solidFill>
                <a:latin typeface="Calibri"/>
              </a:rPr>
              <a:t>EXERCISE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5488"/>
            <a:ext cx="1124712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b="1" sz="2800" i="0">
                <a:solidFill>
                  <a:srgbClr val="141B4D"/>
                </a:solidFill>
                <a:latin typeface="Georgia"/>
              </a:rPr>
              <a:t>Exercise XL2: One formula, whole multiplication table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52728"/>
            <a:ext cx="1463040" cy="38100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463040"/>
            <a:ext cx="2743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100" i="0">
                <a:solidFill>
                  <a:srgbClr val="A8700F"/>
                </a:solidFill>
                <a:latin typeface="Calibri"/>
              </a:rPr>
              <a:t>YOUR TASK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737360"/>
            <a:ext cx="11064240" cy="7772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600" i="0">
                <a:solidFill>
                  <a:srgbClr val="1A2233"/>
                </a:solidFill>
                <a:latin typeface="Calibri"/>
              </a:rPr>
              <a:t>Build a 9×9 multiplication table with ONE formula copied to every cell.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606040"/>
            <a:ext cx="2743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100" i="0">
                <a:solidFill>
                  <a:srgbClr val="A8700F"/>
                </a:solidFill>
                <a:latin typeface="Calibri"/>
              </a:rPr>
              <a:t>STEPS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852928"/>
            <a:ext cx="1106424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b="0" sz="1500" i="0">
                <a:solidFill>
                  <a:srgbClr val="1A2233"/>
                </a:solidFill>
                <a:latin typeface="Calibri"/>
              </a:rPr>
              <a:t>1.  Type 1 to 9 in A2:A10 (down) and in B1:J1 (across)</a:t>
            </a:r>
          </a:p>
          <a:p>
            <a:pPr>
              <a:spcAft>
                <a:spcPts val="300"/>
              </a:spcAft>
            </a:pPr>
            <a:r>
              <a:rPr b="0" sz="1500" i="0">
                <a:solidFill>
                  <a:srgbClr val="1A2233"/>
                </a:solidFill>
                <a:latin typeface="Calibri"/>
              </a:rPr>
              <a:t>2.  In B2 type </a:t>
            </a:r>
            <a:r>
              <a:rPr b="0" sz="1500" i="0">
                <a:solidFill>
                  <a:srgbClr val="0B5E82"/>
                </a:solidFill>
                <a:latin typeface="Consolas"/>
              </a:rPr>
              <a:t>=$A2*B$1</a:t>
            </a:r>
          </a:p>
          <a:p>
            <a:pPr>
              <a:spcAft>
                <a:spcPts val="300"/>
              </a:spcAft>
            </a:pPr>
            <a:r>
              <a:rPr b="0" sz="1500" i="0">
                <a:solidFill>
                  <a:srgbClr val="1A2233"/>
                </a:solidFill>
                <a:latin typeface="Calibri"/>
              </a:rPr>
              <a:t>3.  Select B2:J10 first, then press Ctrl+Enter after typing, or copy B2 and paste to B2:J10</a:t>
            </a:r>
          </a:p>
          <a:p>
            <a:pPr>
              <a:spcAft>
                <a:spcPts val="300"/>
              </a:spcAft>
            </a:pPr>
            <a:r>
              <a:rPr b="0" sz="1500" i="0">
                <a:solidFill>
                  <a:srgbClr val="1A2233"/>
                </a:solidFill>
                <a:latin typeface="Calibri"/>
              </a:rPr>
              <a:t>4.  Check that J10 shows 81 and press F2 on J10 to see </a:t>
            </a:r>
            <a:r>
              <a:rPr b="0" sz="1500" i="0">
                <a:solidFill>
                  <a:srgbClr val="0B5E82"/>
                </a:solidFill>
                <a:latin typeface="Consolas"/>
              </a:rPr>
              <a:t>=$A10*J$1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983480"/>
            <a:ext cx="10881360" cy="1280160"/>
          </a:xfrm>
          <a:prstGeom prst="rect">
            <a:avLst/>
          </a:prstGeom>
          <a:solidFill>
            <a:srgbClr val="E6F4EA"/>
          </a:solidFill>
          <a:ln w="15240">
            <a:solidFill>
              <a:srgbClr val="1E7B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4983480"/>
            <a:ext cx="82296" cy="1280160"/>
          </a:xfrm>
          <a:prstGeom prst="rect">
            <a:avLst/>
          </a:prstGeom>
          <a:solidFill>
            <a:srgbClr val="1E7B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983480"/>
            <a:ext cx="10652760" cy="12801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b="0" sz="1400" i="0">
                <a:solidFill>
                  <a:srgbClr val="1A2233"/>
                </a:solidFill>
                <a:latin typeface="Calibri"/>
              </a:rPr>
              <a:t>WHEN YOU ARE DONE:  compare your result with a neighbour. Your facilitator then confirms the answer and the reasoning in the room.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607040" y="274320"/>
            <a:ext cx="1097280" cy="320040"/>
          </a:xfrm>
          <a:prstGeom prst="round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b="1" sz="1300" i="0">
                <a:solidFill>
                  <a:srgbClr val="FFFFFF"/>
                </a:solidFill>
                <a:latin typeface="Calibri"/>
              </a:rPr>
              <a:t>8 min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19088"/>
            <a:ext cx="12191695" cy="9525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b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6492240"/>
            <a:ext cx="821233" cy="2834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5448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000" i="0">
                <a:solidFill>
                  <a:srgbClr val="5C6B7A"/>
                </a:solidFill>
                <a:latin typeface="Calibri"/>
              </a:rPr>
              <a:t>MIPF Boot Camp  |  Excel Foundations  |  Excel from zero for project finance modelling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649224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b="0" sz="1000" i="0">
                <a:solidFill>
                  <a:srgbClr val="5C6B7A"/>
                </a:solidFill>
                <a:latin typeface="Calibri"/>
              </a:rPr>
              <a:t>18</a:t>
            </a:r>
          </a:p>
        </p:txBody>
      </p:sp>
      <p:pic>
        <p:nvPicPr>
          <p:cNvPr id="6" name="Picture 5" descr="mipf_hex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6446520"/>
            <a:ext cx="365760" cy="365760"/>
          </a:xfrm>
          <a:prstGeom prst="rect">
            <a:avLst/>
          </a:prstGeom>
        </p:spPr>
      </p:pic>
      <p:pic>
        <p:nvPicPr>
          <p:cNvPr id="7" name="Picture 6" descr="bongo_ai_hex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0" y="6446520"/>
            <a:ext cx="365760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237744"/>
            <a:ext cx="112471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100" i="0">
                <a:solidFill>
                  <a:srgbClr val="A8700F"/>
                </a:solidFill>
                <a:latin typeface="Calibri"/>
              </a:rPr>
              <a:t>CHECK YOUR UNDERSTANDING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5488"/>
            <a:ext cx="1124712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b="1" sz="2800" i="0">
                <a:solidFill>
                  <a:srgbClr val="141B4D"/>
                </a:solidFill>
                <a:latin typeface="Georgia"/>
              </a:rPr>
              <a:t>Quick check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52728"/>
            <a:ext cx="1463040" cy="38100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508760"/>
            <a:ext cx="10881360" cy="10058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2000" i="0">
                <a:solidFill>
                  <a:srgbClr val="141B4D"/>
                </a:solidFill>
                <a:latin typeface="Georgia"/>
              </a:rPr>
              <a:t>Cell F37 holds 7.15. In G39 you write =$F37*J39 and copy it to H39. What does H39 contain?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2697480"/>
            <a:ext cx="548640" cy="59436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b="1" sz="2000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2697480"/>
            <a:ext cx="1005840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b="0" sz="1700" i="0">
                <a:solidFill>
                  <a:srgbClr val="1A2233"/>
                </a:solidFill>
                <a:latin typeface="Calibri"/>
              </a:rPr>
              <a:t>=$F37*K39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3474720"/>
            <a:ext cx="548640" cy="59436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b="1" sz="2000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474720"/>
            <a:ext cx="1005840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b="0" sz="1700" i="0">
                <a:solidFill>
                  <a:srgbClr val="1A2233"/>
                </a:solidFill>
                <a:latin typeface="Calibri"/>
              </a:rPr>
              <a:t>=$G37*K39</a:t>
            </a:r>
          </a:p>
        </p:txBody>
      </p:sp>
      <p:sp>
        <p:nvSpPr>
          <p:cNvPr id="16" name="Oval 15"/>
          <p:cNvSpPr/>
          <p:nvPr/>
        </p:nvSpPr>
        <p:spPr>
          <a:xfrm>
            <a:off x="731520" y="4251960"/>
            <a:ext cx="548640" cy="59436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b="1" sz="2000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251960"/>
            <a:ext cx="1005840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b="0" sz="1700" i="0">
                <a:solidFill>
                  <a:srgbClr val="1A2233"/>
                </a:solidFill>
                <a:latin typeface="Calibri"/>
              </a:rPr>
              <a:t>=$F37*J39</a:t>
            </a:r>
          </a:p>
        </p:txBody>
      </p:sp>
      <p:sp>
        <p:nvSpPr>
          <p:cNvPr id="18" name="Oval 17"/>
          <p:cNvSpPr/>
          <p:nvPr/>
        </p:nvSpPr>
        <p:spPr>
          <a:xfrm>
            <a:off x="731520" y="5029200"/>
            <a:ext cx="548640" cy="59436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b="1" sz="2000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5029200"/>
            <a:ext cx="1005840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b="0" sz="1700" i="0">
                <a:solidFill>
                  <a:srgbClr val="1A2233"/>
                </a:solidFill>
                <a:latin typeface="Calibri"/>
              </a:rPr>
              <a:t>=$F38*K39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19088"/>
            <a:ext cx="12191695" cy="9525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b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6492240"/>
            <a:ext cx="821233" cy="2834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5448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000" i="0">
                <a:solidFill>
                  <a:srgbClr val="5C6B7A"/>
                </a:solidFill>
                <a:latin typeface="Calibri"/>
              </a:rPr>
              <a:t>MIPF Boot Camp  |  Excel Foundations  |  Excel from zero for project finance modelling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649224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b="0" sz="1000" i="0">
                <a:solidFill>
                  <a:srgbClr val="5C6B7A"/>
                </a:solidFill>
                <a:latin typeface="Calibri"/>
              </a:rPr>
              <a:t>19</a:t>
            </a:r>
          </a:p>
        </p:txBody>
      </p:sp>
      <p:pic>
        <p:nvPicPr>
          <p:cNvPr id="6" name="Picture 5" descr="mipf_hex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6446520"/>
            <a:ext cx="365760" cy="365760"/>
          </a:xfrm>
          <a:prstGeom prst="rect">
            <a:avLst/>
          </a:prstGeom>
        </p:spPr>
      </p:pic>
      <p:pic>
        <p:nvPicPr>
          <p:cNvPr id="7" name="Picture 6" descr="bongo_ai_hex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0" y="6446520"/>
            <a:ext cx="365760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237744"/>
            <a:ext cx="112471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100" i="0">
                <a:solidFill>
                  <a:srgbClr val="A8700F"/>
                </a:solidFill>
                <a:latin typeface="Calibri"/>
              </a:rPr>
              <a:t>FROM THE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5488"/>
            <a:ext cx="1124712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b="1" sz="2800" i="0">
                <a:solidFill>
                  <a:srgbClr val="141B4D"/>
                </a:solidFill>
                <a:latin typeface="Georgia"/>
              </a:rPr>
              <a:t>Why the TrainStat model is full of $ signs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52728"/>
            <a:ext cx="1463040" cy="38100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508760"/>
            <a:ext cx="3657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100" i="0">
                <a:solidFill>
                  <a:srgbClr val="A8700F"/>
                </a:solidFill>
                <a:latin typeface="Calibri"/>
              </a:rPr>
              <a:t>IN PLAIN ENGLISH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783080"/>
            <a:ext cx="10881360" cy="12344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2000" i="0">
                <a:solidFill>
                  <a:srgbClr val="1A2233"/>
                </a:solidFill>
                <a:latin typeface="Calibri"/>
              </a:rPr>
              <a:t>Constants (fares, rates, days) sit in column F. Timeline values sit in columns J to CO. When you copy a formula across, the constant must stay in column F but the timeline reference must move.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108960"/>
            <a:ext cx="3657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100" i="0">
                <a:solidFill>
                  <a:srgbClr val="A8700F"/>
                </a:solidFill>
                <a:latin typeface="Calibri"/>
              </a:rPr>
              <a:t>WORKED EXAMPLE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383279"/>
            <a:ext cx="10881360" cy="21031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600" i="0">
                <a:solidFill>
                  <a:srgbClr val="1A2233"/>
                </a:solidFill>
                <a:latin typeface="Calibri"/>
              </a:rPr>
              <a:t>OpRev!J42:  </a:t>
            </a:r>
            <a:r>
              <a:rPr b="0" sz="1600" i="0">
                <a:solidFill>
                  <a:srgbClr val="0B5E82"/>
                </a:solidFill>
                <a:latin typeface="Consolas"/>
              </a:rPr>
              <a:t>=IF(J41=1,$F37/$F38*J39*J40,0)</a:t>
            </a:r>
          </a:p>
          <a:p>
            <a:pPr algn="l"/>
            <a:r>
              <a:rPr b="0" sz="1600" i="0">
                <a:solidFill>
                  <a:srgbClr val="0B5E82"/>
                </a:solidFill>
                <a:latin typeface="Consolas"/>
              </a:rPr>
              <a:t>J41</a:t>
            </a:r>
            <a:r>
              <a:rPr b="0" sz="1600" i="0">
                <a:solidFill>
                  <a:srgbClr val="1A2233"/>
                </a:solidFill>
                <a:latin typeface="Calibri"/>
              </a:rPr>
              <a:t>, </a:t>
            </a:r>
            <a:r>
              <a:rPr b="0" sz="1600" i="0">
                <a:solidFill>
                  <a:srgbClr val="0B5E82"/>
                </a:solidFill>
                <a:latin typeface="Consolas"/>
              </a:rPr>
              <a:t>J39</a:t>
            </a:r>
            <a:r>
              <a:rPr b="0" sz="1600" i="0">
                <a:solidFill>
                  <a:srgbClr val="1A2233"/>
                </a:solidFill>
                <a:latin typeface="Calibri"/>
              </a:rPr>
              <a:t>, </a:t>
            </a:r>
            <a:r>
              <a:rPr b="0" sz="1600" i="0">
                <a:solidFill>
                  <a:srgbClr val="0B5E82"/>
                </a:solidFill>
                <a:latin typeface="Consolas"/>
              </a:rPr>
              <a:t>J40</a:t>
            </a:r>
            <a:r>
              <a:rPr b="0" sz="1600" i="0">
                <a:solidFill>
                  <a:srgbClr val="1A2233"/>
                </a:solidFill>
                <a:latin typeface="Calibri"/>
              </a:rPr>
              <a:t> are relative: they become K41, K39, K40 in the next column.</a:t>
            </a:r>
          </a:p>
          <a:p>
            <a:pPr algn="l"/>
            <a:r>
              <a:rPr b="0" sz="1600" i="0">
                <a:solidFill>
                  <a:srgbClr val="0B5E82"/>
                </a:solidFill>
                <a:latin typeface="Consolas"/>
              </a:rPr>
              <a:t>$F37</a:t>
            </a:r>
            <a:r>
              <a:rPr b="0" sz="1600" i="0">
                <a:solidFill>
                  <a:srgbClr val="1A2233"/>
                </a:solidFill>
                <a:latin typeface="Calibri"/>
              </a:rPr>
              <a:t> and </a:t>
            </a:r>
            <a:r>
              <a:rPr b="0" sz="1600" i="0">
                <a:solidFill>
                  <a:srgbClr val="0B5E82"/>
                </a:solidFill>
                <a:latin typeface="Consolas"/>
              </a:rPr>
              <a:t>$F38</a:t>
            </a:r>
            <a:r>
              <a:rPr b="0" sz="1600" i="0">
                <a:solidFill>
                  <a:srgbClr val="1A2233"/>
                </a:solidFill>
                <a:latin typeface="Calibri"/>
              </a:rPr>
              <a:t> keep column F: the fare and the thousand-unit divisor.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5532120"/>
            <a:ext cx="10881360" cy="731520"/>
          </a:xfrm>
          <a:prstGeom prst="rect">
            <a:avLst/>
          </a:prstGeom>
          <a:solidFill>
            <a:srgbClr val="FBF0D9"/>
          </a:solidFill>
          <a:ln w="15240">
            <a:solidFill>
              <a:srgbClr val="D99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5532120"/>
            <a:ext cx="82296" cy="731520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5532120"/>
            <a:ext cx="10652760" cy="7315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b="0" sz="1400" i="0">
                <a:solidFill>
                  <a:srgbClr val="1A2233"/>
                </a:solidFill>
                <a:latin typeface="Calibri"/>
              </a:rPr>
              <a:t>Read every $ as 'this reference is a constant; don't move it'.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19088"/>
            <a:ext cx="12191695" cy="9525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6464808"/>
            <a:ext cx="1051560" cy="3474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b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6492240"/>
            <a:ext cx="821233" cy="28346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5448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000" i="0">
                <a:solidFill>
                  <a:srgbClr val="C9D3F5"/>
                </a:solidFill>
                <a:latin typeface="Calibri"/>
              </a:rPr>
              <a:t>MIPF Boot Camp  |  Excel Foundations  |  Excel from zero for project finance modelling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92640" y="649224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b="0" sz="1000" i="0">
                <a:solidFill>
                  <a:srgbClr val="C9D3F5"/>
                </a:solidFill>
                <a:latin typeface="Calibri"/>
              </a:rPr>
              <a:t>20</a:t>
            </a:r>
          </a:p>
        </p:txBody>
      </p:sp>
      <p:pic>
        <p:nvPicPr>
          <p:cNvPr id="7" name="Picture 6" descr="mipf_hex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6446520"/>
            <a:ext cx="365760" cy="365760"/>
          </a:xfrm>
          <a:prstGeom prst="rect">
            <a:avLst/>
          </a:prstGeom>
        </p:spPr>
      </p:pic>
      <p:pic>
        <p:nvPicPr>
          <p:cNvPr id="8" name="Picture 7" descr="bongo_ai_hex_dark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0" y="6446520"/>
            <a:ext cx="365760" cy="3657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" y="2011680"/>
            <a:ext cx="100584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400" i="0">
                <a:solidFill>
                  <a:srgbClr val="D99A2B"/>
                </a:solidFill>
                <a:latin typeface="Calibri"/>
              </a:rPr>
              <a:t>FOUNDATIONS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423160"/>
            <a:ext cx="10241280" cy="1554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3800" i="0">
                <a:solidFill>
                  <a:srgbClr val="FFFFFF"/>
                </a:solidFill>
                <a:latin typeface="Georgia"/>
              </a:rPr>
              <a:t>Section C: Functions you will use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114800"/>
            <a:ext cx="9601200" cy="1463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800" i="0">
                <a:solidFill>
                  <a:srgbClr val="D8DEF5"/>
                </a:solidFill>
                <a:latin typeface="Calibri"/>
              </a:rPr>
              <a:t>A function is a ready-made formula. The model uses about twelve.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19088"/>
            <a:ext cx="12191695" cy="9525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b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6492240"/>
            <a:ext cx="821233" cy="2834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5448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000" i="0">
                <a:solidFill>
                  <a:srgbClr val="5C6B7A"/>
                </a:solidFill>
                <a:latin typeface="Calibri"/>
              </a:rPr>
              <a:t>MIPF Boot Camp  |  Excel Foundations  |  Excel from zero for project finance modelling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649224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b="0" sz="1000" i="0">
                <a:solidFill>
                  <a:srgbClr val="5C6B7A"/>
                </a:solidFill>
                <a:latin typeface="Calibri"/>
              </a:rPr>
              <a:t>21</a:t>
            </a:r>
          </a:p>
        </p:txBody>
      </p:sp>
      <p:pic>
        <p:nvPicPr>
          <p:cNvPr id="6" name="Picture 5" descr="mipf_hex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6446520"/>
            <a:ext cx="365760" cy="365760"/>
          </a:xfrm>
          <a:prstGeom prst="rect">
            <a:avLst/>
          </a:prstGeom>
        </p:spPr>
      </p:pic>
      <p:pic>
        <p:nvPicPr>
          <p:cNvPr id="7" name="Picture 6" descr="bongo_ai_hex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0" y="6446520"/>
            <a:ext cx="365760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237744"/>
            <a:ext cx="112471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100" i="0">
                <a:solidFill>
                  <a:srgbClr val="A8700F"/>
                </a:solidFill>
                <a:latin typeface="Calibri"/>
              </a:rPr>
              <a:t>FUNCTIONS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5488"/>
            <a:ext cx="1124712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b="1" sz="2800" i="0">
                <a:solidFill>
                  <a:srgbClr val="141B4D"/>
                </a:solidFill>
                <a:latin typeface="Georgia"/>
              </a:rPr>
              <a:t>What is a function?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52728"/>
            <a:ext cx="1463040" cy="38100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508760"/>
            <a:ext cx="3657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100" i="0">
                <a:solidFill>
                  <a:srgbClr val="A8700F"/>
                </a:solidFill>
                <a:latin typeface="Calibri"/>
              </a:rPr>
              <a:t>IN PLAIN ENGLISH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783080"/>
            <a:ext cx="10881360" cy="12344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2000" i="0">
                <a:solidFill>
                  <a:srgbClr val="1A2233"/>
                </a:solidFill>
                <a:latin typeface="Calibri"/>
              </a:rPr>
              <a:t>A function takes inputs (arguments) and returns one answer. It has a name, brackets, and arguments separated by commas.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108960"/>
            <a:ext cx="10881360" cy="640080"/>
          </a:xfrm>
          <a:prstGeom prst="rect">
            <a:avLst/>
          </a:prstGeom>
          <a:solidFill>
            <a:srgbClr val="E7F1F6"/>
          </a:solidFill>
          <a:ln w="1270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" bIns="27432"/>
          <a:lstStyle/>
          <a:p>
            <a:pPr algn="l"/>
            <a:r>
              <a:rPr b="1" sz="2000" i="0">
                <a:solidFill>
                  <a:srgbClr val="141B4D"/>
                </a:solidFill>
                <a:latin typeface="Consolas"/>
              </a:rPr>
              <a:t>=FUNCTION(argument1, argument2, ...)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886200"/>
            <a:ext cx="3657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100" i="0">
                <a:solidFill>
                  <a:srgbClr val="A8700F"/>
                </a:solidFill>
                <a:latin typeface="Calibri"/>
              </a:rPr>
              <a:t>WORKED EXAMPLE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160520"/>
            <a:ext cx="10881360" cy="21031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600" i="0">
                <a:solidFill>
                  <a:srgbClr val="0B5E82"/>
                </a:solidFill>
                <a:latin typeface="Consolas"/>
              </a:rPr>
              <a:t>=SUM(J19:J20)</a:t>
            </a:r>
            <a:r>
              <a:rPr b="0" sz="1600" i="0">
                <a:solidFill>
                  <a:srgbClr val="1A2233"/>
                </a:solidFill>
                <a:latin typeface="Calibri"/>
              </a:rPr>
              <a:t> → the name is SUM; one argument: the range J19:J20</a:t>
            </a:r>
          </a:p>
          <a:p>
            <a:pPr algn="l"/>
            <a:r>
              <a:rPr b="0" sz="1600" i="0">
                <a:solidFill>
                  <a:srgbClr val="0B5E82"/>
                </a:solidFill>
                <a:latin typeface="Consolas"/>
              </a:rPr>
              <a:t>=IF(J41=1, 100, 0)</a:t>
            </a:r>
            <a:r>
              <a:rPr b="0" sz="1600" i="0">
                <a:solidFill>
                  <a:srgbClr val="1A2233"/>
                </a:solidFill>
                <a:latin typeface="Calibri"/>
              </a:rPr>
              <a:t> → three arguments: a test, the value if TRUE, the value if FALSE</a:t>
            </a:r>
          </a:p>
          <a:p>
            <a:pPr algn="l"/>
            <a:r>
              <a:rPr b="0" sz="1600" i="0">
                <a:solidFill>
                  <a:srgbClr val="1A2233"/>
                </a:solidFill>
                <a:latin typeface="Calibri"/>
              </a:rPr>
              <a:t>Press </a:t>
            </a:r>
            <a:r>
              <a:rPr b="0" sz="1600" i="0">
                <a:solidFill>
                  <a:srgbClr val="0B5E82"/>
                </a:solidFill>
                <a:latin typeface="Consolas"/>
              </a:rPr>
              <a:t>Shift+F3</a:t>
            </a:r>
            <a:r>
              <a:rPr b="0" sz="1600" i="0">
                <a:solidFill>
                  <a:srgbClr val="1A2233"/>
                </a:solidFill>
                <a:latin typeface="Calibri"/>
              </a:rPr>
              <a:t> (Win) or </a:t>
            </a:r>
            <a:r>
              <a:rPr b="0" sz="1600" i="0">
                <a:solidFill>
                  <a:srgbClr val="0B5E82"/>
                </a:solidFill>
                <a:latin typeface="Consolas"/>
              </a:rPr>
              <a:t>Fn+Shift+F3</a:t>
            </a:r>
            <a:r>
              <a:rPr b="0" sz="1600" i="0">
                <a:solidFill>
                  <a:srgbClr val="1A2233"/>
                </a:solidFill>
                <a:latin typeface="Calibri"/>
              </a:rPr>
              <a:t> (Mac) to open the Insert Function dialog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19088"/>
            <a:ext cx="12191695" cy="9525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b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6492240"/>
            <a:ext cx="821233" cy="2834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5448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000" i="0">
                <a:solidFill>
                  <a:srgbClr val="5C6B7A"/>
                </a:solidFill>
                <a:latin typeface="Calibri"/>
              </a:rPr>
              <a:t>MIPF Boot Camp  |  Excel Foundations  |  Excel from zero for project finance modelling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649224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b="0" sz="1000" i="0">
                <a:solidFill>
                  <a:srgbClr val="5C6B7A"/>
                </a:solidFill>
                <a:latin typeface="Calibri"/>
              </a:rPr>
              <a:t>22</a:t>
            </a:r>
          </a:p>
        </p:txBody>
      </p:sp>
      <p:pic>
        <p:nvPicPr>
          <p:cNvPr id="6" name="Picture 5" descr="mipf_hex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6446520"/>
            <a:ext cx="365760" cy="365760"/>
          </a:xfrm>
          <a:prstGeom prst="rect">
            <a:avLst/>
          </a:prstGeom>
        </p:spPr>
      </p:pic>
      <p:pic>
        <p:nvPicPr>
          <p:cNvPr id="7" name="Picture 6" descr="bongo_ai_hex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0" y="6446520"/>
            <a:ext cx="365760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237744"/>
            <a:ext cx="112471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100" i="0">
                <a:solidFill>
                  <a:srgbClr val="A8700F"/>
                </a:solidFill>
                <a:latin typeface="Calibri"/>
              </a:rPr>
              <a:t>FUNCTIONS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5488"/>
            <a:ext cx="1124712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b="1" sz="2800" i="0">
                <a:solidFill>
                  <a:srgbClr val="141B4D"/>
                </a:solidFill>
                <a:latin typeface="Georgia"/>
              </a:rPr>
              <a:t>The everyday functions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52728"/>
            <a:ext cx="1463040" cy="38100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48640" y="1508760"/>
          <a:ext cx="11064240" cy="27195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926080"/>
                <a:gridCol w="2926080"/>
                <a:gridCol w="356616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b="1" sz="1300" i="0">
                          <a:solidFill>
                            <a:srgbClr val="FFFFFF"/>
                          </a:solidFill>
                          <a:latin typeface="Calibri"/>
                        </a:rPr>
                        <a:t>Function</a:t>
                      </a:r>
                    </a:p>
                  </a:txBody>
                  <a:tcPr marL="64008" marR="64008" marT="27432" marB="27432" anchor="ctr">
                    <a:solidFill>
                      <a:srgbClr val="141B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300" i="0">
                          <a:solidFill>
                            <a:srgbClr val="FFFFFF"/>
                          </a:solidFill>
                          <a:latin typeface="Calibri"/>
                        </a:rPr>
                        <a:t>What it does</a:t>
                      </a:r>
                    </a:p>
                  </a:txBody>
                  <a:tcPr marL="64008" marR="64008" marT="27432" marB="27432" anchor="ctr">
                    <a:solidFill>
                      <a:srgbClr val="141B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300" i="0">
                          <a:solidFill>
                            <a:srgbClr val="FFFFFF"/>
                          </a:solidFill>
                          <a:latin typeface="Calibri"/>
                        </a:rPr>
                        <a:t>Example</a:t>
                      </a:r>
                    </a:p>
                  </a:txBody>
                  <a:tcPr marL="64008" marR="64008" marT="27432" marB="27432" anchor="ctr">
                    <a:solidFill>
                      <a:srgbClr val="141B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300" i="0">
                          <a:solidFill>
                            <a:srgbClr val="FFFFFF"/>
                          </a:solidFill>
                          <a:latin typeface="Calibri"/>
                        </a:rPr>
                        <a:t>Used in TrainStat for</a:t>
                      </a:r>
                    </a:p>
                  </a:txBody>
                  <a:tcPr marL="64008" marR="64008" marT="27432" marB="27432" anchor="ctr">
                    <a:solidFill>
                      <a:srgbClr val="141B4D"/>
                    </a:solidFill>
                  </a:tcPr>
                </a:tc>
              </a:tr>
              <a:tr h="522478">
                <a:tc>
                  <a:txBody>
                    <a:bodyPr wrap="square"/>
                    <a:lstStyle/>
                    <a:p>
                      <a:r>
                        <a:rPr b="1" sz="1300" i="0">
                          <a:solidFill>
                            <a:srgbClr val="1A2233"/>
                          </a:solidFill>
                          <a:latin typeface="Calibri"/>
                        </a:rPr>
                        <a:t>SUM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Adds numbers or a range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onsolas"/>
                        </a:rPr>
                        <a:t>=SUM(J9:J10)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EBITDA = revenue + cost (costs are negative)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522478">
                <a:tc>
                  <a:txBody>
                    <a:bodyPr wrap="square"/>
                    <a:lstStyle/>
                    <a:p>
                      <a:r>
                        <a:rPr b="1" sz="1300" i="0">
                          <a:solidFill>
                            <a:srgbClr val="1A2233"/>
                          </a:solidFill>
                          <a:latin typeface="Calibri"/>
                        </a:rPr>
                        <a:t>MIN / MAX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Smallest / largest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onsolas"/>
                        </a:rPr>
                        <a:t>=MIN(J37:J38)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Dividend = MIN(cash, earnings available)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</a:tr>
              <a:tr h="522478">
                <a:tc>
                  <a:txBody>
                    <a:bodyPr wrap="square"/>
                    <a:lstStyle/>
                    <a:p>
                      <a:r>
                        <a:rPr b="1" sz="1300" i="0">
                          <a:solidFill>
                            <a:srgbClr val="1A2233"/>
                          </a:solidFill>
                          <a:latin typeface="Calibri"/>
                        </a:rPr>
                        <a:t>ABS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Absolute value (drops the minus)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onsolas"/>
                        </a:rPr>
                        <a:t>=ABS(J25-J68)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Balance sheet check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b="1" sz="1300" i="0">
                          <a:solidFill>
                            <a:srgbClr val="1A2233"/>
                          </a:solidFill>
                          <a:latin typeface="Calibri"/>
                        </a:rPr>
                        <a:t>ROUND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Round to n decimals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onsolas"/>
                        </a:rPr>
                        <a:t>=ROUND(A1,2)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Presentation only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b="1" sz="1300" i="0">
                          <a:solidFill>
                            <a:srgbClr val="1A2233"/>
                          </a:solidFill>
                          <a:latin typeface="Calibri"/>
                        </a:rPr>
                        <a:t>AND / OR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Combine tests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onsolas"/>
                        </a:rPr>
                        <a:t>=AND(I52&lt;$F51,J52&gt;=$F51)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First forecast flag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19088"/>
            <a:ext cx="12191695" cy="9525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b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6492240"/>
            <a:ext cx="821233" cy="2834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5448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000" i="0">
                <a:solidFill>
                  <a:srgbClr val="5C6B7A"/>
                </a:solidFill>
                <a:latin typeface="Calibri"/>
              </a:rPr>
              <a:t>MIPF Boot Camp  |  Excel Foundations  |  Excel from zero for project finance modelling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649224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b="0" sz="1000" i="0">
                <a:solidFill>
                  <a:srgbClr val="5C6B7A"/>
                </a:solidFill>
                <a:latin typeface="Calibri"/>
              </a:rPr>
              <a:t>23</a:t>
            </a:r>
          </a:p>
        </p:txBody>
      </p:sp>
      <p:pic>
        <p:nvPicPr>
          <p:cNvPr id="6" name="Picture 5" descr="mipf_hex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6446520"/>
            <a:ext cx="365760" cy="365760"/>
          </a:xfrm>
          <a:prstGeom prst="rect">
            <a:avLst/>
          </a:prstGeom>
        </p:spPr>
      </p:pic>
      <p:pic>
        <p:nvPicPr>
          <p:cNvPr id="7" name="Picture 6" descr="bongo_ai_hex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0" y="6446520"/>
            <a:ext cx="365760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237744"/>
            <a:ext cx="112471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100" i="0">
                <a:solidFill>
                  <a:srgbClr val="A8700F"/>
                </a:solidFill>
                <a:latin typeface="Calibri"/>
              </a:rPr>
              <a:t>FUNCTIONS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5488"/>
            <a:ext cx="1124712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b="1" sz="2800" i="0">
                <a:solidFill>
                  <a:srgbClr val="141B4D"/>
                </a:solidFill>
                <a:latin typeface="Georgia"/>
              </a:rPr>
              <a:t>IF: the decision function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52728"/>
            <a:ext cx="1463040" cy="38100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508760"/>
            <a:ext cx="3657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100" i="0">
                <a:solidFill>
                  <a:srgbClr val="A8700F"/>
                </a:solidFill>
                <a:latin typeface="Calibri"/>
              </a:rPr>
              <a:t>IN PLAIN ENGLISH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783080"/>
            <a:ext cx="10881360" cy="12344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2000" i="0">
                <a:solidFill>
                  <a:srgbClr val="1A2233"/>
                </a:solidFill>
                <a:latin typeface="Calibri"/>
              </a:rPr>
              <a:t>IF asks a yes/no question. If the answer is yes it returns one value, otherwise another. The model uses IF mainly to switch things on or off using flags that are 1 or 0.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108960"/>
            <a:ext cx="10881360" cy="640080"/>
          </a:xfrm>
          <a:prstGeom prst="rect">
            <a:avLst/>
          </a:prstGeom>
          <a:solidFill>
            <a:srgbClr val="E7F1F6"/>
          </a:solidFill>
          <a:ln w="1270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" bIns="27432"/>
          <a:lstStyle/>
          <a:p>
            <a:pPr algn="l"/>
            <a:r>
              <a:rPr b="1" sz="2000" i="0">
                <a:solidFill>
                  <a:srgbClr val="141B4D"/>
                </a:solidFill>
                <a:latin typeface="Consolas"/>
              </a:rPr>
              <a:t>=IF(test, value_if_true, value_if_false)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886200"/>
            <a:ext cx="3657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100" i="0">
                <a:solidFill>
                  <a:srgbClr val="A8700F"/>
                </a:solidFill>
                <a:latin typeface="Calibri"/>
              </a:rPr>
              <a:t>WORKED EXAMPLE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160520"/>
            <a:ext cx="10881360" cy="1325879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600" i="0">
                <a:solidFill>
                  <a:srgbClr val="0B5E82"/>
                </a:solidFill>
                <a:latin typeface="Consolas"/>
              </a:rPr>
              <a:t>=IF(J$17=1, J11*J14, 0)</a:t>
            </a:r>
            <a:r>
              <a:rPr b="0" sz="1600" i="0">
                <a:solidFill>
                  <a:srgbClr val="1A2233"/>
                </a:solidFill>
                <a:latin typeface="Calibri"/>
              </a:rPr>
              <a:t> (OpRev row 19). Row 17 is the forecast flag.</a:t>
            </a:r>
          </a:p>
          <a:p>
            <a:pPr algn="l"/>
            <a:r>
              <a:rPr b="0" sz="1600" i="0">
                <a:solidFill>
                  <a:srgbClr val="1A2233"/>
                </a:solidFill>
                <a:latin typeface="Calibri"/>
              </a:rPr>
              <a:t>In a forecast period (flag = 1) → arrivals = trains × arrivals per train.</a:t>
            </a:r>
          </a:p>
          <a:p>
            <a:pPr algn="l"/>
            <a:r>
              <a:rPr b="0" sz="1600" i="0">
                <a:solidFill>
                  <a:srgbClr val="1A2233"/>
                </a:solidFill>
                <a:latin typeface="Calibri"/>
              </a:rPr>
              <a:t>Before or after the forecast (flag = 0) → arrivals = 0.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5532120"/>
            <a:ext cx="10881360" cy="731520"/>
          </a:xfrm>
          <a:prstGeom prst="rect">
            <a:avLst/>
          </a:prstGeom>
          <a:solidFill>
            <a:srgbClr val="FBF0D9"/>
          </a:solidFill>
          <a:ln w="15240">
            <a:solidFill>
              <a:srgbClr val="D99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5532120"/>
            <a:ext cx="82296" cy="731520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5532120"/>
            <a:ext cx="10652760" cy="7315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b="0" sz="1400" i="0">
                <a:solidFill>
                  <a:srgbClr val="1A2233"/>
                </a:solidFill>
                <a:latin typeface="Calibri"/>
              </a:rPr>
              <a:t>Flags let ONE formula behave differently in different periods, so you never type different formulas across a row.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19088"/>
            <a:ext cx="12191695" cy="9525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b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6492240"/>
            <a:ext cx="821233" cy="2834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5448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000" i="0">
                <a:solidFill>
                  <a:srgbClr val="5C6B7A"/>
                </a:solidFill>
                <a:latin typeface="Calibri"/>
              </a:rPr>
              <a:t>MIPF Boot Camp  |  Excel Foundations  |  Excel from zero for project finance modelling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649224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b="0" sz="1000" i="0">
                <a:solidFill>
                  <a:srgbClr val="5C6B7A"/>
                </a:solidFill>
                <a:latin typeface="Calibri"/>
              </a:rPr>
              <a:t>24</a:t>
            </a:r>
          </a:p>
        </p:txBody>
      </p:sp>
      <p:pic>
        <p:nvPicPr>
          <p:cNvPr id="6" name="Picture 5" descr="mipf_hex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6446520"/>
            <a:ext cx="365760" cy="365760"/>
          </a:xfrm>
          <a:prstGeom prst="rect">
            <a:avLst/>
          </a:prstGeom>
        </p:spPr>
      </p:pic>
      <p:pic>
        <p:nvPicPr>
          <p:cNvPr id="7" name="Picture 6" descr="bongo_ai_hex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0" y="6446520"/>
            <a:ext cx="365760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237744"/>
            <a:ext cx="112471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100" i="0">
                <a:solidFill>
                  <a:srgbClr val="A8700F"/>
                </a:solidFill>
                <a:latin typeface="Calibri"/>
              </a:rPr>
              <a:t>FUNCTIONS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5488"/>
            <a:ext cx="1124712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b="1" sz="2800" i="0">
                <a:solidFill>
                  <a:srgbClr val="141B4D"/>
                </a:solidFill>
                <a:latin typeface="Georgia"/>
              </a:rPr>
              <a:t>Flags: the model's on/off switches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52728"/>
            <a:ext cx="1463040" cy="38100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48640" y="1508760"/>
          <a:ext cx="11064240" cy="23355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4114800"/>
                <a:gridCol w="384048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b="1" sz="1300" i="0">
                          <a:solidFill>
                            <a:srgbClr val="FFFFFF"/>
                          </a:solidFill>
                          <a:latin typeface="Calibri"/>
                        </a:rPr>
                        <a:t>Flag row</a:t>
                      </a:r>
                    </a:p>
                  </a:txBody>
                  <a:tcPr marL="64008" marR="64008" marT="27432" marB="27432" anchor="ctr">
                    <a:solidFill>
                      <a:srgbClr val="141B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300" i="0">
                          <a:solidFill>
                            <a:srgbClr val="FFFFFF"/>
                          </a:solidFill>
                          <a:latin typeface="Calibri"/>
                        </a:rPr>
                        <a:t>Formula</a:t>
                      </a:r>
                    </a:p>
                  </a:txBody>
                  <a:tcPr marL="64008" marR="64008" marT="27432" marB="27432" anchor="ctr">
                    <a:solidFill>
                      <a:srgbClr val="141B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300" i="0">
                          <a:solidFill>
                            <a:srgbClr val="FFFFFF"/>
                          </a:solidFill>
                          <a:latin typeface="Calibri"/>
                        </a:rPr>
                        <a:t>Meaning</a:t>
                      </a:r>
                    </a:p>
                  </a:txBody>
                  <a:tcPr marL="64008" marR="64008" marT="27432" marB="27432" anchor="ctr">
                    <a:solidFill>
                      <a:srgbClr val="141B4D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b="1" sz="1300" i="0">
                          <a:solidFill>
                            <a:srgbClr val="1A2233"/>
                          </a:solidFill>
                          <a:latin typeface="Calibri"/>
                        </a:rPr>
                        <a:t>Time!14 First model column flag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onsolas"/>
                        </a:rPr>
                        <a:t>=IF(J13=1,1,0)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1 only in the very first column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522478">
                <a:tc>
                  <a:txBody>
                    <a:bodyPr wrap="square"/>
                    <a:lstStyle/>
                    <a:p>
                      <a:r>
                        <a:rPr b="1" sz="1300" i="0">
                          <a:solidFill>
                            <a:srgbClr val="1A2233"/>
                          </a:solidFill>
                          <a:latin typeface="Calibri"/>
                        </a:rPr>
                        <a:t>Time!45 Acquisition flag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onsolas"/>
                        </a:rPr>
                        <a:t>=IF(J44=$F43,1,0)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1 in the column whose period ends on the acquisition date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</a:tr>
              <a:tr h="522478">
                <a:tc>
                  <a:txBody>
                    <a:bodyPr wrap="square"/>
                    <a:lstStyle/>
                    <a:p>
                      <a:r>
                        <a:rPr b="1" sz="1300" i="0">
                          <a:solidFill>
                            <a:srgbClr val="1A2233"/>
                          </a:solidFill>
                          <a:latin typeface="Calibri"/>
                        </a:rPr>
                        <a:t>Time!69 Forecast flag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onsolas"/>
                        </a:rPr>
                        <a:t>=IF(AND(J68&gt;$F66,J68&lt;=$F67),1,0)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1 only when the period ends after acquisition and before the last forecast date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522478">
                <a:tc>
                  <a:txBody>
                    <a:bodyPr wrap="square"/>
                    <a:lstStyle/>
                    <a:p>
                      <a:r>
                        <a:rPr b="1" sz="1300" i="0">
                          <a:solidFill>
                            <a:srgbClr val="1A2233"/>
                          </a:solidFill>
                          <a:latin typeface="Calibri"/>
                        </a:rPr>
                        <a:t>Time!75 Last forecast flag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onsolas"/>
                        </a:rPr>
                        <a:t>=IF(K74=$F73,1,0)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1 in the final forecast period (used to redeem share capital)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19088"/>
            <a:ext cx="12191695" cy="9525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b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6492240"/>
            <a:ext cx="821233" cy="2834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5448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000" i="0">
                <a:solidFill>
                  <a:srgbClr val="5C6B7A"/>
                </a:solidFill>
                <a:latin typeface="Calibri"/>
              </a:rPr>
              <a:t>MIPF Boot Camp  |  Excel Foundations  |  Excel from zero for project finance modelling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649224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b="0" sz="1000" i="0">
                <a:solidFill>
                  <a:srgbClr val="5C6B7A"/>
                </a:solidFill>
                <a:latin typeface="Calibri"/>
              </a:rPr>
              <a:t>25</a:t>
            </a:r>
          </a:p>
        </p:txBody>
      </p:sp>
      <p:pic>
        <p:nvPicPr>
          <p:cNvPr id="6" name="Picture 5" descr="mipf_hex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6446520"/>
            <a:ext cx="365760" cy="365760"/>
          </a:xfrm>
          <a:prstGeom prst="rect">
            <a:avLst/>
          </a:prstGeom>
        </p:spPr>
      </p:pic>
      <p:pic>
        <p:nvPicPr>
          <p:cNvPr id="7" name="Picture 6" descr="bongo_ai_hex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0" y="6446520"/>
            <a:ext cx="365760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237744"/>
            <a:ext cx="112471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100" i="0">
                <a:solidFill>
                  <a:srgbClr val="A8700F"/>
                </a:solidFill>
                <a:latin typeface="Calibri"/>
              </a:rPr>
              <a:t>FUNCTIONS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5488"/>
            <a:ext cx="1124712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b="1" sz="2800" i="0">
                <a:solidFill>
                  <a:srgbClr val="141B4D"/>
                </a:solidFill>
                <a:latin typeface="Georgia"/>
              </a:rPr>
              <a:t>Lookups: INDEX, MATCH, VLOOKUP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52728"/>
            <a:ext cx="1463040" cy="38100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48640" y="1508760"/>
          <a:ext cx="11064240" cy="2473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3200400"/>
                <a:gridCol w="484632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b="1" sz="1300" i="0">
                          <a:solidFill>
                            <a:srgbClr val="FFFFFF"/>
                          </a:solidFill>
                          <a:latin typeface="Calibri"/>
                        </a:rPr>
                        <a:t>Function</a:t>
                      </a:r>
                    </a:p>
                  </a:txBody>
                  <a:tcPr marL="64008" marR="64008" marT="27432" marB="27432" anchor="ctr">
                    <a:solidFill>
                      <a:srgbClr val="141B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300" i="0">
                          <a:solidFill>
                            <a:srgbClr val="FFFFFF"/>
                          </a:solidFill>
                          <a:latin typeface="Calibri"/>
                        </a:rPr>
                        <a:t>Reads as</a:t>
                      </a:r>
                    </a:p>
                  </a:txBody>
                  <a:tcPr marL="64008" marR="64008" marT="27432" marB="27432" anchor="ctr">
                    <a:solidFill>
                      <a:srgbClr val="141B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300" i="0">
                          <a:solidFill>
                            <a:srgbClr val="FFFFFF"/>
                          </a:solidFill>
                          <a:latin typeface="Calibri"/>
                        </a:rPr>
                        <a:t>Real example in the model</a:t>
                      </a:r>
                    </a:p>
                  </a:txBody>
                  <a:tcPr marL="64008" marR="64008" marT="27432" marB="27432" anchor="ctr">
                    <a:solidFill>
                      <a:srgbClr val="141B4D"/>
                    </a:solidFill>
                  </a:tcPr>
                </a:tc>
              </a:tr>
              <a:tr h="522478">
                <a:tc>
                  <a:txBody>
                    <a:bodyPr wrap="square"/>
                    <a:lstStyle/>
                    <a:p>
                      <a:r>
                        <a:rPr b="1" sz="1300" i="0">
                          <a:solidFill>
                            <a:srgbClr val="1A2233"/>
                          </a:solidFill>
                          <a:latin typeface="Consolas"/>
                        </a:rPr>
                        <a:t>MATCH(find, list, 0)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'In which position is it?'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0B5E82"/>
                          </a:solidFill>
                          <a:latin typeface="Consolas"/>
                        </a:rPr>
                        <a:t>InpC!F4: =MATCH(F3,I3:M3,0)</a:t>
                      </a:r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 → scenario name to a number (Upside = 4)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522478">
                <a:tc>
                  <a:txBody>
                    <a:bodyPr wrap="square"/>
                    <a:lstStyle/>
                    <a:p>
                      <a:r>
                        <a:rPr b="1" sz="1300" i="0">
                          <a:solidFill>
                            <a:srgbClr val="1A2233"/>
                          </a:solidFill>
                          <a:latin typeface="Consolas"/>
                        </a:rPr>
                        <a:t>INDEX(list, n)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'Give me item number n'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0B5E82"/>
                          </a:solidFill>
                          <a:latin typeface="Consolas"/>
                        </a:rPr>
                        <a:t>InpC!F31: =INDEX(I31:M31,$F$4)</a:t>
                      </a:r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 picks the active scenario's value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</a:tr>
              <a:tr h="522478">
                <a:tc>
                  <a:txBody>
                    <a:bodyPr wrap="square"/>
                    <a:lstStyle/>
                    <a:p>
                      <a:r>
                        <a:rPr b="1" sz="1300" i="0">
                          <a:solidFill>
                            <a:srgbClr val="1A2233"/>
                          </a:solidFill>
                          <a:latin typeface="Consolas"/>
                        </a:rPr>
                        <a:t>VLOOKUP(x, table, 2, TRUE)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'Find x in column 1, return column 2' (approximate)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0B5E82"/>
                          </a:solidFill>
                          <a:latin typeface="Consolas"/>
                        </a:rPr>
                        <a:t>Esc!J17: =VLOOKUP(J16,$E11:$F15,2,TRUE)</a:t>
                      </a:r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 finds the inflation rate in force on a date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522478">
                <a:tc>
                  <a:txBody>
                    <a:bodyPr wrap="square"/>
                    <a:lstStyle/>
                    <a:p>
                      <a:r>
                        <a:rPr b="1" sz="1300" i="0">
                          <a:solidFill>
                            <a:srgbClr val="1A2233"/>
                          </a:solidFill>
                          <a:latin typeface="Consolas"/>
                        </a:rPr>
                        <a:t>VLOOKUP(x, table, 2, FALSE)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Exact match only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0B5E82"/>
                          </a:solidFill>
                          <a:latin typeface="Consolas"/>
                        </a:rPr>
                        <a:t>NCA!J18: =IFNA(VLOOKUP(J17,$E10:$F16,2,FALSE),0)</a:t>
                      </a:r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 capex on an exact date, else 0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19088"/>
            <a:ext cx="12191695" cy="9525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b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6492240"/>
            <a:ext cx="821233" cy="2834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5448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000" i="0">
                <a:solidFill>
                  <a:srgbClr val="5C6B7A"/>
                </a:solidFill>
                <a:latin typeface="Calibri"/>
              </a:rPr>
              <a:t>MIPF Boot Camp  |  Excel Foundations  |  Excel from zero for project finance modelling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649224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b="0" sz="1000" i="0">
                <a:solidFill>
                  <a:srgbClr val="5C6B7A"/>
                </a:solidFill>
                <a:latin typeface="Calibri"/>
              </a:rPr>
              <a:t>26</a:t>
            </a:r>
          </a:p>
        </p:txBody>
      </p:sp>
      <p:pic>
        <p:nvPicPr>
          <p:cNvPr id="6" name="Picture 5" descr="mipf_hex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6446520"/>
            <a:ext cx="365760" cy="365760"/>
          </a:xfrm>
          <a:prstGeom prst="rect">
            <a:avLst/>
          </a:prstGeom>
        </p:spPr>
      </p:pic>
      <p:pic>
        <p:nvPicPr>
          <p:cNvPr id="7" name="Picture 6" descr="bongo_ai_hex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0" y="6446520"/>
            <a:ext cx="365760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237744"/>
            <a:ext cx="112471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100" i="0">
                <a:solidFill>
                  <a:srgbClr val="A8700F"/>
                </a:solidFill>
                <a:latin typeface="Calibri"/>
              </a:rPr>
              <a:t>FUNCTIONS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5488"/>
            <a:ext cx="1124712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b="1" sz="2800" i="0">
                <a:solidFill>
                  <a:srgbClr val="141B4D"/>
                </a:solidFill>
                <a:latin typeface="Georgia"/>
              </a:rPr>
              <a:t>Summing with conditions: SUMIFS, SUMPRODUCT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52728"/>
            <a:ext cx="1463040" cy="38100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48640" y="1508760"/>
          <a:ext cx="11064240" cy="19514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0"/>
                <a:gridCol w="3291840"/>
                <a:gridCol w="429768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b="1" sz="1300" i="0">
                          <a:solidFill>
                            <a:srgbClr val="FFFFFF"/>
                          </a:solidFill>
                          <a:latin typeface="Calibri"/>
                        </a:rPr>
                        <a:t>Function</a:t>
                      </a:r>
                    </a:p>
                  </a:txBody>
                  <a:tcPr marL="64008" marR="64008" marT="27432" marB="27432" anchor="ctr">
                    <a:solidFill>
                      <a:srgbClr val="141B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300" i="0">
                          <a:solidFill>
                            <a:srgbClr val="FFFFFF"/>
                          </a:solidFill>
                          <a:latin typeface="Calibri"/>
                        </a:rPr>
                        <a:t>Reads as</a:t>
                      </a:r>
                    </a:p>
                  </a:txBody>
                  <a:tcPr marL="64008" marR="64008" marT="27432" marB="27432" anchor="ctr">
                    <a:solidFill>
                      <a:srgbClr val="141B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300" i="0">
                          <a:solidFill>
                            <a:srgbClr val="FFFFFF"/>
                          </a:solidFill>
                          <a:latin typeface="Calibri"/>
                        </a:rPr>
                        <a:t>Where used</a:t>
                      </a:r>
                    </a:p>
                  </a:txBody>
                  <a:tcPr marL="64008" marR="64008" marT="27432" marB="27432" anchor="ctr">
                    <a:solidFill>
                      <a:srgbClr val="141B4D"/>
                    </a:solidFill>
                  </a:tcPr>
                </a:tc>
              </a:tr>
              <a:tr h="522478">
                <a:tc>
                  <a:txBody>
                    <a:bodyPr wrap="square"/>
                    <a:lstStyle/>
                    <a:p>
                      <a:r>
                        <a:rPr b="1" sz="1300" i="0">
                          <a:solidFill>
                            <a:srgbClr val="1A2233"/>
                          </a:solidFill>
                          <a:latin typeface="Consolas"/>
                        </a:rPr>
                        <a:t>SUMIFS(sum_range, criteria_range, criteria)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'Add the amounts where the test is met'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0B5E82"/>
                          </a:solidFill>
                          <a:latin typeface="Consolas"/>
                        </a:rPr>
                        <a:t>NCA!J39: =SUMIFS($J38:J38,$J37:J37,J37-$F36)</a:t>
                      </a:r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 capex that is now 20 periods old and retires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522478">
                <a:tc>
                  <a:txBody>
                    <a:bodyPr wrap="square"/>
                    <a:lstStyle/>
                    <a:p>
                      <a:r>
                        <a:rPr b="1" sz="1300" i="0">
                          <a:solidFill>
                            <a:srgbClr val="1A2233"/>
                          </a:solidFill>
                          <a:latin typeface="Consolas"/>
                        </a:rPr>
                        <a:t>SUMPRODUCT(range1, range2)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'Multiply pair by pair, then add'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Day 7: </a:t>
                      </a:r>
                      <a:r>
                        <a:rPr b="0" sz="1300" i="0">
                          <a:solidFill>
                            <a:srgbClr val="0B5E82"/>
                          </a:solidFill>
                          <a:latin typeface="Consolas"/>
                        </a:rPr>
                        <a:t>=SUMPRODUCT(J23:CO23,J25:CO25)</a:t>
                      </a:r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 picks the debt capacity at the COD column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</a:tr>
              <a:tr h="522478">
                <a:tc>
                  <a:txBody>
                    <a:bodyPr wrap="square"/>
                    <a:lstStyle/>
                    <a:p>
                      <a:r>
                        <a:rPr b="1" sz="1300" i="0">
                          <a:solidFill>
                            <a:srgbClr val="1A2233"/>
                          </a:solidFill>
                          <a:latin typeface="Consolas"/>
                        </a:rPr>
                        <a:t>MINIFS / AVERAGEIFS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'Smallest / average where the test is met'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Day 7: minimum and average DSCR over debt-service periods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19088"/>
            <a:ext cx="12191695" cy="9525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b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6492240"/>
            <a:ext cx="821233" cy="2834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5448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000" i="0">
                <a:solidFill>
                  <a:srgbClr val="5C6B7A"/>
                </a:solidFill>
                <a:latin typeface="Calibri"/>
              </a:rPr>
              <a:t>MIPF Boot Camp  |  Excel Foundations  |  Excel from zero for project finance modelling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649224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b="0" sz="1000" i="0">
                <a:solidFill>
                  <a:srgbClr val="5C6B7A"/>
                </a:solidFill>
                <a:latin typeface="Calibri"/>
              </a:rPr>
              <a:t>27</a:t>
            </a:r>
          </a:p>
        </p:txBody>
      </p:sp>
      <p:pic>
        <p:nvPicPr>
          <p:cNvPr id="6" name="Picture 5" descr="mipf_hex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6446520"/>
            <a:ext cx="365760" cy="365760"/>
          </a:xfrm>
          <a:prstGeom prst="rect">
            <a:avLst/>
          </a:prstGeom>
        </p:spPr>
      </p:pic>
      <p:pic>
        <p:nvPicPr>
          <p:cNvPr id="7" name="Picture 6" descr="bongo_ai_hex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0" y="6446520"/>
            <a:ext cx="365760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237744"/>
            <a:ext cx="112471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100" i="0">
                <a:solidFill>
                  <a:srgbClr val="A8700F"/>
                </a:solidFill>
                <a:latin typeface="Calibri"/>
              </a:rPr>
              <a:t>FUNCTIONS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5488"/>
            <a:ext cx="1124712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b="1" sz="2800" i="0">
                <a:solidFill>
                  <a:srgbClr val="141B4D"/>
                </a:solidFill>
                <a:latin typeface="Georgia"/>
              </a:rPr>
              <a:t>Dates: the timeline functions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52728"/>
            <a:ext cx="1463040" cy="38100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48640" y="1508760"/>
          <a:ext cx="1106424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3840480"/>
                <a:gridCol w="429768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b="1" sz="1300" i="0">
                          <a:solidFill>
                            <a:srgbClr val="FFFFFF"/>
                          </a:solidFill>
                          <a:latin typeface="Calibri"/>
                        </a:rPr>
                        <a:t>Function</a:t>
                      </a:r>
                    </a:p>
                  </a:txBody>
                  <a:tcPr marL="64008" marR="64008" marT="27432" marB="27432" anchor="ctr">
                    <a:solidFill>
                      <a:srgbClr val="141B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300" i="0">
                          <a:solidFill>
                            <a:srgbClr val="FFFFFF"/>
                          </a:solidFill>
                          <a:latin typeface="Calibri"/>
                        </a:rPr>
                        <a:t>What it does</a:t>
                      </a:r>
                    </a:p>
                  </a:txBody>
                  <a:tcPr marL="64008" marR="64008" marT="27432" marB="27432" anchor="ctr">
                    <a:solidFill>
                      <a:srgbClr val="141B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300" i="0">
                          <a:solidFill>
                            <a:srgbClr val="FFFFFF"/>
                          </a:solidFill>
                          <a:latin typeface="Calibri"/>
                        </a:rPr>
                        <a:t>Example → result</a:t>
                      </a:r>
                    </a:p>
                  </a:txBody>
                  <a:tcPr marL="64008" marR="64008" marT="27432" marB="27432" anchor="ctr">
                    <a:solidFill>
                      <a:srgbClr val="141B4D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b="1" sz="1300" i="0">
                          <a:solidFill>
                            <a:srgbClr val="1A2233"/>
                          </a:solidFill>
                          <a:latin typeface="Consolas"/>
                        </a:rPr>
                        <a:t>DATE(y, m, d)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Builds a date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0B5E82"/>
                          </a:solidFill>
                          <a:latin typeface="Consolas"/>
                        </a:rPr>
                        <a:t>=DATE(2021,12,31)</a:t>
                      </a:r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 → 31 Dec 21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b="1" sz="1300" i="0">
                          <a:solidFill>
                            <a:srgbClr val="1A2233"/>
                          </a:solidFill>
                          <a:latin typeface="Consolas"/>
                        </a:rPr>
                        <a:t>EOMONTH(date, n)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Last day of the month n months away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0B5E82"/>
                          </a:solidFill>
                          <a:latin typeface="Consolas"/>
                        </a:rPr>
                        <a:t>=EOMONTH(DATE(2021,12,31),3)</a:t>
                      </a:r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 → 31 Mar 22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b="1" sz="1300" i="0">
                          <a:solidFill>
                            <a:srgbClr val="1A2233"/>
                          </a:solidFill>
                          <a:latin typeface="Consolas"/>
                        </a:rPr>
                        <a:t>YEAR(date), MONTH(date)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Pulls out parts of a date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0B5E82"/>
                          </a:solidFill>
                          <a:latin typeface="Consolas"/>
                        </a:rPr>
                        <a:t>=YEAR(J24)</a:t>
                      </a:r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 → 2021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b="1" sz="1300" i="0">
                          <a:solidFill>
                            <a:srgbClr val="1A2233"/>
                          </a:solidFill>
                          <a:latin typeface="Consolas"/>
                        </a:rPr>
                        <a:t>date − date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Number of days between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0B5E82"/>
                          </a:solidFill>
                          <a:latin typeface="Consolas"/>
                        </a:rPr>
                        <a:t>=J28-J29</a:t>
                      </a:r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 → 91 (Time!J30)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19088"/>
            <a:ext cx="12191695" cy="9525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b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6492240"/>
            <a:ext cx="821233" cy="2834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5448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000" i="0">
                <a:solidFill>
                  <a:srgbClr val="5C6B7A"/>
                </a:solidFill>
                <a:latin typeface="Calibri"/>
              </a:rPr>
              <a:t>MIPF Boot Camp  |  Excel Foundations  |  Excel from zero for project finance modelling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649224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b="0" sz="1000" i="0">
                <a:solidFill>
                  <a:srgbClr val="5C6B7A"/>
                </a:solidFill>
                <a:latin typeface="Calibri"/>
              </a:rPr>
              <a:t>28</a:t>
            </a:r>
          </a:p>
        </p:txBody>
      </p:sp>
      <p:pic>
        <p:nvPicPr>
          <p:cNvPr id="6" name="Picture 5" descr="mipf_hex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6446520"/>
            <a:ext cx="365760" cy="365760"/>
          </a:xfrm>
          <a:prstGeom prst="rect">
            <a:avLst/>
          </a:prstGeom>
        </p:spPr>
      </p:pic>
      <p:pic>
        <p:nvPicPr>
          <p:cNvPr id="7" name="Picture 6" descr="bongo_ai_hex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0" y="6446520"/>
            <a:ext cx="365760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237744"/>
            <a:ext cx="112471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100" i="0">
                <a:solidFill>
                  <a:srgbClr val="A8700F"/>
                </a:solidFill>
                <a:latin typeface="Calibri"/>
              </a:rPr>
              <a:t>FUNCTIONS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5488"/>
            <a:ext cx="1124712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b="1" sz="2800" i="0">
                <a:solidFill>
                  <a:srgbClr val="141B4D"/>
                </a:solidFill>
                <a:latin typeface="Georgia"/>
              </a:rPr>
              <a:t>Return functions: NPV, IRR, XIRR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52728"/>
            <a:ext cx="1463040" cy="38100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48640" y="1508760"/>
          <a:ext cx="11064240" cy="19514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3108960"/>
                <a:gridCol w="2377440"/>
                <a:gridCol w="320040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b="1" sz="1300" i="0">
                          <a:solidFill>
                            <a:srgbClr val="FFFFFF"/>
                          </a:solidFill>
                          <a:latin typeface="Calibri"/>
                        </a:rPr>
                        <a:t>Function</a:t>
                      </a:r>
                    </a:p>
                  </a:txBody>
                  <a:tcPr marL="64008" marR="64008" marT="27432" marB="27432" anchor="ctr">
                    <a:solidFill>
                      <a:srgbClr val="141B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300" i="0">
                          <a:solidFill>
                            <a:srgbClr val="FFFFFF"/>
                          </a:solidFill>
                          <a:latin typeface="Calibri"/>
                        </a:rPr>
                        <a:t>Assumes</a:t>
                      </a:r>
                    </a:p>
                  </a:txBody>
                  <a:tcPr marL="64008" marR="64008" marT="27432" marB="27432" anchor="ctr">
                    <a:solidFill>
                      <a:srgbClr val="141B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300" i="0">
                          <a:solidFill>
                            <a:srgbClr val="FFFFFF"/>
                          </a:solidFill>
                          <a:latin typeface="Calibri"/>
                        </a:rPr>
                        <a:t>Use</a:t>
                      </a:r>
                    </a:p>
                  </a:txBody>
                  <a:tcPr marL="64008" marR="64008" marT="27432" marB="27432" anchor="ctr">
                    <a:solidFill>
                      <a:srgbClr val="141B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300" i="0">
                          <a:solidFill>
                            <a:srgbClr val="FFFFFF"/>
                          </a:solidFill>
                          <a:latin typeface="Calibri"/>
                        </a:rPr>
                        <a:t>Watch out</a:t>
                      </a:r>
                    </a:p>
                  </a:txBody>
                  <a:tcPr marL="64008" marR="64008" marT="27432" marB="27432" anchor="ctr">
                    <a:solidFill>
                      <a:srgbClr val="141B4D"/>
                    </a:solidFill>
                  </a:tcPr>
                </a:tc>
              </a:tr>
              <a:tr h="522478">
                <a:tc>
                  <a:txBody>
                    <a:bodyPr wrap="square"/>
                    <a:lstStyle/>
                    <a:p>
                      <a:r>
                        <a:rPr b="1" sz="1300" i="0">
                          <a:solidFill>
                            <a:srgbClr val="1A2233"/>
                          </a:solidFill>
                          <a:latin typeface="Consolas"/>
                        </a:rPr>
                        <a:t>NPV(rate, flows)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Equal periods; first flow is one period away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Quick present value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Excludes time-0 flow: add it separately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522478">
                <a:tc>
                  <a:txBody>
                    <a:bodyPr wrap="square"/>
                    <a:lstStyle/>
                    <a:p>
                      <a:r>
                        <a:rPr b="1" sz="1300" i="0">
                          <a:solidFill>
                            <a:srgbClr val="1A2233"/>
                          </a:solidFill>
                          <a:latin typeface="Consolas"/>
                        </a:rPr>
                        <a:t>IRR(flows)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Equal periods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Annual flows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Quarterly flows give a quarterly IRR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</a:tr>
              <a:tr h="522478">
                <a:tc>
                  <a:txBody>
                    <a:bodyPr wrap="square"/>
                    <a:lstStyle/>
                    <a:p>
                      <a:r>
                        <a:rPr b="1" sz="1300" i="0">
                          <a:solidFill>
                            <a:srgbClr val="1A2233"/>
                          </a:solidFill>
                          <a:latin typeface="Consolas"/>
                        </a:rPr>
                        <a:t>XIRR(flows, dates)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Actual dates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TrainStat Val!F49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Needs a negative and a positive; first value must be non-zero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548640" y="4846320"/>
            <a:ext cx="11064240" cy="777240"/>
          </a:xfrm>
          <a:prstGeom prst="rect">
            <a:avLst/>
          </a:prstGeom>
          <a:solidFill>
            <a:srgbClr val="E7F1F6"/>
          </a:solidFill>
          <a:ln w="15240"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4846320"/>
            <a:ext cx="82296" cy="77724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4846320"/>
            <a:ext cx="1083564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b="0" sz="1400" i="0">
                <a:solidFill>
                  <a:srgbClr val="1A2233"/>
                </a:solidFill>
                <a:latin typeface="Calibri"/>
              </a:rPr>
              <a:t>TrainStat Val sheet: </a:t>
            </a:r>
            <a:r>
              <a:rPr b="0" sz="1400" i="0">
                <a:solidFill>
                  <a:srgbClr val="0B5E82"/>
                </a:solidFill>
                <a:latin typeface="Consolas"/>
              </a:rPr>
              <a:t>=XIRR(J47:CO47,J48:CO48)</a:t>
            </a:r>
            <a:r>
              <a:rPr b="0" sz="1400" i="0">
                <a:solidFill>
                  <a:srgbClr val="1A2233"/>
                </a:solidFill>
                <a:latin typeface="Calibri"/>
              </a:rPr>
              <a:t> with a tiny negative -0.001 placeholder in the first column so XIRR can start. Result 29.86% p.a.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19088"/>
            <a:ext cx="12191695" cy="9525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b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6492240"/>
            <a:ext cx="821233" cy="2834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5448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000" i="0">
                <a:solidFill>
                  <a:srgbClr val="5C6B7A"/>
                </a:solidFill>
                <a:latin typeface="Calibri"/>
              </a:rPr>
              <a:t>MIPF Boot Camp  |  Excel Foundations  |  Excel from zero for project finance modelling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649224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b="0" sz="1000" i="0">
                <a:solidFill>
                  <a:srgbClr val="5C6B7A"/>
                </a:solidFill>
                <a:latin typeface="Calibri"/>
              </a:rPr>
              <a:t>29</a:t>
            </a:r>
          </a:p>
        </p:txBody>
      </p:sp>
      <p:pic>
        <p:nvPicPr>
          <p:cNvPr id="6" name="Picture 5" descr="mipf_hex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6446520"/>
            <a:ext cx="365760" cy="365760"/>
          </a:xfrm>
          <a:prstGeom prst="rect">
            <a:avLst/>
          </a:prstGeom>
        </p:spPr>
      </p:pic>
      <p:pic>
        <p:nvPicPr>
          <p:cNvPr id="7" name="Picture 6" descr="bongo_ai_hex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0" y="6446520"/>
            <a:ext cx="365760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237744"/>
            <a:ext cx="112471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100" i="0">
                <a:solidFill>
                  <a:srgbClr val="A8700F"/>
                </a:solidFill>
                <a:latin typeface="Calibri"/>
              </a:rPr>
              <a:t>EXERCISE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5488"/>
            <a:ext cx="1124712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b="1" sz="2800" i="0">
                <a:solidFill>
                  <a:srgbClr val="141B4D"/>
                </a:solidFill>
                <a:latin typeface="Georgia"/>
              </a:rPr>
              <a:t>Exercise XL3: Function warm-up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52728"/>
            <a:ext cx="1463040" cy="38100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463040"/>
            <a:ext cx="2743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100" i="0">
                <a:solidFill>
                  <a:srgbClr val="A8700F"/>
                </a:solidFill>
                <a:latin typeface="Calibri"/>
              </a:rPr>
              <a:t>YOUR TASK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737360"/>
            <a:ext cx="11064240" cy="7772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600" i="0">
                <a:solidFill>
                  <a:srgbClr val="1A2233"/>
                </a:solidFill>
                <a:latin typeface="Calibri"/>
              </a:rPr>
              <a:t>Using this data: A1:A5 = 10, 20, 30, 40, 50; B1:B5 = 1, 0, 1, 0, 1. Answer five questions with formulas.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606040"/>
            <a:ext cx="2743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100" i="0">
                <a:solidFill>
                  <a:srgbClr val="A8700F"/>
                </a:solidFill>
                <a:latin typeface="Calibri"/>
              </a:rPr>
              <a:t>STEPS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852928"/>
            <a:ext cx="1106424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b="0" sz="1500" i="0">
                <a:solidFill>
                  <a:srgbClr val="1A2233"/>
                </a:solidFill>
                <a:latin typeface="Calibri"/>
              </a:rPr>
              <a:t>1.  Sum of A where B=1: </a:t>
            </a:r>
            <a:r>
              <a:rPr b="0" sz="1500" i="0">
                <a:solidFill>
                  <a:srgbClr val="0B5E82"/>
                </a:solidFill>
                <a:latin typeface="Consolas"/>
              </a:rPr>
              <a:t>=SUMIFS(A1:A5,B1:B5,1)</a:t>
            </a:r>
          </a:p>
          <a:p>
            <a:pPr>
              <a:spcAft>
                <a:spcPts val="300"/>
              </a:spcAft>
            </a:pPr>
            <a:r>
              <a:rPr b="0" sz="1500" i="0">
                <a:solidFill>
                  <a:srgbClr val="1A2233"/>
                </a:solidFill>
                <a:latin typeface="Calibri"/>
              </a:rPr>
              <a:t>2.  Largest A: </a:t>
            </a:r>
            <a:r>
              <a:rPr b="0" sz="1500" i="0">
                <a:solidFill>
                  <a:srgbClr val="0B5E82"/>
                </a:solidFill>
                <a:latin typeface="Consolas"/>
              </a:rPr>
              <a:t>=MAX(A1:A5)</a:t>
            </a:r>
          </a:p>
          <a:p>
            <a:pPr>
              <a:spcAft>
                <a:spcPts val="300"/>
              </a:spcAft>
            </a:pPr>
            <a:r>
              <a:rPr b="0" sz="1500" i="0">
                <a:solidFill>
                  <a:srgbClr val="1A2233"/>
                </a:solidFill>
                <a:latin typeface="Calibri"/>
              </a:rPr>
              <a:t>3.  If A3&gt;25 show 'big' else 'small': </a:t>
            </a:r>
            <a:r>
              <a:rPr b="0" sz="1500" i="0">
                <a:solidFill>
                  <a:srgbClr val="0B5E82"/>
                </a:solidFill>
                <a:latin typeface="Consolas"/>
              </a:rPr>
              <a:t>=IF(A3&gt;25,"big","small")</a:t>
            </a:r>
          </a:p>
          <a:p>
            <a:pPr>
              <a:spcAft>
                <a:spcPts val="300"/>
              </a:spcAft>
            </a:pPr>
            <a:r>
              <a:rPr b="0" sz="1500" i="0">
                <a:solidFill>
                  <a:srgbClr val="1A2233"/>
                </a:solidFill>
                <a:latin typeface="Calibri"/>
              </a:rPr>
              <a:t>4.  Position of 40 in A: </a:t>
            </a:r>
            <a:r>
              <a:rPr b="0" sz="1500" i="0">
                <a:solidFill>
                  <a:srgbClr val="0B5E82"/>
                </a:solidFill>
                <a:latin typeface="Consolas"/>
              </a:rPr>
              <a:t>=MATCH(40,A1:A5,0)</a:t>
            </a:r>
          </a:p>
          <a:p>
            <a:pPr>
              <a:spcAft>
                <a:spcPts val="300"/>
              </a:spcAft>
            </a:pPr>
            <a:r>
              <a:rPr b="0" sz="1500" i="0">
                <a:solidFill>
                  <a:srgbClr val="1A2233"/>
                </a:solidFill>
                <a:latin typeface="Calibri"/>
              </a:rPr>
              <a:t>5.  The item in position 2: </a:t>
            </a:r>
            <a:r>
              <a:rPr b="0" sz="1500" i="0">
                <a:solidFill>
                  <a:srgbClr val="0B5E82"/>
                </a:solidFill>
                <a:latin typeface="Consolas"/>
              </a:rPr>
              <a:t>=INDEX(A1:A5,2)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983480"/>
            <a:ext cx="10881360" cy="1280160"/>
          </a:xfrm>
          <a:prstGeom prst="rect">
            <a:avLst/>
          </a:prstGeom>
          <a:solidFill>
            <a:srgbClr val="E6F4EA"/>
          </a:solidFill>
          <a:ln w="15240">
            <a:solidFill>
              <a:srgbClr val="1E7B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4983480"/>
            <a:ext cx="82296" cy="1280160"/>
          </a:xfrm>
          <a:prstGeom prst="rect">
            <a:avLst/>
          </a:prstGeom>
          <a:solidFill>
            <a:srgbClr val="1E7B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983480"/>
            <a:ext cx="10652760" cy="12801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b="0" sz="1400" i="0">
                <a:solidFill>
                  <a:srgbClr val="1A2233"/>
                </a:solidFill>
                <a:latin typeface="Calibri"/>
              </a:rPr>
              <a:t>WHEN YOU ARE DONE:  compare your result with a neighbour. Your facilitator then confirms the answer and the reasoning in the room.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607040" y="274320"/>
            <a:ext cx="1097280" cy="320040"/>
          </a:xfrm>
          <a:prstGeom prst="round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b="1" sz="1300" i="0">
                <a:solidFill>
                  <a:srgbClr val="FFFFFF"/>
                </a:solidFill>
                <a:latin typeface="Calibri"/>
              </a:rPr>
              <a:t>8 min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19088"/>
            <a:ext cx="12191695" cy="9525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6464808"/>
            <a:ext cx="1051560" cy="3474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b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6492240"/>
            <a:ext cx="821233" cy="28346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5448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000" i="0">
                <a:solidFill>
                  <a:srgbClr val="C9D3F5"/>
                </a:solidFill>
                <a:latin typeface="Calibri"/>
              </a:rPr>
              <a:t>MIPF Boot Camp  |  Excel Foundations  |  Excel from zero for project finance modelling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92640" y="649224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b="0" sz="1000" i="0">
                <a:solidFill>
                  <a:srgbClr val="C9D3F5"/>
                </a:solidFill>
                <a:latin typeface="Calibri"/>
              </a:rPr>
              <a:t>30</a:t>
            </a:r>
          </a:p>
        </p:txBody>
      </p:sp>
      <p:pic>
        <p:nvPicPr>
          <p:cNvPr id="7" name="Picture 6" descr="mipf_hex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6446520"/>
            <a:ext cx="365760" cy="365760"/>
          </a:xfrm>
          <a:prstGeom prst="rect">
            <a:avLst/>
          </a:prstGeom>
        </p:spPr>
      </p:pic>
      <p:pic>
        <p:nvPicPr>
          <p:cNvPr id="8" name="Picture 7" descr="bongo_ai_hex_dark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0" y="6446520"/>
            <a:ext cx="365760" cy="3657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" y="2011680"/>
            <a:ext cx="100584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400" i="0">
                <a:solidFill>
                  <a:srgbClr val="D99A2B"/>
                </a:solidFill>
                <a:latin typeface="Calibri"/>
              </a:rPr>
              <a:t>FOUNDATIONS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423160"/>
            <a:ext cx="10241280" cy="1554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3800" i="0">
                <a:solidFill>
                  <a:srgbClr val="FFFFFF"/>
                </a:solidFill>
                <a:latin typeface="Georgia"/>
              </a:rPr>
              <a:t>Section D: Working like a modeller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114800"/>
            <a:ext cx="9601200" cy="1463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800" i="0">
                <a:solidFill>
                  <a:srgbClr val="D8DEF5"/>
                </a:solidFill>
                <a:latin typeface="Calibri"/>
              </a:rPr>
              <a:t>Layout, colour, names, navigation and auditing habits that stop mistakes.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19088"/>
            <a:ext cx="12191695" cy="9525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b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6492240"/>
            <a:ext cx="821233" cy="2834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5448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000" i="0">
                <a:solidFill>
                  <a:srgbClr val="5C6B7A"/>
                </a:solidFill>
                <a:latin typeface="Calibri"/>
              </a:rPr>
              <a:t>MIPF Boot Camp  |  Excel Foundations  |  Excel from zero for project finance modelling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649224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b="0" sz="1000" i="0">
                <a:solidFill>
                  <a:srgbClr val="5C6B7A"/>
                </a:solidFill>
                <a:latin typeface="Calibri"/>
              </a:rPr>
              <a:t>31</a:t>
            </a:r>
          </a:p>
        </p:txBody>
      </p:sp>
      <p:pic>
        <p:nvPicPr>
          <p:cNvPr id="6" name="Picture 5" descr="mipf_hex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6446520"/>
            <a:ext cx="365760" cy="365760"/>
          </a:xfrm>
          <a:prstGeom prst="rect">
            <a:avLst/>
          </a:prstGeom>
        </p:spPr>
      </p:pic>
      <p:pic>
        <p:nvPicPr>
          <p:cNvPr id="7" name="Picture 6" descr="bongo_ai_hex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0" y="6446520"/>
            <a:ext cx="365760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237744"/>
            <a:ext cx="112471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100" i="0">
                <a:solidFill>
                  <a:srgbClr val="A8700F"/>
                </a:solidFill>
                <a:latin typeface="Calibri"/>
              </a:rPr>
              <a:t>STANDARDS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5488"/>
            <a:ext cx="1124712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b="1" sz="2800" i="0">
                <a:solidFill>
                  <a:srgbClr val="141B4D"/>
                </a:solidFill>
                <a:latin typeface="Georgia"/>
              </a:rPr>
              <a:t>Colour code used in the TrainStat model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52728"/>
            <a:ext cx="1463040" cy="38100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48640" y="1508760"/>
          <a:ext cx="11064240" cy="24427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4937760"/>
                <a:gridCol w="320040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b="1" sz="1300" i="0">
                          <a:solidFill>
                            <a:srgbClr val="FFFFFF"/>
                          </a:solidFill>
                          <a:latin typeface="Calibri"/>
                        </a:rPr>
                        <a:t>Style</a:t>
                      </a:r>
                    </a:p>
                  </a:txBody>
                  <a:tcPr marL="64008" marR="64008" marT="27432" marB="27432" anchor="ctr">
                    <a:solidFill>
                      <a:srgbClr val="141B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300" i="0">
                          <a:solidFill>
                            <a:srgbClr val="FFFFFF"/>
                          </a:solidFill>
                          <a:latin typeface="Calibri"/>
                        </a:rPr>
                        <a:t>Meaning</a:t>
                      </a:r>
                    </a:p>
                  </a:txBody>
                  <a:tcPr marL="64008" marR="64008" marT="27432" marB="27432" anchor="ctr">
                    <a:solidFill>
                      <a:srgbClr val="141B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300" i="0">
                          <a:solidFill>
                            <a:srgbClr val="FFFFFF"/>
                          </a:solidFill>
                          <a:latin typeface="Calibri"/>
                        </a:rPr>
                        <a:t>Example</a:t>
                      </a:r>
                    </a:p>
                  </a:txBody>
                  <a:tcPr marL="64008" marR="64008" marT="27432" marB="27432" anchor="ctr">
                    <a:solidFill>
                      <a:srgbClr val="141B4D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b="1" sz="1300" i="0">
                          <a:solidFill>
                            <a:srgbClr val="1A2233"/>
                          </a:solidFill>
                          <a:latin typeface="Calibri"/>
                        </a:rPr>
                        <a:t>Yellow fill, black text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Typed assumption (hard-coded input)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InpS!J8 trains per quarter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522478">
                <a:tc>
                  <a:txBody>
                    <a:bodyPr wrap="square"/>
                    <a:lstStyle/>
                    <a:p>
                      <a:r>
                        <a:rPr b="1" sz="1300" i="0">
                          <a:solidFill>
                            <a:srgbClr val="1A2233"/>
                          </a:solidFill>
                          <a:latin typeface="Calibri"/>
                        </a:rPr>
                        <a:t>Blue font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Link pulled in from another sheet or row: no calculation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OpRev!J11 </a:t>
                      </a:r>
                      <a:r>
                        <a:rPr b="0" sz="1300" i="0">
                          <a:solidFill>
                            <a:srgbClr val="0B5E82"/>
                          </a:solidFill>
                          <a:latin typeface="Consolas"/>
                        </a:rPr>
                        <a:t>=InpS!J$8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b="1" sz="1300" i="0">
                          <a:solidFill>
                            <a:srgbClr val="1A2233"/>
                          </a:solidFill>
                          <a:latin typeface="Calibri"/>
                        </a:rPr>
                        <a:t>Red font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Key result row that other sheets use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OpRev!J42 operating revenue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b="1" sz="1300" i="0">
                          <a:solidFill>
                            <a:srgbClr val="1A2233"/>
                          </a:solidFill>
                          <a:latin typeface="Calibri"/>
                        </a:rPr>
                        <a:t>Black font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Intermediate calculation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OpRev!J19 arrivals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b="1" sz="1300" i="0">
                          <a:solidFill>
                            <a:srgbClr val="1A2233"/>
                          </a:solidFill>
                          <a:latin typeface="Calibri"/>
                        </a:rPr>
                        <a:t>Grey / check fill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Integrity checks: should be zero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FinStat!J74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548640" y="4846320"/>
            <a:ext cx="11064240" cy="731520"/>
          </a:xfrm>
          <a:prstGeom prst="rect">
            <a:avLst/>
          </a:prstGeom>
          <a:solidFill>
            <a:srgbClr val="FBF0D9"/>
          </a:solidFill>
          <a:ln w="15240">
            <a:solidFill>
              <a:srgbClr val="D99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4846320"/>
            <a:ext cx="82296" cy="731520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4846320"/>
            <a:ext cx="10835640" cy="7315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b="0" sz="1400" i="0">
                <a:solidFill>
                  <a:srgbClr val="1A2233"/>
                </a:solidFill>
                <a:latin typeface="Calibri"/>
              </a:rPr>
              <a:t>Colour is a promise to the next reader. If a blue cell contains a calculation, the colour is lying.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19088"/>
            <a:ext cx="12191695" cy="9525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b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6492240"/>
            <a:ext cx="821233" cy="2834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5448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000" i="0">
                <a:solidFill>
                  <a:srgbClr val="5C6B7A"/>
                </a:solidFill>
                <a:latin typeface="Calibri"/>
              </a:rPr>
              <a:t>MIPF Boot Camp  |  Excel Foundations  |  Excel from zero for project finance modelling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649224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b="0" sz="1000" i="0">
                <a:solidFill>
                  <a:srgbClr val="5C6B7A"/>
                </a:solidFill>
                <a:latin typeface="Calibri"/>
              </a:rPr>
              <a:t>32</a:t>
            </a:r>
          </a:p>
        </p:txBody>
      </p:sp>
      <p:pic>
        <p:nvPicPr>
          <p:cNvPr id="6" name="Picture 5" descr="mipf_hex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6446520"/>
            <a:ext cx="365760" cy="365760"/>
          </a:xfrm>
          <a:prstGeom prst="rect">
            <a:avLst/>
          </a:prstGeom>
        </p:spPr>
      </p:pic>
      <p:pic>
        <p:nvPicPr>
          <p:cNvPr id="7" name="Picture 6" descr="bongo_ai_hex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0" y="6446520"/>
            <a:ext cx="365760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237744"/>
            <a:ext cx="112471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100" i="0">
                <a:solidFill>
                  <a:srgbClr val="A8700F"/>
                </a:solidFill>
                <a:latin typeface="Calibri"/>
              </a:rPr>
              <a:t>LAYOUT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5488"/>
            <a:ext cx="1124712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b="1" sz="2800" i="0">
                <a:solidFill>
                  <a:srgbClr val="141B4D"/>
                </a:solidFill>
                <a:latin typeface="Georgia"/>
              </a:rPr>
              <a:t>The TrainStat sheet layout (every timeline sheet)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52728"/>
            <a:ext cx="1463040" cy="38100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48640" y="1508760"/>
          <a:ext cx="11064240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4572000"/>
                <a:gridCol w="466344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b="1" sz="1300" i="0">
                          <a:solidFill>
                            <a:srgbClr val="FFFFFF"/>
                          </a:solidFill>
                          <a:latin typeface="Calibri"/>
                        </a:rPr>
                        <a:t>Column</a:t>
                      </a:r>
                    </a:p>
                  </a:txBody>
                  <a:tcPr marL="64008" marR="64008" marT="27432" marB="27432" anchor="ctr">
                    <a:solidFill>
                      <a:srgbClr val="141B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300" i="0">
                          <a:solidFill>
                            <a:srgbClr val="FFFFFF"/>
                          </a:solidFill>
                          <a:latin typeface="Calibri"/>
                        </a:rPr>
                        <a:t>Holds</a:t>
                      </a:r>
                    </a:p>
                  </a:txBody>
                  <a:tcPr marL="64008" marR="64008" marT="27432" marB="27432" anchor="ctr">
                    <a:solidFill>
                      <a:srgbClr val="141B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300" i="0">
                          <a:solidFill>
                            <a:srgbClr val="FFFFFF"/>
                          </a:solidFill>
                          <a:latin typeface="Calibri"/>
                        </a:rPr>
                        <a:t>Example (OpRev row 37)</a:t>
                      </a:r>
                    </a:p>
                  </a:txBody>
                  <a:tcPr marL="64008" marR="64008" marT="27432" marB="27432" anchor="ctr">
                    <a:solidFill>
                      <a:srgbClr val="141B4D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b="1" sz="1300" i="0">
                          <a:solidFill>
                            <a:srgbClr val="1A2233"/>
                          </a:solidFill>
                          <a:latin typeface="Calibri"/>
                        </a:rPr>
                        <a:t>A–D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Section headings and operators (plus / less)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A7 'OPERATING REVENUE'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b="1" sz="1300" i="0">
                          <a:solidFill>
                            <a:srgbClr val="1A2233"/>
                          </a:solidFill>
                          <a:latin typeface="Calibri"/>
                        </a:rPr>
                        <a:t>E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Label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'Average fare per passenger'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b="1" sz="1300" i="0">
                          <a:solidFill>
                            <a:srgbClr val="1A2233"/>
                          </a:solidFill>
                          <a:latin typeface="Calibri"/>
                        </a:rPr>
                        <a:t>F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Constant for this block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7.15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b="1" sz="1300" i="0">
                          <a:solidFill>
                            <a:srgbClr val="1A2233"/>
                          </a:solidFill>
                          <a:latin typeface="Calibri"/>
                        </a:rPr>
                        <a:t>G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Unit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USD/pax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b="1" sz="1300" i="0">
                          <a:solidFill>
                            <a:srgbClr val="1A2233"/>
                          </a:solidFill>
                          <a:latin typeface="Calibri"/>
                        </a:rPr>
                        <a:t>H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Total across the timeline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=SUM(J42:CO42)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b="1" sz="1300" i="0">
                          <a:solidFill>
                            <a:srgbClr val="1A2233"/>
                          </a:solidFill>
                          <a:latin typeface="Calibri"/>
                        </a:rPr>
                        <a:t>I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Spacer (narrow)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/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b="1" sz="1300" i="0">
                          <a:solidFill>
                            <a:srgbClr val="1A2233"/>
                          </a:solidFill>
                          <a:latin typeface="Calibri"/>
                        </a:rPr>
                        <a:t>J → CO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The timeline: 84 quarterly columns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Formulas copied across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19088"/>
            <a:ext cx="12191695" cy="9525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b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6492240"/>
            <a:ext cx="821233" cy="2834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5448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000" i="0">
                <a:solidFill>
                  <a:srgbClr val="5C6B7A"/>
                </a:solidFill>
                <a:latin typeface="Calibri"/>
              </a:rPr>
              <a:t>MIPF Boot Camp  |  Excel Foundations  |  Excel from zero for project finance modelling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649224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b="0" sz="1000" i="0">
                <a:solidFill>
                  <a:srgbClr val="5C6B7A"/>
                </a:solidFill>
                <a:latin typeface="Calibri"/>
              </a:rPr>
              <a:t>33</a:t>
            </a:r>
          </a:p>
        </p:txBody>
      </p:sp>
      <p:pic>
        <p:nvPicPr>
          <p:cNvPr id="6" name="Picture 5" descr="mipf_hex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6446520"/>
            <a:ext cx="365760" cy="365760"/>
          </a:xfrm>
          <a:prstGeom prst="rect">
            <a:avLst/>
          </a:prstGeom>
        </p:spPr>
      </p:pic>
      <p:pic>
        <p:nvPicPr>
          <p:cNvPr id="7" name="Picture 6" descr="bongo_ai_hex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0" y="6446520"/>
            <a:ext cx="365760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237744"/>
            <a:ext cx="112471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100" i="0">
                <a:solidFill>
                  <a:srgbClr val="A8700F"/>
                </a:solidFill>
                <a:latin typeface="Calibri"/>
              </a:rPr>
              <a:t>STANDARDS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5488"/>
            <a:ext cx="1124712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b="1" sz="2800" i="0">
                <a:solidFill>
                  <a:srgbClr val="141B4D"/>
                </a:solidFill>
                <a:latin typeface="Georgia"/>
              </a:rPr>
              <a:t>Four modelling rules the model follows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52728"/>
            <a:ext cx="1463040" cy="38100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5087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b="0" sz="2000" i="0">
                <a:solidFill>
                  <a:srgbClr val="1A2233"/>
                </a:solidFill>
                <a:latin typeface="Calibri"/>
              </a:rPr>
              <a:t>▪ </a:t>
            </a:r>
            <a:r>
              <a:rPr b="1" sz="2000" i="0">
                <a:solidFill>
                  <a:srgbClr val="1A2233"/>
                </a:solidFill>
                <a:latin typeface="Calibri"/>
              </a:rPr>
              <a:t>One formula per row.</a:t>
            </a:r>
            <a:r>
              <a:rPr b="0" sz="2000" i="0">
                <a:solidFill>
                  <a:srgbClr val="1A2233"/>
                </a:solidFill>
                <a:latin typeface="Calibri"/>
              </a:rPr>
              <a:t> The same formula in every column from J to CO. If a row has two formulas, split it into two rows.</a:t>
            </a:r>
          </a:p>
          <a:p>
            <a:pPr>
              <a:spcAft>
                <a:spcPts val="700"/>
              </a:spcAft>
            </a:pPr>
            <a:r>
              <a:rPr b="0" sz="2000" i="0">
                <a:solidFill>
                  <a:srgbClr val="1A2233"/>
                </a:solidFill>
                <a:latin typeface="Calibri"/>
              </a:rPr>
              <a:t>▪ </a:t>
            </a:r>
            <a:r>
              <a:rPr b="1" sz="2000" i="0">
                <a:solidFill>
                  <a:srgbClr val="1A2233"/>
                </a:solidFill>
                <a:latin typeface="Calibri"/>
              </a:rPr>
              <a:t>No numbers inside formulas.</a:t>
            </a:r>
            <a:r>
              <a:rPr b="0" sz="2000" i="0">
                <a:solidFill>
                  <a:srgbClr val="1A2233"/>
                </a:solidFill>
                <a:latin typeface="Calibri"/>
              </a:rPr>
              <a:t> Typed numbers live on InpC / InpS and are pulled in. (1, 0 and the unit 1,000 are the only exceptions, and 1,000 sits on InpC row 102.)</a:t>
            </a:r>
          </a:p>
          <a:p>
            <a:pPr>
              <a:spcAft>
                <a:spcPts val="700"/>
              </a:spcAft>
            </a:pPr>
            <a:r>
              <a:rPr b="0" sz="2000" i="0">
                <a:solidFill>
                  <a:srgbClr val="1A2233"/>
                </a:solidFill>
                <a:latin typeface="Calibri"/>
              </a:rPr>
              <a:t>▪ </a:t>
            </a:r>
            <a:r>
              <a:rPr b="1" sz="2000" i="0">
                <a:solidFill>
                  <a:srgbClr val="1A2233"/>
                </a:solidFill>
                <a:latin typeface="Calibri"/>
              </a:rPr>
              <a:t>Pull before you calculate.</a:t>
            </a:r>
            <a:r>
              <a:rPr b="0" sz="2000" i="0">
                <a:solidFill>
                  <a:srgbClr val="1A2233"/>
                </a:solidFill>
                <a:latin typeface="Calibri"/>
              </a:rPr>
              <a:t> Bring each input to the rows directly above the calculation, in blue. Then the calculation only points upward.</a:t>
            </a:r>
          </a:p>
          <a:p>
            <a:pPr>
              <a:spcAft>
                <a:spcPts val="700"/>
              </a:spcAft>
            </a:pPr>
            <a:r>
              <a:rPr b="0" sz="2000" i="0">
                <a:solidFill>
                  <a:srgbClr val="1A2233"/>
                </a:solidFill>
                <a:latin typeface="Calibri"/>
              </a:rPr>
              <a:t>▪ </a:t>
            </a:r>
            <a:r>
              <a:rPr b="1" sz="2000" i="0">
                <a:solidFill>
                  <a:srgbClr val="1A2233"/>
                </a:solidFill>
                <a:latin typeface="Calibri"/>
              </a:rPr>
              <a:t>Check everything.</a:t>
            </a:r>
            <a:r>
              <a:rPr b="0" sz="2000" i="0">
                <a:solidFill>
                  <a:srgbClr val="1A2233"/>
                </a:solidFill>
                <a:latin typeface="Calibri"/>
              </a:rPr>
              <a:t> Balance sheet, cash and income checks (FinStat rows 72 to 81) must be zero before you trust any result.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5394960"/>
            <a:ext cx="10881360" cy="685800"/>
          </a:xfrm>
          <a:prstGeom prst="rect">
            <a:avLst/>
          </a:prstGeom>
          <a:solidFill>
            <a:srgbClr val="E7F1F6"/>
          </a:solidFill>
          <a:ln w="15240"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5394960"/>
            <a:ext cx="82296" cy="6858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5394960"/>
            <a:ext cx="10652760" cy="6858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b="0" sz="1400" i="0">
                <a:solidFill>
                  <a:srgbClr val="1A2233"/>
                </a:solidFill>
                <a:latin typeface="Calibri"/>
              </a:rPr>
              <a:t>These come from public modelling standards such as the FAST Standard (Flexible, Appropriate, Structured, Transparent).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19088"/>
            <a:ext cx="12191695" cy="9525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b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6492240"/>
            <a:ext cx="821233" cy="2834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5448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000" i="0">
                <a:solidFill>
                  <a:srgbClr val="5C6B7A"/>
                </a:solidFill>
                <a:latin typeface="Calibri"/>
              </a:rPr>
              <a:t>MIPF Boot Camp  |  Excel Foundations  |  Excel from zero for project finance modelling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649224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b="0" sz="1000" i="0">
                <a:solidFill>
                  <a:srgbClr val="5C6B7A"/>
                </a:solidFill>
                <a:latin typeface="Calibri"/>
              </a:rPr>
              <a:t>34</a:t>
            </a:r>
          </a:p>
        </p:txBody>
      </p:sp>
      <p:pic>
        <p:nvPicPr>
          <p:cNvPr id="6" name="Picture 5" descr="mipf_hex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6446520"/>
            <a:ext cx="365760" cy="365760"/>
          </a:xfrm>
          <a:prstGeom prst="rect">
            <a:avLst/>
          </a:prstGeom>
        </p:spPr>
      </p:pic>
      <p:pic>
        <p:nvPicPr>
          <p:cNvPr id="7" name="Picture 6" descr="bongo_ai_hex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0" y="6446520"/>
            <a:ext cx="365760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237744"/>
            <a:ext cx="112471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100" i="0">
                <a:solidFill>
                  <a:srgbClr val="A8700F"/>
                </a:solidFill>
                <a:latin typeface="Calibri"/>
              </a:rPr>
              <a:t>NAMES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5488"/>
            <a:ext cx="1124712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b="1" sz="2800" i="0">
                <a:solidFill>
                  <a:srgbClr val="141B4D"/>
                </a:solidFill>
                <a:latin typeface="Georgia"/>
              </a:rPr>
              <a:t>Named cells in the model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52728"/>
            <a:ext cx="1463040" cy="38100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48640" y="1508760"/>
          <a:ext cx="11064239" cy="16746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743200"/>
                <a:gridCol w="2743200"/>
                <a:gridCol w="3749039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b="1" sz="1300" i="0">
                          <a:solidFill>
                            <a:srgbClr val="FFFFFF"/>
                          </a:solidFill>
                          <a:latin typeface="Calibri"/>
                        </a:rPr>
                        <a:t>Name</a:t>
                      </a:r>
                    </a:p>
                  </a:txBody>
                  <a:tcPr marL="64008" marR="64008" marT="27432" marB="27432" anchor="ctr">
                    <a:solidFill>
                      <a:srgbClr val="141B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300" i="0">
                          <a:solidFill>
                            <a:srgbClr val="FFFFFF"/>
                          </a:solidFill>
                          <a:latin typeface="Calibri"/>
                        </a:rPr>
                        <a:t>Refers to</a:t>
                      </a:r>
                    </a:p>
                  </a:txBody>
                  <a:tcPr marL="64008" marR="64008" marT="27432" marB="27432" anchor="ctr">
                    <a:solidFill>
                      <a:srgbClr val="141B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300" i="0">
                          <a:solidFill>
                            <a:srgbClr val="FFFFFF"/>
                          </a:solidFill>
                          <a:latin typeface="Calibri"/>
                        </a:rPr>
                        <a:t>Used in</a:t>
                      </a:r>
                    </a:p>
                  </a:txBody>
                  <a:tcPr marL="64008" marR="64008" marT="27432" marB="27432" anchor="ctr">
                    <a:solidFill>
                      <a:srgbClr val="141B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300" i="0">
                          <a:solidFill>
                            <a:srgbClr val="FFFFFF"/>
                          </a:solidFill>
                          <a:latin typeface="Calibri"/>
                        </a:rPr>
                        <a:t>Why a name?</a:t>
                      </a:r>
                    </a:p>
                  </a:txBody>
                  <a:tcPr marL="64008" marR="64008" marT="27432" marB="27432" anchor="ctr">
                    <a:solidFill>
                      <a:srgbClr val="141B4D"/>
                    </a:solidFill>
                  </a:tcPr>
                </a:tc>
              </a:tr>
              <a:tr h="522478">
                <a:tc>
                  <a:txBody>
                    <a:bodyPr wrap="square"/>
                    <a:lstStyle/>
                    <a:p>
                      <a:r>
                        <a:rPr b="1" sz="1300" i="0">
                          <a:solidFill>
                            <a:srgbClr val="1A2233"/>
                          </a:solidFill>
                          <a:latin typeface="Consolas"/>
                        </a:rPr>
                        <a:t>CHK_TOL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InpC!F101 = 0.001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FinStat check rows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Readable: </a:t>
                      </a:r>
                      <a:r>
                        <a:rPr b="0" sz="1300" i="0">
                          <a:solidFill>
                            <a:srgbClr val="0B5E82"/>
                          </a:solidFill>
                          <a:latin typeface="Consolas"/>
                        </a:rPr>
                        <a:t>=IF(ABS(J25-J68)&gt;CHK_TOL,1,0)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b="1" sz="1300" i="0">
                          <a:solidFill>
                            <a:srgbClr val="1A2233"/>
                          </a:solidFill>
                          <a:latin typeface="Consolas"/>
                        </a:rPr>
                        <a:t>SMU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InpC!F103 = '$ 000s'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Unit column G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Change the unit label once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b="1" sz="1300" i="0">
                          <a:solidFill>
                            <a:srgbClr val="1A2233"/>
                          </a:solidFill>
                          <a:latin typeface="Consolas"/>
                        </a:rPr>
                        <a:t>unit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InpC!F102 = 1,000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Divisors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Avoids typing 1000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548640" y="4480560"/>
            <a:ext cx="11064240" cy="777240"/>
          </a:xfrm>
          <a:prstGeom prst="rect">
            <a:avLst/>
          </a:prstGeom>
          <a:solidFill>
            <a:srgbClr val="E7F1F6"/>
          </a:solidFill>
          <a:ln w="15240"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4480560"/>
            <a:ext cx="82296" cy="77724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4480560"/>
            <a:ext cx="1083564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b="0" sz="1400" i="0">
                <a:solidFill>
                  <a:srgbClr val="1A2233"/>
                </a:solidFill>
                <a:latin typeface="Calibri"/>
              </a:rPr>
              <a:t>Create: select the cell, then </a:t>
            </a:r>
            <a:r>
              <a:rPr b="0" sz="1400" i="0">
                <a:solidFill>
                  <a:srgbClr val="0B5E82"/>
                </a:solidFill>
                <a:latin typeface="Consolas"/>
              </a:rPr>
              <a:t>Ctrl+F3</a:t>
            </a:r>
            <a:r>
              <a:rPr b="0" sz="1400" i="0">
                <a:solidFill>
                  <a:srgbClr val="1A2233"/>
                </a:solidFill>
                <a:latin typeface="Calibri"/>
              </a:rPr>
              <a:t> (Win) / </a:t>
            </a:r>
            <a:r>
              <a:rPr b="0" sz="1400" i="0">
                <a:solidFill>
                  <a:srgbClr val="0B5E82"/>
                </a:solidFill>
                <a:latin typeface="Consolas"/>
              </a:rPr>
              <a:t>Fn+Ctrl+F3</a:t>
            </a:r>
            <a:r>
              <a:rPr b="0" sz="1400" i="0">
                <a:solidFill>
                  <a:srgbClr val="1A2233"/>
                </a:solidFill>
                <a:latin typeface="Calibri"/>
              </a:rPr>
              <a:t> (Mac) opens Name Manager. Or select label + value and </a:t>
            </a:r>
            <a:r>
              <a:rPr b="0" sz="1400" i="0">
                <a:solidFill>
                  <a:srgbClr val="0B5E82"/>
                </a:solidFill>
                <a:latin typeface="Consolas"/>
              </a:rPr>
              <a:t>Ctrl+Shift+F3</a:t>
            </a:r>
            <a:r>
              <a:rPr b="0" sz="1400" i="0">
                <a:solidFill>
                  <a:srgbClr val="1A2233"/>
                </a:solidFill>
                <a:latin typeface="Calibri"/>
              </a:rPr>
              <a:t> / </a:t>
            </a:r>
            <a:r>
              <a:rPr b="0" sz="1400" i="0">
                <a:solidFill>
                  <a:srgbClr val="0B5E82"/>
                </a:solidFill>
                <a:latin typeface="Consolas"/>
              </a:rPr>
              <a:t>Fn+Ctrl+Shift+F3</a:t>
            </a:r>
            <a:r>
              <a:rPr b="0" sz="1400" i="0">
                <a:solidFill>
                  <a:srgbClr val="1A2233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19088"/>
            <a:ext cx="12191695" cy="9525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b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6492240"/>
            <a:ext cx="821233" cy="2834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5448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000" i="0">
                <a:solidFill>
                  <a:srgbClr val="5C6B7A"/>
                </a:solidFill>
                <a:latin typeface="Calibri"/>
              </a:rPr>
              <a:t>MIPF Boot Camp  |  Excel Foundations  |  Excel from zero for project finance modelling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649224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b="0" sz="1000" i="0">
                <a:solidFill>
                  <a:srgbClr val="5C6B7A"/>
                </a:solidFill>
                <a:latin typeface="Calibri"/>
              </a:rPr>
              <a:t>35</a:t>
            </a:r>
          </a:p>
        </p:txBody>
      </p:sp>
      <p:pic>
        <p:nvPicPr>
          <p:cNvPr id="6" name="Picture 5" descr="mipf_hex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6446520"/>
            <a:ext cx="365760" cy="365760"/>
          </a:xfrm>
          <a:prstGeom prst="rect">
            <a:avLst/>
          </a:prstGeom>
        </p:spPr>
      </p:pic>
      <p:pic>
        <p:nvPicPr>
          <p:cNvPr id="7" name="Picture 6" descr="bongo_ai_hex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0" y="6446520"/>
            <a:ext cx="365760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237744"/>
            <a:ext cx="112471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100" i="0">
                <a:solidFill>
                  <a:srgbClr val="A8700F"/>
                </a:solidFill>
                <a:latin typeface="Calibri"/>
              </a:rPr>
              <a:t>EXCEL SHORTCUTS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5488"/>
            <a:ext cx="1124712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b="1" sz="2800" i="0">
                <a:solidFill>
                  <a:srgbClr val="141B4D"/>
                </a:solidFill>
                <a:latin typeface="Georgia"/>
              </a:rPr>
              <a:t>Moving and selecting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52728"/>
            <a:ext cx="1463040" cy="38100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48640" y="1463040"/>
          <a:ext cx="1106424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3383280"/>
                <a:gridCol w="3108960"/>
              </a:tblGrid>
              <a:tr h="335280">
                <a:tc>
                  <a:txBody>
                    <a:bodyPr/>
                    <a:lstStyle/>
                    <a:p>
                      <a:r>
                        <a:rPr b="1" sz="1200" i="0">
                          <a:solidFill>
                            <a:srgbClr val="FFFFFF"/>
                          </a:solidFill>
                          <a:latin typeface="Calibri"/>
                        </a:rPr>
                        <a:t>What you want to do</a:t>
                      </a:r>
                    </a:p>
                  </a:txBody>
                  <a:tcPr marT="18288" marB="18288" marL="73152" anchor="ctr"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 i="0">
                          <a:solidFill>
                            <a:srgbClr val="FFFFFF"/>
                          </a:solidFill>
                          <a:latin typeface="Calibri"/>
                        </a:rPr>
                        <a:t>Windows</a:t>
                      </a:r>
                    </a:p>
                  </a:txBody>
                  <a:tcPr marT="18288" marB="18288" marL="73152" anchor="ctr"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 i="0">
                          <a:solidFill>
                            <a:srgbClr val="FFFFFF"/>
                          </a:solidFill>
                          <a:latin typeface="Calibri"/>
                        </a:rPr>
                        <a:t>Mac</a:t>
                      </a:r>
                    </a:p>
                  </a:txBody>
                  <a:tcPr marT="18288" marB="18288" marL="73152" anchor="ctr">
                    <a:solidFill>
                      <a:srgbClr val="141B4D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alibri"/>
                        </a:rPr>
                        <a:t>Go To a cell or range (Name Box)</a:t>
                      </a:r>
                    </a:p>
                  </a:txBody>
                  <a:tcPr marT="18288" marB="18288" marL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 i="0">
                          <a:solidFill>
                            <a:srgbClr val="141B4D"/>
                          </a:solidFill>
                          <a:latin typeface="Consolas"/>
                        </a:rPr>
                        <a:t>Ctrl+G  or  F5</a:t>
                      </a:r>
                    </a:p>
                  </a:txBody>
                  <a:tcPr marT="18288" marB="18288" marL="73152" anchor="ctr">
                    <a:solidFill>
                      <a:srgbClr val="EE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 i="0">
                          <a:solidFill>
                            <a:srgbClr val="141B4D"/>
                          </a:solidFill>
                          <a:latin typeface="Consolas"/>
                        </a:rPr>
                        <a:t>Ctrl+G</a:t>
                      </a:r>
                    </a:p>
                  </a:txBody>
                  <a:tcPr marT="18288" marB="18288" marL="73152" anchor="ctr">
                    <a:solidFill>
                      <a:srgbClr val="EEF6FA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alibri"/>
                        </a:rPr>
                        <a:t>Jump to the edge of a block of data</a:t>
                      </a:r>
                    </a:p>
                  </a:txBody>
                  <a:tcPr marT="18288" marB="18288" marL="73152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 i="0">
                          <a:solidFill>
                            <a:srgbClr val="141B4D"/>
                          </a:solidFill>
                          <a:latin typeface="Consolas"/>
                        </a:rPr>
                        <a:t>Ctrl+Arrow</a:t>
                      </a:r>
                    </a:p>
                  </a:txBody>
                  <a:tcPr marT="18288" marB="18288" marL="73152" anchor="ctr">
                    <a:solidFill>
                      <a:srgbClr val="E7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 i="0">
                          <a:solidFill>
                            <a:srgbClr val="141B4D"/>
                          </a:solidFill>
                          <a:latin typeface="Consolas"/>
                        </a:rPr>
                        <a:t>Cmd+Arrow</a:t>
                      </a:r>
                    </a:p>
                  </a:txBody>
                  <a:tcPr marT="18288" marB="18288" marL="73152" anchor="ctr">
                    <a:solidFill>
                      <a:srgbClr val="E7F1F6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alibri"/>
                        </a:rPr>
                        <a:t>Go to cell A1</a:t>
                      </a:r>
                    </a:p>
                  </a:txBody>
                  <a:tcPr marT="18288" marB="18288" marL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 i="0">
                          <a:solidFill>
                            <a:srgbClr val="141B4D"/>
                          </a:solidFill>
                          <a:latin typeface="Consolas"/>
                        </a:rPr>
                        <a:t>Ctrl+Home</a:t>
                      </a:r>
                    </a:p>
                  </a:txBody>
                  <a:tcPr marT="18288" marB="18288" marL="73152" anchor="ctr">
                    <a:solidFill>
                      <a:srgbClr val="EE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 i="0">
                          <a:solidFill>
                            <a:srgbClr val="141B4D"/>
                          </a:solidFill>
                          <a:latin typeface="Consolas"/>
                        </a:rPr>
                        <a:t>Fn+Ctrl+←</a:t>
                      </a:r>
                    </a:p>
                  </a:txBody>
                  <a:tcPr marT="18288" marB="18288" marL="73152" anchor="ctr">
                    <a:solidFill>
                      <a:srgbClr val="EEF6FA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alibri"/>
                        </a:rPr>
                        <a:t>Go to the last used cell</a:t>
                      </a:r>
                    </a:p>
                  </a:txBody>
                  <a:tcPr marT="18288" marB="18288" marL="73152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 i="0">
                          <a:solidFill>
                            <a:srgbClr val="141B4D"/>
                          </a:solidFill>
                          <a:latin typeface="Consolas"/>
                        </a:rPr>
                        <a:t>Ctrl+End</a:t>
                      </a:r>
                    </a:p>
                  </a:txBody>
                  <a:tcPr marT="18288" marB="18288" marL="73152" anchor="ctr">
                    <a:solidFill>
                      <a:srgbClr val="E7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 i="0">
                          <a:solidFill>
                            <a:srgbClr val="141B4D"/>
                          </a:solidFill>
                          <a:latin typeface="Consolas"/>
                        </a:rPr>
                        <a:t>Fn+Ctrl+→</a:t>
                      </a:r>
                    </a:p>
                  </a:txBody>
                  <a:tcPr marT="18288" marB="18288" marL="73152" anchor="ctr">
                    <a:solidFill>
                      <a:srgbClr val="E7F1F6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alibri"/>
                        </a:rPr>
                        <a:t>Next worksheet</a:t>
                      </a:r>
                    </a:p>
                  </a:txBody>
                  <a:tcPr marT="18288" marB="18288" marL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 i="0">
                          <a:solidFill>
                            <a:srgbClr val="141B4D"/>
                          </a:solidFill>
                          <a:latin typeface="Consolas"/>
                        </a:rPr>
                        <a:t>Ctrl+PgDn</a:t>
                      </a:r>
                    </a:p>
                  </a:txBody>
                  <a:tcPr marT="18288" marB="18288" marL="73152" anchor="ctr">
                    <a:solidFill>
                      <a:srgbClr val="EE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 i="0">
                          <a:solidFill>
                            <a:srgbClr val="141B4D"/>
                          </a:solidFill>
                          <a:latin typeface="Consolas"/>
                        </a:rPr>
                        <a:t>Option+→</a:t>
                      </a:r>
                    </a:p>
                  </a:txBody>
                  <a:tcPr marT="18288" marB="18288" marL="73152" anchor="ctr">
                    <a:solidFill>
                      <a:srgbClr val="EEF6FA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alibri"/>
                        </a:rPr>
                        <a:t>Previous worksheet</a:t>
                      </a:r>
                    </a:p>
                  </a:txBody>
                  <a:tcPr marT="18288" marB="18288" marL="73152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 i="0">
                          <a:solidFill>
                            <a:srgbClr val="141B4D"/>
                          </a:solidFill>
                          <a:latin typeface="Consolas"/>
                        </a:rPr>
                        <a:t>Ctrl+PgUp</a:t>
                      </a:r>
                    </a:p>
                  </a:txBody>
                  <a:tcPr marT="18288" marB="18288" marL="73152" anchor="ctr">
                    <a:solidFill>
                      <a:srgbClr val="E7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 i="0">
                          <a:solidFill>
                            <a:srgbClr val="141B4D"/>
                          </a:solidFill>
                          <a:latin typeface="Consolas"/>
                        </a:rPr>
                        <a:t>Option+←</a:t>
                      </a:r>
                    </a:p>
                  </a:txBody>
                  <a:tcPr marT="18288" marB="18288" marL="73152" anchor="ctr">
                    <a:solidFill>
                      <a:srgbClr val="E7F1F6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alibri"/>
                        </a:rPr>
                        <a:t>Select to the edge of the data</a:t>
                      </a:r>
                    </a:p>
                  </a:txBody>
                  <a:tcPr marT="18288" marB="18288" marL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 i="0">
                          <a:solidFill>
                            <a:srgbClr val="141B4D"/>
                          </a:solidFill>
                          <a:latin typeface="Consolas"/>
                        </a:rPr>
                        <a:t>Ctrl+Shift+Arrow</a:t>
                      </a:r>
                    </a:p>
                  </a:txBody>
                  <a:tcPr marT="18288" marB="18288" marL="73152" anchor="ctr">
                    <a:solidFill>
                      <a:srgbClr val="EE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 i="0">
                          <a:solidFill>
                            <a:srgbClr val="141B4D"/>
                          </a:solidFill>
                          <a:latin typeface="Consolas"/>
                        </a:rPr>
                        <a:t>Cmd+Shift+Arrow</a:t>
                      </a:r>
                    </a:p>
                  </a:txBody>
                  <a:tcPr marT="18288" marB="18288" marL="73152" anchor="ctr">
                    <a:solidFill>
                      <a:srgbClr val="EEF6FA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alibri"/>
                        </a:rPr>
                        <a:t>Select the whole column</a:t>
                      </a:r>
                    </a:p>
                  </a:txBody>
                  <a:tcPr marT="18288" marB="18288" marL="73152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 i="0">
                          <a:solidFill>
                            <a:srgbClr val="141B4D"/>
                          </a:solidFill>
                          <a:latin typeface="Consolas"/>
                        </a:rPr>
                        <a:t>Ctrl+Space</a:t>
                      </a:r>
                    </a:p>
                  </a:txBody>
                  <a:tcPr marT="18288" marB="18288" marL="73152" anchor="ctr">
                    <a:solidFill>
                      <a:srgbClr val="E7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 i="0">
                          <a:solidFill>
                            <a:srgbClr val="141B4D"/>
                          </a:solidFill>
                          <a:latin typeface="Consolas"/>
                        </a:rPr>
                        <a:t>Ctrl+Space</a:t>
                      </a:r>
                    </a:p>
                  </a:txBody>
                  <a:tcPr marT="18288" marB="18288" marL="73152" anchor="ctr">
                    <a:solidFill>
                      <a:srgbClr val="E7F1F6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alibri"/>
                        </a:rPr>
                        <a:t>Select the whole row</a:t>
                      </a:r>
                    </a:p>
                  </a:txBody>
                  <a:tcPr marT="18288" marB="18288" marL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 i="0">
                          <a:solidFill>
                            <a:srgbClr val="141B4D"/>
                          </a:solidFill>
                          <a:latin typeface="Consolas"/>
                        </a:rPr>
                        <a:t>Shift+Space</a:t>
                      </a:r>
                    </a:p>
                  </a:txBody>
                  <a:tcPr marT="18288" marB="18288" marL="73152" anchor="ctr">
                    <a:solidFill>
                      <a:srgbClr val="EE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 i="0">
                          <a:solidFill>
                            <a:srgbClr val="141B4D"/>
                          </a:solidFill>
                          <a:latin typeface="Consolas"/>
                        </a:rPr>
                        <a:t>Shift+Space</a:t>
                      </a:r>
                    </a:p>
                  </a:txBody>
                  <a:tcPr marT="18288" marB="18288" marL="73152" anchor="ctr">
                    <a:solidFill>
                      <a:srgbClr val="EEF6FA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alibri"/>
                        </a:rPr>
                        <a:t>Select the current block / all cells</a:t>
                      </a:r>
                    </a:p>
                  </a:txBody>
                  <a:tcPr marT="18288" marB="18288" marL="73152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 i="0">
                          <a:solidFill>
                            <a:srgbClr val="141B4D"/>
                          </a:solidFill>
                          <a:latin typeface="Consolas"/>
                        </a:rPr>
                        <a:t>Ctrl+A  (twice = all)</a:t>
                      </a:r>
                    </a:p>
                  </a:txBody>
                  <a:tcPr marT="18288" marB="18288" marL="73152" anchor="ctr">
                    <a:solidFill>
                      <a:srgbClr val="E7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 i="0">
                          <a:solidFill>
                            <a:srgbClr val="141B4D"/>
                          </a:solidFill>
                          <a:latin typeface="Consolas"/>
                        </a:rPr>
                        <a:t>Cmd+A</a:t>
                      </a:r>
                    </a:p>
                  </a:txBody>
                  <a:tcPr marT="18288" marB="18288" marL="73152" anchor="ctr">
                    <a:solidFill>
                      <a:srgbClr val="E7F1F6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alibri"/>
                        </a:rPr>
                        <a:t>Select from here to the last used cell</a:t>
                      </a:r>
                    </a:p>
                  </a:txBody>
                  <a:tcPr marT="18288" marB="18288" marL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 i="0">
                          <a:solidFill>
                            <a:srgbClr val="141B4D"/>
                          </a:solidFill>
                          <a:latin typeface="Consolas"/>
                        </a:rPr>
                        <a:t>Ctrl+Shift+End</a:t>
                      </a:r>
                    </a:p>
                  </a:txBody>
                  <a:tcPr marT="18288" marB="18288" marL="73152" anchor="ctr">
                    <a:solidFill>
                      <a:srgbClr val="EE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 i="0">
                          <a:solidFill>
                            <a:srgbClr val="141B4D"/>
                          </a:solidFill>
                          <a:latin typeface="Consolas"/>
                        </a:rPr>
                        <a:t>Fn+Ctrl+Shift+→</a:t>
                      </a:r>
                    </a:p>
                  </a:txBody>
                  <a:tcPr marT="18288" marB="18288" marL="73152" anchor="ctr">
                    <a:solidFill>
                      <a:srgbClr val="EEF6FA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640080" y="5596128"/>
            <a:ext cx="10881360" cy="658368"/>
          </a:xfrm>
          <a:prstGeom prst="rect">
            <a:avLst/>
          </a:prstGeom>
          <a:solidFill>
            <a:srgbClr val="E7F1F6"/>
          </a:solidFill>
          <a:ln w="15240"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5596128"/>
            <a:ext cx="82296" cy="658368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5596128"/>
            <a:ext cx="10652760" cy="65836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b="0" sz="1400" i="0">
                <a:solidFill>
                  <a:srgbClr val="1A2233"/>
                </a:solidFill>
                <a:latin typeface="Calibri"/>
              </a:rPr>
              <a:t>Windows keys are from Microsoft's Excel shortcut list; Mac keys follow the Excel for Mac equivalents. On a MacBook, F-keys need Fn unless you changed the keyboard setting; Ctrl+Arrow can be taken by Mission Control, so use Cmd+Arrow.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19088"/>
            <a:ext cx="12191695" cy="9525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b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6492240"/>
            <a:ext cx="821233" cy="2834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5448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000" i="0">
                <a:solidFill>
                  <a:srgbClr val="5C6B7A"/>
                </a:solidFill>
                <a:latin typeface="Calibri"/>
              </a:rPr>
              <a:t>MIPF Boot Camp  |  Excel Foundations  |  Excel from zero for project finance modelling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649224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b="0" sz="1000" i="0">
                <a:solidFill>
                  <a:srgbClr val="5C6B7A"/>
                </a:solidFill>
                <a:latin typeface="Calibri"/>
              </a:rPr>
              <a:t>36</a:t>
            </a:r>
          </a:p>
        </p:txBody>
      </p:sp>
      <p:pic>
        <p:nvPicPr>
          <p:cNvPr id="6" name="Picture 5" descr="mipf_hex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6446520"/>
            <a:ext cx="365760" cy="365760"/>
          </a:xfrm>
          <a:prstGeom prst="rect">
            <a:avLst/>
          </a:prstGeom>
        </p:spPr>
      </p:pic>
      <p:pic>
        <p:nvPicPr>
          <p:cNvPr id="7" name="Picture 6" descr="bongo_ai_hex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0" y="6446520"/>
            <a:ext cx="365760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237744"/>
            <a:ext cx="112471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100" i="0">
                <a:solidFill>
                  <a:srgbClr val="A8700F"/>
                </a:solidFill>
                <a:latin typeface="Calibri"/>
              </a:rPr>
              <a:t>EXCEL SHORTCUTS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5488"/>
            <a:ext cx="1124712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b="1" sz="2800" i="0">
                <a:solidFill>
                  <a:srgbClr val="141B4D"/>
                </a:solidFill>
                <a:latin typeface="Georgia"/>
              </a:rPr>
              <a:t>Editing, copying and filling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52728"/>
            <a:ext cx="1463040" cy="38100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48640" y="1463040"/>
          <a:ext cx="1106424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3383280"/>
                <a:gridCol w="3108960"/>
              </a:tblGrid>
              <a:tr h="320040">
                <a:tc>
                  <a:txBody>
                    <a:bodyPr/>
                    <a:lstStyle/>
                    <a:p>
                      <a:r>
                        <a:rPr b="1" sz="1200" i="0">
                          <a:solidFill>
                            <a:srgbClr val="FFFFFF"/>
                          </a:solidFill>
                          <a:latin typeface="Calibri"/>
                        </a:rPr>
                        <a:t>What you want to do</a:t>
                      </a:r>
                    </a:p>
                  </a:txBody>
                  <a:tcPr marT="18288" marB="18288" marL="73152" anchor="ctr"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 i="0">
                          <a:solidFill>
                            <a:srgbClr val="FFFFFF"/>
                          </a:solidFill>
                          <a:latin typeface="Calibri"/>
                        </a:rPr>
                        <a:t>Windows</a:t>
                      </a:r>
                    </a:p>
                  </a:txBody>
                  <a:tcPr marT="18288" marB="18288" marL="73152" anchor="ctr"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 i="0">
                          <a:solidFill>
                            <a:srgbClr val="FFFFFF"/>
                          </a:solidFill>
                          <a:latin typeface="Calibri"/>
                        </a:rPr>
                        <a:t>Mac</a:t>
                      </a:r>
                    </a:p>
                  </a:txBody>
                  <a:tcPr marT="18288" marB="18288" marL="73152" anchor="ctr">
                    <a:solidFill>
                      <a:srgbClr val="141B4D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alibri"/>
                        </a:rPr>
                        <a:t>Edit the active cell</a:t>
                      </a:r>
                    </a:p>
                  </a:txBody>
                  <a:tcPr marT="18288" marB="18288" marL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 i="0">
                          <a:solidFill>
                            <a:srgbClr val="141B4D"/>
                          </a:solidFill>
                          <a:latin typeface="Consolas"/>
                        </a:rPr>
                        <a:t>F2</a:t>
                      </a:r>
                    </a:p>
                  </a:txBody>
                  <a:tcPr marT="18288" marB="18288" marL="73152" anchor="ctr">
                    <a:solidFill>
                      <a:srgbClr val="EE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 i="0">
                          <a:solidFill>
                            <a:srgbClr val="141B4D"/>
                          </a:solidFill>
                          <a:latin typeface="Consolas"/>
                        </a:rPr>
                        <a:t>Ctrl+U</a:t>
                      </a:r>
                    </a:p>
                  </a:txBody>
                  <a:tcPr marT="18288" marB="18288" marL="73152" anchor="ctr">
                    <a:solidFill>
                      <a:srgbClr val="EEF6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alibri"/>
                        </a:rPr>
                        <a:t>Cancel what you are typing</a:t>
                      </a:r>
                    </a:p>
                  </a:txBody>
                  <a:tcPr marT="18288" marB="18288" marL="73152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 i="0">
                          <a:solidFill>
                            <a:srgbClr val="141B4D"/>
                          </a:solidFill>
                          <a:latin typeface="Consolas"/>
                        </a:rPr>
                        <a:t>Esc</a:t>
                      </a:r>
                    </a:p>
                  </a:txBody>
                  <a:tcPr marT="18288" marB="18288" marL="73152" anchor="ctr">
                    <a:solidFill>
                      <a:srgbClr val="E7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 i="0">
                          <a:solidFill>
                            <a:srgbClr val="141B4D"/>
                          </a:solidFill>
                          <a:latin typeface="Consolas"/>
                        </a:rPr>
                        <a:t>Esc</a:t>
                      </a:r>
                    </a:p>
                  </a:txBody>
                  <a:tcPr marT="18288" marB="18288" marL="73152" anchor="ctr">
                    <a:solidFill>
                      <a:srgbClr val="E7F1F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alibri"/>
                        </a:rPr>
                        <a:t>Copy  /  Cut  /  Paste</a:t>
                      </a:r>
                    </a:p>
                  </a:txBody>
                  <a:tcPr marT="18288" marB="18288" marL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 i="0">
                          <a:solidFill>
                            <a:srgbClr val="141B4D"/>
                          </a:solidFill>
                          <a:latin typeface="Consolas"/>
                        </a:rPr>
                        <a:t>Ctrl+C  /  X  /  V</a:t>
                      </a:r>
                    </a:p>
                  </a:txBody>
                  <a:tcPr marT="18288" marB="18288" marL="73152" anchor="ctr">
                    <a:solidFill>
                      <a:srgbClr val="EE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 i="0">
                          <a:solidFill>
                            <a:srgbClr val="141B4D"/>
                          </a:solidFill>
                          <a:latin typeface="Consolas"/>
                        </a:rPr>
                        <a:t>Cmd+C  /  X  /  V</a:t>
                      </a:r>
                    </a:p>
                  </a:txBody>
                  <a:tcPr marT="18288" marB="18288" marL="73152" anchor="ctr">
                    <a:solidFill>
                      <a:srgbClr val="EEF6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alibri"/>
                        </a:rPr>
                        <a:t>Paste Special dialog</a:t>
                      </a:r>
                    </a:p>
                  </a:txBody>
                  <a:tcPr marT="18288" marB="18288" marL="73152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 i="0">
                          <a:solidFill>
                            <a:srgbClr val="141B4D"/>
                          </a:solidFill>
                          <a:latin typeface="Consolas"/>
                        </a:rPr>
                        <a:t>Ctrl+Alt+V</a:t>
                      </a:r>
                    </a:p>
                  </a:txBody>
                  <a:tcPr marT="18288" marB="18288" marL="73152" anchor="ctr">
                    <a:solidFill>
                      <a:srgbClr val="E7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 i="0">
                          <a:solidFill>
                            <a:srgbClr val="141B4D"/>
                          </a:solidFill>
                          <a:latin typeface="Consolas"/>
                        </a:rPr>
                        <a:t>Cmd+Ctrl+V</a:t>
                      </a:r>
                    </a:p>
                  </a:txBody>
                  <a:tcPr marT="18288" marB="18288" marL="73152" anchor="ctr">
                    <a:solidFill>
                      <a:srgbClr val="E7F1F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alibri"/>
                        </a:rPr>
                        <a:t>Paste values only</a:t>
                      </a:r>
                    </a:p>
                  </a:txBody>
                  <a:tcPr marT="18288" marB="18288" marL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 i="0">
                          <a:solidFill>
                            <a:srgbClr val="141B4D"/>
                          </a:solidFill>
                          <a:latin typeface="Consolas"/>
                        </a:rPr>
                        <a:t>Ctrl+Alt+V, V  or  Ctrl+Shift+V</a:t>
                      </a:r>
                    </a:p>
                  </a:txBody>
                  <a:tcPr marT="18288" marB="18288" marL="73152" anchor="ctr">
                    <a:solidFill>
                      <a:srgbClr val="EE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 i="0">
                          <a:solidFill>
                            <a:srgbClr val="141B4D"/>
                          </a:solidFill>
                          <a:latin typeface="Consolas"/>
                        </a:rPr>
                        <a:t>Cmd+Shift+V</a:t>
                      </a:r>
                    </a:p>
                  </a:txBody>
                  <a:tcPr marT="18288" marB="18288" marL="73152" anchor="ctr">
                    <a:solidFill>
                      <a:srgbClr val="EEF6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alibri"/>
                        </a:rPr>
                        <a:t>Undo  /  Redo</a:t>
                      </a:r>
                    </a:p>
                  </a:txBody>
                  <a:tcPr marT="18288" marB="18288" marL="73152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 i="0">
                          <a:solidFill>
                            <a:srgbClr val="141B4D"/>
                          </a:solidFill>
                          <a:latin typeface="Consolas"/>
                        </a:rPr>
                        <a:t>Ctrl+Z  /  Ctrl+Y</a:t>
                      </a:r>
                    </a:p>
                  </a:txBody>
                  <a:tcPr marT="18288" marB="18288" marL="73152" anchor="ctr">
                    <a:solidFill>
                      <a:srgbClr val="E7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 i="0">
                          <a:solidFill>
                            <a:srgbClr val="141B4D"/>
                          </a:solidFill>
                          <a:latin typeface="Consolas"/>
                        </a:rPr>
                        <a:t>Cmd+Z  /  Cmd+Y</a:t>
                      </a:r>
                    </a:p>
                  </a:txBody>
                  <a:tcPr marT="18288" marB="18288" marL="73152" anchor="ctr">
                    <a:solidFill>
                      <a:srgbClr val="E7F1F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alibri"/>
                        </a:rPr>
                        <a:t>Fill down</a:t>
                      </a:r>
                    </a:p>
                  </a:txBody>
                  <a:tcPr marT="18288" marB="18288" marL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 i="0">
                          <a:solidFill>
                            <a:srgbClr val="141B4D"/>
                          </a:solidFill>
                          <a:latin typeface="Consolas"/>
                        </a:rPr>
                        <a:t>Ctrl+D</a:t>
                      </a:r>
                    </a:p>
                  </a:txBody>
                  <a:tcPr marT="18288" marB="18288" marL="73152" anchor="ctr">
                    <a:solidFill>
                      <a:srgbClr val="EE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 i="0">
                          <a:solidFill>
                            <a:srgbClr val="141B4D"/>
                          </a:solidFill>
                          <a:latin typeface="Consolas"/>
                        </a:rPr>
                        <a:t>Cmd+D</a:t>
                      </a:r>
                    </a:p>
                  </a:txBody>
                  <a:tcPr marT="18288" marB="18288" marL="73152" anchor="ctr">
                    <a:solidFill>
                      <a:srgbClr val="EEF6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alibri"/>
                        </a:rPr>
                        <a:t>Fill right</a:t>
                      </a:r>
                    </a:p>
                  </a:txBody>
                  <a:tcPr marT="18288" marB="18288" marL="73152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 i="0">
                          <a:solidFill>
                            <a:srgbClr val="141B4D"/>
                          </a:solidFill>
                          <a:latin typeface="Consolas"/>
                        </a:rPr>
                        <a:t>Ctrl+R</a:t>
                      </a:r>
                    </a:p>
                  </a:txBody>
                  <a:tcPr marT="18288" marB="18288" marL="73152" anchor="ctr">
                    <a:solidFill>
                      <a:srgbClr val="E7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 i="0">
                          <a:solidFill>
                            <a:srgbClr val="141B4D"/>
                          </a:solidFill>
                          <a:latin typeface="Consolas"/>
                        </a:rPr>
                        <a:t>Cmd+R</a:t>
                      </a:r>
                    </a:p>
                  </a:txBody>
                  <a:tcPr marT="18288" marB="18288" marL="73152" anchor="ctr">
                    <a:solidFill>
                      <a:srgbClr val="E7F1F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alibri"/>
                        </a:rPr>
                        <a:t>Fill the whole selection with what you typed</a:t>
                      </a:r>
                    </a:p>
                  </a:txBody>
                  <a:tcPr marT="18288" marB="18288" marL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 i="0">
                          <a:solidFill>
                            <a:srgbClr val="141B4D"/>
                          </a:solidFill>
                          <a:latin typeface="Consolas"/>
                        </a:rPr>
                        <a:t>Ctrl+Enter</a:t>
                      </a:r>
                    </a:p>
                  </a:txBody>
                  <a:tcPr marT="18288" marB="18288" marL="73152" anchor="ctr">
                    <a:solidFill>
                      <a:srgbClr val="EE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 i="0">
                          <a:solidFill>
                            <a:srgbClr val="141B4D"/>
                          </a:solidFill>
                          <a:latin typeface="Consolas"/>
                        </a:rPr>
                        <a:t>Ctrl+Return</a:t>
                      </a:r>
                    </a:p>
                  </a:txBody>
                  <a:tcPr marT="18288" marB="18288" marL="73152" anchor="ctr">
                    <a:solidFill>
                      <a:srgbClr val="EEF6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alibri"/>
                        </a:rPr>
                        <a:t>Insert row or column (after selecting it)</a:t>
                      </a:r>
                    </a:p>
                  </a:txBody>
                  <a:tcPr marT="18288" marB="18288" marL="73152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 i="0">
                          <a:solidFill>
                            <a:srgbClr val="141B4D"/>
                          </a:solidFill>
                          <a:latin typeface="Consolas"/>
                        </a:rPr>
                        <a:t>Ctrl+Shift++</a:t>
                      </a:r>
                    </a:p>
                  </a:txBody>
                  <a:tcPr marT="18288" marB="18288" marL="73152" anchor="ctr">
                    <a:solidFill>
                      <a:srgbClr val="E7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 i="0">
                          <a:solidFill>
                            <a:srgbClr val="141B4D"/>
                          </a:solidFill>
                          <a:latin typeface="Consolas"/>
                        </a:rPr>
                        <a:t>Cmd+Shift++</a:t>
                      </a:r>
                    </a:p>
                  </a:txBody>
                  <a:tcPr marT="18288" marB="18288" marL="73152" anchor="ctr">
                    <a:solidFill>
                      <a:srgbClr val="E7F1F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alibri"/>
                        </a:rPr>
                        <a:t>Delete row or column (after selecting it)</a:t>
                      </a:r>
                    </a:p>
                  </a:txBody>
                  <a:tcPr marT="18288" marB="18288" marL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 i="0">
                          <a:solidFill>
                            <a:srgbClr val="141B4D"/>
                          </a:solidFill>
                          <a:latin typeface="Consolas"/>
                        </a:rPr>
                        <a:t>Ctrl+-</a:t>
                      </a:r>
                    </a:p>
                  </a:txBody>
                  <a:tcPr marT="18288" marB="18288" marL="73152" anchor="ctr">
                    <a:solidFill>
                      <a:srgbClr val="EE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 i="0">
                          <a:solidFill>
                            <a:srgbClr val="141B4D"/>
                          </a:solidFill>
                          <a:latin typeface="Consolas"/>
                        </a:rPr>
                        <a:t>Cmd+-</a:t>
                      </a:r>
                    </a:p>
                  </a:txBody>
                  <a:tcPr marT="18288" marB="18288" marL="73152" anchor="ctr">
                    <a:solidFill>
                      <a:srgbClr val="EEF6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alibri"/>
                        </a:rPr>
                        <a:t>Copy the formula from the cell above</a:t>
                      </a:r>
                    </a:p>
                  </a:txBody>
                  <a:tcPr marT="18288" marB="18288" marL="73152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 i="0">
                          <a:solidFill>
                            <a:srgbClr val="141B4D"/>
                          </a:solidFill>
                          <a:latin typeface="Consolas"/>
                        </a:rPr>
                        <a:t>Ctrl+'</a:t>
                      </a:r>
                    </a:p>
                  </a:txBody>
                  <a:tcPr marT="18288" marB="18288" marL="73152" anchor="ctr">
                    <a:solidFill>
                      <a:srgbClr val="E7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 i="0">
                          <a:solidFill>
                            <a:srgbClr val="141B4D"/>
                          </a:solidFill>
                          <a:latin typeface="Consolas"/>
                        </a:rPr>
                        <a:t>Cmd+'</a:t>
                      </a:r>
                    </a:p>
                  </a:txBody>
                  <a:tcPr marT="18288" marB="18288" marL="73152" anchor="ctr">
                    <a:solidFill>
                      <a:srgbClr val="E7F1F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alibri"/>
                        </a:rPr>
                        <a:t>New line inside a cell</a:t>
                      </a:r>
                    </a:p>
                  </a:txBody>
                  <a:tcPr marT="18288" marB="18288" marL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 i="0">
                          <a:solidFill>
                            <a:srgbClr val="141B4D"/>
                          </a:solidFill>
                          <a:latin typeface="Consolas"/>
                        </a:rPr>
                        <a:t>Alt+Enter</a:t>
                      </a:r>
                    </a:p>
                  </a:txBody>
                  <a:tcPr marT="18288" marB="18288" marL="73152" anchor="ctr">
                    <a:solidFill>
                      <a:srgbClr val="EE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 i="0">
                          <a:solidFill>
                            <a:srgbClr val="141B4D"/>
                          </a:solidFill>
                          <a:latin typeface="Consolas"/>
                        </a:rPr>
                        <a:t>Ctrl+Option+Return</a:t>
                      </a:r>
                    </a:p>
                  </a:txBody>
                  <a:tcPr marT="18288" marB="18288" marL="73152" anchor="ctr">
                    <a:solidFill>
                      <a:srgbClr val="EEF6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19088"/>
            <a:ext cx="12191695" cy="9525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b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6492240"/>
            <a:ext cx="821233" cy="2834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5448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000" i="0">
                <a:solidFill>
                  <a:srgbClr val="5C6B7A"/>
                </a:solidFill>
                <a:latin typeface="Calibri"/>
              </a:rPr>
              <a:t>MIPF Boot Camp  |  Excel Foundations  |  Excel from zero for project finance modelling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649224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b="0" sz="1000" i="0">
                <a:solidFill>
                  <a:srgbClr val="5C6B7A"/>
                </a:solidFill>
                <a:latin typeface="Calibri"/>
              </a:rPr>
              <a:t>37</a:t>
            </a:r>
          </a:p>
        </p:txBody>
      </p:sp>
      <p:pic>
        <p:nvPicPr>
          <p:cNvPr id="6" name="Picture 5" descr="mipf_hex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6446520"/>
            <a:ext cx="365760" cy="365760"/>
          </a:xfrm>
          <a:prstGeom prst="rect">
            <a:avLst/>
          </a:prstGeom>
        </p:spPr>
      </p:pic>
      <p:pic>
        <p:nvPicPr>
          <p:cNvPr id="7" name="Picture 6" descr="bongo_ai_hex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0" y="6446520"/>
            <a:ext cx="365760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237744"/>
            <a:ext cx="112471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100" i="0">
                <a:solidFill>
                  <a:srgbClr val="A8700F"/>
                </a:solidFill>
                <a:latin typeface="Calibri"/>
              </a:rPr>
              <a:t>THE RECIPE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5488"/>
            <a:ext cx="1124712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b="1" sz="2800" i="0">
                <a:solidFill>
                  <a:srgbClr val="141B4D"/>
                </a:solidFill>
                <a:latin typeface="Georgia"/>
              </a:rPr>
              <a:t>The five-step recipe for a row of formulas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52728"/>
            <a:ext cx="1463040" cy="38100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48640" y="1545336"/>
            <a:ext cx="420624" cy="420624"/>
          </a:xfrm>
          <a:prstGeom prst="ellipse">
            <a:avLst/>
          </a:prstGeom>
          <a:solidFill>
            <a:srgbClr val="141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" y="1508760"/>
            <a:ext cx="10378440" cy="731519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b="0" sz="1600" i="0">
                <a:solidFill>
                  <a:srgbClr val="0B5E82"/>
                </a:solidFill>
                <a:latin typeface="Consolas"/>
              </a:rPr>
              <a:t>Ctrl+G</a:t>
            </a:r>
            <a:r>
              <a:rPr b="0" sz="1600" i="0">
                <a:solidFill>
                  <a:srgbClr val="1A2233"/>
                </a:solidFill>
                <a:latin typeface="Calibri"/>
              </a:rPr>
              <a:t> (Go To). Type the range, e.g. </a:t>
            </a:r>
            <a:r>
              <a:rPr b="0" sz="1600" i="0">
                <a:solidFill>
                  <a:srgbClr val="0B5E82"/>
                </a:solidFill>
                <a:latin typeface="Consolas"/>
              </a:rPr>
              <a:t>J19:CO19</a:t>
            </a:r>
            <a:r>
              <a:rPr b="0" sz="1600" i="0">
                <a:solidFill>
                  <a:srgbClr val="1A2233"/>
                </a:solidFill>
                <a:latin typeface="Calibri"/>
              </a:rPr>
              <a:t>. Press Enter: the whole range is selected.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2322576"/>
            <a:ext cx="420624" cy="420624"/>
          </a:xfrm>
          <a:prstGeom prst="ellipse">
            <a:avLst/>
          </a:prstGeom>
          <a:solidFill>
            <a:srgbClr val="141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" y="2286000"/>
            <a:ext cx="10378440" cy="731519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b="0" sz="1600" i="0">
                <a:solidFill>
                  <a:srgbClr val="1A2233"/>
                </a:solidFill>
                <a:latin typeface="Calibri"/>
              </a:rPr>
              <a:t>Type the formula for the first cell, e.g. </a:t>
            </a:r>
            <a:r>
              <a:rPr b="0" sz="1600" i="0">
                <a:solidFill>
                  <a:srgbClr val="0B5E82"/>
                </a:solidFill>
                <a:latin typeface="Consolas"/>
              </a:rPr>
              <a:t>=IF(J$17=1,J11*J14,0)</a:t>
            </a:r>
            <a:r>
              <a:rPr b="0" sz="1600" i="0">
                <a:solidFill>
                  <a:srgbClr val="1A2233"/>
                </a:solidFill>
                <a:latin typeface="Calibri"/>
              </a:rPr>
              <a:t>.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3099815"/>
            <a:ext cx="420624" cy="420624"/>
          </a:xfrm>
          <a:prstGeom prst="ellipse">
            <a:avLst/>
          </a:prstGeom>
          <a:solidFill>
            <a:srgbClr val="141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" y="3063239"/>
            <a:ext cx="10378440" cy="731519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b="0" sz="1600" i="0">
                <a:solidFill>
                  <a:srgbClr val="1A2233"/>
                </a:solidFill>
                <a:latin typeface="Calibri"/>
              </a:rPr>
              <a:t>Press </a:t>
            </a:r>
            <a:r>
              <a:rPr b="0" sz="1600" i="0">
                <a:solidFill>
                  <a:srgbClr val="0B5E82"/>
                </a:solidFill>
                <a:latin typeface="Consolas"/>
              </a:rPr>
              <a:t>Ctrl+Enter</a:t>
            </a:r>
            <a:r>
              <a:rPr b="0" sz="1600" i="0">
                <a:solidFill>
                  <a:srgbClr val="1A2233"/>
                </a:solidFill>
                <a:latin typeface="Calibri"/>
              </a:rPr>
              <a:t> (Windows) / </a:t>
            </a:r>
            <a:r>
              <a:rPr b="0" sz="1600" i="0">
                <a:solidFill>
                  <a:srgbClr val="0B5E82"/>
                </a:solidFill>
                <a:latin typeface="Consolas"/>
              </a:rPr>
              <a:t>Ctrl+Return</a:t>
            </a:r>
            <a:r>
              <a:rPr b="0" sz="1600" i="0">
                <a:solidFill>
                  <a:srgbClr val="1A2233"/>
                </a:solidFill>
                <a:latin typeface="Calibri"/>
              </a:rPr>
              <a:t> (Mac): the formula fills every selected cell, adjusted for each column.</a:t>
            </a:r>
          </a:p>
        </p:txBody>
      </p:sp>
      <p:sp>
        <p:nvSpPr>
          <p:cNvPr id="17" name="Oval 16"/>
          <p:cNvSpPr/>
          <p:nvPr/>
        </p:nvSpPr>
        <p:spPr>
          <a:xfrm>
            <a:off x="548640" y="3877055"/>
            <a:ext cx="420624" cy="420624"/>
          </a:xfrm>
          <a:prstGeom prst="ellipse">
            <a:avLst/>
          </a:prstGeom>
          <a:solidFill>
            <a:srgbClr val="141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" y="3840479"/>
            <a:ext cx="10378440" cy="731519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b="0" sz="1600" i="0">
                <a:solidFill>
                  <a:srgbClr val="1A2233"/>
                </a:solidFill>
                <a:latin typeface="Calibri"/>
              </a:rPr>
              <a:t>Press </a:t>
            </a:r>
            <a:r>
              <a:rPr b="0" sz="1600" i="0">
                <a:solidFill>
                  <a:srgbClr val="0B5E82"/>
                </a:solidFill>
                <a:latin typeface="Consolas"/>
              </a:rPr>
              <a:t>Ctrl+`</a:t>
            </a:r>
            <a:r>
              <a:rPr b="0" sz="1600" i="0">
                <a:solidFill>
                  <a:srgbClr val="1A2233"/>
                </a:solidFill>
                <a:latin typeface="Calibri"/>
              </a:rPr>
              <a:t> to display formulas. Look at the first and last columns: do the references line up?</a:t>
            </a:r>
          </a:p>
        </p:txBody>
      </p:sp>
      <p:sp>
        <p:nvSpPr>
          <p:cNvPr id="19" name="Oval 18"/>
          <p:cNvSpPr/>
          <p:nvPr/>
        </p:nvSpPr>
        <p:spPr>
          <a:xfrm>
            <a:off x="548640" y="4654296"/>
            <a:ext cx="420624" cy="420624"/>
          </a:xfrm>
          <a:prstGeom prst="ellipse">
            <a:avLst/>
          </a:prstGeom>
          <a:solidFill>
            <a:srgbClr val="141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8992" y="4617720"/>
            <a:ext cx="10378440" cy="731519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b="0" sz="1600" i="0">
                <a:solidFill>
                  <a:srgbClr val="1A2233"/>
                </a:solidFill>
                <a:latin typeface="Calibri"/>
              </a:rPr>
              <a:t>Type the total in H: </a:t>
            </a:r>
            <a:r>
              <a:rPr b="0" sz="1600" i="0">
                <a:solidFill>
                  <a:srgbClr val="0B5E82"/>
                </a:solidFill>
                <a:latin typeface="Consolas"/>
              </a:rPr>
              <a:t>Ctrl+G</a:t>
            </a:r>
            <a:r>
              <a:rPr b="0" sz="1600" i="0">
                <a:solidFill>
                  <a:srgbClr val="1A2233"/>
                </a:solidFill>
                <a:latin typeface="Calibri"/>
              </a:rPr>
              <a:t>, </a:t>
            </a:r>
            <a:r>
              <a:rPr b="0" sz="1600" i="0">
                <a:solidFill>
                  <a:srgbClr val="0B5E82"/>
                </a:solidFill>
                <a:latin typeface="Consolas"/>
              </a:rPr>
              <a:t>H19</a:t>
            </a:r>
            <a:r>
              <a:rPr b="0" sz="1600" i="0">
                <a:solidFill>
                  <a:srgbClr val="1A2233"/>
                </a:solidFill>
                <a:latin typeface="Calibri"/>
              </a:rPr>
              <a:t>, Enter, </a:t>
            </a:r>
            <a:r>
              <a:rPr b="0" sz="1600" i="0">
                <a:solidFill>
                  <a:srgbClr val="0B5E82"/>
                </a:solidFill>
                <a:latin typeface="Consolas"/>
              </a:rPr>
              <a:t>=SUM(J19:CO19)</a:t>
            </a:r>
            <a:r>
              <a:rPr b="0" sz="1600" i="0">
                <a:solidFill>
                  <a:srgbClr val="1A2233"/>
                </a:solidFill>
                <a:latin typeface="Calibri"/>
              </a:rPr>
              <a:t>, Enter.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5486400"/>
            <a:ext cx="11064240" cy="731520"/>
          </a:xfrm>
          <a:prstGeom prst="rect">
            <a:avLst/>
          </a:prstGeom>
          <a:solidFill>
            <a:srgbClr val="FBF0D9"/>
          </a:solidFill>
          <a:ln w="15240">
            <a:solidFill>
              <a:srgbClr val="D99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5486400"/>
            <a:ext cx="82296" cy="731520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5486400"/>
            <a:ext cx="10835640" cy="7315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b="0" sz="1400" i="0">
                <a:solidFill>
                  <a:srgbClr val="1A2233"/>
                </a:solidFill>
                <a:latin typeface="Calibri"/>
              </a:rPr>
              <a:t>Alternative: type in the first cell, press Enter, </a:t>
            </a:r>
            <a:r>
              <a:rPr b="0" sz="1400" i="0">
                <a:solidFill>
                  <a:srgbClr val="0B5E82"/>
                </a:solidFill>
                <a:latin typeface="Consolas"/>
              </a:rPr>
              <a:t>Ctrl+G</a:t>
            </a:r>
            <a:r>
              <a:rPr b="0" sz="1400" i="0">
                <a:solidFill>
                  <a:srgbClr val="1A2233"/>
                </a:solidFill>
                <a:latin typeface="Calibri"/>
              </a:rPr>
              <a:t> to select J19:CO19, then </a:t>
            </a:r>
            <a:r>
              <a:rPr b="0" sz="1400" i="0">
                <a:solidFill>
                  <a:srgbClr val="0B5E82"/>
                </a:solidFill>
                <a:latin typeface="Consolas"/>
              </a:rPr>
              <a:t>Ctrl+R</a:t>
            </a:r>
            <a:r>
              <a:rPr b="0" sz="1400" i="0">
                <a:solidFill>
                  <a:srgbClr val="1A2233"/>
                </a:solidFill>
                <a:latin typeface="Calibri"/>
              </a:rPr>
              <a:t> (Win) or </a:t>
            </a:r>
            <a:r>
              <a:rPr b="0" sz="1400" i="0">
                <a:solidFill>
                  <a:srgbClr val="0B5E82"/>
                </a:solidFill>
                <a:latin typeface="Consolas"/>
              </a:rPr>
              <a:t>Cmd+R</a:t>
            </a:r>
            <a:r>
              <a:rPr b="0" sz="1400" i="0">
                <a:solidFill>
                  <a:srgbClr val="1A2233"/>
                </a:solidFill>
                <a:latin typeface="Calibri"/>
              </a:rPr>
              <a:t> (Mac) to fill right.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19088"/>
            <a:ext cx="12191695" cy="9525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b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6492240"/>
            <a:ext cx="821233" cy="2834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5448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000" i="0">
                <a:solidFill>
                  <a:srgbClr val="5C6B7A"/>
                </a:solidFill>
                <a:latin typeface="Calibri"/>
              </a:rPr>
              <a:t>MIPF Boot Camp  |  Excel Foundations  |  Excel from zero for project finance modelling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649224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b="0" sz="1000" i="0">
                <a:solidFill>
                  <a:srgbClr val="5C6B7A"/>
                </a:solidFill>
                <a:latin typeface="Calibri"/>
              </a:rPr>
              <a:t>38</a:t>
            </a:r>
          </a:p>
        </p:txBody>
      </p:sp>
      <p:pic>
        <p:nvPicPr>
          <p:cNvPr id="6" name="Picture 5" descr="mipf_hex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6446520"/>
            <a:ext cx="365760" cy="365760"/>
          </a:xfrm>
          <a:prstGeom prst="rect">
            <a:avLst/>
          </a:prstGeom>
        </p:spPr>
      </p:pic>
      <p:pic>
        <p:nvPicPr>
          <p:cNvPr id="7" name="Picture 6" descr="bongo_ai_hex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0" y="6446520"/>
            <a:ext cx="365760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237744"/>
            <a:ext cx="112471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100" i="0">
                <a:solidFill>
                  <a:srgbClr val="A8700F"/>
                </a:solidFill>
                <a:latin typeface="Calibri"/>
              </a:rPr>
              <a:t>EXCEL SHORTCUTS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5488"/>
            <a:ext cx="1124712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b="1" sz="2800" i="0">
                <a:solidFill>
                  <a:srgbClr val="141B4D"/>
                </a:solidFill>
                <a:latin typeface="Georgia"/>
              </a:rPr>
              <a:t>Formulas and auditing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52728"/>
            <a:ext cx="1463040" cy="38100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48640" y="1463040"/>
          <a:ext cx="1106424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3383280"/>
                <a:gridCol w="3108960"/>
              </a:tblGrid>
              <a:tr h="320040">
                <a:tc>
                  <a:txBody>
                    <a:bodyPr/>
                    <a:lstStyle/>
                    <a:p>
                      <a:r>
                        <a:rPr b="1" sz="1200" i="0">
                          <a:solidFill>
                            <a:srgbClr val="FFFFFF"/>
                          </a:solidFill>
                          <a:latin typeface="Calibri"/>
                        </a:rPr>
                        <a:t>What you want to do</a:t>
                      </a:r>
                    </a:p>
                  </a:txBody>
                  <a:tcPr marT="18288" marB="18288" marL="73152" anchor="ctr"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 i="0">
                          <a:solidFill>
                            <a:srgbClr val="FFFFFF"/>
                          </a:solidFill>
                          <a:latin typeface="Calibri"/>
                        </a:rPr>
                        <a:t>Windows</a:t>
                      </a:r>
                    </a:p>
                  </a:txBody>
                  <a:tcPr marT="18288" marB="18288" marL="73152" anchor="ctr"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 i="0">
                          <a:solidFill>
                            <a:srgbClr val="FFFFFF"/>
                          </a:solidFill>
                          <a:latin typeface="Calibri"/>
                        </a:rPr>
                        <a:t>Mac</a:t>
                      </a:r>
                    </a:p>
                  </a:txBody>
                  <a:tcPr marT="18288" marB="18288" marL="73152" anchor="ctr">
                    <a:solidFill>
                      <a:srgbClr val="141B4D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alibri"/>
                        </a:rPr>
                        <a:t>Cycle $ signs on a reference</a:t>
                      </a:r>
                    </a:p>
                  </a:txBody>
                  <a:tcPr marT="18288" marB="18288" marL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 i="0">
                          <a:solidFill>
                            <a:srgbClr val="141B4D"/>
                          </a:solidFill>
                          <a:latin typeface="Consolas"/>
                        </a:rPr>
                        <a:t>F4</a:t>
                      </a:r>
                    </a:p>
                  </a:txBody>
                  <a:tcPr marT="18288" marB="18288" marL="73152" anchor="ctr">
                    <a:solidFill>
                      <a:srgbClr val="EE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 i="0">
                          <a:solidFill>
                            <a:srgbClr val="141B4D"/>
                          </a:solidFill>
                          <a:latin typeface="Consolas"/>
                        </a:rPr>
                        <a:t>Cmd+T  (or Fn+F4)</a:t>
                      </a:r>
                    </a:p>
                  </a:txBody>
                  <a:tcPr marT="18288" marB="18288" marL="73152" anchor="ctr">
                    <a:solidFill>
                      <a:srgbClr val="EEF6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alibri"/>
                        </a:rPr>
                        <a:t>AutoSum</a:t>
                      </a:r>
                    </a:p>
                  </a:txBody>
                  <a:tcPr marT="18288" marB="18288" marL="73152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 i="0">
                          <a:solidFill>
                            <a:srgbClr val="141B4D"/>
                          </a:solidFill>
                          <a:latin typeface="Consolas"/>
                        </a:rPr>
                        <a:t>Alt+=</a:t>
                      </a:r>
                    </a:p>
                  </a:txBody>
                  <a:tcPr marT="18288" marB="18288" marL="73152" anchor="ctr">
                    <a:solidFill>
                      <a:srgbClr val="E7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 i="0">
                          <a:solidFill>
                            <a:srgbClr val="141B4D"/>
                          </a:solidFill>
                          <a:latin typeface="Consolas"/>
                        </a:rPr>
                        <a:t>Cmd+Shift+T</a:t>
                      </a:r>
                    </a:p>
                  </a:txBody>
                  <a:tcPr marT="18288" marB="18288" marL="73152" anchor="ctr">
                    <a:solidFill>
                      <a:srgbClr val="E7F1F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alibri"/>
                        </a:rPr>
                        <a:t>Insert Function dialog</a:t>
                      </a:r>
                    </a:p>
                  </a:txBody>
                  <a:tcPr marT="18288" marB="18288" marL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 i="0">
                          <a:solidFill>
                            <a:srgbClr val="141B4D"/>
                          </a:solidFill>
                          <a:latin typeface="Consolas"/>
                        </a:rPr>
                        <a:t>Shift+F3</a:t>
                      </a:r>
                    </a:p>
                  </a:txBody>
                  <a:tcPr marT="18288" marB="18288" marL="73152" anchor="ctr">
                    <a:solidFill>
                      <a:srgbClr val="EE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 i="0">
                          <a:solidFill>
                            <a:srgbClr val="141B4D"/>
                          </a:solidFill>
                          <a:latin typeface="Consolas"/>
                        </a:rPr>
                        <a:t>Fn+Shift+F3</a:t>
                      </a:r>
                    </a:p>
                  </a:txBody>
                  <a:tcPr marT="18288" marB="18288" marL="73152" anchor="ctr">
                    <a:solidFill>
                      <a:srgbClr val="EEF6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alibri"/>
                        </a:rPr>
                        <a:t>Show all formulas on / off</a:t>
                      </a:r>
                    </a:p>
                  </a:txBody>
                  <a:tcPr marT="18288" marB="18288" marL="73152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 i="0">
                          <a:solidFill>
                            <a:srgbClr val="141B4D"/>
                          </a:solidFill>
                          <a:latin typeface="Consolas"/>
                        </a:rPr>
                        <a:t>Ctrl+`</a:t>
                      </a:r>
                    </a:p>
                  </a:txBody>
                  <a:tcPr marT="18288" marB="18288" marL="73152" anchor="ctr">
                    <a:solidFill>
                      <a:srgbClr val="E7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 i="0">
                          <a:solidFill>
                            <a:srgbClr val="141B4D"/>
                          </a:solidFill>
                          <a:latin typeface="Consolas"/>
                        </a:rPr>
                        <a:t>Ctrl+`</a:t>
                      </a:r>
                    </a:p>
                  </a:txBody>
                  <a:tcPr marT="18288" marB="18288" marL="73152" anchor="ctr">
                    <a:solidFill>
                      <a:srgbClr val="E7F1F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alibri"/>
                        </a:rPr>
                        <a:t>Expand / collapse the formula bar</a:t>
                      </a:r>
                    </a:p>
                  </a:txBody>
                  <a:tcPr marT="18288" marB="18288" marL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 i="0">
                          <a:solidFill>
                            <a:srgbClr val="141B4D"/>
                          </a:solidFill>
                          <a:latin typeface="Consolas"/>
                        </a:rPr>
                        <a:t>Ctrl+Shift+U</a:t>
                      </a:r>
                    </a:p>
                  </a:txBody>
                  <a:tcPr marT="18288" marB="18288" marL="73152" anchor="ctr">
                    <a:solidFill>
                      <a:srgbClr val="EE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 i="0">
                          <a:solidFill>
                            <a:srgbClr val="141B4D"/>
                          </a:solidFill>
                          <a:latin typeface="Consolas"/>
                        </a:rPr>
                        <a:t>Ctrl+Shift+U</a:t>
                      </a:r>
                    </a:p>
                  </a:txBody>
                  <a:tcPr marT="18288" marB="18288" marL="73152" anchor="ctr">
                    <a:solidFill>
                      <a:srgbClr val="EEF6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alibri"/>
                        </a:rPr>
                        <a:t>Recalculate everything</a:t>
                      </a:r>
                    </a:p>
                  </a:txBody>
                  <a:tcPr marT="18288" marB="18288" marL="73152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 i="0">
                          <a:solidFill>
                            <a:srgbClr val="141B4D"/>
                          </a:solidFill>
                          <a:latin typeface="Consolas"/>
                        </a:rPr>
                        <a:t>F9</a:t>
                      </a:r>
                    </a:p>
                  </a:txBody>
                  <a:tcPr marT="18288" marB="18288" marL="73152" anchor="ctr">
                    <a:solidFill>
                      <a:srgbClr val="E7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 i="0">
                          <a:solidFill>
                            <a:srgbClr val="141B4D"/>
                          </a:solidFill>
                          <a:latin typeface="Consolas"/>
                        </a:rPr>
                        <a:t>Fn+F9</a:t>
                      </a:r>
                    </a:p>
                  </a:txBody>
                  <a:tcPr marT="18288" marB="18288" marL="73152" anchor="ctr">
                    <a:solidFill>
                      <a:srgbClr val="E7F1F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alibri"/>
                        </a:rPr>
                        <a:t>Recalculate this sheet</a:t>
                      </a:r>
                    </a:p>
                  </a:txBody>
                  <a:tcPr marT="18288" marB="18288" marL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 i="0">
                          <a:solidFill>
                            <a:srgbClr val="141B4D"/>
                          </a:solidFill>
                          <a:latin typeface="Consolas"/>
                        </a:rPr>
                        <a:t>Shift+F9</a:t>
                      </a:r>
                    </a:p>
                  </a:txBody>
                  <a:tcPr marT="18288" marB="18288" marL="73152" anchor="ctr">
                    <a:solidFill>
                      <a:srgbClr val="EE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 i="0">
                          <a:solidFill>
                            <a:srgbClr val="141B4D"/>
                          </a:solidFill>
                          <a:latin typeface="Consolas"/>
                        </a:rPr>
                        <a:t>Fn+Shift+F9</a:t>
                      </a:r>
                    </a:p>
                  </a:txBody>
                  <a:tcPr marT="18288" marB="18288" marL="73152" anchor="ctr">
                    <a:solidFill>
                      <a:srgbClr val="EEF6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alibri"/>
                        </a:rPr>
                        <a:t>Evaluate part of a formula (select it in the bar)</a:t>
                      </a:r>
                    </a:p>
                  </a:txBody>
                  <a:tcPr marT="18288" marB="18288" marL="73152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 i="0">
                          <a:solidFill>
                            <a:srgbClr val="141B4D"/>
                          </a:solidFill>
                          <a:latin typeface="Consolas"/>
                        </a:rPr>
                        <a:t>F9  (Esc to undo)</a:t>
                      </a:r>
                    </a:p>
                  </a:txBody>
                  <a:tcPr marT="18288" marB="18288" marL="73152" anchor="ctr">
                    <a:solidFill>
                      <a:srgbClr val="E7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 i="0">
                          <a:solidFill>
                            <a:srgbClr val="141B4D"/>
                          </a:solidFill>
                          <a:latin typeface="Consolas"/>
                        </a:rPr>
                        <a:t>Fn+F9  (Esc to undo)</a:t>
                      </a:r>
                    </a:p>
                  </a:txBody>
                  <a:tcPr marT="18288" marB="18288" marL="73152" anchor="ctr">
                    <a:solidFill>
                      <a:srgbClr val="E7F1F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alibri"/>
                        </a:rPr>
                        <a:t>Jump to the cells a formula uses (precedents)</a:t>
                      </a:r>
                    </a:p>
                  </a:txBody>
                  <a:tcPr marT="18288" marB="18288" marL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 i="0">
                          <a:solidFill>
                            <a:srgbClr val="141B4D"/>
                          </a:solidFill>
                          <a:latin typeface="Consolas"/>
                        </a:rPr>
                        <a:t>Ctrl+[</a:t>
                      </a:r>
                    </a:p>
                  </a:txBody>
                  <a:tcPr marT="18288" marB="18288" marL="73152" anchor="ctr">
                    <a:solidFill>
                      <a:srgbClr val="EE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 i="0">
                          <a:solidFill>
                            <a:srgbClr val="141B4D"/>
                          </a:solidFill>
                          <a:latin typeface="Consolas"/>
                        </a:rPr>
                        <a:t>Ctrl+[</a:t>
                      </a:r>
                    </a:p>
                  </a:txBody>
                  <a:tcPr marT="18288" marB="18288" marL="73152" anchor="ctr">
                    <a:solidFill>
                      <a:srgbClr val="EEF6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alibri"/>
                        </a:rPr>
                        <a:t>Jump to the cells that use this cell (dependents)</a:t>
                      </a:r>
                    </a:p>
                  </a:txBody>
                  <a:tcPr marT="18288" marB="18288" marL="73152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 i="0">
                          <a:solidFill>
                            <a:srgbClr val="141B4D"/>
                          </a:solidFill>
                          <a:latin typeface="Consolas"/>
                        </a:rPr>
                        <a:t>Ctrl+]</a:t>
                      </a:r>
                    </a:p>
                  </a:txBody>
                  <a:tcPr marT="18288" marB="18288" marL="73152" anchor="ctr">
                    <a:solidFill>
                      <a:srgbClr val="E7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 i="0">
                          <a:solidFill>
                            <a:srgbClr val="141B4D"/>
                          </a:solidFill>
                          <a:latin typeface="Consolas"/>
                        </a:rPr>
                        <a:t>Ctrl+]</a:t>
                      </a:r>
                    </a:p>
                  </a:txBody>
                  <a:tcPr marT="18288" marB="18288" marL="73152" anchor="ctr">
                    <a:solidFill>
                      <a:srgbClr val="E7F1F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alibri"/>
                        </a:rPr>
                        <a:t>Draw precedent arrows</a:t>
                      </a:r>
                    </a:p>
                  </a:txBody>
                  <a:tcPr marT="18288" marB="18288" marL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 i="0">
                          <a:solidFill>
                            <a:srgbClr val="141B4D"/>
                          </a:solidFill>
                          <a:latin typeface="Consolas"/>
                        </a:rPr>
                        <a:t>Alt+M, P</a:t>
                      </a:r>
                    </a:p>
                  </a:txBody>
                  <a:tcPr marT="18288" marB="18288" marL="73152" anchor="ctr">
                    <a:solidFill>
                      <a:srgbClr val="EE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 i="0">
                          <a:solidFill>
                            <a:srgbClr val="141B4D"/>
                          </a:solidFill>
                          <a:latin typeface="Consolas"/>
                        </a:rPr>
                        <a:t>Formulas ▸ Trace Precedents</a:t>
                      </a:r>
                    </a:p>
                  </a:txBody>
                  <a:tcPr marT="18288" marB="18288" marL="73152" anchor="ctr">
                    <a:solidFill>
                      <a:srgbClr val="EEF6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alibri"/>
                        </a:rPr>
                        <a:t>Draw dependent arrows</a:t>
                      </a:r>
                    </a:p>
                  </a:txBody>
                  <a:tcPr marT="18288" marB="18288" marL="73152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 i="0">
                          <a:solidFill>
                            <a:srgbClr val="141B4D"/>
                          </a:solidFill>
                          <a:latin typeface="Consolas"/>
                        </a:rPr>
                        <a:t>Alt+M, D</a:t>
                      </a:r>
                    </a:p>
                  </a:txBody>
                  <a:tcPr marT="18288" marB="18288" marL="73152" anchor="ctr">
                    <a:solidFill>
                      <a:srgbClr val="E7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 i="0">
                          <a:solidFill>
                            <a:srgbClr val="141B4D"/>
                          </a:solidFill>
                          <a:latin typeface="Consolas"/>
                        </a:rPr>
                        <a:t>Formulas ▸ Trace Dependents</a:t>
                      </a:r>
                    </a:p>
                  </a:txBody>
                  <a:tcPr marT="18288" marB="18288" marL="73152" anchor="ctr">
                    <a:solidFill>
                      <a:srgbClr val="E7F1F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alibri"/>
                        </a:rPr>
                        <a:t>Evaluate Formula (step through)</a:t>
                      </a:r>
                    </a:p>
                  </a:txBody>
                  <a:tcPr marT="18288" marB="18288" marL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 i="0">
                          <a:solidFill>
                            <a:srgbClr val="141B4D"/>
                          </a:solidFill>
                          <a:latin typeface="Consolas"/>
                        </a:rPr>
                        <a:t>Alt+M, V</a:t>
                      </a:r>
                    </a:p>
                  </a:txBody>
                  <a:tcPr marT="18288" marB="18288" marL="73152" anchor="ctr">
                    <a:solidFill>
                      <a:srgbClr val="EE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 i="0">
                          <a:solidFill>
                            <a:srgbClr val="141B4D"/>
                          </a:solidFill>
                          <a:latin typeface="Consolas"/>
                        </a:rPr>
                        <a:t>Formulas ▸ Evaluate Formula</a:t>
                      </a:r>
                    </a:p>
                  </a:txBody>
                  <a:tcPr marT="18288" marB="18288" marL="73152" anchor="ctr">
                    <a:solidFill>
                      <a:srgbClr val="EEF6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19088"/>
            <a:ext cx="12191695" cy="9525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b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6492240"/>
            <a:ext cx="821233" cy="2834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5448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000" i="0">
                <a:solidFill>
                  <a:srgbClr val="5C6B7A"/>
                </a:solidFill>
                <a:latin typeface="Calibri"/>
              </a:rPr>
              <a:t>MIPF Boot Camp  |  Excel Foundations  |  Excel from zero for project finance modelling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649224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b="0" sz="1000" i="0">
                <a:solidFill>
                  <a:srgbClr val="5C6B7A"/>
                </a:solidFill>
                <a:latin typeface="Calibri"/>
              </a:rPr>
              <a:t>39</a:t>
            </a:r>
          </a:p>
        </p:txBody>
      </p:sp>
      <p:pic>
        <p:nvPicPr>
          <p:cNvPr id="6" name="Picture 5" descr="mipf_hex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6446520"/>
            <a:ext cx="365760" cy="365760"/>
          </a:xfrm>
          <a:prstGeom prst="rect">
            <a:avLst/>
          </a:prstGeom>
        </p:spPr>
      </p:pic>
      <p:pic>
        <p:nvPicPr>
          <p:cNvPr id="7" name="Picture 6" descr="bongo_ai_hex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0" y="6446520"/>
            <a:ext cx="365760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237744"/>
            <a:ext cx="112471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100" i="0">
                <a:solidFill>
                  <a:srgbClr val="A8700F"/>
                </a:solidFill>
                <a:latin typeface="Calibri"/>
              </a:rPr>
              <a:t>EXCEL SHORTCUTS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5488"/>
            <a:ext cx="1124712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b="1" sz="2800" i="0">
                <a:solidFill>
                  <a:srgbClr val="141B4D"/>
                </a:solidFill>
                <a:latin typeface="Georgia"/>
              </a:rPr>
              <a:t>Formatting and layout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52728"/>
            <a:ext cx="1463040" cy="38100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48640" y="1463040"/>
          <a:ext cx="1106424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3383280"/>
                <a:gridCol w="3108960"/>
              </a:tblGrid>
              <a:tr h="373380">
                <a:tc>
                  <a:txBody>
                    <a:bodyPr/>
                    <a:lstStyle/>
                    <a:p>
                      <a:r>
                        <a:rPr b="1" sz="1200" i="0">
                          <a:solidFill>
                            <a:srgbClr val="FFFFFF"/>
                          </a:solidFill>
                          <a:latin typeface="Calibri"/>
                        </a:rPr>
                        <a:t>What you want to do</a:t>
                      </a:r>
                    </a:p>
                  </a:txBody>
                  <a:tcPr marT="18288" marB="18288" marL="73152" anchor="ctr"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 i="0">
                          <a:solidFill>
                            <a:srgbClr val="FFFFFF"/>
                          </a:solidFill>
                          <a:latin typeface="Calibri"/>
                        </a:rPr>
                        <a:t>Windows</a:t>
                      </a:r>
                    </a:p>
                  </a:txBody>
                  <a:tcPr marT="18288" marB="18288" marL="73152" anchor="ctr"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 i="0">
                          <a:solidFill>
                            <a:srgbClr val="FFFFFF"/>
                          </a:solidFill>
                          <a:latin typeface="Calibri"/>
                        </a:rPr>
                        <a:t>Mac</a:t>
                      </a:r>
                    </a:p>
                  </a:txBody>
                  <a:tcPr marT="18288" marB="18288" marL="73152" anchor="ctr">
                    <a:solidFill>
                      <a:srgbClr val="141B4D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alibri"/>
                        </a:rPr>
                        <a:t>Format Cells dialog</a:t>
                      </a:r>
                    </a:p>
                  </a:txBody>
                  <a:tcPr marT="18288" marB="18288" marL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 i="0">
                          <a:solidFill>
                            <a:srgbClr val="141B4D"/>
                          </a:solidFill>
                          <a:latin typeface="Consolas"/>
                        </a:rPr>
                        <a:t>Ctrl+1</a:t>
                      </a:r>
                    </a:p>
                  </a:txBody>
                  <a:tcPr marT="18288" marB="18288" marL="73152" anchor="ctr">
                    <a:solidFill>
                      <a:srgbClr val="EE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 i="0">
                          <a:solidFill>
                            <a:srgbClr val="141B4D"/>
                          </a:solidFill>
                          <a:latin typeface="Consolas"/>
                        </a:rPr>
                        <a:t>Cmd+1</a:t>
                      </a:r>
                    </a:p>
                  </a:txBody>
                  <a:tcPr marT="18288" marB="18288" marL="73152" anchor="ctr">
                    <a:solidFill>
                      <a:srgbClr val="EEF6FA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alibri"/>
                        </a:rPr>
                        <a:t>Number with thousands separator</a:t>
                      </a:r>
                    </a:p>
                  </a:txBody>
                  <a:tcPr marT="18288" marB="18288" marL="73152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 i="0">
                          <a:solidFill>
                            <a:srgbClr val="141B4D"/>
                          </a:solidFill>
                          <a:latin typeface="Consolas"/>
                        </a:rPr>
                        <a:t>Ctrl+Shift+!</a:t>
                      </a:r>
                    </a:p>
                  </a:txBody>
                  <a:tcPr marT="18288" marB="18288" marL="73152" anchor="ctr">
                    <a:solidFill>
                      <a:srgbClr val="E7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 i="0">
                          <a:solidFill>
                            <a:srgbClr val="141B4D"/>
                          </a:solidFill>
                          <a:latin typeface="Consolas"/>
                        </a:rPr>
                        <a:t>Ctrl+Shift+!</a:t>
                      </a:r>
                    </a:p>
                  </a:txBody>
                  <a:tcPr marT="18288" marB="18288" marL="73152" anchor="ctr">
                    <a:solidFill>
                      <a:srgbClr val="E7F1F6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alibri"/>
                        </a:rPr>
                        <a:t>Percentage</a:t>
                      </a:r>
                    </a:p>
                  </a:txBody>
                  <a:tcPr marT="18288" marB="18288" marL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 i="0">
                          <a:solidFill>
                            <a:srgbClr val="141B4D"/>
                          </a:solidFill>
                          <a:latin typeface="Consolas"/>
                        </a:rPr>
                        <a:t>Ctrl+Shift+%</a:t>
                      </a:r>
                    </a:p>
                  </a:txBody>
                  <a:tcPr marT="18288" marB="18288" marL="73152" anchor="ctr">
                    <a:solidFill>
                      <a:srgbClr val="EE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 i="0">
                          <a:solidFill>
                            <a:srgbClr val="141B4D"/>
                          </a:solidFill>
                          <a:latin typeface="Consolas"/>
                        </a:rPr>
                        <a:t>Ctrl+Shift+%</a:t>
                      </a:r>
                    </a:p>
                  </a:txBody>
                  <a:tcPr marT="18288" marB="18288" marL="73152" anchor="ctr">
                    <a:solidFill>
                      <a:srgbClr val="EEF6FA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alibri"/>
                        </a:rPr>
                        <a:t>Date</a:t>
                      </a:r>
                    </a:p>
                  </a:txBody>
                  <a:tcPr marT="18288" marB="18288" marL="73152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 i="0">
                          <a:solidFill>
                            <a:srgbClr val="141B4D"/>
                          </a:solidFill>
                          <a:latin typeface="Consolas"/>
                        </a:rPr>
                        <a:t>Ctrl+Shift+#</a:t>
                      </a:r>
                    </a:p>
                  </a:txBody>
                  <a:tcPr marT="18288" marB="18288" marL="73152" anchor="ctr">
                    <a:solidFill>
                      <a:srgbClr val="E7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 i="0">
                          <a:solidFill>
                            <a:srgbClr val="141B4D"/>
                          </a:solidFill>
                          <a:latin typeface="Consolas"/>
                        </a:rPr>
                        <a:t>Ctrl+Shift+#</a:t>
                      </a:r>
                    </a:p>
                  </a:txBody>
                  <a:tcPr marT="18288" marB="18288" marL="73152" anchor="ctr">
                    <a:solidFill>
                      <a:srgbClr val="E7F1F6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alibri"/>
                        </a:rPr>
                        <a:t>General format</a:t>
                      </a:r>
                    </a:p>
                  </a:txBody>
                  <a:tcPr marT="18288" marB="18288" marL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 i="0">
                          <a:solidFill>
                            <a:srgbClr val="141B4D"/>
                          </a:solidFill>
                          <a:latin typeface="Consolas"/>
                        </a:rPr>
                        <a:t>Ctrl+Shift+~</a:t>
                      </a:r>
                    </a:p>
                  </a:txBody>
                  <a:tcPr marT="18288" marB="18288" marL="73152" anchor="ctr">
                    <a:solidFill>
                      <a:srgbClr val="EE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 i="0">
                          <a:solidFill>
                            <a:srgbClr val="141B4D"/>
                          </a:solidFill>
                          <a:latin typeface="Consolas"/>
                        </a:rPr>
                        <a:t>Ctrl+Shift+~</a:t>
                      </a:r>
                    </a:p>
                  </a:txBody>
                  <a:tcPr marT="18288" marB="18288" marL="73152" anchor="ctr">
                    <a:solidFill>
                      <a:srgbClr val="EEF6FA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alibri"/>
                        </a:rPr>
                        <a:t>Bold</a:t>
                      </a:r>
                    </a:p>
                  </a:txBody>
                  <a:tcPr marT="18288" marB="18288" marL="73152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 i="0">
                          <a:solidFill>
                            <a:srgbClr val="141B4D"/>
                          </a:solidFill>
                          <a:latin typeface="Consolas"/>
                        </a:rPr>
                        <a:t>Ctrl+B</a:t>
                      </a:r>
                    </a:p>
                  </a:txBody>
                  <a:tcPr marT="18288" marB="18288" marL="73152" anchor="ctr">
                    <a:solidFill>
                      <a:srgbClr val="E7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 i="0">
                          <a:solidFill>
                            <a:srgbClr val="141B4D"/>
                          </a:solidFill>
                          <a:latin typeface="Consolas"/>
                        </a:rPr>
                        <a:t>Cmd+B</a:t>
                      </a:r>
                    </a:p>
                  </a:txBody>
                  <a:tcPr marT="18288" marB="18288" marL="73152" anchor="ctr">
                    <a:solidFill>
                      <a:srgbClr val="E7F1F6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alibri"/>
                        </a:rPr>
                        <a:t>AutoFit column width</a:t>
                      </a:r>
                    </a:p>
                  </a:txBody>
                  <a:tcPr marT="18288" marB="18288" marL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 i="0">
                          <a:solidFill>
                            <a:srgbClr val="141B4D"/>
                          </a:solidFill>
                          <a:latin typeface="Consolas"/>
                        </a:rPr>
                        <a:t>Alt+H, O, I</a:t>
                      </a:r>
                    </a:p>
                  </a:txBody>
                  <a:tcPr marT="18288" marB="18288" marL="73152" anchor="ctr">
                    <a:solidFill>
                      <a:srgbClr val="EE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 i="0">
                          <a:solidFill>
                            <a:srgbClr val="141B4D"/>
                          </a:solidFill>
                          <a:latin typeface="Consolas"/>
                        </a:rPr>
                        <a:t>Double-click the column border</a:t>
                      </a:r>
                    </a:p>
                  </a:txBody>
                  <a:tcPr marT="18288" marB="18288" marL="73152" anchor="ctr">
                    <a:solidFill>
                      <a:srgbClr val="EEF6FA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alibri"/>
                        </a:rPr>
                        <a:t>Hide  /  unhide columns</a:t>
                      </a:r>
                    </a:p>
                  </a:txBody>
                  <a:tcPr marT="18288" marB="18288" marL="73152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 i="0">
                          <a:solidFill>
                            <a:srgbClr val="141B4D"/>
                          </a:solidFill>
                          <a:latin typeface="Consolas"/>
                        </a:rPr>
                        <a:t>Ctrl+0  /  Ctrl+Shift+0</a:t>
                      </a:r>
                    </a:p>
                  </a:txBody>
                  <a:tcPr marT="18288" marB="18288" marL="73152" anchor="ctr">
                    <a:solidFill>
                      <a:srgbClr val="E7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 i="0">
                          <a:solidFill>
                            <a:srgbClr val="141B4D"/>
                          </a:solidFill>
                          <a:latin typeface="Consolas"/>
                        </a:rPr>
                        <a:t>Ctrl+0  /  Ctrl+Shift+0</a:t>
                      </a:r>
                    </a:p>
                  </a:txBody>
                  <a:tcPr marT="18288" marB="18288" marL="73152" anchor="ctr">
                    <a:solidFill>
                      <a:srgbClr val="E7F1F6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alibri"/>
                        </a:rPr>
                        <a:t>Hide  /  unhide rows</a:t>
                      </a:r>
                    </a:p>
                  </a:txBody>
                  <a:tcPr marT="18288" marB="18288" marL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 i="0">
                          <a:solidFill>
                            <a:srgbClr val="141B4D"/>
                          </a:solidFill>
                          <a:latin typeface="Consolas"/>
                        </a:rPr>
                        <a:t>Ctrl+9  /  Ctrl+Shift+9</a:t>
                      </a:r>
                    </a:p>
                  </a:txBody>
                  <a:tcPr marT="18288" marB="18288" marL="73152" anchor="ctr">
                    <a:solidFill>
                      <a:srgbClr val="EE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 i="0">
                          <a:solidFill>
                            <a:srgbClr val="141B4D"/>
                          </a:solidFill>
                          <a:latin typeface="Consolas"/>
                        </a:rPr>
                        <a:t>Ctrl+9  /  Ctrl+Shift+9</a:t>
                      </a:r>
                    </a:p>
                  </a:txBody>
                  <a:tcPr marT="18288" marB="18288" marL="73152" anchor="ctr">
                    <a:solidFill>
                      <a:srgbClr val="EEF6FA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alibri"/>
                        </a:rPr>
                        <a:t>Group rows or columns</a:t>
                      </a:r>
                    </a:p>
                  </a:txBody>
                  <a:tcPr marT="18288" marB="18288" marL="73152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 i="0">
                          <a:solidFill>
                            <a:srgbClr val="141B4D"/>
                          </a:solidFill>
                          <a:latin typeface="Consolas"/>
                        </a:rPr>
                        <a:t>Alt+Shift+→</a:t>
                      </a:r>
                    </a:p>
                  </a:txBody>
                  <a:tcPr marT="18288" marB="18288" marL="73152" anchor="ctr">
                    <a:solidFill>
                      <a:srgbClr val="E7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 i="0">
                          <a:solidFill>
                            <a:srgbClr val="141B4D"/>
                          </a:solidFill>
                          <a:latin typeface="Consolas"/>
                        </a:rPr>
                        <a:t>Cmd+Shift+K</a:t>
                      </a:r>
                    </a:p>
                  </a:txBody>
                  <a:tcPr marT="18288" marB="18288" marL="73152" anchor="ctr">
                    <a:solidFill>
                      <a:srgbClr val="E7F1F6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r>
                        <a:rPr b="0" sz="1200" i="0">
                          <a:solidFill>
                            <a:srgbClr val="1A2233"/>
                          </a:solidFill>
                          <a:latin typeface="Calibri"/>
                        </a:rPr>
                        <a:t>Ungroup</a:t>
                      </a:r>
                    </a:p>
                  </a:txBody>
                  <a:tcPr marT="18288" marB="18288" marL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 i="0">
                          <a:solidFill>
                            <a:srgbClr val="141B4D"/>
                          </a:solidFill>
                          <a:latin typeface="Consolas"/>
                        </a:rPr>
                        <a:t>Alt+Shift+←</a:t>
                      </a:r>
                    </a:p>
                  </a:txBody>
                  <a:tcPr marT="18288" marB="18288" marL="73152" anchor="ctr">
                    <a:solidFill>
                      <a:srgbClr val="EE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 i="0">
                          <a:solidFill>
                            <a:srgbClr val="141B4D"/>
                          </a:solidFill>
                          <a:latin typeface="Consolas"/>
                        </a:rPr>
                        <a:t>Cmd+Shift+J</a:t>
                      </a:r>
                    </a:p>
                  </a:txBody>
                  <a:tcPr marT="18288" marB="18288" marL="73152" anchor="ctr">
                    <a:solidFill>
                      <a:srgbClr val="EEF6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19088"/>
            <a:ext cx="12191695" cy="9525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b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6492240"/>
            <a:ext cx="821233" cy="2834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5448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000" i="0">
                <a:solidFill>
                  <a:srgbClr val="5C6B7A"/>
                </a:solidFill>
                <a:latin typeface="Calibri"/>
              </a:rPr>
              <a:t>MIPF Boot Camp  |  Excel Foundations  |  Excel from zero for project finance modelling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649224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b="0" sz="1000" i="0">
                <a:solidFill>
                  <a:srgbClr val="5C6B7A"/>
                </a:solidFill>
                <a:latin typeface="Calibri"/>
              </a:rPr>
              <a:t>40</a:t>
            </a:r>
          </a:p>
        </p:txBody>
      </p:sp>
      <p:pic>
        <p:nvPicPr>
          <p:cNvPr id="6" name="Picture 5" descr="mipf_hex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6446520"/>
            <a:ext cx="365760" cy="365760"/>
          </a:xfrm>
          <a:prstGeom prst="rect">
            <a:avLst/>
          </a:prstGeom>
        </p:spPr>
      </p:pic>
      <p:pic>
        <p:nvPicPr>
          <p:cNvPr id="7" name="Picture 6" descr="bongo_ai_hex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0" y="6446520"/>
            <a:ext cx="365760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237744"/>
            <a:ext cx="112471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100" i="0">
                <a:solidFill>
                  <a:srgbClr val="A8700F"/>
                </a:solidFill>
                <a:latin typeface="Calibri"/>
              </a:rPr>
              <a:t>EXCEL SHORTCUTS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5488"/>
            <a:ext cx="1124712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b="1" sz="2800" i="0">
                <a:solidFill>
                  <a:srgbClr val="141B4D"/>
                </a:solidFill>
                <a:latin typeface="Georgia"/>
              </a:rPr>
              <a:t>Workbook, names and tools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52728"/>
            <a:ext cx="1463040" cy="38100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48640" y="1463040"/>
          <a:ext cx="1106424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3383280"/>
                <a:gridCol w="3108960"/>
              </a:tblGrid>
              <a:tr h="448056">
                <a:tc>
                  <a:txBody>
                    <a:bodyPr/>
                    <a:lstStyle/>
                    <a:p>
                      <a:r>
                        <a:rPr b="1" sz="1400" i="0">
                          <a:solidFill>
                            <a:srgbClr val="FFFFFF"/>
                          </a:solidFill>
                          <a:latin typeface="Calibri"/>
                        </a:rPr>
                        <a:t>What you want to do</a:t>
                      </a:r>
                    </a:p>
                  </a:txBody>
                  <a:tcPr marT="18288" marB="18288" marL="73152" anchor="ctr"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 i="0">
                          <a:solidFill>
                            <a:srgbClr val="FFFFFF"/>
                          </a:solidFill>
                          <a:latin typeface="Calibri"/>
                        </a:rPr>
                        <a:t>Windows</a:t>
                      </a:r>
                    </a:p>
                  </a:txBody>
                  <a:tcPr marT="18288" marB="18288" marL="73152" anchor="ctr"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 i="0">
                          <a:solidFill>
                            <a:srgbClr val="FFFFFF"/>
                          </a:solidFill>
                          <a:latin typeface="Calibri"/>
                        </a:rPr>
                        <a:t>Mac</a:t>
                      </a:r>
                    </a:p>
                  </a:txBody>
                  <a:tcPr marT="18288" marB="18288" marL="73152" anchor="ctr">
                    <a:solidFill>
                      <a:srgbClr val="141B4D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r>
                        <a:rPr b="0" sz="1400" i="0">
                          <a:solidFill>
                            <a:srgbClr val="1A2233"/>
                          </a:solidFill>
                          <a:latin typeface="Calibri"/>
                        </a:rPr>
                        <a:t>Name Manager</a:t>
                      </a:r>
                    </a:p>
                  </a:txBody>
                  <a:tcPr marT="18288" marB="18288" marL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 i="0">
                          <a:solidFill>
                            <a:srgbClr val="141B4D"/>
                          </a:solidFill>
                          <a:latin typeface="Consolas"/>
                        </a:rPr>
                        <a:t>Ctrl+F3</a:t>
                      </a:r>
                    </a:p>
                  </a:txBody>
                  <a:tcPr marT="18288" marB="18288" marL="73152" anchor="ctr">
                    <a:solidFill>
                      <a:srgbClr val="EE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 i="0">
                          <a:solidFill>
                            <a:srgbClr val="141B4D"/>
                          </a:solidFill>
                          <a:latin typeface="Consolas"/>
                        </a:rPr>
                        <a:t>Fn+Ctrl+F3</a:t>
                      </a:r>
                    </a:p>
                  </a:txBody>
                  <a:tcPr marT="18288" marB="18288" marL="73152" anchor="ctr">
                    <a:solidFill>
                      <a:srgbClr val="EEF6FA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r>
                        <a:rPr b="0" sz="1400" i="0">
                          <a:solidFill>
                            <a:srgbClr val="1A2233"/>
                          </a:solidFill>
                          <a:latin typeface="Calibri"/>
                        </a:rPr>
                        <a:t>Create names from the selected labels</a:t>
                      </a:r>
                    </a:p>
                  </a:txBody>
                  <a:tcPr marT="18288" marB="18288" marL="73152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 i="0">
                          <a:solidFill>
                            <a:srgbClr val="141B4D"/>
                          </a:solidFill>
                          <a:latin typeface="Consolas"/>
                        </a:rPr>
                        <a:t>Ctrl+Shift+F3</a:t>
                      </a:r>
                    </a:p>
                  </a:txBody>
                  <a:tcPr marT="18288" marB="18288" marL="73152" anchor="ctr">
                    <a:solidFill>
                      <a:srgbClr val="E7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 i="0">
                          <a:solidFill>
                            <a:srgbClr val="141B4D"/>
                          </a:solidFill>
                          <a:latin typeface="Consolas"/>
                        </a:rPr>
                        <a:t>Fn+Ctrl+Shift+F3</a:t>
                      </a:r>
                    </a:p>
                  </a:txBody>
                  <a:tcPr marT="18288" marB="18288" marL="73152" anchor="ctr">
                    <a:solidFill>
                      <a:srgbClr val="E7F1F6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r>
                        <a:rPr b="0" sz="1400" i="0">
                          <a:solidFill>
                            <a:srgbClr val="1A2233"/>
                          </a:solidFill>
                          <a:latin typeface="Calibri"/>
                        </a:rPr>
                        <a:t>Freeze panes</a:t>
                      </a:r>
                    </a:p>
                  </a:txBody>
                  <a:tcPr marT="18288" marB="18288" marL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 i="0">
                          <a:solidFill>
                            <a:srgbClr val="141B4D"/>
                          </a:solidFill>
                          <a:latin typeface="Consolas"/>
                        </a:rPr>
                        <a:t>Alt+W, F, F</a:t>
                      </a:r>
                    </a:p>
                  </a:txBody>
                  <a:tcPr marT="18288" marB="18288" marL="73152" anchor="ctr">
                    <a:solidFill>
                      <a:srgbClr val="EE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 i="0">
                          <a:solidFill>
                            <a:srgbClr val="141B4D"/>
                          </a:solidFill>
                          <a:latin typeface="Consolas"/>
                        </a:rPr>
                        <a:t>View ▸ Freeze Panes</a:t>
                      </a:r>
                    </a:p>
                  </a:txBody>
                  <a:tcPr marT="18288" marB="18288" marL="73152" anchor="ctr">
                    <a:solidFill>
                      <a:srgbClr val="EEF6FA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r>
                        <a:rPr b="0" sz="1400" i="0">
                          <a:solidFill>
                            <a:srgbClr val="1A2233"/>
                          </a:solidFill>
                          <a:latin typeface="Calibri"/>
                        </a:rPr>
                        <a:t>New worksheet</a:t>
                      </a:r>
                    </a:p>
                  </a:txBody>
                  <a:tcPr marT="18288" marB="18288" marL="73152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 i="0">
                          <a:solidFill>
                            <a:srgbClr val="141B4D"/>
                          </a:solidFill>
                          <a:latin typeface="Consolas"/>
                        </a:rPr>
                        <a:t>Shift+F11</a:t>
                      </a:r>
                    </a:p>
                  </a:txBody>
                  <a:tcPr marT="18288" marB="18288" marL="73152" anchor="ctr">
                    <a:solidFill>
                      <a:srgbClr val="E7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 i="0">
                          <a:solidFill>
                            <a:srgbClr val="141B4D"/>
                          </a:solidFill>
                          <a:latin typeface="Consolas"/>
                        </a:rPr>
                        <a:t>Fn+Shift+F11</a:t>
                      </a:r>
                    </a:p>
                  </a:txBody>
                  <a:tcPr marT="18288" marB="18288" marL="73152" anchor="ctr">
                    <a:solidFill>
                      <a:srgbClr val="E7F1F6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r>
                        <a:rPr b="0" sz="1400" i="0">
                          <a:solidFill>
                            <a:srgbClr val="1A2233"/>
                          </a:solidFill>
                          <a:latin typeface="Calibri"/>
                        </a:rPr>
                        <a:t>Select several sheets at once (group)</a:t>
                      </a:r>
                    </a:p>
                  </a:txBody>
                  <a:tcPr marT="18288" marB="18288" marL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 i="0">
                          <a:solidFill>
                            <a:srgbClr val="141B4D"/>
                          </a:solidFill>
                          <a:latin typeface="Consolas"/>
                        </a:rPr>
                        <a:t>Ctrl+click / Shift+click tabs</a:t>
                      </a:r>
                    </a:p>
                  </a:txBody>
                  <a:tcPr marT="18288" marB="18288" marL="73152" anchor="ctr">
                    <a:solidFill>
                      <a:srgbClr val="EE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 i="0">
                          <a:solidFill>
                            <a:srgbClr val="141B4D"/>
                          </a:solidFill>
                          <a:latin typeface="Consolas"/>
                        </a:rPr>
                        <a:t>Cmd+click / Shift+click tabs</a:t>
                      </a:r>
                    </a:p>
                  </a:txBody>
                  <a:tcPr marT="18288" marB="18288" marL="73152" anchor="ctr">
                    <a:solidFill>
                      <a:srgbClr val="EEF6FA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r>
                        <a:rPr b="0" sz="1400" i="0">
                          <a:solidFill>
                            <a:srgbClr val="1A2233"/>
                          </a:solidFill>
                          <a:latin typeface="Calibri"/>
                        </a:rPr>
                        <a:t>Save  /  Save As</a:t>
                      </a:r>
                    </a:p>
                  </a:txBody>
                  <a:tcPr marT="18288" marB="18288" marL="73152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 i="0">
                          <a:solidFill>
                            <a:srgbClr val="141B4D"/>
                          </a:solidFill>
                          <a:latin typeface="Consolas"/>
                        </a:rPr>
                        <a:t>Ctrl+S  /  F12</a:t>
                      </a:r>
                    </a:p>
                  </a:txBody>
                  <a:tcPr marT="18288" marB="18288" marL="73152" anchor="ctr">
                    <a:solidFill>
                      <a:srgbClr val="E7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 i="0">
                          <a:solidFill>
                            <a:srgbClr val="141B4D"/>
                          </a:solidFill>
                          <a:latin typeface="Consolas"/>
                        </a:rPr>
                        <a:t>Cmd+S  /  Cmd+Shift+S</a:t>
                      </a:r>
                    </a:p>
                  </a:txBody>
                  <a:tcPr marT="18288" marB="18288" marL="73152" anchor="ctr">
                    <a:solidFill>
                      <a:srgbClr val="E7F1F6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r>
                        <a:rPr b="0" sz="1400" i="0">
                          <a:solidFill>
                            <a:srgbClr val="1A2233"/>
                          </a:solidFill>
                          <a:latin typeface="Calibri"/>
                        </a:rPr>
                        <a:t>Goal Seek</a:t>
                      </a:r>
                    </a:p>
                  </a:txBody>
                  <a:tcPr marT="18288" marB="18288" marL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 i="0">
                          <a:solidFill>
                            <a:srgbClr val="141B4D"/>
                          </a:solidFill>
                          <a:latin typeface="Consolas"/>
                        </a:rPr>
                        <a:t>Alt+A, W, G</a:t>
                      </a:r>
                    </a:p>
                  </a:txBody>
                  <a:tcPr marT="18288" marB="18288" marL="73152" anchor="ctr">
                    <a:solidFill>
                      <a:srgbClr val="EE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 i="0">
                          <a:solidFill>
                            <a:srgbClr val="141B4D"/>
                          </a:solidFill>
                          <a:latin typeface="Consolas"/>
                        </a:rPr>
                        <a:t>Data ▸ What-If Analysis ▸ Goal Seek</a:t>
                      </a:r>
                    </a:p>
                  </a:txBody>
                  <a:tcPr marT="18288" marB="18288" marL="73152" anchor="ctr">
                    <a:solidFill>
                      <a:srgbClr val="EEF6FA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r>
                        <a:rPr b="0" sz="1400" i="0">
                          <a:solidFill>
                            <a:srgbClr val="1A2233"/>
                          </a:solidFill>
                          <a:latin typeface="Calibri"/>
                        </a:rPr>
                        <a:t>Data Table</a:t>
                      </a:r>
                    </a:p>
                  </a:txBody>
                  <a:tcPr marT="18288" marB="18288" marL="73152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 i="0">
                          <a:solidFill>
                            <a:srgbClr val="141B4D"/>
                          </a:solidFill>
                          <a:latin typeface="Consolas"/>
                        </a:rPr>
                        <a:t>Alt+A, W, T</a:t>
                      </a:r>
                    </a:p>
                  </a:txBody>
                  <a:tcPr marT="18288" marB="18288" marL="73152" anchor="ctr">
                    <a:solidFill>
                      <a:srgbClr val="E7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 i="0">
                          <a:solidFill>
                            <a:srgbClr val="141B4D"/>
                          </a:solidFill>
                          <a:latin typeface="Consolas"/>
                        </a:rPr>
                        <a:t>Data ▸ What-If Analysis ▸ Data Table</a:t>
                      </a:r>
                    </a:p>
                  </a:txBody>
                  <a:tcPr marT="18288" marB="18288" marL="73152" anchor="ctr">
                    <a:solidFill>
                      <a:srgbClr val="E7F1F6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r>
                        <a:rPr b="0" sz="1400" i="0">
                          <a:solidFill>
                            <a:srgbClr val="1A2233"/>
                          </a:solidFill>
                          <a:latin typeface="Calibri"/>
                        </a:rPr>
                        <a:t>Iterative calculation setting</a:t>
                      </a:r>
                    </a:p>
                  </a:txBody>
                  <a:tcPr marT="18288" marB="18288" marL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 i="0">
                          <a:solidFill>
                            <a:srgbClr val="141B4D"/>
                          </a:solidFill>
                          <a:latin typeface="Consolas"/>
                        </a:rPr>
                        <a:t>File ▸ Options ▸ Formulas</a:t>
                      </a:r>
                    </a:p>
                  </a:txBody>
                  <a:tcPr marT="18288" marB="18288" marL="73152" anchor="ctr">
                    <a:solidFill>
                      <a:srgbClr val="EE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 i="0">
                          <a:solidFill>
                            <a:srgbClr val="141B4D"/>
                          </a:solidFill>
                          <a:latin typeface="Consolas"/>
                        </a:rPr>
                        <a:t>Excel ▸ Settings ▸ Calculation</a:t>
                      </a:r>
                    </a:p>
                  </a:txBody>
                  <a:tcPr marT="18288" marB="18288" marL="73152" anchor="ctr">
                    <a:solidFill>
                      <a:srgbClr val="EEF6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19088"/>
            <a:ext cx="12191695" cy="9525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b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6492240"/>
            <a:ext cx="821233" cy="2834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5448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000" i="0">
                <a:solidFill>
                  <a:srgbClr val="5C6B7A"/>
                </a:solidFill>
                <a:latin typeface="Calibri"/>
              </a:rPr>
              <a:t>MIPF Boot Camp  |  Excel Foundations  |  Excel from zero for project finance modelling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649224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b="0" sz="1000" i="0">
                <a:solidFill>
                  <a:srgbClr val="5C6B7A"/>
                </a:solidFill>
                <a:latin typeface="Calibri"/>
              </a:rPr>
              <a:t>41</a:t>
            </a:r>
          </a:p>
        </p:txBody>
      </p:sp>
      <p:pic>
        <p:nvPicPr>
          <p:cNvPr id="6" name="Picture 5" descr="mipf_hex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6446520"/>
            <a:ext cx="365760" cy="365760"/>
          </a:xfrm>
          <a:prstGeom prst="rect">
            <a:avLst/>
          </a:prstGeom>
        </p:spPr>
      </p:pic>
      <p:pic>
        <p:nvPicPr>
          <p:cNvPr id="7" name="Picture 6" descr="bongo_ai_hex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0" y="6446520"/>
            <a:ext cx="365760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237744"/>
            <a:ext cx="112471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100" i="0">
                <a:solidFill>
                  <a:srgbClr val="A8700F"/>
                </a:solidFill>
                <a:latin typeface="Calibri"/>
              </a:rPr>
              <a:t>AUDITING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5488"/>
            <a:ext cx="1124712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b="1" sz="2800" i="0">
                <a:solidFill>
                  <a:srgbClr val="141B4D"/>
                </a:solidFill>
                <a:latin typeface="Georgia"/>
              </a:rPr>
              <a:t>Auditing a formula: precedents and dependents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52728"/>
            <a:ext cx="1463040" cy="38100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481328"/>
            <a:ext cx="10058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5C6B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b="1" sz="1300" i="0">
                <a:solidFill>
                  <a:srgbClr val="1A2233"/>
                </a:solidFill>
                <a:latin typeface="Consolas"/>
              </a:rPr>
              <a:t>D2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481328"/>
            <a:ext cx="411480" cy="347472"/>
          </a:xfrm>
          <a:prstGeom prst="rect">
            <a:avLst/>
          </a:prstGeom>
          <a:solidFill>
            <a:srgbClr val="F3F6F9"/>
          </a:solidFill>
          <a:ln w="12700">
            <a:solidFill>
              <a:srgbClr val="5C6B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b="1" sz="1300" i="1">
                <a:solidFill>
                  <a:srgbClr val="5C6B7A"/>
                </a:solidFill>
                <a:latin typeface="Calibri"/>
              </a:rPr>
              <a:t>fx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57400" y="1481328"/>
            <a:ext cx="46634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5C6B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l"/>
            <a:r>
              <a:rPr b="0" sz="1300" i="0">
                <a:solidFill>
                  <a:srgbClr val="1A2233"/>
                </a:solidFill>
                <a:latin typeface="Consolas"/>
              </a:rPr>
              <a:t>=C2*30%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48640" y="1938528"/>
          <a:ext cx="6217920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"/>
                <a:gridCol w="1143000"/>
                <a:gridCol w="1143000"/>
                <a:gridCol w="1143000"/>
                <a:gridCol w="1143000"/>
                <a:gridCol w="1143000"/>
              </a:tblGrid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2233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9144" marB="9144" anchor="ctr">
                    <a:solidFill>
                      <a:srgbClr val="D9DE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A2233"/>
                          </a:solidFill>
                          <a:latin typeface="Calibri"/>
                        </a:rPr>
                        <a:t>A</a:t>
                      </a:r>
                    </a:p>
                  </a:txBody>
                  <a:tcPr marL="45720" marR="45720" marT="9144" marB="9144" anchor="ctr">
                    <a:solidFill>
                      <a:srgbClr val="D9DE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A2233"/>
                          </a:solidFill>
                          <a:latin typeface="Calibri"/>
                        </a:rPr>
                        <a:t>B</a:t>
                      </a:r>
                    </a:p>
                  </a:txBody>
                  <a:tcPr marL="45720" marR="45720" marT="9144" marB="9144" anchor="ctr">
                    <a:solidFill>
                      <a:srgbClr val="D9DE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A2233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 marL="45720" marR="45720" marT="9144" marB="9144" anchor="ctr">
                    <a:solidFill>
                      <a:srgbClr val="D9DE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A2233"/>
                          </a:solidFill>
                          <a:latin typeface="Calibri"/>
                        </a:rPr>
                        <a:t>D</a:t>
                      </a:r>
                    </a:p>
                  </a:txBody>
                  <a:tcPr marL="45720" marR="45720" marT="9144" marB="9144" anchor="ctr">
                    <a:solidFill>
                      <a:srgbClr val="D9DE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A2233"/>
                          </a:solidFill>
                          <a:latin typeface="Calibri"/>
                        </a:rPr>
                        <a:t>E</a:t>
                      </a:r>
                    </a:p>
                  </a:txBody>
                  <a:tcPr marL="45720" marR="45720" marT="9144" marB="9144" anchor="ctr">
                    <a:solidFill>
                      <a:srgbClr val="D9DEE6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A223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45720" marR="45720" marT="9144" marB="9144" anchor="ctr">
                    <a:solidFill>
                      <a:srgbClr val="D9DE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2233"/>
                          </a:solidFill>
                          <a:latin typeface="Calibri"/>
                        </a:rPr>
                        <a:t>Qty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2233"/>
                          </a:solidFill>
                          <a:latin typeface="Calibri"/>
                        </a:rPr>
                        <a:t>Price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2233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2233"/>
                          </a:solidFill>
                          <a:latin typeface="Calibri"/>
                        </a:rPr>
                        <a:t>Tax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2233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A223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45720" marR="45720" marT="9144" marB="9144" anchor="ctr">
                    <a:solidFill>
                      <a:srgbClr val="D9DE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2233"/>
                          </a:solidFill>
                          <a:latin typeface="Calibri"/>
                        </a:rPr>
                        <a:t>100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2233"/>
                          </a:solidFill>
                          <a:latin typeface="Calibri"/>
                        </a:rPr>
                        <a:t>7.15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A2233"/>
                          </a:solidFill>
                          <a:latin typeface="Consolas"/>
                        </a:rPr>
                        <a:t>=A2*B2</a:t>
                      </a:r>
                    </a:p>
                  </a:txBody>
                  <a:tcPr marL="45720" marR="45720" marT="9144" marB="9144" anchor="ctr">
                    <a:solidFill>
                      <a:srgbClr val="FBF0D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A2233"/>
                          </a:solidFill>
                          <a:latin typeface="Consolas"/>
                        </a:rPr>
                        <a:t>=C2*30%</a:t>
                      </a:r>
                    </a:p>
                  </a:txBody>
                  <a:tcPr marL="45720" marR="45720" marT="9144" marB="9144" anchor="ctr">
                    <a:solidFill>
                      <a:srgbClr val="FFE9B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2233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A223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720" marR="45720" marT="9144" marB="9144" anchor="ctr">
                    <a:solidFill>
                      <a:srgbClr val="D9DE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2233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2233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2233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2233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2233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Rectangle 14"/>
          <p:cNvSpPr/>
          <p:nvPr/>
        </p:nvSpPr>
        <p:spPr>
          <a:xfrm>
            <a:off x="7040879" y="1481328"/>
            <a:ext cx="4617720" cy="347472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l"/>
            <a:r>
              <a:rPr b="1" sz="1200" i="0">
                <a:solidFill>
                  <a:srgbClr val="FFFFFF"/>
                </a:solidFill>
                <a:latin typeface="Calibri"/>
              </a:rPr>
              <a:t>HOW IT WORKS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79" y="1920240"/>
            <a:ext cx="46177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0" sz="1500" i="0">
                <a:solidFill>
                  <a:srgbClr val="1A2233"/>
                </a:solidFill>
                <a:latin typeface="Calibri"/>
              </a:rPr>
              <a:t>▪ </a:t>
            </a:r>
            <a:r>
              <a:rPr b="1" sz="1500" i="0">
                <a:solidFill>
                  <a:srgbClr val="1A2233"/>
                </a:solidFill>
                <a:latin typeface="Calibri"/>
              </a:rPr>
              <a:t>Precedents</a:t>
            </a:r>
            <a:r>
              <a:rPr b="0" sz="1500" i="0">
                <a:solidFill>
                  <a:srgbClr val="1A2233"/>
                </a:solidFill>
                <a:latin typeface="Calibri"/>
              </a:rPr>
              <a:t> are the cells a formula uses. Select D2 and press </a:t>
            </a:r>
            <a:r>
              <a:rPr b="0" sz="1500" i="0">
                <a:solidFill>
                  <a:srgbClr val="0B5E82"/>
                </a:solidFill>
                <a:latin typeface="Consolas"/>
              </a:rPr>
              <a:t>Ctrl+[</a:t>
            </a:r>
            <a:r>
              <a:rPr b="0" sz="1500" i="0">
                <a:solidFill>
                  <a:srgbClr val="1A2233"/>
                </a:solidFill>
                <a:latin typeface="Calibri"/>
              </a:rPr>
              <a:t> to jump to C2.</a:t>
            </a:r>
          </a:p>
          <a:p>
            <a:pPr>
              <a:spcAft>
                <a:spcPts val="600"/>
              </a:spcAft>
            </a:pPr>
            <a:r>
              <a:rPr b="0" sz="1500" i="0">
                <a:solidFill>
                  <a:srgbClr val="1A2233"/>
                </a:solidFill>
                <a:latin typeface="Calibri"/>
              </a:rPr>
              <a:t>▪ </a:t>
            </a:r>
            <a:r>
              <a:rPr b="1" sz="1500" i="0">
                <a:solidFill>
                  <a:srgbClr val="1A2233"/>
                </a:solidFill>
                <a:latin typeface="Calibri"/>
              </a:rPr>
              <a:t>Dependents</a:t>
            </a:r>
            <a:r>
              <a:rPr b="0" sz="1500" i="0">
                <a:solidFill>
                  <a:srgbClr val="1A2233"/>
                </a:solidFill>
                <a:latin typeface="Calibri"/>
              </a:rPr>
              <a:t> are the cells that use this one. Select C2 and press </a:t>
            </a:r>
            <a:r>
              <a:rPr b="0" sz="1500" i="0">
                <a:solidFill>
                  <a:srgbClr val="0B5E82"/>
                </a:solidFill>
                <a:latin typeface="Consolas"/>
              </a:rPr>
              <a:t>Ctrl+]</a:t>
            </a:r>
            <a:r>
              <a:rPr b="0" sz="1500" i="0">
                <a:solidFill>
                  <a:srgbClr val="1A2233"/>
                </a:solidFill>
                <a:latin typeface="Calibri"/>
              </a:rPr>
              <a:t> to jump to D2.</a:t>
            </a:r>
          </a:p>
          <a:p>
            <a:pPr>
              <a:spcAft>
                <a:spcPts val="600"/>
              </a:spcAft>
            </a:pPr>
            <a:r>
              <a:rPr b="0" sz="1500" i="0">
                <a:solidFill>
                  <a:srgbClr val="1A2233"/>
                </a:solidFill>
                <a:latin typeface="Calibri"/>
              </a:rPr>
              <a:t>▪ </a:t>
            </a:r>
            <a:r>
              <a:rPr b="0" sz="1500" i="0">
                <a:solidFill>
                  <a:srgbClr val="0B5E82"/>
                </a:solidFill>
                <a:latin typeface="Consolas"/>
              </a:rPr>
              <a:t>Alt+M, P</a:t>
            </a:r>
            <a:r>
              <a:rPr b="0" sz="1500" i="0">
                <a:solidFill>
                  <a:srgbClr val="1A2233"/>
                </a:solidFill>
                <a:latin typeface="Calibri"/>
              </a:rPr>
              <a:t> (Win) draws blue arrows to precedents; on Mac use Formulas ▸ Trace Precedents.</a:t>
            </a:r>
          </a:p>
          <a:p>
            <a:pPr>
              <a:spcAft>
                <a:spcPts val="600"/>
              </a:spcAft>
            </a:pPr>
            <a:r>
              <a:rPr b="0" sz="1500" i="0">
                <a:solidFill>
                  <a:srgbClr val="1A2233"/>
                </a:solidFill>
                <a:latin typeface="Calibri"/>
              </a:rPr>
              <a:t>▪ </a:t>
            </a:r>
            <a:r>
              <a:rPr b="0" sz="1500" i="0">
                <a:solidFill>
                  <a:srgbClr val="0B5E82"/>
                </a:solidFill>
                <a:latin typeface="Consolas"/>
              </a:rPr>
              <a:t>Alt+M, V</a:t>
            </a:r>
            <a:r>
              <a:rPr b="0" sz="1500" i="0">
                <a:solidFill>
                  <a:srgbClr val="1A2233"/>
                </a:solidFill>
                <a:latin typeface="Calibri"/>
              </a:rPr>
              <a:t> / Formulas ▸ Evaluate Formula steps through a formula one calculation at a time.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19088"/>
            <a:ext cx="12191695" cy="9525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b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6492240"/>
            <a:ext cx="821233" cy="2834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5448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000" i="0">
                <a:solidFill>
                  <a:srgbClr val="5C6B7A"/>
                </a:solidFill>
                <a:latin typeface="Calibri"/>
              </a:rPr>
              <a:t>MIPF Boot Camp  |  Excel Foundations  |  Excel from zero for project finance modelling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649224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b="0" sz="1000" i="0">
                <a:solidFill>
                  <a:srgbClr val="5C6B7A"/>
                </a:solidFill>
                <a:latin typeface="Calibri"/>
              </a:rPr>
              <a:t>42</a:t>
            </a:r>
          </a:p>
        </p:txBody>
      </p:sp>
      <p:pic>
        <p:nvPicPr>
          <p:cNvPr id="6" name="Picture 5" descr="mipf_hex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6446520"/>
            <a:ext cx="365760" cy="365760"/>
          </a:xfrm>
          <a:prstGeom prst="rect">
            <a:avLst/>
          </a:prstGeom>
        </p:spPr>
      </p:pic>
      <p:pic>
        <p:nvPicPr>
          <p:cNvPr id="7" name="Picture 6" descr="bongo_ai_hex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0" y="6446520"/>
            <a:ext cx="365760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237744"/>
            <a:ext cx="112471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100" i="0">
                <a:solidFill>
                  <a:srgbClr val="A8700F"/>
                </a:solidFill>
                <a:latin typeface="Calibri"/>
              </a:rPr>
              <a:t>ERRORS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5488"/>
            <a:ext cx="1124712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b="1" sz="2800" i="0">
                <a:solidFill>
                  <a:srgbClr val="141B4D"/>
                </a:solidFill>
                <a:latin typeface="Georgia"/>
              </a:rPr>
              <a:t>The six errors you will meet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52728"/>
            <a:ext cx="1463040" cy="38100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48640" y="1508760"/>
          <a:ext cx="11064240" cy="29651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2194560"/>
                <a:gridCol w="3840480"/>
                <a:gridCol w="329184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b="1" sz="1300" i="0">
                          <a:solidFill>
                            <a:srgbClr val="FFFFFF"/>
                          </a:solidFill>
                          <a:latin typeface="Calibri"/>
                        </a:rPr>
                        <a:t>Error</a:t>
                      </a:r>
                    </a:p>
                  </a:txBody>
                  <a:tcPr marL="64008" marR="64008" marT="27432" marB="27432" anchor="ctr">
                    <a:solidFill>
                      <a:srgbClr val="141B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300" i="0">
                          <a:solidFill>
                            <a:srgbClr val="FFFFFF"/>
                          </a:solidFill>
                          <a:latin typeface="Calibri"/>
                        </a:rPr>
                        <a:t>Meaning</a:t>
                      </a:r>
                    </a:p>
                  </a:txBody>
                  <a:tcPr marL="64008" marR="64008" marT="27432" marB="27432" anchor="ctr">
                    <a:solidFill>
                      <a:srgbClr val="141B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300" i="0">
                          <a:solidFill>
                            <a:srgbClr val="FFFFFF"/>
                          </a:solidFill>
                          <a:latin typeface="Calibri"/>
                        </a:rPr>
                        <a:t>Typical cause in a model</a:t>
                      </a:r>
                    </a:p>
                  </a:txBody>
                  <a:tcPr marL="64008" marR="64008" marT="27432" marB="27432" anchor="ctr">
                    <a:solidFill>
                      <a:srgbClr val="141B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300" i="0">
                          <a:solidFill>
                            <a:srgbClr val="FFFFFF"/>
                          </a:solidFill>
                          <a:latin typeface="Calibri"/>
                        </a:rPr>
                        <a:t>Fix</a:t>
                      </a:r>
                    </a:p>
                  </a:txBody>
                  <a:tcPr marL="64008" marR="64008" marT="27432" marB="27432" anchor="ctr">
                    <a:solidFill>
                      <a:srgbClr val="141B4D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b="1" sz="1300" i="0">
                          <a:solidFill>
                            <a:srgbClr val="1A2233"/>
                          </a:solidFill>
                          <a:latin typeface="Consolas"/>
                        </a:rPr>
                        <a:t>#DIV/0!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Divided by zero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A rate or day count is blank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Fill the input; or </a:t>
                      </a:r>
                      <a:r>
                        <a:rPr b="0" sz="1300" i="0">
                          <a:solidFill>
                            <a:srgbClr val="0B5E82"/>
                          </a:solidFill>
                          <a:latin typeface="Consolas"/>
                        </a:rPr>
                        <a:t>=IF(x=0,0,y/x)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b="1" sz="1300" i="0">
                          <a:solidFill>
                            <a:srgbClr val="1A2233"/>
                          </a:solidFill>
                          <a:latin typeface="Consolas"/>
                        </a:rPr>
                        <a:t>#REF!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Reference deleted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You deleted a row/column others used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Undo (Ctrl+Z / Cmd+Z)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</a:tr>
              <a:tr h="522478">
                <a:tc>
                  <a:txBody>
                    <a:bodyPr wrap="square"/>
                    <a:lstStyle/>
                    <a:p>
                      <a:r>
                        <a:rPr b="1" sz="1300" i="0">
                          <a:solidFill>
                            <a:srgbClr val="1A2233"/>
                          </a:solidFill>
                          <a:latin typeface="Consolas"/>
                        </a:rPr>
                        <a:t>#NAME?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Unknown name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Typo in a function or name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Check spelling; Formulas ▸ Name Manager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b="1" sz="1300" i="0">
                          <a:solidFill>
                            <a:srgbClr val="1A2233"/>
                          </a:solidFill>
                          <a:latin typeface="Consolas"/>
                        </a:rPr>
                        <a:t>#VALUE!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Wrong type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Text where a number is needed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Check inputs are numbers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b="1" sz="1300" i="0">
                          <a:solidFill>
                            <a:srgbClr val="1A2233"/>
                          </a:solidFill>
                          <a:latin typeface="Consolas"/>
                        </a:rPr>
                        <a:t>#N/A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Lookup found nothing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MATCH/VLOOKUP exact match failed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Use IFNA(...,0) or check the list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522478">
                <a:tc>
                  <a:txBody>
                    <a:bodyPr wrap="square"/>
                    <a:lstStyle/>
                    <a:p>
                      <a:r>
                        <a:rPr b="1" sz="1300" i="0">
                          <a:solidFill>
                            <a:srgbClr val="1A2233"/>
                          </a:solidFill>
                          <a:latin typeface="Consolas"/>
                        </a:rPr>
                        <a:t>Circular reference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A formula uses itself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A loop A→B→A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Break the loop or enable iterations deliberately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19088"/>
            <a:ext cx="12191695" cy="9525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b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6492240"/>
            <a:ext cx="821233" cy="2834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5448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000" i="0">
                <a:solidFill>
                  <a:srgbClr val="5C6B7A"/>
                </a:solidFill>
                <a:latin typeface="Calibri"/>
              </a:rPr>
              <a:t>MIPF Boot Camp  |  Excel Foundations  |  Excel from zero for project finance modelling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649224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b="0" sz="1000" i="0">
                <a:solidFill>
                  <a:srgbClr val="5C6B7A"/>
                </a:solidFill>
                <a:latin typeface="Calibri"/>
              </a:rPr>
              <a:t>43</a:t>
            </a:r>
          </a:p>
        </p:txBody>
      </p:sp>
      <p:pic>
        <p:nvPicPr>
          <p:cNvPr id="6" name="Picture 5" descr="mipf_hex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6446520"/>
            <a:ext cx="365760" cy="365760"/>
          </a:xfrm>
          <a:prstGeom prst="rect">
            <a:avLst/>
          </a:prstGeom>
        </p:spPr>
      </p:pic>
      <p:pic>
        <p:nvPicPr>
          <p:cNvPr id="7" name="Picture 6" descr="bongo_ai_hex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0" y="6446520"/>
            <a:ext cx="365760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237744"/>
            <a:ext cx="112471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100" i="0">
                <a:solidFill>
                  <a:srgbClr val="A8700F"/>
                </a:solidFill>
                <a:latin typeface="Calibri"/>
              </a:rPr>
              <a:t>SETTINGS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5488"/>
            <a:ext cx="1124712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b="1" sz="2800" i="0">
                <a:solidFill>
                  <a:srgbClr val="141B4D"/>
                </a:solidFill>
                <a:latin typeface="Georgia"/>
              </a:rPr>
              <a:t>Calculation settings: automatic, manual, iterative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52728"/>
            <a:ext cx="1463040" cy="38100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463040"/>
            <a:ext cx="5394960" cy="411480"/>
          </a:xfrm>
          <a:prstGeom prst="rect">
            <a:avLst/>
          </a:prstGeom>
          <a:solidFill>
            <a:srgbClr val="141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27432" bIns="27432"/>
          <a:lstStyle/>
          <a:p>
            <a:pPr algn="l"/>
            <a:r>
              <a:rPr b="1" sz="1700" i="0">
                <a:solidFill>
                  <a:srgbClr val="FFFFFF"/>
                </a:solidFill>
                <a:latin typeface="Calibri"/>
              </a:rPr>
              <a:t>What to know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874519"/>
            <a:ext cx="5394960" cy="4389120"/>
          </a:xfrm>
          <a:prstGeom prst="rect">
            <a:avLst/>
          </a:prstGeom>
          <a:solidFill>
            <a:srgbClr val="F3F6F9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1938528"/>
            <a:ext cx="5257800" cy="4251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0" sz="1700" i="0">
                <a:solidFill>
                  <a:srgbClr val="1A2233"/>
                </a:solidFill>
                <a:latin typeface="Calibri"/>
              </a:rPr>
              <a:t>▪ Automatic: every change recalculates at once (default)</a:t>
            </a:r>
          </a:p>
          <a:p>
            <a:pPr>
              <a:spcAft>
                <a:spcPts val="600"/>
              </a:spcAft>
            </a:pPr>
            <a:r>
              <a:rPr b="0" sz="1700" i="0">
                <a:solidFill>
                  <a:srgbClr val="1A2233"/>
                </a:solidFill>
                <a:latin typeface="Calibri"/>
              </a:rPr>
              <a:t>▪ Manual: Excel waits; press </a:t>
            </a:r>
            <a:r>
              <a:rPr b="0" sz="1700" i="0">
                <a:solidFill>
                  <a:srgbClr val="0B5E82"/>
                </a:solidFill>
                <a:latin typeface="Consolas"/>
              </a:rPr>
              <a:t>F9</a:t>
            </a:r>
            <a:r>
              <a:rPr b="0" sz="1700" i="0">
                <a:solidFill>
                  <a:srgbClr val="1A2233"/>
                </a:solidFill>
                <a:latin typeface="Calibri"/>
              </a:rPr>
              <a:t> (Win) / </a:t>
            </a:r>
            <a:r>
              <a:rPr b="0" sz="1700" i="0">
                <a:solidFill>
                  <a:srgbClr val="0B5E82"/>
                </a:solidFill>
                <a:latin typeface="Consolas"/>
              </a:rPr>
              <a:t>Fn+F9</a:t>
            </a:r>
            <a:r>
              <a:rPr b="0" sz="1700" i="0">
                <a:solidFill>
                  <a:srgbClr val="1A2233"/>
                </a:solidFill>
                <a:latin typeface="Calibri"/>
              </a:rPr>
              <a:t> (Mac) to calculate</a:t>
            </a:r>
          </a:p>
          <a:p>
            <a:pPr>
              <a:spcAft>
                <a:spcPts val="600"/>
              </a:spcAft>
            </a:pPr>
            <a:r>
              <a:rPr b="0" sz="1700" i="0">
                <a:solidFill>
                  <a:srgbClr val="1A2233"/>
                </a:solidFill>
                <a:latin typeface="Calibri"/>
              </a:rPr>
              <a:t>▪ </a:t>
            </a:r>
            <a:r>
              <a:rPr b="0" sz="1700" i="0">
                <a:solidFill>
                  <a:srgbClr val="0B5E82"/>
                </a:solidFill>
                <a:latin typeface="Consolas"/>
              </a:rPr>
              <a:t>Shift+F9</a:t>
            </a:r>
            <a:r>
              <a:rPr b="0" sz="1700" i="0">
                <a:solidFill>
                  <a:srgbClr val="1A2233"/>
                </a:solidFill>
                <a:latin typeface="Calibri"/>
              </a:rPr>
              <a:t>: calculate only the active sheet</a:t>
            </a:r>
          </a:p>
          <a:p>
            <a:pPr>
              <a:spcAft>
                <a:spcPts val="600"/>
              </a:spcAft>
            </a:pPr>
            <a:r>
              <a:rPr b="0" sz="1700" i="0">
                <a:solidFill>
                  <a:srgbClr val="1A2233"/>
                </a:solidFill>
                <a:latin typeface="Calibri"/>
              </a:rPr>
              <a:t>▪ Large models are sometimes switched to manual while editing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1463040"/>
            <a:ext cx="5394960" cy="411480"/>
          </a:xfrm>
          <a:prstGeom prst="rect">
            <a:avLst/>
          </a:prstGeom>
          <a:solidFill>
            <a:srgbClr val="141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27432" bIns="27432"/>
          <a:lstStyle/>
          <a:p>
            <a:pPr algn="l"/>
            <a:r>
              <a:rPr b="1" sz="1700" i="0">
                <a:solidFill>
                  <a:srgbClr val="FFFFFF"/>
                </a:solidFill>
                <a:latin typeface="Calibri"/>
              </a:rPr>
              <a:t>Iterative calculation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1874519"/>
            <a:ext cx="5394960" cy="4389120"/>
          </a:xfrm>
          <a:prstGeom prst="rect">
            <a:avLst/>
          </a:prstGeom>
          <a:solidFill>
            <a:srgbClr val="F3F6F9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36792" y="1938528"/>
            <a:ext cx="5257800" cy="4251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0" sz="1700" i="0">
                <a:solidFill>
                  <a:srgbClr val="1A2233"/>
                </a:solidFill>
                <a:latin typeface="Calibri"/>
              </a:rPr>
              <a:t>▪ Normally a circular reference is an error</a:t>
            </a:r>
          </a:p>
          <a:p>
            <a:pPr>
              <a:spcAft>
                <a:spcPts val="600"/>
              </a:spcAft>
            </a:pPr>
            <a:r>
              <a:rPr b="0" sz="1700" i="0">
                <a:solidFill>
                  <a:srgbClr val="1A2233"/>
                </a:solidFill>
                <a:latin typeface="Calibri"/>
              </a:rPr>
              <a:t>▪ With iterations on, Excel loops until the answer settles</a:t>
            </a:r>
          </a:p>
          <a:p>
            <a:pPr>
              <a:spcAft>
                <a:spcPts val="600"/>
              </a:spcAft>
            </a:pPr>
            <a:r>
              <a:rPr b="0" sz="1700" i="0">
                <a:solidFill>
                  <a:srgbClr val="1A2233"/>
                </a:solidFill>
                <a:latin typeface="Calibri"/>
              </a:rPr>
              <a:t>▪ Windows: File ▸ Options ▸ Formulas ▸ Enable iterative calculation</a:t>
            </a:r>
          </a:p>
          <a:p>
            <a:pPr>
              <a:spcAft>
                <a:spcPts val="600"/>
              </a:spcAft>
            </a:pPr>
            <a:r>
              <a:rPr b="0" sz="1700" i="0">
                <a:solidFill>
                  <a:srgbClr val="1A2233"/>
                </a:solidFill>
                <a:latin typeface="Calibri"/>
              </a:rPr>
              <a:t>▪ Mac: Excel ▸ Settings ▸ Calculation ▸ Use iterative calculation</a:t>
            </a:r>
          </a:p>
          <a:p>
            <a:pPr>
              <a:spcAft>
                <a:spcPts val="600"/>
              </a:spcAft>
            </a:pPr>
            <a:r>
              <a:rPr b="0" sz="1700" i="0">
                <a:solidFill>
                  <a:srgbClr val="1A2233"/>
                </a:solidFill>
                <a:latin typeface="Calibri"/>
              </a:rPr>
              <a:t>▪ Our Day 6 method avoids circularity, so keep it OFF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19088"/>
            <a:ext cx="12191695" cy="9525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b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6492240"/>
            <a:ext cx="821233" cy="2834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5448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000" i="0">
                <a:solidFill>
                  <a:srgbClr val="5C6B7A"/>
                </a:solidFill>
                <a:latin typeface="Calibri"/>
              </a:rPr>
              <a:t>MIPF Boot Camp  |  Excel Foundations  |  Excel from zero for project finance modelling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649224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b="0" sz="1000" i="0">
                <a:solidFill>
                  <a:srgbClr val="5C6B7A"/>
                </a:solidFill>
                <a:latin typeface="Calibri"/>
              </a:rPr>
              <a:t>44</a:t>
            </a:r>
          </a:p>
        </p:txBody>
      </p:sp>
      <p:pic>
        <p:nvPicPr>
          <p:cNvPr id="6" name="Picture 5" descr="mipf_hex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6446520"/>
            <a:ext cx="365760" cy="365760"/>
          </a:xfrm>
          <a:prstGeom prst="rect">
            <a:avLst/>
          </a:prstGeom>
        </p:spPr>
      </p:pic>
      <p:pic>
        <p:nvPicPr>
          <p:cNvPr id="7" name="Picture 6" descr="bongo_ai_hex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0" y="6446520"/>
            <a:ext cx="365760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237744"/>
            <a:ext cx="112471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100" i="0">
                <a:solidFill>
                  <a:srgbClr val="A8700F"/>
                </a:solidFill>
                <a:latin typeface="Calibri"/>
              </a:rPr>
              <a:t>PREVIEW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5488"/>
            <a:ext cx="1124712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b="1" sz="2800" i="0">
                <a:solidFill>
                  <a:srgbClr val="141B4D"/>
                </a:solidFill>
                <a:latin typeface="Georgia"/>
              </a:rPr>
              <a:t>Tools we will use later in the week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52728"/>
            <a:ext cx="1463040" cy="38100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5087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b="0" sz="2000" i="0">
                <a:solidFill>
                  <a:srgbClr val="1A2233"/>
                </a:solidFill>
                <a:latin typeface="Calibri"/>
              </a:rPr>
              <a:t>▪ </a:t>
            </a:r>
            <a:r>
              <a:rPr b="1" sz="2000" i="0">
                <a:solidFill>
                  <a:srgbClr val="1A2233"/>
                </a:solidFill>
                <a:latin typeface="Calibri"/>
              </a:rPr>
              <a:t>Goal Seek</a:t>
            </a:r>
            <a:r>
              <a:rPr b="0" sz="2000" i="0">
                <a:solidFill>
                  <a:srgbClr val="1A2233"/>
                </a:solidFill>
                <a:latin typeface="Calibri"/>
              </a:rPr>
              <a:t> (Day 7): change one cell until another cell reaches a target. </a:t>
            </a:r>
            <a:r>
              <a:rPr b="0" sz="2000" i="0">
                <a:solidFill>
                  <a:srgbClr val="0B5E82"/>
                </a:solidFill>
                <a:latin typeface="Consolas"/>
              </a:rPr>
              <a:t>Alt+A, W, G</a:t>
            </a:r>
            <a:r>
              <a:rPr b="0" sz="2000" i="0">
                <a:solidFill>
                  <a:srgbClr val="1A2233"/>
                </a:solidFill>
                <a:latin typeface="Calibri"/>
              </a:rPr>
              <a:t> (Win) / Data ▸ What-If Analysis ▸ Goal Seek (Mac).</a:t>
            </a:r>
          </a:p>
          <a:p>
            <a:pPr>
              <a:spcAft>
                <a:spcPts val="700"/>
              </a:spcAft>
            </a:pPr>
            <a:r>
              <a:rPr b="0" sz="2000" i="0">
                <a:solidFill>
                  <a:srgbClr val="1A2233"/>
                </a:solidFill>
                <a:latin typeface="Calibri"/>
              </a:rPr>
              <a:t>▪ </a:t>
            </a:r>
            <a:r>
              <a:rPr b="1" sz="2000" i="0">
                <a:solidFill>
                  <a:srgbClr val="1A2233"/>
                </a:solidFill>
                <a:latin typeface="Calibri"/>
              </a:rPr>
              <a:t>Data Table</a:t>
            </a:r>
            <a:r>
              <a:rPr b="0" sz="2000" i="0">
                <a:solidFill>
                  <a:srgbClr val="1A2233"/>
                </a:solidFill>
                <a:latin typeface="Calibri"/>
              </a:rPr>
              <a:t> (Day 5): a grid of results for different inputs. </a:t>
            </a:r>
            <a:r>
              <a:rPr b="0" sz="2000" i="0">
                <a:solidFill>
                  <a:srgbClr val="0B5E82"/>
                </a:solidFill>
                <a:latin typeface="Consolas"/>
              </a:rPr>
              <a:t>Alt+A, W, T</a:t>
            </a:r>
            <a:r>
              <a:rPr b="0" sz="2000" i="0">
                <a:solidFill>
                  <a:srgbClr val="1A2233"/>
                </a:solidFill>
                <a:latin typeface="Calibri"/>
              </a:rPr>
              <a:t> / Data ▸ What-If Analysis ▸ Data Table.</a:t>
            </a:r>
          </a:p>
          <a:p>
            <a:pPr>
              <a:spcAft>
                <a:spcPts val="700"/>
              </a:spcAft>
            </a:pPr>
            <a:r>
              <a:rPr b="0" sz="2000" i="0">
                <a:solidFill>
                  <a:srgbClr val="1A2233"/>
                </a:solidFill>
                <a:latin typeface="Calibri"/>
              </a:rPr>
              <a:t>▪ </a:t>
            </a:r>
            <a:r>
              <a:rPr b="1" sz="2000" i="0">
                <a:solidFill>
                  <a:srgbClr val="1A2233"/>
                </a:solidFill>
                <a:latin typeface="Calibri"/>
              </a:rPr>
              <a:t>Freeze Panes</a:t>
            </a:r>
            <a:r>
              <a:rPr b="0" sz="2000" i="0">
                <a:solidFill>
                  <a:srgbClr val="1A2233"/>
                </a:solidFill>
                <a:latin typeface="Calibri"/>
              </a:rPr>
              <a:t>: keep labels visible while scrolling the timeline. </a:t>
            </a:r>
            <a:r>
              <a:rPr b="0" sz="2000" i="0">
                <a:solidFill>
                  <a:srgbClr val="0B5E82"/>
                </a:solidFill>
                <a:latin typeface="Consolas"/>
              </a:rPr>
              <a:t>Alt+W, F, F</a:t>
            </a:r>
            <a:r>
              <a:rPr b="0" sz="2000" i="0">
                <a:solidFill>
                  <a:srgbClr val="1A2233"/>
                </a:solidFill>
                <a:latin typeface="Calibri"/>
              </a:rPr>
              <a:t> / View ▸ Freeze Panes.</a:t>
            </a:r>
          </a:p>
          <a:p>
            <a:pPr>
              <a:spcAft>
                <a:spcPts val="700"/>
              </a:spcAft>
            </a:pPr>
            <a:r>
              <a:rPr b="0" sz="2000" i="0">
                <a:solidFill>
                  <a:srgbClr val="1A2233"/>
                </a:solidFill>
                <a:latin typeface="Calibri"/>
              </a:rPr>
              <a:t>▪ </a:t>
            </a:r>
            <a:r>
              <a:rPr b="1" sz="2000" i="0">
                <a:solidFill>
                  <a:srgbClr val="1A2233"/>
                </a:solidFill>
                <a:latin typeface="Calibri"/>
              </a:rPr>
              <a:t>Group sheets</a:t>
            </a:r>
            <a:r>
              <a:rPr b="0" sz="2000" i="0">
                <a:solidFill>
                  <a:srgbClr val="1A2233"/>
                </a:solidFill>
                <a:latin typeface="Calibri"/>
              </a:rPr>
              <a:t>: select several tabs (Shift+click) and an edit applies to all of them. Always un-group afterwards.</a:t>
            </a:r>
          </a:p>
          <a:p>
            <a:pPr>
              <a:spcAft>
                <a:spcPts val="700"/>
              </a:spcAft>
            </a:pPr>
            <a:r>
              <a:rPr b="0" sz="2000" i="0">
                <a:solidFill>
                  <a:srgbClr val="1A2233"/>
                </a:solidFill>
                <a:latin typeface="Calibri"/>
              </a:rPr>
              <a:t>▪ </a:t>
            </a:r>
            <a:r>
              <a:rPr b="1" sz="2000" i="0">
                <a:solidFill>
                  <a:srgbClr val="1A2233"/>
                </a:solidFill>
                <a:latin typeface="Calibri"/>
              </a:rPr>
              <a:t>Paste Special ▸ Values</a:t>
            </a:r>
            <a:r>
              <a:rPr b="0" sz="2000" i="0">
                <a:solidFill>
                  <a:srgbClr val="1A2233"/>
                </a:solidFill>
                <a:latin typeface="Calibri"/>
              </a:rPr>
              <a:t>: turn formulas into fixed numbers (used to store scenario results on Track).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19088"/>
            <a:ext cx="12191695" cy="9525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b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6492240"/>
            <a:ext cx="821233" cy="2834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5448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000" i="0">
                <a:solidFill>
                  <a:srgbClr val="5C6B7A"/>
                </a:solidFill>
                <a:latin typeface="Calibri"/>
              </a:rPr>
              <a:t>MIPF Boot Camp  |  Excel Foundations  |  Excel from zero for project finance modelling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649224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b="0" sz="1000" i="0">
                <a:solidFill>
                  <a:srgbClr val="5C6B7A"/>
                </a:solidFill>
                <a:latin typeface="Calibri"/>
              </a:rPr>
              <a:t>45</a:t>
            </a:r>
          </a:p>
        </p:txBody>
      </p:sp>
      <p:pic>
        <p:nvPicPr>
          <p:cNvPr id="6" name="Picture 5" descr="mipf_hex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6446520"/>
            <a:ext cx="365760" cy="365760"/>
          </a:xfrm>
          <a:prstGeom prst="rect">
            <a:avLst/>
          </a:prstGeom>
        </p:spPr>
      </p:pic>
      <p:pic>
        <p:nvPicPr>
          <p:cNvPr id="7" name="Picture 6" descr="bongo_ai_hex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0" y="6446520"/>
            <a:ext cx="365760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237744"/>
            <a:ext cx="112471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100" i="0">
                <a:solidFill>
                  <a:srgbClr val="A8700F"/>
                </a:solidFill>
                <a:latin typeface="Calibri"/>
              </a:rPr>
              <a:t>CHEAT SHEET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5488"/>
            <a:ext cx="1124712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b="1" sz="2800" i="0">
                <a:solidFill>
                  <a:srgbClr val="141B4D"/>
                </a:solidFill>
                <a:latin typeface="Georgia"/>
              </a:rPr>
              <a:t>Windows vs Mac: the differences that bite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52728"/>
            <a:ext cx="1463040" cy="38100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48640" y="1508760"/>
          <a:ext cx="11064240" cy="35948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3840480"/>
                <a:gridCol w="429768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b="1" sz="1300" i="0">
                          <a:solidFill>
                            <a:srgbClr val="FFFFFF"/>
                          </a:solidFill>
                          <a:latin typeface="Calibri"/>
                        </a:rPr>
                        <a:t>Topic</a:t>
                      </a:r>
                    </a:p>
                  </a:txBody>
                  <a:tcPr marL="64008" marR="64008" marT="27432" marB="27432" anchor="ctr">
                    <a:solidFill>
                      <a:srgbClr val="141B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300" i="0">
                          <a:solidFill>
                            <a:srgbClr val="FFFFFF"/>
                          </a:solidFill>
                          <a:latin typeface="Calibri"/>
                        </a:rPr>
                        <a:t>Windows</a:t>
                      </a:r>
                    </a:p>
                  </a:txBody>
                  <a:tcPr marL="64008" marR="64008" marT="27432" marB="27432" anchor="ctr">
                    <a:solidFill>
                      <a:srgbClr val="141B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300" i="0">
                          <a:solidFill>
                            <a:srgbClr val="FFFFFF"/>
                          </a:solidFill>
                          <a:latin typeface="Calibri"/>
                        </a:rPr>
                        <a:t>Mac</a:t>
                      </a:r>
                    </a:p>
                  </a:txBody>
                  <a:tcPr marL="64008" marR="64008" marT="27432" marB="27432" anchor="ctr">
                    <a:solidFill>
                      <a:srgbClr val="141B4D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b="1" sz="1300" i="0">
                          <a:solidFill>
                            <a:srgbClr val="1A2233"/>
                          </a:solidFill>
                          <a:latin typeface="Calibri"/>
                        </a:rPr>
                        <a:t>Main modifier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Ctrl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Cmd (⌘), sometimes Ctrl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b="1" sz="1300" i="0">
                          <a:solidFill>
                            <a:srgbClr val="1A2233"/>
                          </a:solidFill>
                          <a:latin typeface="Calibri"/>
                        </a:rPr>
                        <a:t>Function keys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F2, F4, F9 directly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Add Fn (or change the keyboard setting)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b="1" sz="1300" i="0">
                          <a:solidFill>
                            <a:srgbClr val="1A2233"/>
                          </a:solidFill>
                          <a:latin typeface="Calibri"/>
                        </a:rPr>
                        <a:t>Ribbon key tips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Alt, then letters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Not available: use menus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b="1" sz="1300" i="0">
                          <a:solidFill>
                            <a:srgbClr val="1A2233"/>
                          </a:solidFill>
                          <a:latin typeface="Calibri"/>
                        </a:rPr>
                        <a:t>Jump to edge of data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Ctrl+Arrow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Cmd+Arrow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b="1" sz="1300" i="0">
                          <a:solidFill>
                            <a:srgbClr val="1A2233"/>
                          </a:solidFill>
                          <a:latin typeface="Calibri"/>
                        </a:rPr>
                        <a:t>Toggle $ signs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F4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Cmd+T (or Fn+F4)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b="1" sz="1300" i="0">
                          <a:solidFill>
                            <a:srgbClr val="1A2233"/>
                          </a:solidFill>
                          <a:latin typeface="Calibri"/>
                        </a:rPr>
                        <a:t>Edit cell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F2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Ctrl+U (or Fn+F2)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b="1" sz="1300" i="0">
                          <a:solidFill>
                            <a:srgbClr val="1A2233"/>
                          </a:solidFill>
                          <a:latin typeface="Calibri"/>
                        </a:rPr>
                        <a:t>Fill range while typing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Ctrl+Enter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Ctrl+Return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522478">
                <a:tc>
                  <a:txBody>
                    <a:bodyPr wrap="square"/>
                    <a:lstStyle/>
                    <a:p>
                      <a:r>
                        <a:rPr b="1" sz="1300" i="0">
                          <a:solidFill>
                            <a:srgbClr val="1A2233"/>
                          </a:solidFill>
                          <a:latin typeface="Calibri"/>
                        </a:rPr>
                        <a:t>Excel features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All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300" i="0">
                          <a:solidFill>
                            <a:srgbClr val="1A2233"/>
                          </a:solidFill>
                          <a:latin typeface="Calibri"/>
                        </a:rPr>
                        <a:t>Slightly fewer: no Power Pivot; Data Table, Goal Seek and Solver are available</a:t>
                      </a:r>
                    </a:p>
                  </a:txBody>
                  <a:tcPr marL="64008" marR="64008" marT="27432" marB="27432" anchor="ctr">
                    <a:solidFill>
                      <a:srgbClr val="F3F6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19088"/>
            <a:ext cx="12191695" cy="9525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b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6492240"/>
            <a:ext cx="821233" cy="2834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5448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000" i="0">
                <a:solidFill>
                  <a:srgbClr val="5C6B7A"/>
                </a:solidFill>
                <a:latin typeface="Calibri"/>
              </a:rPr>
              <a:t>MIPF Boot Camp  |  Excel Foundations  |  Excel from zero for project finance modelling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649224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b="0" sz="1000" i="0">
                <a:solidFill>
                  <a:srgbClr val="5C6B7A"/>
                </a:solidFill>
                <a:latin typeface="Calibri"/>
              </a:rPr>
              <a:t>46</a:t>
            </a:r>
          </a:p>
        </p:txBody>
      </p:sp>
      <p:pic>
        <p:nvPicPr>
          <p:cNvPr id="6" name="Picture 5" descr="mipf_hex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6446520"/>
            <a:ext cx="365760" cy="365760"/>
          </a:xfrm>
          <a:prstGeom prst="rect">
            <a:avLst/>
          </a:prstGeom>
        </p:spPr>
      </p:pic>
      <p:pic>
        <p:nvPicPr>
          <p:cNvPr id="7" name="Picture 6" descr="bongo_ai_hex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0" y="6446520"/>
            <a:ext cx="365760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237744"/>
            <a:ext cx="112471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100" i="0">
                <a:solidFill>
                  <a:srgbClr val="A8700F"/>
                </a:solidFill>
                <a:latin typeface="Calibri"/>
              </a:rPr>
              <a:t>SETUP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5488"/>
            <a:ext cx="1124712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b="1" sz="2800" i="0">
                <a:solidFill>
                  <a:srgbClr val="141B4D"/>
                </a:solidFill>
                <a:latin typeface="Georgia"/>
              </a:rPr>
              <a:t>Setup checklist before Day 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52728"/>
            <a:ext cx="1463040" cy="38100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5087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b="0" sz="2000" i="0">
                <a:solidFill>
                  <a:srgbClr val="1A2233"/>
                </a:solidFill>
                <a:latin typeface="Calibri"/>
              </a:rPr>
              <a:t>▪ Excel for Microsoft 365 or Excel 2019 or later (needed for MINIFS and dynamic ranges)</a:t>
            </a:r>
          </a:p>
          <a:p>
            <a:pPr>
              <a:spcAft>
                <a:spcPts val="700"/>
              </a:spcAft>
            </a:pPr>
            <a:r>
              <a:rPr b="0" sz="2000" i="0">
                <a:solidFill>
                  <a:srgbClr val="1A2233"/>
                </a:solidFill>
                <a:latin typeface="Calibri"/>
              </a:rPr>
              <a:t>▪ Download </a:t>
            </a:r>
            <a:r>
              <a:rPr b="0" sz="2000" i="0">
                <a:solidFill>
                  <a:srgbClr val="0B5E82"/>
                </a:solidFill>
                <a:latin typeface="Consolas"/>
              </a:rPr>
              <a:t>TrainStat_StartModel.xlsx</a:t>
            </a:r>
            <a:r>
              <a:rPr b="0" sz="2000" i="0">
                <a:solidFill>
                  <a:srgbClr val="1A2233"/>
                </a:solidFill>
                <a:latin typeface="Calibri"/>
              </a:rPr>
              <a:t> from the course website; keep an untouched copy</a:t>
            </a:r>
          </a:p>
          <a:p>
            <a:pPr>
              <a:spcAft>
                <a:spcPts val="700"/>
              </a:spcAft>
            </a:pPr>
            <a:r>
              <a:rPr b="0" sz="2000" i="0">
                <a:solidFill>
                  <a:srgbClr val="1A2233"/>
                </a:solidFill>
                <a:latin typeface="Calibri"/>
              </a:rPr>
              <a:t>▪ Save your working copy with your initials: </a:t>
            </a:r>
            <a:r>
              <a:rPr b="0" sz="2000" i="0">
                <a:solidFill>
                  <a:srgbClr val="0B5E82"/>
                </a:solidFill>
                <a:latin typeface="Consolas"/>
              </a:rPr>
              <a:t>TrainStat_PF_&lt;initials&gt;.xlsx</a:t>
            </a:r>
          </a:p>
          <a:p>
            <a:pPr>
              <a:spcAft>
                <a:spcPts val="700"/>
              </a:spcAft>
            </a:pPr>
            <a:r>
              <a:rPr b="0" sz="2000" i="0">
                <a:solidFill>
                  <a:srgbClr val="1A2233"/>
                </a:solidFill>
                <a:latin typeface="Calibri"/>
              </a:rPr>
              <a:t>▪ Turn off 'Autosave to OneDrive' while editing if your connection is slow</a:t>
            </a:r>
          </a:p>
          <a:p>
            <a:pPr>
              <a:spcAft>
                <a:spcPts val="700"/>
              </a:spcAft>
            </a:pPr>
            <a:r>
              <a:rPr b="0" sz="2000" i="0">
                <a:solidFill>
                  <a:srgbClr val="1A2233"/>
                </a:solidFill>
                <a:latin typeface="Calibri"/>
              </a:rPr>
              <a:t>▪ Check that </a:t>
            </a:r>
            <a:r>
              <a:rPr b="0" sz="2000" i="0">
                <a:solidFill>
                  <a:srgbClr val="0B5E82"/>
                </a:solidFill>
                <a:latin typeface="Consolas"/>
              </a:rPr>
              <a:t>Ctrl+G</a:t>
            </a:r>
            <a:r>
              <a:rPr b="0" sz="2000" i="0">
                <a:solidFill>
                  <a:srgbClr val="1A2233"/>
                </a:solidFill>
                <a:latin typeface="Calibri"/>
              </a:rPr>
              <a:t> opens Go To, and that </a:t>
            </a:r>
            <a:r>
              <a:rPr b="0" sz="2000" i="0">
                <a:solidFill>
                  <a:srgbClr val="0B5E82"/>
                </a:solidFill>
                <a:latin typeface="Consolas"/>
              </a:rPr>
              <a:t>Ctrl+`</a:t>
            </a:r>
            <a:r>
              <a:rPr b="0" sz="2000" i="0">
                <a:solidFill>
                  <a:srgbClr val="1A2233"/>
                </a:solidFill>
                <a:latin typeface="Calibri"/>
              </a:rPr>
              <a:t> toggles formulas</a:t>
            </a:r>
          </a:p>
          <a:p>
            <a:pPr>
              <a:spcAft>
                <a:spcPts val="700"/>
              </a:spcAft>
            </a:pPr>
            <a:r>
              <a:rPr b="0" sz="2000" i="0">
                <a:solidFill>
                  <a:srgbClr val="1A2233"/>
                </a:solidFill>
                <a:latin typeface="Calibri"/>
              </a:rPr>
              <a:t>▪ Set Excel to Automatic calculation; iterative calculation OFF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5303520"/>
            <a:ext cx="10881360" cy="731520"/>
          </a:xfrm>
          <a:prstGeom prst="rect">
            <a:avLst/>
          </a:prstGeom>
          <a:solidFill>
            <a:srgbClr val="FBF0D9"/>
          </a:solidFill>
          <a:ln w="15240">
            <a:solidFill>
              <a:srgbClr val="D99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5303520"/>
            <a:ext cx="82296" cy="731520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5303520"/>
            <a:ext cx="10652760" cy="7315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b="0" sz="1400" i="0">
                <a:solidFill>
                  <a:srgbClr val="1A2233"/>
                </a:solidFill>
                <a:latin typeface="Calibri"/>
              </a:rPr>
              <a:t>Ask each participant to show their screen with the Go To box open before you move on.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19088"/>
            <a:ext cx="12191695" cy="9525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b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6492240"/>
            <a:ext cx="821233" cy="2834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5448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000" i="0">
                <a:solidFill>
                  <a:srgbClr val="5C6B7A"/>
                </a:solidFill>
                <a:latin typeface="Calibri"/>
              </a:rPr>
              <a:t>MIPF Boot Camp  |  Excel Foundations  |  Excel from zero for project finance modelling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649224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b="0" sz="1000" i="0">
                <a:solidFill>
                  <a:srgbClr val="5C6B7A"/>
                </a:solidFill>
                <a:latin typeface="Calibri"/>
              </a:rPr>
              <a:t>47</a:t>
            </a:r>
          </a:p>
        </p:txBody>
      </p:sp>
      <p:pic>
        <p:nvPicPr>
          <p:cNvPr id="6" name="Picture 5" descr="mipf_hex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6446520"/>
            <a:ext cx="365760" cy="365760"/>
          </a:xfrm>
          <a:prstGeom prst="rect">
            <a:avLst/>
          </a:prstGeom>
        </p:spPr>
      </p:pic>
      <p:pic>
        <p:nvPicPr>
          <p:cNvPr id="7" name="Picture 6" descr="bongo_ai_hex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0" y="6446520"/>
            <a:ext cx="365760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237744"/>
            <a:ext cx="112471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100" i="0">
                <a:solidFill>
                  <a:srgbClr val="A8700F"/>
                </a:solidFill>
                <a:latin typeface="Calibri"/>
              </a:rPr>
              <a:t>CHECK YOUR UNDERSTANDING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5488"/>
            <a:ext cx="1124712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b="1" sz="2800" i="0">
                <a:solidFill>
                  <a:srgbClr val="141B4D"/>
                </a:solidFill>
                <a:latin typeface="Georgia"/>
              </a:rPr>
              <a:t>Quick check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52728"/>
            <a:ext cx="1463040" cy="38100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508760"/>
            <a:ext cx="10881360" cy="10058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2000" i="0">
                <a:solidFill>
                  <a:srgbClr val="141B4D"/>
                </a:solidFill>
                <a:latin typeface="Georgia"/>
              </a:rPr>
              <a:t>You see =SUM(J19:CO19) in column H and =IF(J$17=1,J11*J14,0) in J19. What does the H cell do?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2697480"/>
            <a:ext cx="548640" cy="59436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b="1" sz="2000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2697480"/>
            <a:ext cx="1005840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b="0" sz="1700" i="0">
                <a:solidFill>
                  <a:srgbClr val="1A2233"/>
                </a:solidFill>
                <a:latin typeface="Calibri"/>
              </a:rPr>
              <a:t>Adds the whole timeline of row 19 into one total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3474720"/>
            <a:ext cx="548640" cy="59436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b="1" sz="2000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474720"/>
            <a:ext cx="1005840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b="0" sz="1700" i="0">
                <a:solidFill>
                  <a:srgbClr val="1A2233"/>
                </a:solidFill>
                <a:latin typeface="Calibri"/>
              </a:rPr>
              <a:t>Adds only J19</a:t>
            </a:r>
          </a:p>
        </p:txBody>
      </p:sp>
      <p:sp>
        <p:nvSpPr>
          <p:cNvPr id="16" name="Oval 15"/>
          <p:cNvSpPr/>
          <p:nvPr/>
        </p:nvSpPr>
        <p:spPr>
          <a:xfrm>
            <a:off x="731520" y="4251960"/>
            <a:ext cx="548640" cy="59436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b="1" sz="2000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251960"/>
            <a:ext cx="1005840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b="0" sz="1700" i="0">
                <a:solidFill>
                  <a:srgbClr val="1A2233"/>
                </a:solidFill>
                <a:latin typeface="Calibri"/>
              </a:rPr>
              <a:t>Counts the columns</a:t>
            </a:r>
          </a:p>
        </p:txBody>
      </p:sp>
      <p:sp>
        <p:nvSpPr>
          <p:cNvPr id="18" name="Oval 17"/>
          <p:cNvSpPr/>
          <p:nvPr/>
        </p:nvSpPr>
        <p:spPr>
          <a:xfrm>
            <a:off x="731520" y="5029200"/>
            <a:ext cx="548640" cy="59436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b="1" sz="2000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5029200"/>
            <a:ext cx="1005840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b="0" sz="1700" i="0">
                <a:solidFill>
                  <a:srgbClr val="1A2233"/>
                </a:solidFill>
                <a:latin typeface="Calibri"/>
              </a:rPr>
              <a:t>Copies row 19 to row 17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19088"/>
            <a:ext cx="12191695" cy="9525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b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6492240"/>
            <a:ext cx="821233" cy="2834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5448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000" i="0">
                <a:solidFill>
                  <a:srgbClr val="5C6B7A"/>
                </a:solidFill>
                <a:latin typeface="Calibri"/>
              </a:rPr>
              <a:t>MIPF Boot Camp  |  Excel Foundations  |  Excel from zero for project finance modelling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649224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b="0" sz="1000" i="0">
                <a:solidFill>
                  <a:srgbClr val="5C6B7A"/>
                </a:solidFill>
                <a:latin typeface="Calibri"/>
              </a:rPr>
              <a:t>48</a:t>
            </a:r>
          </a:p>
        </p:txBody>
      </p:sp>
      <p:pic>
        <p:nvPicPr>
          <p:cNvPr id="6" name="Picture 5" descr="mipf_hex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6446520"/>
            <a:ext cx="365760" cy="365760"/>
          </a:xfrm>
          <a:prstGeom prst="rect">
            <a:avLst/>
          </a:prstGeom>
        </p:spPr>
      </p:pic>
      <p:pic>
        <p:nvPicPr>
          <p:cNvPr id="7" name="Picture 6" descr="bongo_ai_hex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0" y="6446520"/>
            <a:ext cx="365760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237744"/>
            <a:ext cx="112471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100" i="0">
                <a:solidFill>
                  <a:srgbClr val="A8700F"/>
                </a:solidFill>
                <a:latin typeface="Calibri"/>
              </a:rPr>
              <a:t>CHECK YOUR UNDERSTANDING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5488"/>
            <a:ext cx="1124712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b="1" sz="2800" i="0">
                <a:solidFill>
                  <a:srgbClr val="141B4D"/>
                </a:solidFill>
                <a:latin typeface="Georgia"/>
              </a:rPr>
              <a:t>Discuss, then compare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52728"/>
            <a:ext cx="1463040" cy="38100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508760"/>
            <a:ext cx="10881360" cy="822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600" i="1">
                <a:solidFill>
                  <a:srgbClr val="5C6B7A"/>
                </a:solidFill>
                <a:latin typeface="Calibri"/>
              </a:rPr>
              <a:t>You see =SUM(J19:CO19) in column H and =IF(J$17=1,J11*J14,0) in J19. What does the H cell do?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468880"/>
            <a:ext cx="10881360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2200" i="0">
                <a:solidFill>
                  <a:srgbClr val="1E7B34"/>
                </a:solidFill>
                <a:latin typeface="Georgia"/>
              </a:rPr>
              <a:t>Agree your answer with a neighbour. Your facilitator will reveal it and explain why.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291840"/>
            <a:ext cx="10881360" cy="2743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800" i="0">
                <a:solidFill>
                  <a:srgbClr val="1A2233"/>
                </a:solidFill>
                <a:latin typeface="Calibri"/>
              </a:rPr>
              <a:t>Write your answer and one sentence of reasoning. The reasoning matters more than the letter.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19088"/>
            <a:ext cx="12191695" cy="9525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b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6492240"/>
            <a:ext cx="821233" cy="2834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5448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000" i="0">
                <a:solidFill>
                  <a:srgbClr val="5C6B7A"/>
                </a:solidFill>
                <a:latin typeface="Calibri"/>
              </a:rPr>
              <a:t>MIPF Boot Camp  |  Excel Foundations  |  Excel from zero for project finance modelling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649224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b="0" sz="1000" i="0">
                <a:solidFill>
                  <a:srgbClr val="5C6B7A"/>
                </a:solidFill>
                <a:latin typeface="Calibri"/>
              </a:rPr>
              <a:t>49</a:t>
            </a:r>
          </a:p>
        </p:txBody>
      </p:sp>
      <p:pic>
        <p:nvPicPr>
          <p:cNvPr id="6" name="Picture 5" descr="mipf_hex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6446520"/>
            <a:ext cx="365760" cy="365760"/>
          </a:xfrm>
          <a:prstGeom prst="rect">
            <a:avLst/>
          </a:prstGeom>
        </p:spPr>
      </p:pic>
      <p:pic>
        <p:nvPicPr>
          <p:cNvPr id="7" name="Picture 6" descr="bongo_ai_hex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0" y="6446520"/>
            <a:ext cx="365760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237744"/>
            <a:ext cx="112471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100" i="0">
                <a:solidFill>
                  <a:srgbClr val="A8700F"/>
                </a:solidFill>
                <a:latin typeface="Calibri"/>
              </a:rPr>
              <a:t>RECAP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5488"/>
            <a:ext cx="1124712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b="1" sz="2800" i="0">
                <a:solidFill>
                  <a:srgbClr val="141B4D"/>
                </a:solidFill>
                <a:latin typeface="Georgia"/>
              </a:rPr>
              <a:t>Recap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252728"/>
            <a:ext cx="1463040" cy="38100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5087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b="0" sz="2000" i="0">
                <a:solidFill>
                  <a:srgbClr val="1A2233"/>
                </a:solidFill>
                <a:latin typeface="Calibri"/>
              </a:rPr>
              <a:t>▪ A spreadsheet recalculates dependents when you change an input</a:t>
            </a:r>
          </a:p>
          <a:p>
            <a:pPr>
              <a:spcAft>
                <a:spcPts val="700"/>
              </a:spcAft>
            </a:pPr>
            <a:r>
              <a:rPr b="0" sz="2000" i="0">
                <a:solidFill>
                  <a:srgbClr val="1A2233"/>
                </a:solidFill>
                <a:latin typeface="Calibri"/>
              </a:rPr>
              <a:t>▪ Cell address = column letter + row number; range = corner to corner</a:t>
            </a:r>
          </a:p>
          <a:p>
            <a:pPr>
              <a:spcAft>
                <a:spcPts val="700"/>
              </a:spcAft>
            </a:pPr>
            <a:r>
              <a:rPr b="0" sz="2000" i="0">
                <a:solidFill>
                  <a:srgbClr val="1A2233"/>
                </a:solidFill>
                <a:latin typeface="Calibri"/>
              </a:rPr>
              <a:t>▪ $ freezes the part of a reference that must not move: F4 / Cmd+T cycles them</a:t>
            </a:r>
          </a:p>
          <a:p>
            <a:pPr>
              <a:spcAft>
                <a:spcPts val="700"/>
              </a:spcAft>
            </a:pPr>
            <a:r>
              <a:rPr b="0" sz="2000" i="0">
                <a:solidFill>
                  <a:srgbClr val="1A2233"/>
                </a:solidFill>
                <a:latin typeface="Calibri"/>
              </a:rPr>
              <a:t>▪ Functions to know: SUM, IF, AND, MIN/MAX, INDEX/MATCH, VLOOKUP, SUMIFS, EOMONTH/DATE, XIRR</a:t>
            </a:r>
          </a:p>
          <a:p>
            <a:pPr>
              <a:spcAft>
                <a:spcPts val="700"/>
              </a:spcAft>
            </a:pPr>
            <a:r>
              <a:rPr b="0" sz="2000" i="0">
                <a:solidFill>
                  <a:srgbClr val="1A2233"/>
                </a:solidFill>
                <a:latin typeface="Calibri"/>
              </a:rPr>
              <a:t>▪ The recipe: Ctrl+G range ▸ type formula ▸ Ctrl+Enter ▸ Ctrl+` to check</a:t>
            </a:r>
          </a:p>
          <a:p>
            <a:pPr>
              <a:spcAft>
                <a:spcPts val="700"/>
              </a:spcAft>
            </a:pPr>
            <a:r>
              <a:rPr b="0" sz="2000" i="0">
                <a:solidFill>
                  <a:srgbClr val="1A2233"/>
                </a:solidFill>
                <a:latin typeface="Calibri"/>
              </a:rPr>
              <a:t>▪ Keep blue = pulled, red = result, yellow = typed input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5394960"/>
            <a:ext cx="10881360" cy="685800"/>
          </a:xfrm>
          <a:prstGeom prst="rect">
            <a:avLst/>
          </a:prstGeom>
          <a:solidFill>
            <a:srgbClr val="E7F1F6"/>
          </a:solidFill>
          <a:ln w="15240"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5394960"/>
            <a:ext cx="82296" cy="6858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5394960"/>
            <a:ext cx="10652760" cy="6858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b="0" sz="1400" i="0">
                <a:solidFill>
                  <a:srgbClr val="1A2233"/>
                </a:solidFill>
                <a:latin typeface="Calibri"/>
              </a:rPr>
              <a:t>Next: Day 4 opens the TrainStat model and builds the Time sheet, step by step.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19088"/>
            <a:ext cx="12191695" cy="9525"/>
          </a:xfrm>
          <a:prstGeom prst="rect">
            <a:avLst/>
          </a:prstGeom>
          <a:solidFill>
            <a:srgbClr val="D9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6464808"/>
            <a:ext cx="1051560" cy="3474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b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6492240"/>
            <a:ext cx="821233" cy="28346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5448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0" sz="1000" i="0">
                <a:solidFill>
                  <a:srgbClr val="C9D3F5"/>
                </a:solidFill>
                <a:latin typeface="Calibri"/>
              </a:rPr>
              <a:t>MIPF Boot Camp  |  Excel Foundations  |  Excel from zero for project finance modelling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92640" y="6492240"/>
            <a:ext cx="640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b="0" sz="1000" i="0">
                <a:solidFill>
                  <a:srgbClr val="C9D3F5"/>
                </a:solidFill>
                <a:latin typeface="Calibri"/>
              </a:rPr>
              <a:t>50</a:t>
            </a:r>
          </a:p>
        </p:txBody>
      </p:sp>
      <p:pic>
        <p:nvPicPr>
          <p:cNvPr id="7" name="Picture 6" descr="mipf_hex_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6446520"/>
            <a:ext cx="365760" cy="365760"/>
          </a:xfrm>
          <a:prstGeom prst="rect">
            <a:avLst/>
          </a:prstGeom>
        </p:spPr>
      </p:pic>
      <p:pic>
        <p:nvPicPr>
          <p:cNvPr id="8" name="Picture 7" descr="bongo_ai_hex_dark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0" y="6446520"/>
            <a:ext cx="365760" cy="3657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" y="1554480"/>
            <a:ext cx="100584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1400" i="0">
                <a:solidFill>
                  <a:srgbClr val="D99A2B"/>
                </a:solidFill>
                <a:latin typeface="Calibri"/>
              </a:rPr>
              <a:t>QUESTIONS AND FOLLOW-UP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965960"/>
            <a:ext cx="10058400" cy="914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4400" i="0">
                <a:solidFill>
                  <a:srgbClr val="FFFFFF"/>
                </a:solidFill>
                <a:latin typeface="Georgia"/>
              </a:rPr>
              <a:t>Thank you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200400"/>
            <a:ext cx="8686800" cy="2194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b="1" sz="2000" i="0">
                <a:solidFill>
                  <a:srgbClr val="D8DEF5"/>
                </a:solidFill>
                <a:latin typeface="Calibri"/>
              </a:rPr>
              <a:t>Prof Bongo Adi</a:t>
            </a:r>
          </a:p>
          <a:p>
            <a:pPr algn="l"/>
            <a:r>
              <a:rPr b="0" sz="2000" i="0">
                <a:solidFill>
                  <a:srgbClr val="D8DEF5"/>
                </a:solidFill>
                <a:latin typeface="Calibri"/>
              </a:rPr>
              <a:t>Lagos Business School, Pan-Atlantic University</a:t>
            </a:r>
          </a:p>
          <a:p>
            <a:pPr algn="l"/>
            <a:r>
              <a:rPr b="0" sz="2000" i="0">
                <a:solidFill>
                  <a:srgbClr val="D8DEF5"/>
                </a:solidFill>
                <a:latin typeface="Calibri"/>
              </a:rPr>
              <a:t>Phone / WhatsApp:  +234 706 164 8699</a:t>
            </a:r>
          </a:p>
          <a:p>
            <a:pPr algn="l"/>
            <a:r>
              <a:rPr b="0" sz="2000" i="0">
                <a:solidFill>
                  <a:srgbClr val="D8DEF5"/>
                </a:solidFill>
                <a:latin typeface="Calibri"/>
              </a:rPr>
              <a:t>Email:  badi@lbs.edu.ng</a:t>
            </a:r>
          </a:p>
          <a:p>
            <a:pPr algn="l"/>
            <a:r>
              <a:rPr b="0" sz="2000" i="0">
                <a:solidFill>
                  <a:srgbClr val="D8DEF5"/>
                </a:solidFill>
                <a:latin typeface="Calibri"/>
              </a:rPr>
              <a:t>Fulbright email:  bongo.adi@fulbrightmail.org</a:t>
            </a:r>
          </a:p>
        </p:txBody>
      </p:sp>
      <p:pic>
        <p:nvPicPr>
          <p:cNvPr id="12" name="Picture 11" descr="mipf_hex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18320" y="1828800"/>
            <a:ext cx="2103120" cy="2103120"/>
          </a:xfrm>
          <a:prstGeom prst="rect">
            <a:avLst/>
          </a:prstGeom>
        </p:spPr>
      </p:pic>
      <p:pic>
        <p:nvPicPr>
          <p:cNvPr id="13" name="Picture 12" descr="bongo_ai_hex_dark_2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92640" y="4114800"/>
            <a:ext cx="1554480" cy="15544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MIPF_Excel_Foundations_Deck (participant edition)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