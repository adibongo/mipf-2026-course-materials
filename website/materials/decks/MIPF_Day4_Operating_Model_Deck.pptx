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Phase flag</c:v>
                </c:pt>
              </c:strCache>
            </c:strRef>
          </c:tx>
          <c:spPr>
            <a:solidFill>
              <a:srgbClr val="141B4D"/>
            </a:solidFill>
          </c:spPr>
          <c:cat>
            <c:strRef>
              <c:f>Sheet1!$A$2:$A$7</c:f>
              <c:strCache>
                <c:ptCount val="6"/>
                <c:pt idx="0">
                  <c:v>Q3-21</c:v>
                </c:pt>
                <c:pt idx="1">
                  <c:v>Q4-21</c:v>
                </c:pt>
                <c:pt idx="2">
                  <c:v>Q1-22</c:v>
                </c:pt>
                <c:pt idx="3">
                  <c:v>Q2-22</c:v>
                </c:pt>
                <c:pt idx="4">
                  <c:v>Q3-22</c:v>
                </c:pt>
                <c:pt idx="5">
                  <c:v>Q4-22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 val="0"/>
        <c:axPos val="l"/>
        <c:majorGridlines>
          <c:spPr>
            <a:ln>
              <a:solidFill>
                <a:srgbClr val="E1E7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phase 1=Pre, 2=Fin close, 3=Forecast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revenue</c:v>
                </c:pt>
              </c:strCache>
            </c:strRef>
          </c:tx>
          <c:spPr>
            <a:solidFill>
              <a:srgbClr val="141B4D"/>
            </a:solidFill>
          </c:spPr>
          <c:cat>
            <c:strRef>
              <c:f>Sheet1!$A$2:$A$21</c:f>
              <c:strCache>
                <c:ptCount val="20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  <c:pt idx="7">
                  <c:v>2029</c:v>
                </c:pt>
                <c:pt idx="8">
                  <c:v>2030</c:v>
                </c:pt>
                <c:pt idx="9">
                  <c:v>2031</c:v>
                </c:pt>
                <c:pt idx="10">
                  <c:v>2032</c:v>
                </c:pt>
                <c:pt idx="11">
                  <c:v>2033</c:v>
                </c:pt>
                <c:pt idx="12">
                  <c:v>2034</c:v>
                </c:pt>
                <c:pt idx="13">
                  <c:v>2035</c:v>
                </c:pt>
                <c:pt idx="14">
                  <c:v>2036</c:v>
                </c:pt>
                <c:pt idx="15">
                  <c:v>2037</c:v>
                </c:pt>
                <c:pt idx="16">
                  <c:v>2038</c:v>
                </c:pt>
                <c:pt idx="17">
                  <c:v>2039</c:v>
                </c:pt>
                <c:pt idx="18">
                  <c:v>2040</c:v>
                </c:pt>
                <c:pt idx="19">
                  <c:v>2041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62837</c:v>
                </c:pt>
                <c:pt idx="1">
                  <c:v>66459</c:v>
                </c:pt>
                <c:pt idx="2">
                  <c:v>70599</c:v>
                </c:pt>
                <c:pt idx="3">
                  <c:v>72981</c:v>
                </c:pt>
                <c:pt idx="4">
                  <c:v>76493</c:v>
                </c:pt>
                <c:pt idx="5">
                  <c:v>80130</c:v>
                </c:pt>
                <c:pt idx="6">
                  <c:v>83219</c:v>
                </c:pt>
                <c:pt idx="7">
                  <c:v>87879</c:v>
                </c:pt>
                <c:pt idx="8">
                  <c:v>90516</c:v>
                </c:pt>
                <c:pt idx="9">
                  <c:v>94978</c:v>
                </c:pt>
                <c:pt idx="10">
                  <c:v>99601</c:v>
                </c:pt>
                <c:pt idx="11">
                  <c:v>102589</c:v>
                </c:pt>
                <c:pt idx="12">
                  <c:v>105688</c:v>
                </c:pt>
                <c:pt idx="13">
                  <c:v>108859</c:v>
                </c:pt>
                <c:pt idx="14">
                  <c:v>110599</c:v>
                </c:pt>
                <c:pt idx="15">
                  <c:v>117048</c:v>
                </c:pt>
                <c:pt idx="16">
                  <c:v>122165</c:v>
                </c:pt>
                <c:pt idx="17">
                  <c:v>125830</c:v>
                </c:pt>
                <c:pt idx="18">
                  <c:v>129605</c:v>
                </c:pt>
                <c:pt idx="19">
                  <c:v>133493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7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$000s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4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0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8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32004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2516682" cy="868680"/>
          </a:xfrm>
          <a:prstGeom prst="rect">
            <a:avLst/>
          </a:prstGeom>
        </p:spPr>
      </p:pic>
      <p:pic>
        <p:nvPicPr>
          <p:cNvPr id="4" name="Picture 3" descr="mipf_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57200"/>
            <a:ext cx="2377440" cy="2377440"/>
          </a:xfrm>
          <a:prstGeom prst="rect">
            <a:avLst/>
          </a:prstGeom>
        </p:spPr>
      </p:pic>
      <p:pic>
        <p:nvPicPr>
          <p:cNvPr id="5" name="Picture 4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07492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603504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100" i="0">
                <a:solidFill>
                  <a:srgbClr val="C9D3F5"/>
                </a:solidFill>
                <a:latin typeface="Calibri"/>
              </a:rPr>
              <a:t>bongo.ai  ·  MIPF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8412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MASTERING INFRASTRUCTURE AND PROJECT FINANCE BOOT 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85953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400" i="0">
                <a:solidFill>
                  <a:srgbClr val="FFFFFF"/>
                </a:solidFill>
                <a:latin typeface="Georgia"/>
              </a:rPr>
              <a:t>Financial Modelling for Projects I: The Operating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8595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Time, escalation, revenue, operating cost and tax: rebuilt row by row in Excel, with keystrokes for Windows and Mac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5953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500" i="0">
                <a:solidFill>
                  <a:srgbClr val="FFFFFF"/>
                </a:solidFill>
                <a:latin typeface="Calibri"/>
              </a:rPr>
              <a:t>Saturday 17th October 2026  |  Facilitator: Promise Godbold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C9D3F5"/>
                </a:solidFill>
                <a:latin typeface="Calibri"/>
              </a:rPr>
              <a:t>Prof Bongo Adi  |  +234 706 164 8699  |  badi@lbs.edu.ng  |  bongo.adi@fulbrightmail.org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32120"/>
            <a:ext cx="219456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99A2B"/>
                </a:solidFill>
                <a:latin typeface="Calibri"/>
              </a:rPr>
              <a:t>PARTICIPANT EDITION  ·  exercise answers and facilitator notes are withheld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PLAN FOR THE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Today's timetable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719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463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What participants do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09.00 – 10.00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Introduction to financial modelling; understanding the start model; review of the case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Tour the TrainStat workbook; Exercise 4.1 (trace the timeline)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10.00 – 10.30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Coffee break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10.30 – 14.00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Linking the financial statements; revenue modelling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Rebuild Time and Esc; build OpRev; Exercises 4.2 and 4.3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14.00 – 14.45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Lunch break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14.45 – 17.00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Operating cost modelling; tax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Build OpCost and Tax; Exercises 4.4 and 4.5; link to FinStat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Learning outcomes for Day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Explain what a financial model is, and why project finance models are built the way they are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Describe the TrainStat case and the job of each worksheet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Rebuild the timeline (Time) and escalation (Esc) sheets, and say what every row does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Build the revenue, operating cost and tax calculations using the pull-then-calculate pattern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Use keyboard shortcuts on Windows or Mac to build a row of formulas in under a minute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Check your work against the numbers shown on the slides: totals in column H, first forecast column 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GROUND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How we work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54533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508760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Open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TrainStat_StartModel.xlsx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and </a:t>
            </a:r>
            <a:r>
              <a:rPr b="1" sz="1600" i="0">
                <a:solidFill>
                  <a:srgbClr val="1A2233"/>
                </a:solidFill>
                <a:latin typeface="Calibri"/>
              </a:rPr>
              <a:t>Save As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TrainStat_D4_&lt;initials&gt;.xlsx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. Keep the original untouched.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32257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286000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Follow each blueprint slide: </a:t>
            </a:r>
            <a:r>
              <a:rPr b="1" sz="1600" i="0">
                <a:solidFill>
                  <a:srgbClr val="1A2233"/>
                </a:solidFill>
                <a:latin typeface="Calibri"/>
              </a:rPr>
              <a:t>Where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(sheet and cell), </a:t>
            </a:r>
            <a:r>
              <a:rPr b="1" sz="1600" i="0">
                <a:solidFill>
                  <a:srgbClr val="1A2233"/>
                </a:solidFill>
                <a:latin typeface="Calibri"/>
              </a:rPr>
              <a:t>Type this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(the formula), </a:t>
            </a:r>
            <a:r>
              <a:rPr b="1" sz="1600" i="0">
                <a:solidFill>
                  <a:srgbClr val="1A2233"/>
                </a:solidFill>
                <a:latin typeface="Calibri"/>
              </a:rPr>
              <a:t>Keystrokes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(Windows | Mac), </a:t>
            </a:r>
            <a:r>
              <a:rPr b="1" sz="16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(the check).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099815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063239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Rebuild into a </a:t>
            </a:r>
            <a:r>
              <a:rPr b="1" sz="1600" i="0">
                <a:solidFill>
                  <a:srgbClr val="1A2233"/>
                </a:solidFill>
                <a:latin typeface="Calibri"/>
              </a:rPr>
              <a:t>blank copy of the sheet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(clear the formulas first with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Ctrl+G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▸ range ▸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Delete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) or compare against the original on a second monitor.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77055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840479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After every block press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Ctrl+`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and compare the first and last columns. Save with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Ctrl+S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/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Cmd+S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and keep a new version number each hour.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5429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617720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Ask for help early: one wrong sign in Time will spoil every later sheet.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82296" cy="6858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1083564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Saved values in this deck are for the Base scenario (InpC!F3 = Base, scenario number 2) of the corrected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09.00 – 10.00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1: What is a financial model?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Purpose, anatomy and quality. Then the TrainStat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 financial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A financial model is a spreadsheet that turns a set of assumptions (about demand, prices, costs, financing) into a forecast of cash flows, profit and returns, so that people can decide whether to build, lend or invest.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79"/>
            <a:ext cx="10881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Question: 'Can TrainStat repay a US$60m loan and still reward its shareholders?'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The model answers it by forecasting 80 quarters of revenue, costs, tax, debt service and dividends, and then calculating ratios and returns.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Every later session (legal, risk, term sheets) feeds numbers into this model, and every lender decision is tested on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Anatomy of a model: inputs → calculations → outputs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2926080" cy="1371600"/>
          </a:xfrm>
          <a:prstGeom prst="roundRect">
            <a:avLst/>
          </a:prstGeom>
          <a:solidFill>
            <a:srgbClr val="F2C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alibri"/>
              </a:rPr>
              <a:t>INPUTS
assumptions you type
(InpC, InpS)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3291840" cy="1371600"/>
          </a:xfrm>
          <a:prstGeom prst="round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CALCULATIONS
formulas that only point to inputs and to other calculations
(Time, Esc, OpRev, OpCost, Tax, NCA, Debt, Equity)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103120"/>
            <a:ext cx="2926080" cy="137160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OUTPUTS
financial statements, ratios, NPV, IRR
(FinStat, Val, Track)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206240"/>
            <a:ext cx="3291840" cy="914400"/>
          </a:xfrm>
          <a:prstGeom prst="round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CHECKS: balance sheet, cash and income must reconcile (FinStat rows 72 to 81)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2788920"/>
            <a:ext cx="822960" cy="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26180" y="2478024"/>
            <a:ext cx="685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b="0" sz="1000" i="1">
                <a:solidFill>
                  <a:srgbClr val="5C6B7A"/>
                </a:solidFill>
                <a:latin typeface="Calibri"/>
              </a:rPr>
              <a:t>feeds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2788920"/>
            <a:ext cx="731520" cy="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40979" y="2478024"/>
            <a:ext cx="5943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b="0" sz="1000" i="1">
                <a:solidFill>
                  <a:srgbClr val="5C6B7A"/>
                </a:solidFill>
                <a:latin typeface="Calibri"/>
              </a:rPr>
              <a:t>feeds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126480" y="3474720"/>
            <a:ext cx="0" cy="73152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1520" y="5486400"/>
            <a:ext cx="10698480" cy="68580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82296" cy="6858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104698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Keep these three zones separate. If you type a number in a calculation sheet, you have hidden an assumption.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 good model is FAST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058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71323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Letter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Principle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What it looks like in TrainStat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Flexible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Scenario switch on InpC; timeline length and period length are inputs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Appropriate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Quarterly periods suit a 20-year loan; no more detail than lenders need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Structured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One sheet per topic; same columns on every timeline sheet; blocks read top to bottom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Transparent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Formulas are short; one formula per row; colours show what each cell is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82296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FAST is a published modelling standard (FAST Standard Organisation). The TrainStat start model follows its spirit.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Corporate model vs project finance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Corporate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Asks: what is the company worth?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Cash flows continue indefinitely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Debt is one input among many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Valuation usually by multiples or DCF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Project finance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Asks: can the project repay its lenders?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Fixed life; construction then operations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Debt service and cover ratios are the point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Cash waterfall decides who is paid first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Lenders and sponsors both use the same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10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09.00 – 10.00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2: The TrainStat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The story behind the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TrainStat: the case in one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A rail passenger operator runs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domestic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and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international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train services from a station terminal.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At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31 December 2021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(acquisition / financial close) investors take over assets of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US$100m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, funded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60% debt and 40% equity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Forecast: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20 years, quarterly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(80 periods), 2022 to 2041, plus two spare columns after the end.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Revenue = passengers × average fare of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US$7.15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, escalated by inflation.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Costs: handling (a fixed fee plus a charge per arrival) and a fixed O&amp;M contract, both escalated by inflation.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Shareholders require a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25.25%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return. The model reports NPV and XIRR to check this.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Key inputs (InpC): what the saved scenario contains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194560"/>
                <a:gridCol w="3017520"/>
                <a:gridCol w="1463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InpC 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Train capacity: domestic / international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350 / 150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seats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31 / 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Average fare per passenger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USD/pax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Receivable days / payable days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25 / 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37 / 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cost: fixed / variable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4,500 / 550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$000s p.a. / USD per arrival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42 / 44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O&amp;M cost, fixed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3,300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$000s p.a.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Opening non-current assets / life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100,000 / 15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$000s / years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64 / 65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Senior debt: share / rate / day count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60% / 6.5% / 360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72 / 77 / 79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Tax depreciation / corporation tax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5% / 30%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% per period / %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84 / 86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Shareholder required return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25.25%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% p.a.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workbook map: how information 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1737360" cy="1005840"/>
          </a:xfrm>
          <a:prstGeom prst="roundRect">
            <a:avLst/>
          </a:prstGeom>
          <a:solidFill>
            <a:srgbClr val="F2C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alibri"/>
              </a:rPr>
              <a:t>InpC  InpS
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828800"/>
            <a:ext cx="2103120" cy="10058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Time  Esc
timeline, flags, inflation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280160"/>
            <a:ext cx="2011680" cy="914400"/>
          </a:xfrm>
          <a:prstGeom prst="round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OpRev  OpCost
revenue,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377440"/>
            <a:ext cx="2011680" cy="914400"/>
          </a:xfrm>
          <a:prstGeom prst="round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NCA  Tax
assets, 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3474720"/>
            <a:ext cx="2011680" cy="914400"/>
          </a:xfrm>
          <a:prstGeom prst="round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Debt  Equity
funding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194560"/>
            <a:ext cx="1828800" cy="109728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FinStat
IS, cash, BS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194560"/>
            <a:ext cx="1737360" cy="109728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Val  Track
NPV, IRR, results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2331720"/>
            <a:ext cx="457200" cy="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754879" y="1737360"/>
            <a:ext cx="457201" cy="59436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54879" y="2331720"/>
            <a:ext cx="457201" cy="50292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79" y="2331720"/>
            <a:ext cx="457201" cy="160020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23760" y="1737360"/>
            <a:ext cx="548640" cy="100584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223760" y="2743200"/>
            <a:ext cx="548640" cy="9144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3760" y="2743200"/>
            <a:ext cx="548640" cy="118872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01200" y="2743200"/>
            <a:ext cx="457200" cy="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029200"/>
            <a:ext cx="82296" cy="8229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29200"/>
            <a:ext cx="1083564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Today: Time, Esc, OpRev, OpCost, Tax and the first links into FinStat. Day 5: NCA, Debt, Equity, the rest of FinStat, Val and Track.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Anatomy of every timeline sheet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onsolas"/>
              </a:rPr>
              <a:t>J2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81328"/>
            <a:ext cx="411480" cy="347472"/>
          </a:xfrm>
          <a:prstGeom prst="rect">
            <a:avLst/>
          </a:prstGeom>
          <a:solidFill>
            <a:srgbClr val="F3F6F9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1">
                <a:solidFill>
                  <a:srgbClr val="5C6B7A"/>
                </a:solidFill>
                <a:latin typeface="Calibri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481328"/>
            <a:ext cx="714146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= Time!J$25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38528"/>
          <a:ext cx="869594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Period end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30 Sep 21</a:t>
                      </a:r>
                    </a:p>
                  </a:txBody>
                  <a:tcPr marL="45720" marR="45720" marT="9144" marB="9144" anchor="ctr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31 Dec 21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31 Mar 22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Pre-fcst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Fin close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Fin. year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Counter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Constant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(first block)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Calculation row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onsolas"/>
                        </a:rPr>
                        <a:t>=SUM(J9:CO9)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onsolas"/>
                        </a:rPr>
                        <a:t>=...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onsolas"/>
                        </a:rPr>
                        <a:t>=...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onsolas"/>
                        </a:rPr>
                        <a:t>=...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9518904" y="1481328"/>
            <a:ext cx="2139695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8904" y="1920240"/>
            <a:ext cx="2139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3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300" i="0">
                <a:solidFill>
                  <a:srgbClr val="1A2233"/>
                </a:solidFill>
                <a:latin typeface="Calibri"/>
              </a:rPr>
              <a:t>Rows 2 to 5</a:t>
            </a:r>
            <a:r>
              <a:rPr b="0" sz="1300" i="0">
                <a:solidFill>
                  <a:srgbClr val="1A2233"/>
                </a:solidFill>
                <a:latin typeface="Calibri"/>
              </a:rPr>
              <a:t> repeat the timeline headers on every sheet (links to Time) so you always know which column is which</a:t>
            </a:r>
          </a:p>
          <a:p>
            <a:pPr>
              <a:spcAft>
                <a:spcPts val="600"/>
              </a:spcAft>
            </a:pPr>
            <a:r>
              <a:rPr b="0" sz="13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300" i="0">
                <a:solidFill>
                  <a:srgbClr val="1A2233"/>
                </a:solidFill>
                <a:latin typeface="Calibri"/>
              </a:rPr>
              <a:t>E to H</a:t>
            </a:r>
            <a:r>
              <a:rPr b="0" sz="1300" i="0">
                <a:solidFill>
                  <a:srgbClr val="1A2233"/>
                </a:solidFill>
                <a:latin typeface="Calibri"/>
              </a:rPr>
              <a:t>: label, constant, unit, total</a:t>
            </a:r>
          </a:p>
          <a:p>
            <a:pPr>
              <a:spcAft>
                <a:spcPts val="600"/>
              </a:spcAft>
            </a:pPr>
            <a:r>
              <a:rPr b="0" sz="13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300" i="0">
                <a:solidFill>
                  <a:srgbClr val="1A2233"/>
                </a:solidFill>
                <a:latin typeface="Calibri"/>
              </a:rPr>
              <a:t>J onward</a:t>
            </a:r>
            <a:r>
              <a:rPr b="0" sz="1300" i="0">
                <a:solidFill>
                  <a:srgbClr val="1A2233"/>
                </a:solidFill>
                <a:latin typeface="Calibri"/>
              </a:rPr>
              <a:t>: one column per quarter, J (30 Sep 21) to CO</a:t>
            </a:r>
          </a:p>
          <a:p>
            <a:pPr>
              <a:spcAft>
                <a:spcPts val="600"/>
              </a:spcAft>
            </a:pPr>
            <a:r>
              <a:rPr b="0" sz="1300" i="0">
                <a:solidFill>
                  <a:srgbClr val="1A2233"/>
                </a:solidFill>
                <a:latin typeface="Calibri"/>
              </a:rPr>
              <a:t>▪ Freeze panes at J6 so headings stay visible: </a:t>
            </a:r>
            <a:r>
              <a:rPr b="0" sz="1300" i="0">
                <a:solidFill>
                  <a:srgbClr val="0B5E82"/>
                </a:solidFill>
                <a:latin typeface="Consolas"/>
              </a:rPr>
              <a:t>Alt+W, F, F</a:t>
            </a:r>
            <a:r>
              <a:rPr b="0" sz="1300" i="0">
                <a:solidFill>
                  <a:srgbClr val="1A2233"/>
                </a:solidFill>
                <a:latin typeface="Calibri"/>
              </a:rPr>
              <a:t> / View ▸ Freeze Panes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pull-then-calculate pattern (OpRev rows 37 to 42)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onsolas"/>
              </a:rPr>
              <a:t>L42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81328"/>
            <a:ext cx="411480" cy="347472"/>
          </a:xfrm>
          <a:prstGeom prst="rect">
            <a:avLst/>
          </a:prstGeom>
          <a:solidFill>
            <a:srgbClr val="F3F6F9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1">
                <a:solidFill>
                  <a:srgbClr val="5C6B7A"/>
                </a:solidFill>
                <a:latin typeface="Calibri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481328"/>
            <a:ext cx="714146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=IF(L41=1,$F37/$F38*L39*L40,0)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38528"/>
          <a:ext cx="8695944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Average fare per passenger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USD/pax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Unit in thousand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Passengers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...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2,164,290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CPI escalation factor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1.0050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Forecast flag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Operating revenue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1,646,266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onsolas"/>
                        </a:rPr>
                        <a:t>=IF(L41=1,$F37/$F38*L39*L40,0)</a:t>
                      </a:r>
                    </a:p>
                  </a:txBody>
                  <a:tcPr marL="45720" marR="45720" marT="9144" marB="9144" anchor="ctr">
                    <a:solidFill>
                      <a:srgbClr val="FFE9B8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9518904" y="1481328"/>
            <a:ext cx="2139695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8904" y="1920240"/>
            <a:ext cx="2139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200" i="0">
                <a:solidFill>
                  <a:srgbClr val="1A2233"/>
                </a:solidFill>
                <a:latin typeface="Calibri"/>
              </a:rPr>
              <a:t>▪ Rows 37 to 41 </a:t>
            </a:r>
            <a:r>
              <a:rPr b="1" sz="1200" i="0">
                <a:solidFill>
                  <a:srgbClr val="1A2233"/>
                </a:solidFill>
                <a:latin typeface="Calibri"/>
              </a:rPr>
              <a:t>pull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each ingredient next to the calculation (blue font): fare, unit, passengers, escalation, flag</a:t>
            </a:r>
          </a:p>
          <a:p>
            <a:pPr>
              <a:spcAft>
                <a:spcPts val="600"/>
              </a:spcAft>
            </a:pPr>
            <a:r>
              <a:rPr b="0" sz="1200" i="0">
                <a:solidFill>
                  <a:srgbClr val="1A2233"/>
                </a:solidFill>
                <a:latin typeface="Calibri"/>
              </a:rPr>
              <a:t>▪ Row 42 </a:t>
            </a:r>
            <a:r>
              <a:rPr b="1" sz="1200" i="0">
                <a:solidFill>
                  <a:srgbClr val="1A2233"/>
                </a:solidFill>
                <a:latin typeface="Calibri"/>
              </a:rPr>
              <a:t>calculates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, using only the rows above it (red font = result used by other sheets)</a:t>
            </a:r>
          </a:p>
          <a:p>
            <a:pPr>
              <a:spcAft>
                <a:spcPts val="600"/>
              </a:spcAft>
            </a:pPr>
            <a:r>
              <a:rPr b="0" sz="12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200" i="0">
                <a:solidFill>
                  <a:srgbClr val="0B5E82"/>
                </a:solidFill>
                <a:latin typeface="Consolas"/>
              </a:rPr>
              <a:t>$F37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and </a:t>
            </a:r>
            <a:r>
              <a:rPr b="0" sz="1200" i="0">
                <a:solidFill>
                  <a:srgbClr val="0B5E82"/>
                </a:solidFill>
                <a:latin typeface="Consolas"/>
              </a:rPr>
              <a:t>$F38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are constants, so the column is locked</a:t>
            </a:r>
          </a:p>
          <a:p>
            <a:pPr>
              <a:spcAft>
                <a:spcPts val="600"/>
              </a:spcAft>
            </a:pPr>
            <a:r>
              <a:rPr b="0" sz="1200" i="0">
                <a:solidFill>
                  <a:srgbClr val="1A2233"/>
                </a:solidFill>
                <a:latin typeface="Calibri"/>
              </a:rPr>
              <a:t>▪ Why: any reviewer can audit the formula by looking up, never across the workbook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scenario selector (InpC rows 3 to 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onsolas"/>
              </a:rPr>
              <a:t>F4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81328"/>
            <a:ext cx="411480" cy="347472"/>
          </a:xfrm>
          <a:prstGeom prst="rect">
            <a:avLst/>
          </a:prstGeom>
          <a:solidFill>
            <a:srgbClr val="F3F6F9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1">
                <a:solidFill>
                  <a:srgbClr val="5C6B7A"/>
                </a:solidFill>
                <a:latin typeface="Calibri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481328"/>
            <a:ext cx="7141464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=MATCH(F3,I3:M3,0)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38528"/>
          <a:ext cx="8695944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Scenario name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Downside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Upside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>Scenario switch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22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9518904" y="1481328"/>
            <a:ext cx="2139695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8904" y="1920240"/>
            <a:ext cx="21396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200" i="0">
                <a:solidFill>
                  <a:srgbClr val="1A2233"/>
                </a:solidFill>
                <a:latin typeface="Calibri"/>
              </a:rPr>
              <a:t>▪ Type a scenario name in F3 (pick from the drop-down)</a:t>
            </a:r>
          </a:p>
          <a:p>
            <a:pPr>
              <a:spcAft>
                <a:spcPts val="600"/>
              </a:spcAft>
            </a:pPr>
            <a:r>
              <a:rPr b="0" sz="12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200" i="0">
                <a:solidFill>
                  <a:srgbClr val="0B5E82"/>
                </a:solidFill>
                <a:latin typeface="Consolas"/>
              </a:rPr>
              <a:t>F4 =MATCH(F3,I3:M3,0)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converts it to a number: Base = 2 because I3 is blank and J3 holds Base (Downside = 3, Upside = 4)</a:t>
            </a:r>
          </a:p>
          <a:p>
            <a:pPr>
              <a:spcAft>
                <a:spcPts val="600"/>
              </a:spcAft>
            </a:pPr>
            <a:r>
              <a:rPr b="0" sz="1200" i="0">
                <a:solidFill>
                  <a:srgbClr val="1A2233"/>
                </a:solidFill>
                <a:latin typeface="Calibri"/>
              </a:rPr>
              <a:t>▪ Every constant in column F is </a:t>
            </a:r>
            <a:r>
              <a:rPr b="0" sz="1200" i="0">
                <a:solidFill>
                  <a:srgbClr val="0B5E82"/>
                </a:solidFill>
                <a:latin typeface="Consolas"/>
              </a:rPr>
              <a:t>{=INDEX(I35:M35,$F$4)}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: pick the value in the chosen scenario's column</a:t>
            </a:r>
          </a:p>
          <a:p>
            <a:pPr>
              <a:spcAft>
                <a:spcPts val="600"/>
              </a:spcAft>
            </a:pPr>
            <a:r>
              <a:rPr b="0" sz="1200" i="0">
                <a:solidFill>
                  <a:srgbClr val="1A2233"/>
                </a:solidFill>
                <a:latin typeface="Calibri"/>
              </a:rPr>
              <a:t>▪ Change the name in F3 and </a:t>
            </a:r>
            <a:r>
              <a:rPr b="1" sz="1200" i="0">
                <a:solidFill>
                  <a:srgbClr val="1A2233"/>
                </a:solidFill>
                <a:latin typeface="Calibri"/>
              </a:rPr>
              <a:t>all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constants change at once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timeline: 84 quarterly columns in four phases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1508760"/>
          <a:ext cx="10881360" cy="4297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852159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1">
                <a:solidFill>
                  <a:srgbClr val="5C6B7A"/>
                </a:solidFill>
                <a:latin typeface="Calibri"/>
              </a:rPr>
              <a:t>Time!J111 labels each column: Pre-fcst (col J), Fin close (K), Forecast (L to CO minus two), Post-fcst (last two). Column K ends on the acquisition date, 31 Dec 2021.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4.1: Trace the timeline and the scenario switch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Without changing any formula, answer five questions about the start model by reading cells.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On Time, what is the period-ending date in column L (L25)?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How many columns have a forecast flag of 1 (Time!H69)?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On InpC, what does F4 show, and what happens to F9 if you set F3 to Base?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On InpS, how many trains run per quarter in column L (domestic and international)?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5.  On FinStat, are the three check totals in F74, F77 and F80 all zero?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 Checkpoints for each model block are in the Model Prompt 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Which statement about the pull-then-calculate pattern is true?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Calculations may point to inputs on any sheet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Each calculation points only to rows directly above it in the same block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Pull rows are black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Pull rows contain typed numbers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10.30 – 11.15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3: Build the Time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The timeline everything else sits on: counters, dates, days, flags.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sheet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Block 1: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Counter and first-column flag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(rows 10 to 14)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Block 2: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Period beginning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(rows 17 to 20)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Block 3: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Period ending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(rows 23 to 25)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Block 4: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Days in period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(rows 28 to 30)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Block 5: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Financial year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(rows 33 to 37)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Block 6: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Flags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: acquisition, first forecast, pre-forecast, forecast, last forecast, post-forecast, depreciation (rows 42 to 95)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Block 7: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Timeline label and checks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(rows 100 to 120)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3035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Rule: build the first column's formula, copy it right, then test in the last column. All Time formulas reuse the same patterns.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1: counter and first-column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column counter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=I10+1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column total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=MAX(J10:CO10)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column counter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model column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=IF(J13=1,1,0)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Time!J10: column counter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J10  (to CO10)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Model column counter  (counter)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=I10+1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Add one to the cell on the left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Column I is blank (zero), so J10 = 0 + 1 = 1; K10 = 2 and so on to CO10 = 84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This counter numbers the columns; many other rows use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J10:CO10,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J10:CO10,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J10 → CO10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H10 = empty;  L10 = 3; F11 (=MAX(J10:CO10)) = 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A counter lets formulas ask 'am I the first column?' without typing 1 in a hidden place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Time!J14: first model column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J14  (to CO14)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First model column flag  (flag)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=IF(J13=1,1,0)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First pull the counter into row 13 (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=J$10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)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Then: if the counter equals 1 show 1 else 0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Result: 1 in column J only; H14 sums to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J13 = J$10  (counter pulled down)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J14:CO14,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J14:CO14,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J14 → CO14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H14 = 1;  J14 =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Flags are 1/0 switches used by IF formulas elsewhere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2: period beginning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date of time rulers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Months per model period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model column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beginning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=IF(J19=1,$F17,DATE(YEAR(I20),MONTH(I20)+$F18,DAY(1)))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Time!J20: model period beginning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J20  (to CO20)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Model period beginning   (date)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=IF(J19=1,$F17,DATE(YEAR(I20),MONTH(I20)+$F18,DAY(1)))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200" i="0">
                <a:solidFill>
                  <a:srgbClr val="1A2233"/>
                </a:solidFill>
                <a:latin typeface="Calibri"/>
              </a:rPr>
              <a:t>▪ If I am the first column, take the first date from F17 (1 Jul 2021)</a:t>
            </a:r>
          </a:p>
          <a:p>
            <a:pPr algn="l"/>
            <a:r>
              <a:rPr b="0" sz="1200" i="0">
                <a:solidFill>
                  <a:srgbClr val="1A2233"/>
                </a:solidFill>
                <a:latin typeface="Calibri"/>
              </a:rPr>
              <a:t>▪ Otherwise: the same day-of-month 1, but F18 (3) months after the previous column's date</a:t>
            </a:r>
          </a:p>
          <a:p>
            <a:pPr algn="l"/>
            <a:r>
              <a:rPr b="0" sz="1200" i="0">
                <a:solidFill>
                  <a:srgbClr val="1A2233"/>
                </a:solidFill>
                <a:latin typeface="Calibri"/>
              </a:rPr>
              <a:t>▪ DAY(1) simply returns 1: every period begins on the 1st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F17 = InpC!F$9 (first date of rulers)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F18 = InpC!F$12 (months per model period)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J19 = J$14 (first-column flag)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J20:CO20,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J20:CO20,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J20 → CO20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H20 = empty;  L20 = 44,562 shown as 01 Jan 22; K = 01 Oct 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Changing InpC!F12 to 1 would give a monthly model with no other edits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3: period 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Months per model period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beginning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=DATE(YEAR(J24),MONTH(J24)+$F23,DAY(J24)-1)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Time!J25: model period 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J25  (to CO25)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Model period ending   (date)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=DATE(YEAR(J24),MONTH(J24)+$F23,DAY(J24)-1)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Take the period-beginning date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Add F23 (3) months, then step back one day (DAY(...) − 1)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01 Jan 22 + 3 months − 1 day = 31 Mar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F23 = InpC!F$12 (3 months)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J24 = J$20 (beginning pulled down)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J25:CO25,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J25:CO25,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J25 → CO25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H25 = empty;  L25 = 44,651 → 31 Mar 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Gives calendar month-ends, which match accounting periods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4: days in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beginning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Days in model period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=J28-J29+1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Time!J30: days between period 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J30  (to CO30)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Days in model period  (days)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=J28-J29+1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Period end date minus period beginning date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31 Mar 22 − 01 Jan 22 = 89 days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Used for day-count interest and for receivable and payable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J28 = J$25 (end)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J29 = J$20 (beginning)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J30:CO30,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J30:CO30,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J30 → CO30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H30 = empty;  L30 = 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1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100" i="0">
                <a:solidFill>
                  <a:srgbClr val="1A2233"/>
                </a:solidFill>
                <a:latin typeface="Calibri"/>
              </a:rPr>
              <a:t>  Convention check: the model counts end minus start (89), not inclusive days (90). It is applied consistently, so keep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5: financial year 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modelling column financial year number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Financial year end month number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=InpC!F$98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model column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Financial year ending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=IF(J36=1,$F33,IF(J35&gt;(DATE(I37,$F34+1,1)-1),I37+1,I37))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Time!J37: financial year 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J37  (to CO37)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Financial year ending  (year #)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1600" i="0">
                <a:solidFill>
                  <a:srgbClr val="141B4D"/>
                </a:solidFill>
                <a:latin typeface="Consolas"/>
              </a:rPr>
              <a:t>=IF(J36=1,$F33,IF(J35&gt;(DATE(I37,$F34+1,1)-1),I37+1,I37))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First column: take the first financial year from F33 (2021)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Otherwise: if this period ends after the year-end date of the previous column's year, add one; else keep the same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F34 = 12 is the financial year-end month (December)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F33 = InpC!F$100 (first FY = 2021)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F34 = InpC!F$98 (year-end month = 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J37:CO37,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J37:CO37,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J37 → CO37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L37 = 2,022  → 2022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Yearly totals and annual summaries rely on this row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6a: acquisition and first-forecast flags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=IF(J44=$F43,1,0)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forecast period start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=F48+1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forecast period start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=F$49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=IF(AND(I52&lt;$F51,J52&gt;=$F51),1,0)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Time!J45: acquisition / initial balance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J45  (to CO45)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Acquisition / initial balance date flag  (flag)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=IF(J44=$F43,1,0)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If this period ends on the acquisition date (F43 = 31 Dec 21), show 1, else 0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Exactly one column is 1: K (31 Dec 21)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Opening balances in every sheet are set in this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F43 = InpC!F$10 (acquisition date)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J44 = J$25 (period end)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J45:CO45,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J45:CO45,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J45 → CO45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H45 = 1;  K45 = 1; H45 =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Balance formulas read: IF(acquisition flag=1, initial balance, previous balance + movements)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Time!J53: first forecast period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J53  (to CO53)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First forecast period flag  (flag)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=IF(AND(I52&lt;$F51,J52&gt;=$F51),1,0)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True only if the previous column ended before the first forecast date and this one ends on or after it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F51 is the first forecast date: acquisition date + 1 day = 1 Jan 22 (F49 =F48+1)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AND(...) needs both tests 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F51 = F$49 (first forecast start date)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J52 = J$25 (period end)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J53:CO53,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J53:CO53,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J53 → CO53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L53 = 1; H53 =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Marks the first operating quarter (column L)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6b: pre-forecast and forecast flags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Pre-forecast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=IF(J57&lt;=$F56,1,0)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Length of forecast period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Last forecast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=EOMONTH(F62,F63*12)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Last forecast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=F$64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Forecast period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=IF(AND(J68&gt;$F66,J68&lt;=$F67),1,0)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Time!J69: forecast period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J69  (to CO69)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Forecast period flag  (flag)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=IF(AND(J68&gt;$F66,J68&lt;=$F67),1,0)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Forecast flag = 1 when the period ends AFTER the acquisition date and ON OR BEFORE the last forecast date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F64 =EOMONTH(F62,F63*12) works out the last forecast date: 31 Dec 21 + 20 years = 31 Dec 41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80 columns satisfy both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F66 = InpC!F$10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F67 = F$64 (last forecast date)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J68 = J$25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J69:CO69,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J69:CO69,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J69 → CO69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H69 = 80; F70 = 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OpRev, OpCost and others multiply by this flag so nothing is earned outside the forecast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6c: last forecast and post-forecast flags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Last forecast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=F$64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Last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Last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=J$75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1st post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=I78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1st post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=J$79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Post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=I83+J82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Time!K75: last forecast period flag (start at 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K75  (to CO75)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Last forecast period flag  (flag)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=IF(K74=$F73,1,0)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Flag = 1 in the column whose period ends on the last forecast date (31 Dec 41)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Used to redeem share capital and to write off the remaining tax value in the last period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The first column (J75) holds a typed 0 because there is no column to its left to compare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F73 = F$64 (last forecast date)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K74 = K$25 (period end)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K75:CO75,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K75:CO75,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J75 → CO75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H75 =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Typed exceptions in a first column are normal, but note them in your documentation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6d: depreciation period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Useful life of NCA at acquisition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=InpC!F$65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Financial year end month number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Last depreciation period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=EOMONTH(F87,F88*F89)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Last depreciation period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=F$90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Depreciation period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=IF(AND(J94&gt;$F92,J94&lt;=$F93),1,0)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Time!J95: depreciation period flag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J95  (to CO95)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Depreciation period flag  (flag)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=IF(AND(J94&gt;$F92,J94&lt;=$F93),1,0)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1 when the period ends after the acquisition date AND on or before the last depreciation date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F90 =EOMONTH(F87,F88*F89): 31 Dec 21 + 15 years × 12 months = 31 Dec 36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60 quarterly columns carry depreciation of the opening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F92 = InpC!F$10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F93 = F$90 (last depreciation date)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J94 = J$25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J95:CO95,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J95:CO95,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J95 → CO95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H95 = 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Accounting depreciation of the opening asset base stops after its 15-year life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7: timeline label (1 of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model column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=J$45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First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1st post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=J$79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Timeline label counter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=I104+MAX(J100:J103)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Pre-forecast period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block 7: timeline label (2 of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Financial close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Forecast period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Post-operations period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Timeline label counter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=J$104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Timeline label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=INDEX($F106:$F109,J110)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Time!J111: timeline label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J111  (to CO111)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Timeline label  (label)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=INDEX($F106:$F109,J110)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Row 104 counts how many 'event' flags have passed (first column, acquisition, first forecast, first post-forecast)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INDEX picks the label in position n from the list F106:F109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Pre-fcst, Fin close, Forecast, Post-fcst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F106:F109 = labels typed on InpC rows 106 to 109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J110 = J$104 (label counter)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J111:CO111,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J111:CO111,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J111 → CO111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J111 = Pre-fcst, K111 = Fin close, L111 = Forecast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Gives every sheet a text header that says which phase a column is 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Time sheet integrity checks (rows 116 to 120)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840480"/>
                <a:gridCol w="457200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Model columns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=F$11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Pre-forecast total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=F$59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Forecast total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=F$70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Post-forecast total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=F$84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Modelling period check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=IF(F116-SUM(F117:F119)&lt;&gt;0,1,0)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114800"/>
            <a:ext cx="11064240" cy="777240"/>
          </a:xfrm>
          <a:prstGeom prst="rect">
            <a:avLst/>
          </a:prstGeom>
          <a:solidFill>
            <a:srgbClr val="FCE8E6"/>
          </a:solidFill>
          <a:ln w="15240">
            <a:solidFill>
              <a:srgbClr val="B32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82296" cy="777240"/>
          </a:xfrm>
          <a:prstGeom prst="rect">
            <a:avLst/>
          </a:prstGeom>
          <a:solidFill>
            <a:srgbClr val="B3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10835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If F120 = 1 the phases do not add up to the number of columns. Check the forecast length (InpC!F11) and the acquisition date.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4.1b: Change the timeline and watch it heal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Change InpC row 11 (forecast years) from 20 to 15 in the Base column (J11), then restore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Go to InpC and set J11 to 15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Go to Time and read F116 to F120, and H69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Which cells change? What does the check say?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Restore L11 to 20 and confirm F120 =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 Checkpoints for each model block are in the Model Prompt 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47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11.15 – 11.45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4: Escalation (Esc sheet)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Inflation turns today's prices into future prices.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Why escalate costs and prices?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A fare of US$7.15 today will not buy the same in 2035. The model grows prices and costs each quarter by the inflation rate in force, so that nominal cash flows reflect rising prices.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Quarterly rate = (1 + annual rate)^(1 / periods per year) − 1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881360" cy="1325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Annual inflation 2%: the quarterly rate is (1 + 2%)^(1/4) − 1 = 0.4963%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Escalation factor after 4 quarters = (1 + 0.4963%)^4 = 1.0200: exactly the annual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Dividing the annual rate by four is slightly wrong; compounding is exact.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Esc block 1: inflation rate in force (rows 10 to 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Start of the inflation year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01 Mar 2021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01 Mar 2022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01 Mar 2023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01 Mar 2024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01 Mar 2025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=InpC!F$21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Model period ending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CPI inflation rate p.a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=VLOOKUP(J16,$E11:$F15,2,TRUE)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Esc!J17: CPI inflation rate p.a.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Esc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J17  (to CO17)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CPI inflation rate p.a  (% pa.)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=VLOOKUP(J16,$E11:$F15,2,TRUE)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Look up the period-end date in the table E11:F15 of start dates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TRUE = approximate match: finds the latest start date that is on or before the period end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Returns the annual inflation rate for that date (7% in 2022, falling to 3% by 2025, in the Base scenario)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E11:F15 = pulled from InpC rows 17 to 21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J16 = Time!J$25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J17:CO17,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J17:CO17,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J17 → CO17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H17 = empty;  L17 = 0.0600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Lets you change inflation by year without touching formulas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Esc!J21: periodic CPI inflation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Esc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J21  (to CO21)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Periodic CPI inflation rate  (%pq)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=(1+J20)^(1/$F19)-1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Convert the annual rate to a quarterly rate by compounding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F19 = 4 periods per year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J20 pulls the annual rate: =J$17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F19 = InpC!F$99 (periods per year = 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J21:CO21,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J21:CO21,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J21 → CO21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H21 = empty;  L21 = 0.014674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Compounding keeps the annual rate exact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Esc!J26: CPI escalation factor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Esc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J26  (to CO26)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CPI escalation factor  (factor)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=IF(J25=1,1,I26*(1+J24))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If this is the acquisition column, the factor is 1 (the base)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Otherwise: previous factor × (1 + this period's rate)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Before acquisition the factor is 0 (nothing to escalate)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J24 = J$21 (periodic rate)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J25 = Time!J$45 (acquisition flag)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J26:CO26,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J26:CO26,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J26 → CO26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H26 = empty;  L26 = 1.014674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One factor per period that every price and cost can multiply by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Esc block 2: handling and O&amp;M escalation factors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CPI index at acquisition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CPI index at handling signature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=InpC!F$25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CPI escalation factor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escalation factor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=$F29/$F30*J31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CPI index at acquisition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CPI index at O&amp;M signature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=InpC!F$27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CPI escalation factor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O&amp;M escalation factor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=$F35/$F36*J37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Esc!J32: handling escalation factor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Esc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J32  (to CO32)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Handling escalation factor  (factor)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=$F29/$F30*J31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Contract prices were fixed at an earlier date (index 120), so they have already inflated by the time of acquisition (index 145)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Handling factor = CPI index at acquisition ÷ CPI index at signature × CPI factor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145 ÷ 120 = 1.2083 on the acquisition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F29 = InpC!F$23 (CPI at acquisition 145)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F30 = InpC!F$25 (CPI at handling signature 120)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J32:CO32,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J32:CO32,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J32 → CO32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H32 = empty;  L32 = 1.226064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Rebases a contract price signed earlier into acquisition-date money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4.1c: Escalation by hand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Check Esc!L26 and Esc!L32 by calculating them yourself.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Annual inflation in the Base scenario is 7% in 2022: compute the quarterly rate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=(1+0.07)^(1/4)-1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Escalation factor in K26 = 1, so L26 = 1 × (1 + quarterly rate)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Handling factor L32 = 145/120 × L26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 Checkpoints for each model block are in the Model Prompt 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6 min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56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10.30 – 14.00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5: Linking the financial statements and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Revenue is the first block that flows into the income statement, cash flow and balance sheet.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LINKING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Three statements, one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3474720" cy="2011680"/>
          </a:xfrm>
          <a:prstGeom prst="round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INCOME STATEMENT
revenue − costs = EBITDA
− depreciation − interest
= profit before tax
− tax = profit after tax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474720" cy="201168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CASH FLOW CASCADE
cash received − cash paid
− capex − tax = CFADS
− debt service = cash to shareholders
− dividends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BALANCE SHEET
assets: asset base, receivables, cash
liabilities: payables, debt, tax,
share capital, retained earnings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2651760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63840" y="2651760"/>
            <a:ext cx="274320" cy="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0080" y="4114800"/>
            <a:ext cx="10881360" cy="100584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82296" cy="100584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1065276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Every calculation block feeds all three. Revenue → income statement; cash received → cash flow; receivables → balance sheet. If they do not tie, the checks on FinStat (rows 72 to 81) show 1.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Accrual vs cash: why we need three revenue rows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813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301752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Revenue earned (IS)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Cash received (CF)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Receivables (BS)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Value of service delivered in the quarter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Cash that actually arrives in the quarter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Customers still owing at quarter 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Row in OpRev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42 (Operating revenue)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54 (Operating revenue received)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65 (Account receivables balance)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Link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Receivables BEG + revenue − cash = receivables END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840480"/>
            <a:ext cx="11064240" cy="73152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82296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Roll-forward identity used all over the model: </a:t>
            </a:r>
            <a:r>
              <a:rPr b="1" sz="1400" i="0">
                <a:solidFill>
                  <a:srgbClr val="1A2233"/>
                </a:solidFill>
                <a:latin typeface="Calibri"/>
              </a:rPr>
              <a:t>closing = opening + additions − reductions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Revenue logic: from trains to dollars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737360"/>
            <a:ext cx="2011680" cy="914400"/>
          </a:xfrm>
          <a:prstGeom prst="roundRect">
            <a:avLst/>
          </a:prstGeom>
          <a:solidFill>
            <a:srgbClr val="F2C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1A2233"/>
                </a:solidFill>
                <a:latin typeface="Calibri"/>
              </a:rPr>
              <a:t>Trains per quarter
(InpS rows 8, 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017520"/>
            <a:ext cx="2011680" cy="914400"/>
          </a:xfrm>
          <a:prstGeom prst="roundRect">
            <a:avLst/>
          </a:prstGeom>
          <a:solidFill>
            <a:srgbClr val="F2C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1A2233"/>
                </a:solidFill>
                <a:latin typeface="Calibri"/>
              </a:rPr>
              <a:t>× Arrivals per train
(InpS rows 11, 12)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377440"/>
            <a:ext cx="2103120" cy="914400"/>
          </a:xfrm>
          <a:prstGeom prst="round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= Arrivals
OpRev rows 19 to 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840480"/>
            <a:ext cx="2103120" cy="914400"/>
          </a:xfrm>
          <a:prstGeom prst="roundRect">
            <a:avLst/>
          </a:prstGeom>
          <a:solidFill>
            <a:srgbClr val="F2C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1A2233"/>
                </a:solidFill>
                <a:latin typeface="Calibri"/>
              </a:rPr>
              <a:t>× Seats × Occupancy
(InpC 31, 33; InpS 14, 15)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926080"/>
            <a:ext cx="1920240" cy="914400"/>
          </a:xfrm>
          <a:prstGeom prst="round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= Passengers
rows 32 to 34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4389120"/>
            <a:ext cx="1920240" cy="914400"/>
          </a:xfrm>
          <a:prstGeom prst="roundRect">
            <a:avLst/>
          </a:prstGeom>
          <a:solidFill>
            <a:srgbClr val="F2C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1A2233"/>
                </a:solidFill>
                <a:latin typeface="Calibri"/>
              </a:rPr>
              <a:t>× Fare × inflation
(InpC 35; Esc 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566160"/>
            <a:ext cx="2011680" cy="914400"/>
          </a:xfrm>
          <a:prstGeom prst="round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= Operating revenue
row 42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3566160"/>
            <a:ext cx="1645920" cy="91440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Cash received (row 54)
Receivables (row 65)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2194560"/>
            <a:ext cx="548640" cy="64008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377440" y="2834640"/>
            <a:ext cx="548640" cy="64008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29200" y="2834640"/>
            <a:ext cx="548640" cy="54864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029200" y="3383280"/>
            <a:ext cx="548640" cy="91440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8079" y="3383280"/>
            <a:ext cx="640081" cy="64008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498079" y="4023360"/>
            <a:ext cx="640081" cy="82296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149840" y="4023360"/>
            <a:ext cx="182880" cy="0"/>
          </a:xfrm>
          <a:prstGeom prst="line">
            <a:avLst/>
          </a:prstGeom>
          <a:ln w="22225">
            <a:solidFill>
              <a:srgbClr val="5C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486400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Build in this order: 1 pull inputs (rows 11 to 17) → 2 arrivals (19 to 21) → 3 passengers (32 to 34) → 4 revenue (42) → 5 cash received (54) → 6 receivables (65).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 block 1: pull the demand inputs (rows 11 to 17)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Trains - domestic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=InpS!J$8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Trains - international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=InpS!J$9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Arrivals per train - domestic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=InpS!J$11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Arrivals per train - international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=InpS!J$12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OpRev!J11: pull domestic trains (blue)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J11  (to CO11)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Trains - domestic   (trains)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=InpS!J$8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Bring the number of domestic trains from InpS into this sheet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300" i="0">
                <a:solidFill>
                  <a:srgbClr val="0B5E82"/>
                </a:solidFill>
                <a:latin typeface="Consolas"/>
              </a:rPr>
              <a:t>J$8</a:t>
            </a:r>
            <a:r>
              <a:rPr b="0" sz="1300" i="0">
                <a:solidFill>
                  <a:srgbClr val="1A2233"/>
                </a:solidFill>
                <a:latin typeface="Calibri"/>
              </a:rPr>
              <a:t> keeps row 8 fixed while the column moves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Rows 12, 14, 15 and 17 are the same pattern for other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InpS!J$8 = Trains - domestic (30)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J11:CO11, Enter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Sheets: Ctrl+PgUp/PgDn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J11:CO11, Return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Sheets: Option+←/→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J11 → CO11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J11:CO11 equals InpS row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Pull rows make the calculation below readable and allow audits by looking up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OpRev!J19: arrivals - domestic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J19  (to CO19)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Arrivals - Domestic  (arrivals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=IF(J$17=1,J11*J14,0)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Only in forecast periods (flag row 17 = 1), arrivals = trains × arrivals per train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J11 = trains domestic, J14 = arrivals per train domestic, J$17 = forecast flag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Outside the forecast: 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J11 = InpS!J$8 (trains)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J14 = InpS!J$11 (arrivals per train)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J$17 = Time!J$69 (forecast flag)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J19:CO19,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J19:CO19,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J19 → CO19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H19 = 868,800;  L19 = 11,100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The flag multiplies the whole row: no revenue before acquisition or after year 20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OpRev!J20: arrivals - international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J20  (to CO20)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Arrivals - International   (arrivals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=IF(J$17=1,J12*J15,0)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Same as row 19 but for international trains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J12 = trains international; J15 = arrivals per train international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J12 = InpS!J$9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J15 = InpS!J$12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J20:CO20,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J20:CO20,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J20 → CO20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H20 = 55,848;  L20 = 408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Copy row 19's structure: two similar rows beat one clever row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OpRev!J21: total arrivals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J21  (to CO21)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Arrivals  (arrivals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=SUM(J19:J20)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Add the two arrival rows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Alt+= (Win) or Cmd+Shift+T (Mac) inserts SUM for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J21:CO21,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J21:CO21,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J21 → CO21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H21 = 924,648;  L21 = 11,508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Total arrivals drives variable handling cost later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 block 3: pull capacity, occupancy and arrivals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Train capacity - domestic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Train capacity - international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=InpC!F$33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Occupancy - domestic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=InpS!J$14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Occupancy - international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=InpS!J$15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Arrivals - Domestic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Arrivals - International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OpRev!J32: passengers - domestic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J32  (to CO32)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Passengers - domestic  (pax)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=$F23*J26*J29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Seats per train × occupancy (share of seats filled) × arrivals = passengers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$F23 = 350 seats domestic (constant, locked column F)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J26 = occupancy domestic; J29 = arrivals domestic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F23 = InpC!F$31 (350 seats)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J26 = InpS!J$14 (occupancy 55%)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J29 = J$19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J32:CO32,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J32:CO32,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J32 → CO32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H32 = 181,950,300;  L32 = 2,136,750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'Arrivals' is the count of train arrivals; each carries seats × occupancy passengers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OpRev!J33: passengers - international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J33  (to CO33)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Passengers - international   (pax)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=$F24*J27*J30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Same with international seats (150), occupancy and arrivals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F24 = InpC!F$33 (150 seats)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J27 = InpS!J$15 (occupancy 45%)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J30 = J$20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J33:CO33,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J33:CO33,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J33 → CO33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H33 = 4,213,260;  L33 = 27,540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Mirror structure with row 32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OpRev!J34: passengers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J34  (to CO34)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Passengers   (pax)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=SUM(J32:J33)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Total passengers = domestic + international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J34:CO34,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J34:CO34,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J34 → CO34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H34 = 186,163,560;  L34 = 2,164,290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Cross-check: H34 should equal H32 + H33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 block 5: operating revenue (rows 37 to 42)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Average fare per passenger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Unit in thousand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Passengers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CPI escalation factor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=Esc!J$26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revenue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=IF(J41=1,$F37/$F38*J39*J40,0)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OpRev!J42: operating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J42  (to CO42)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Operating revenue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=IF(J41=1,$F37/$F38*J39*J40,0)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If this is a forecast period: fare ÷ 1,000 × passengers × escalation factor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300" i="0">
                <a:solidFill>
                  <a:srgbClr val="0B5E82"/>
                </a:solidFill>
                <a:latin typeface="Consolas"/>
              </a:rPr>
              <a:t>$F37/$F38</a:t>
            </a:r>
            <a:r>
              <a:rPr b="0" sz="1300" i="0">
                <a:solidFill>
                  <a:srgbClr val="1A2233"/>
                </a:solidFill>
                <a:latin typeface="Calibri"/>
              </a:rPr>
              <a:t> converts US dollars to $ thousands (unit = 1,000)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Otherwise 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F37 = InpC!F$35 (fare 7.15)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F38 = InpC!F$102 (unit 1,000)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J39 = J$34 (passengers)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J40 = Esc!J$26 (CPI factor)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J41 = Time!J$69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J42:CO42,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J42:CO42,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J42 → CO42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H42 = 1,941,569;  L42 = 15,702  (US$ thousands)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Red font: this row feeds FinStat, the receivables and the cash received rows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400" i="0">
                <a:solidFill>
                  <a:srgbClr val="141B4D"/>
                </a:solidFill>
                <a:latin typeface="Georgia"/>
              </a:rPr>
              <a:t>Revenue builds with traffic and inflation (US$ thousands per financial year)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1508760"/>
          <a:ext cx="10881360" cy="4297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852159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1">
                <a:solidFill>
                  <a:srgbClr val="5C6B7A"/>
                </a:solidFill>
                <a:latin typeface="Calibri"/>
              </a:rPr>
              <a:t>From the Base scenario: yearly totals of OpRev row 42 (sum of four quarters). Total 20 years = 1,941,569.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 block 6: cash received (rows 47 to 54)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receivables days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Days in model period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=Time!J$30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revenue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Cash from paid invoices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=(J48-$F47)/J48*J49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receivables balance BEG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Cash from paid invoices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=J$50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revenue received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=SUM(J52:J53)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OpRev!J50: cash from paid invoices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J50  (to CO50)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Cash from paid invoices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=(J48-$F47)/J48*J49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Customers pay after 25 days. Of this quarter's revenue, the part invoiced earlier than 25 days before quarter end is collected in the quarter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(days in period − 25) ÷ days in period × revenue</a:t>
            </a:r>
          </a:p>
          <a:p>
            <a:pPr algn="l"/>
            <a:r>
              <a:rPr b="0" sz="1100" i="0">
                <a:solidFill>
                  <a:srgbClr val="1A2233"/>
                </a:solidFill>
                <a:latin typeface="Calibri"/>
              </a:rPr>
              <a:t>▪ For L: (89 − 25) / 89 × 15,551 = 11,183 collected this quarter; the rest stays in receivables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F47 = InpC!F$37 (receivable days 25)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J48 = Time!J$30 (days in period)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J49 = J$42 (revenue)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J50:CO50,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J50:CO50,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J50 → CO50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H50 = empty;  L50 = 11,340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A simple, transparent collection profile without modelling each invoice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OpRev!J54: operating revenue received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J54  (to CO54)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Operating revenue received 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=SUM(J52:J53)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Cash received = all of last quarter's receivables (row 52 pulls the BEG balance) + cash from this quarter's paid invoices (row 53)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Alt+= sums rows 52 and 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J54:CO54,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J54:CO54,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J54 → CO54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H54 = 1,941,569;  L54 = 11,340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Previous quarter's outstanding receivable is assumed collected in this quarter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 block 7: receivables balance (rows 59 to 65)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receivables - initial balance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=Time!J$45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receivables balance BEG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revenue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=J$42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revenue received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receivables balance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=IF(J60=1,$F59,J62+J63-J64)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OpRev!J65: account receivables balance (BS)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OpRev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J65  (to CO65)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Account receivables balance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=IF(J60=1,$F59,J62+J63-J64)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On the acquisition date, set the opening balance from F59 (0)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Otherwise: opening balance (row 62) + revenue (63) − cash received (64)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alibri"/>
              </a:rPr>
              <a:t>▪ Row 62 </a:t>
            </a:r>
            <a:r>
              <a:rPr b="0" sz="1300" i="0">
                <a:solidFill>
                  <a:srgbClr val="0B5E82"/>
                </a:solidFill>
                <a:latin typeface="Consolas"/>
              </a:rPr>
              <a:t>=I65</a:t>
            </a:r>
            <a:r>
              <a:rPr b="0" sz="1300" i="0">
                <a:solidFill>
                  <a:srgbClr val="1A2233"/>
                </a:solidFill>
                <a:latin typeface="Calibri"/>
              </a:rPr>
              <a:t> is last column's closing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F59 = 0 (typed initial balance)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J60 = Time!J$45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J62 = I65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J63 = J$42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J64 = J$54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J65:CO65,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J65:CO65,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J65 → CO65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Closing receivables after the first forecast quarter L65 = 4,362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1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100" i="0">
                <a:solidFill>
                  <a:srgbClr val="1A2233"/>
                </a:solidFill>
                <a:latin typeface="Calibri"/>
              </a:rPr>
              <a:t>  The roll-forward identity: closing = opening + additions − reductions. It reappears for payables, tax, debt, assets and equity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4.2: Rebuild OpRev and match the checkpoints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Rebuild OpRev rows 11 to 65 in a blank copy, using the five-step row recipe, then compare totals.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Pull rows first (11 to 17, 23 to 30, 37 to 41)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Arrivals (19 to 21) and passengers (32 to 34)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Revenue (42) with the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$F37/$F38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factor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Cash received (50, 54) and receivables (62 to 65)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5.  Compare the H column totals with the checkpoint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 Checkpoints for each model block are in the Model Prompt 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Checkpoints: OpRev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274320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H (total)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L (2022-03-31)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Arrivals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924,648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11,508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Passengers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186,163,560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2,164,290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Operating revenue ($000s)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1,941,569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15,702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Cash from paid invoices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empty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11,340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Operating revenue received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1,941,569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11,340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Receivables balance (end)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4,362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79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14.45 – 15.45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6: Operating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Handling cost (variable and fixed) and O&amp;M, with payables.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Operating cost in TrainStat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674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301752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Escalated by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Handling: variable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Number of arrivals × US$550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Handling factor (Esc row 32)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InpC row 44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Handling: fixed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US$4,500k a year ÷ 4 quarters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Handling factor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InpC row 42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O&amp;M: fixed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US$3,300k a year ÷ 4 quarters × (1 + sensitivity)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O&amp;M factor (Esc row 38)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InpC rows 48, 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657600"/>
            <a:ext cx="11064240" cy="86868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82296" cy="86868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1083564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Cost rows are positive in the calculation sheet ('POS') and flipped to negative (×−1) for the income statement and cash flow: a sign convention that avoids confusion.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 block 1: handling variable cost (rows 11 to 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cost - variable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=InpC!F$44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Unit in thousand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=InpC!F$102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Arrivals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=OpRev!J$21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escalation factor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=Esc!J$32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variable cost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=IF(J15=1,$F11/$F12*J13*J14,0)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OpCost!J16: handling variable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J16  (to CO16)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Handling variable cost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=IF(J15=1,$F11/$F12*J13*J14,0)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In a forecast period: cost per arrival (550 USD) ÷ 1,000 × number of arrivals × handling escalation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Arrivals come from OpRev row 21 (pulled to row 13)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F11 = InpC!F$44 (550)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F12 = InpC!F$102 (1,000)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J13 = OpRev!J$21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J14 = Esc!J$32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J15 = Time!J$69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J16:CO16,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J16:CO16,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J16 → CO16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H16 = 890,187;  L16 = 7,760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Variable cost moves with traffic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 block 2: handling fixed cost (rows 19 to 23)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cost- fixed per annum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No of periods in a year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=InpC!F$99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escalation factor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=Esc!J$32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Forecast period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=Time!J$69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fixed cost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=IF(J22=1,$F19/$F20*J21,0)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OpCost!J23: handling fixed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J23  (to CO23)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Handling fixed cost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=IF(J22=1,$F19/$F20*J21,0)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Annual fixed fee ÷ 4 quarters × escalation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$F19/$F20 = 4,500 / 4 = 1,125 per quarter at base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F19 = InpC!F$42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F20 = InpC!F$99 (4 periods per year)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J21 = Esc!J$32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J23:CO23,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J23:CO23,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J23 → CO23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H23 = 157,312;  L23 = 1,379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Converts an annual amount into a quarterly one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 block 3: O&amp;M fixed cost (rows 26 to 31)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O&amp;M cost- fixed per annum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No of periods in a year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=InpC!F$99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O&amp;M cost - sensitivity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O&amp;M escalation factor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=Esc!J$38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O&amp;M fixed cost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=IF(J30=1,$F26/$F27*J29*(1+$F28),0)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OpCost!E28: O&amp;M sensitivity (pull row)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E28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O&amp;M cost - sensitivity  ((1 + X%))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=InpC!E$46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Pull the O&amp;M cost sensitivity (InpC row 46) next to the calculation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0% in Base and Upside; +10% in the Downside scenario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Row 28 is a pull row like rows 26,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InpC!F$46 = O&amp;M cost 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E28:G28, Enter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Sheets: Ctrl+PgUp/PgDn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E28:G28, Return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Sheets: Option+←/→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544068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F28 = 0% in 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5596128"/>
            <a:ext cx="544068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Makes a cost-shock a one-cell change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OpCost!J31: O&amp;M fixed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J31  (to CO31)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O&amp;M fixed cost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=IF(J30=1,$F26/$F27*J29*(1+$F28),0)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Same structure as row 23: O&amp;M amount (3,300) ÷ 4 quarters × O&amp;M escalation (Esc row 38)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× (1 + sensitivity):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(1+$F28)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is 1.00 in Base and 1.10 in Downside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F26 = InpC!F$48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F28 = InpC!F$46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J29 = Esc!J$38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J30 = Time!J$69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J31:CO31,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J31:CO31,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J31 → CO31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H31 = 104,874;  L31 = 920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Copy the row 23 pattern: consistency is the point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 block 4: summary of operating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variable cost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Handling fixed cost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O&amp;M fixed cost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cost POS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=SUM(J35:J37)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cost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=-1*J38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OpCost!J38: operating cost 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J38  (to CO38)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Operating cost POS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=SUM(J35:J37)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Add the three cost lines pulled in rows 35 to 37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Alt+= / Cmd+Shift+T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J38:CO38,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J38:CO38,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J38 → CO38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H38 = 1,152,373;  L38 = 10,059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POS = positive number. The next row flips the sign for the income statement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OpCost!J39: operating cost (IS)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J39  (to CO39)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Operating cost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=-1*J38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Minus one times the positive cost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Label formula: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=LEFT(E38,LEN(E38)-4)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strips the word ' POS' to give 'Operating cost'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J39:CO39,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J39:CO39,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J39 → CO39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H39 = -1,152,373;  L39 = -10,059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Costs reduce profit: negative on the income statement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 block 5: operating cost paid (rows 43 to 51)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payables days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Days in model period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=Time!J$30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cost POS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=J$38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Cash paid out for invoices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=(J44-$F43)/J44*J45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payables balance BEG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Cash paid out for invoices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=J$46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cost paid POS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=SUM(J48:J49)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cost paid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=-1*J50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OpCost!J46: cash paid out for invoices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J46  (to CO46)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Cash paid out for invoices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=(J44-$F43)/J44*J45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Suppliers are paid after 35 days: the part of this quarter's cost invoiced more than 35 days before quarter end is paid in the quarter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(days − 35) ÷ days ×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F43 = InpC!F$50 (payable days 35)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J44 = Time!J$30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J45 = J$38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J46:CO46,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J46:CO46,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J46 → CO46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H46 = empty;  L46 = 6,147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Mirror image of receivables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OpCost!J50: operating cost paid 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J50  (to CO50)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Operating cost paid POS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=SUM(J48:J49)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783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Cash paid = last quarter's payables (row 48 pulls BEG) + cash paid on this quarter's invoices (49)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Row 51 flips the sign (cash out)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J50:CO50,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J50:CO50,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J50 → CO50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H50 = 1,152,373;  L50 = 6,147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Same structure as 'revenue received'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 block 6: payables balance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payables - initial balance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=Time!J$45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payables balance BEG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cost POS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=J$38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Operating cost paid POS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Account payables balance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=IF(J57=1,$F56,J59+J60-J61)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OpCost!J62: account payables balance (BS)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OpCost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J62  (to CO62)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Account payables balance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=IF(J57=1,$F56,J59+J60-J61)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Roll-forward again: opening + cost incurred − cash paid; the opening balance on the acquisition date is F56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J57 = Time!J$45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J59 = I62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J60 = J$38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J61 = J$50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J62:CO62,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J62:CO62,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J62 → CO62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Closing payables L62 = 3,912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Payables reduce the cash needed in the period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4.4: Rebuild OpCost and prove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Rebuild OpCost rows 11 to 62, then calculate L16 by hand.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Handling variable: 550 / 1000 × arrivals in L × handling factor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Handling fixed: 4,500 / 4 × handling factor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O&amp;M: 3,300 / 4 × O&amp;M factor × (1 + sensitivity)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Add, flip sign, and compute payments with 35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 Checkpoints for each model block are in the Model Prompt 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40 min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Checkpoints: OpCost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274320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H (total)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L (2022-03-31)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Handling variable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890,187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7,760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Handling fixed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157,312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1,379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O&amp;M fixed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104,874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920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Operating cost POS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1,152,373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10,059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Cost paid POS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1,152,373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6,147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Payables (end)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3,912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98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15.45 – 16.45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Part 7: 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Tax depreciation, taxable income, tax paid, tax expense and deferred tax.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Two kinds of depreciation and two kinds of 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5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Accounting side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Tax side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Depreciation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Straight line over useful life (NCA sheet): reduces profit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Written-down value method at 5% per quarter (Tax sheet): reduces taxable income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Tax charge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Tax expense = 30% × profit before tax (income statement)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Tax paid = 30% × taxable income (cash flow)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Difference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Deferred tax balance (liability) = cumulative expense − cumulative paid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931920"/>
            <a:ext cx="11064240" cy="100584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82296" cy="100584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1083564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Taxable income = EBITDA − tax depreciation − interest. Interest is deductible (Tax row 26 pulls Debt interest). In the original file this row was an empty placeholder, which left deferred tax stranded at the end of the model.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 block 1: tax depreciation (rows 8 to 11)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depreciation rate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written down value balance BEG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Last forecast period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depreciation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=IF(J10=1,J9,$F8*J9)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Tax!J11: tax depreciation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J11  (to CO11)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Tax depreciation 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=IF(J10=1,J9,$F8*J9)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In the last forecast period, depreciate whatever is left (flag row 10 = 1)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Otherwise: 5% of the opening written-down value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▪ Row 9 pulls the BEG balance (=E$18 chain)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F8 = InpC!F$84 (5%)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J9 = J$18 (tax WDV BEG)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J10 = Time!J$75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J11:CO11,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J11:CO11,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J11 → CO11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H11 = 108,000;  L11 = 5,000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Writes the asset off by the end of the forecast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 block 2: tax written-down value (rows 15 to 21)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Non current asset - initial balance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=InpC!F$64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Acquisition / initial balance date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=Time!J$45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written down value balance BEG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Capital expenditure POS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=NCA!J$18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depreciation 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written down value balance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=IF(J16=1,$F15,J18+J19-J20)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Tax!J21: tax written down value balance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J21  (to CO21)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Tax written down value balance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=IF(J16=1,$F15,J18+J19-J20)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Roll-forward: opening + capex (NCA row 18) − tax depreciation. Opening balance on the acquisition date = F15 (100,000)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F15 = InpC!F$64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J16 = Time!J$45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J19 = NCA!J$18 (capex)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J20 = J$11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J21:CO21,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J21:CO21,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J21 → CO21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L21 = 95,000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The tax base of assets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BLUEPRINT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 block 3: taxable income and tax paid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931920"/>
                <a:gridCol w="6492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the row 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Formula (first timeline column)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=FinStat!J$11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depreciation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=J$11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Senior debt interest payment POS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=Debt!J$32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Taxable income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=J24-J25-J26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Corporation tax rate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F: =InpC!F$86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Taxable income 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=J$27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paid POS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=$F29*J30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b="1" sz="1200" i="0">
                          <a:solidFill>
                            <a:srgbClr val="1A22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Tax paid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onsolas"/>
                        </a:rPr>
                        <a:t>J: =-1*J31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Tax!J27: taxable income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J27  (to CO27)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Taxable income 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=J24-J25-J26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Taxable income = EBITDA (FinStat row 11) − tax depreciation − interest due and paid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Row 26 pulls the senior debt interest (Debt row 32): interest reduces taxable income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J24 = FinStat!J$11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J25 = J$11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J26 = Debt!J$32 (interest)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J27:CO27,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J27:CO27,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J27 → CO27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H27 = 662,904;  L27 = -332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Cash tax is based on this row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Tax!J31: tax paid 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J31  (to CO31)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Tax paid POS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=$F29*J30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Tax rate (30%) × taxable income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Row 32 flips the sign for the cash flow cascade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F29 = InpC!F$86 (30%)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J30 = J$27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J31:CO31,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J31:CO31,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J31 → CO31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H31 = 198,871;  L31 = -100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Positive number ('POS'); negative on the cash flow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Tax!J37: tax expense 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J37  (to CO37)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Tax expense POS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=$F35*J36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Tax expense = 30% × profit before tax (FinStat row 15)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Row 38 flips the sign for the income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F35 = InpC!F$86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J36 = FinStat!J$15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J37:CO37,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J37:CO37,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J37 → CO37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H37 = 198,871;  L37 = 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Accounting charge, different from the cash tax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Tax!J49: deferred tax balance (BS)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2377440" cy="347472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SHEET  Tax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417320"/>
            <a:ext cx="2651760" cy="347472"/>
          </a:xfrm>
          <a:prstGeom prst="rect">
            <a:avLst/>
          </a:prstGeom>
          <a:solidFill>
            <a:srgbClr val="0B5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b="1" sz="1200" i="0">
                <a:solidFill>
                  <a:srgbClr val="FFFFFF"/>
                </a:solidFill>
                <a:latin typeface="Calibri"/>
              </a:rPr>
              <a:t>CELL  J49  (to CO49)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5852160" cy="347472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ROW LABEL  Deferred tax balance  ($ 000s)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TYPE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11064240" cy="59436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=IF(J44=1,$F43,J46+J47-J48)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8892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READ IT LIKE A SENTENCE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576072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Deferred tax = opening + tax expense − tax paid</a:t>
            </a:r>
          </a:p>
          <a:p>
            <a:pPr algn="l"/>
            <a:r>
              <a:rPr b="0" sz="1500" i="0">
                <a:solidFill>
                  <a:srgbClr val="1A2233"/>
                </a:solidFill>
                <a:latin typeface="Calibri"/>
              </a:rPr>
              <a:t>▪ Opening balance on the acquisition date = F43 (0)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WHERE THE INPUTS COME FROM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8"/>
            <a:ext cx="5760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J44 = Time!J$45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J46 = I49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J47 = J$37</a:t>
            </a:r>
          </a:p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J48 = J$31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5120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000" i="0">
                <a:solidFill>
                  <a:srgbClr val="A8700F"/>
                </a:solidFill>
                <a:latin typeface="Calibri"/>
              </a:rPr>
              <a:t>KEYSTROKES (no mouse needed)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044952"/>
            <a:ext cx="2514600" cy="27432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3044952"/>
            <a:ext cx="251460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1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J49:CO49, Enter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Ctrl+Enter fills the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F4 cycles the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3337560"/>
            <a:ext cx="2514600" cy="219456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Ctrl+G, then type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J49:CO49, Return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Type the formula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Ctrl+Return fills range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Cmd+T (Fn+F4): $ signs</a:t>
            </a:r>
          </a:p>
          <a:p>
            <a:pPr algn="l"/>
            <a:r>
              <a:rPr b="0" sz="1400" i="0">
                <a:solidFill>
                  <a:srgbClr val="1A2233"/>
                </a:solidFill>
                <a:latin typeface="Consolas"/>
              </a:rPr>
              <a:t>Ctrl+` shows formulas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3596640" cy="749808"/>
          </a:xfrm>
          <a:prstGeom prst="rect">
            <a:avLst/>
          </a:prstGeom>
          <a:solidFill>
            <a:srgbClr val="FBF0D9"/>
          </a:solidFill>
          <a:ln w="1270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COPY ACROSS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J49 → CO49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5596128"/>
            <a:ext cx="3596640" cy="749808"/>
          </a:xfrm>
          <a:prstGeom prst="rect">
            <a:avLst/>
          </a:prstGeom>
          <a:solidFill>
            <a:srgbClr val="E6F4EA"/>
          </a:solidFill>
          <a:ln w="12700">
            <a:solidFill>
              <a:srgbClr val="1E7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YOU SHOULD SEE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L49 = 1,000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24799" y="5596128"/>
            <a:ext cx="3596640" cy="749808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1A2233"/>
                </a:solidFill>
                <a:latin typeface="Calibri"/>
              </a:rPr>
              <a:t>WHY</a:t>
            </a:r>
            <a:r>
              <a:rPr b="0" sz="1200" i="0">
                <a:solidFill>
                  <a:srgbClr val="1A2233"/>
                </a:solidFill>
                <a:latin typeface="Calibri"/>
              </a:rPr>
              <a:t>  Closes the gap between the P&amp;L charge and cash paid; it unwinds to zero by the last period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4.5: Rebuild Tax and tie it to the income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Rebuild Tax rows 8 to 49. Then test: is Tax!H37 − Tax!H31 equal to the closing deferred tax balance?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Tax depreciation and WDV (rows 8 to 21)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Taxable income and tax paid (24 to 32)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Tax expense (35 to 38)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Deferred tax (43 to 49)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5.  Compare totals with the checkpoints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 Checkpoints for each model block are in the Model Prompt 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35 min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110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Checkpoints: 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274320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H (total)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L (2022-03-31)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Tax depreciation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108,000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Taxable income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662,904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-332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Tax paid POS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198,871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-100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Tax expense POS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198,871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Deferred tax (end)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111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What the income statement shows after Day 4 blocks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39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852160"/>
                <a:gridCol w="374903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FinStat 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H (20-year total, $000s)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Operating revenue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1,941,569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Operating cost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-1,152,373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789,195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Accounting depreciation (NCA, Day 5)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-108,000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Senior debt interest (Debt, Day 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-18,291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Profit before tax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662,904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Tax expense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-198,871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Profit after tax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464,033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212080"/>
            <a:ext cx="82296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212080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Revenue, cost and tax are built; depreciation, interest and equity follow on Monday.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112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Debugging: when your total does not match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442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11480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Likely cause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Row total far too large or zero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Missing or wrong flag (row 17, 41, 15 ...)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Check H of the flag row (e.g. Time!H69 = 80)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Right in column L, wrong later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missing $ so a constant drifts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Press Ctrl+` and compare CO to L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Wrong by a small factor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Unit 1,000 missing or doubled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Check the $F37/$F38 pattern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#REF!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Deleted row or column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Ctrl+Z; never delete rows others point to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Values right, wrong sign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POS vs IS confusion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Cost POS positive; IS negative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113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Time!J69 forecast flag uses AND(J68&gt;$F66, J68&lt;=$F67). Why two tests?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To exclude periods before acquisition and after the last forecast date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To double-check the same date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Because AND is faster than IF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To count columns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114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In OpRev!J42 the formula uses $F37/$F38. What would happen if $F38 were typed as 1,000 inside the formula?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Nothing: same answer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It would hide an assumption and make the unit hard to change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It would cause #DIV/0!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It would make the formula faster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115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RECAP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What we built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Time: 84 quarterly columns, flags and checks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Esc: quarterly inflation and escalation factors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OpRev: arrivals → passengers → revenue → cash received → receivables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OpCost: handling and O&amp;M → payables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Tax: depreciation → taxable income → tax paid, tax expense and deferred tax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The roll-forward pattern: closing = opening + additions − reductions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029200"/>
            <a:ext cx="10881360" cy="77724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029200"/>
            <a:ext cx="82296" cy="77724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106527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Homework: save your workbook as v04 and bring it on Monday. Optional: rebuild Time from scratch without looking at the slides.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Day 4  |  Sat 17 Oct 2026  |  Financial Modelling I: the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116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QUESTIONS AND 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4400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86868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D8DEF5"/>
                </a:solidFill>
                <a:latin typeface="Calibri"/>
              </a:rPr>
              <a:t>Prof Bongo Adi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Lagos Business School, Pan-Atlantic University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Phone / WhatsApp:  +234 706 164 8699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Email:  badi@lbs.edu.ng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Fulbright email:  bongo.adi@fulbrightmail.org</a:t>
            </a:r>
          </a:p>
        </p:txBody>
      </p:sp>
      <p:pic>
        <p:nvPicPr>
          <p:cNvPr id="12" name="Picture 11" descr="mipf_h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828800"/>
            <a:ext cx="2103120" cy="2103120"/>
          </a:xfrm>
          <a:prstGeom prst="rect">
            <a:avLst/>
          </a:prstGeom>
        </p:spPr>
      </p:pic>
      <p:pic>
        <p:nvPicPr>
          <p:cNvPr id="13" name="Picture 12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41148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MIPF_Day4_Operating_Model_Deck (participant edition)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