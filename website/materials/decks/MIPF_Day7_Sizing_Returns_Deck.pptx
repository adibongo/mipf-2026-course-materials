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Sculpted principal</c:v>
                </c:pt>
              </c:strCache>
            </c:strRef>
          </c:tx>
          <c:spPr>
            <a:solidFill>
              <a:srgbClr val="141B4D"/>
            </a:solidFill>
          </c:spPr>
          <c:cat>
            <c:strRef>
              <c:f>Sheet1!$A$2:$A$21</c:f>
              <c:strCache>
                <c:ptCount val="20"/>
                <c:pt idx="0">
                  <c:v>Mar-22</c:v>
                </c:pt>
                <c:pt idx="1">
                  <c:v>Sep-22</c:v>
                </c:pt>
                <c:pt idx="2">
                  <c:v>Mar-23</c:v>
                </c:pt>
                <c:pt idx="3">
                  <c:v>Sep-23</c:v>
                </c:pt>
                <c:pt idx="4">
                  <c:v>Mar-24</c:v>
                </c:pt>
                <c:pt idx="5">
                  <c:v>Sep-24</c:v>
                </c:pt>
                <c:pt idx="6">
                  <c:v>Mar-25</c:v>
                </c:pt>
                <c:pt idx="7">
                  <c:v>Sep-25</c:v>
                </c:pt>
                <c:pt idx="8">
                  <c:v>Mar-26</c:v>
                </c:pt>
                <c:pt idx="9">
                  <c:v>Sep-26</c:v>
                </c:pt>
                <c:pt idx="10">
                  <c:v>Mar-27</c:v>
                </c:pt>
                <c:pt idx="11">
                  <c:v>Sep-27</c:v>
                </c:pt>
                <c:pt idx="12">
                  <c:v>Mar-28</c:v>
                </c:pt>
                <c:pt idx="13">
                  <c:v>Sep-28</c:v>
                </c:pt>
                <c:pt idx="14">
                  <c:v>Mar-29</c:v>
                </c:pt>
                <c:pt idx="15">
                  <c:v>Sep-29</c:v>
                </c:pt>
                <c:pt idx="16">
                  <c:v>Mar-30</c:v>
                </c:pt>
                <c:pt idx="17">
                  <c:v>Sep-30</c:v>
                </c:pt>
                <c:pt idx="18">
                  <c:v>Mar-31</c:v>
                </c:pt>
                <c:pt idx="19">
                  <c:v>Sep-31</c:v>
                </c:pt>
              </c:strCache>
            </c:strRef>
          </c:cat>
          <c:val>
            <c:numRef>
              <c:f>Sheet1!$B$2:$B$21</c:f>
              <c:numCache>
                <c:formatCode>General</c:formatCode>
                <c:ptCount val="20"/>
                <c:pt idx="0">
                  <c:v>1057</c:v>
                </c:pt>
                <c:pt idx="1">
                  <c:v>1207</c:v>
                </c:pt>
                <c:pt idx="2">
                  <c:v>1248</c:v>
                </c:pt>
                <c:pt idx="3">
                  <c:v>1261</c:v>
                </c:pt>
                <c:pt idx="4">
                  <c:v>1360</c:v>
                </c:pt>
                <c:pt idx="5">
                  <c:v>1428</c:v>
                </c:pt>
                <c:pt idx="6">
                  <c:v>1482</c:v>
                </c:pt>
                <c:pt idx="7">
                  <c:v>1511</c:v>
                </c:pt>
                <c:pt idx="8">
                  <c:v>1567</c:v>
                </c:pt>
                <c:pt idx="9">
                  <c:v>1736</c:v>
                </c:pt>
                <c:pt idx="10">
                  <c:v>1884</c:v>
                </c:pt>
                <c:pt idx="11">
                  <c:v>1950</c:v>
                </c:pt>
                <c:pt idx="12">
                  <c:v>2026</c:v>
                </c:pt>
                <c:pt idx="13">
                  <c:v>2107</c:v>
                </c:pt>
                <c:pt idx="14">
                  <c:v>2415</c:v>
                </c:pt>
                <c:pt idx="15">
                  <c:v>2521</c:v>
                </c:pt>
                <c:pt idx="16">
                  <c:v>2621</c:v>
                </c:pt>
                <c:pt idx="17">
                  <c:v>2741</c:v>
                </c:pt>
                <c:pt idx="18">
                  <c:v>2850</c:v>
                </c:pt>
                <c:pt idx="19">
                  <c:v>3156</c:v>
                </c:pt>
              </c:numCache>
            </c:numRef>
          </c:val>
        </c:ser>
        <c:ser>
          <c:idx val="1"/>
          <c:order val="1"/>
          <c:tx>
            <c:strRef>
              <c:f>Sheet1!$C$1</c:f>
              <c:strCache>
                <c:ptCount val="1"/>
                <c:pt idx="0">
                  <c:v>Interest</c:v>
                </c:pt>
              </c:strCache>
            </c:strRef>
          </c:tx>
          <c:spPr>
            <a:solidFill>
              <a:srgbClr val="D99A2B"/>
            </a:solidFill>
          </c:spPr>
          <c:cat>
            <c:strRef>
              <c:f>Sheet1!$A$2:$A$21</c:f>
              <c:strCache>
                <c:ptCount val="20"/>
                <c:pt idx="0">
                  <c:v>Mar-22</c:v>
                </c:pt>
                <c:pt idx="1">
                  <c:v>Sep-22</c:v>
                </c:pt>
                <c:pt idx="2">
                  <c:v>Mar-23</c:v>
                </c:pt>
                <c:pt idx="3">
                  <c:v>Sep-23</c:v>
                </c:pt>
                <c:pt idx="4">
                  <c:v>Mar-24</c:v>
                </c:pt>
                <c:pt idx="5">
                  <c:v>Sep-24</c:v>
                </c:pt>
                <c:pt idx="6">
                  <c:v>Mar-25</c:v>
                </c:pt>
                <c:pt idx="7">
                  <c:v>Sep-25</c:v>
                </c:pt>
                <c:pt idx="8">
                  <c:v>Mar-26</c:v>
                </c:pt>
                <c:pt idx="9">
                  <c:v>Sep-26</c:v>
                </c:pt>
                <c:pt idx="10">
                  <c:v>Mar-27</c:v>
                </c:pt>
                <c:pt idx="11">
                  <c:v>Sep-27</c:v>
                </c:pt>
                <c:pt idx="12">
                  <c:v>Mar-28</c:v>
                </c:pt>
                <c:pt idx="13">
                  <c:v>Sep-28</c:v>
                </c:pt>
                <c:pt idx="14">
                  <c:v>Mar-29</c:v>
                </c:pt>
                <c:pt idx="15">
                  <c:v>Sep-29</c:v>
                </c:pt>
                <c:pt idx="16">
                  <c:v>Mar-30</c:v>
                </c:pt>
                <c:pt idx="17">
                  <c:v>Sep-30</c:v>
                </c:pt>
                <c:pt idx="18">
                  <c:v>Mar-31</c:v>
                </c:pt>
                <c:pt idx="19">
                  <c:v>Sep-31</c:v>
                </c:pt>
              </c:strCache>
            </c:strRef>
          </c:cat>
          <c:val>
            <c:numRef>
              <c:f>Sheet1!$C$2:$C$21</c:f>
              <c:numCache>
                <c:formatCode>General</c:formatCode>
                <c:ptCount val="20"/>
                <c:pt idx="0">
                  <c:v>1173</c:v>
                </c:pt>
                <c:pt idx="1">
                  <c:v>1162</c:v>
                </c:pt>
                <c:pt idx="2">
                  <c:v>1098</c:v>
                </c:pt>
                <c:pt idx="3">
                  <c:v>1082</c:v>
                </c:pt>
                <c:pt idx="4">
                  <c:v>1045</c:v>
                </c:pt>
                <c:pt idx="5">
                  <c:v>1011</c:v>
                </c:pt>
                <c:pt idx="6">
                  <c:v>951</c:v>
                </c:pt>
                <c:pt idx="7">
                  <c:v>924</c:v>
                </c:pt>
                <c:pt idx="8">
                  <c:v>867</c:v>
                </c:pt>
                <c:pt idx="9">
                  <c:v>835</c:v>
                </c:pt>
                <c:pt idx="10">
                  <c:v>767</c:v>
                </c:pt>
                <c:pt idx="11">
                  <c:v>723</c:v>
                </c:pt>
                <c:pt idx="12">
                  <c:v>655</c:v>
                </c:pt>
                <c:pt idx="13">
                  <c:v>596</c:v>
                </c:pt>
                <c:pt idx="14">
                  <c:v>521</c:v>
                </c:pt>
                <c:pt idx="15">
                  <c:v>452</c:v>
                </c:pt>
                <c:pt idx="16">
                  <c:v>369</c:v>
                </c:pt>
                <c:pt idx="17">
                  <c:v>290</c:v>
                </c:pt>
                <c:pt idx="18">
                  <c:v>196</c:v>
                </c:pt>
                <c:pt idx="19">
                  <c:v>106</c:v>
                </c:pt>
              </c:numCache>
            </c:numRef>
          </c:val>
        </c:ser>
        <c:overlap val="10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spPr>
            <a:ln>
              <a:solidFill>
                <a:srgbClr val="E1E7EE"/>
              </a:solidFill>
            </a:ln>
          </c:spPr>
        </c:majorGridlines>
        <c:title>
          <c:tx>
            <c:rich>
              <a:bodyPr/>
              <a:lstStyle/>
              <a:p>
                <a:r>
                  <a:rPr sz="1100"/>
                  <a:t>$000s</a:t>
                </a:r>
              </a:p>
            </c:rich>
          </c:tx>
          <c:layout/>
          <c:overlay val="0"/>
        </c:title>
        <c:numFmt formatCode="#,##0" sourceLinked="0"/>
        <c:majorTickMark val="out"/>
        <c:minorTickMark val="none"/>
        <c:tickLblPos val="nextTo"/>
        <c:txPr>
          <a:bodyPr/>
          <a:lstStyle/>
          <a:p>
            <a:pPr>
              <a:defRPr sz="1100"/>
            </a:pPr>
          </a:p>
        </c:txPr>
        <c:crossAx val="-2068027336"/>
        <c:crosses val="autoZero"/>
      </c:valAx>
    </c:plotArea>
    <c:legend>
      <c:legendPos val="b"/>
      <c:overlay val="0"/>
      <c:txPr>
        <a:bodyPr/>
        <a:lstStyle/>
        <a:p>
          <a:pPr>
            <a:defRPr sz="1200"/>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CFADS (sizing basis)</c:v>
                </c:pt>
              </c:strCache>
            </c:strRef>
          </c:tx>
          <c:spPr>
            <a:ln w="31750">
              <a:solidFill>
                <a:srgbClr val="141B4D"/>
              </a:solidFill>
            </a:ln>
          </c:spPr>
          <c:marker>
            <c:symbol val="none"/>
          </c:marker>
          <c:cat>
            <c:strRef>
              <c:f>Sheet1!$A$2:$A$21</c:f>
              <c:strCache>
                <c:ptCount val="20"/>
                <c:pt idx="0">
                  <c:v>Mar-22</c:v>
                </c:pt>
                <c:pt idx="1">
                  <c:v>Sep-22</c:v>
                </c:pt>
                <c:pt idx="2">
                  <c:v>Mar-23</c:v>
                </c:pt>
                <c:pt idx="3">
                  <c:v>Sep-23</c:v>
                </c:pt>
                <c:pt idx="4">
                  <c:v>Mar-24</c:v>
                </c:pt>
                <c:pt idx="5">
                  <c:v>Sep-24</c:v>
                </c:pt>
                <c:pt idx="6">
                  <c:v>Mar-25</c:v>
                </c:pt>
                <c:pt idx="7">
                  <c:v>Sep-25</c:v>
                </c:pt>
                <c:pt idx="8">
                  <c:v>Mar-26</c:v>
                </c:pt>
                <c:pt idx="9">
                  <c:v>Sep-26</c:v>
                </c:pt>
                <c:pt idx="10">
                  <c:v>Mar-27</c:v>
                </c:pt>
                <c:pt idx="11">
                  <c:v>Sep-27</c:v>
                </c:pt>
                <c:pt idx="12">
                  <c:v>Mar-28</c:v>
                </c:pt>
                <c:pt idx="13">
                  <c:v>Sep-28</c:v>
                </c:pt>
                <c:pt idx="14">
                  <c:v>Mar-29</c:v>
                </c:pt>
                <c:pt idx="15">
                  <c:v>Sep-29</c:v>
                </c:pt>
                <c:pt idx="16">
                  <c:v>Mar-30</c:v>
                </c:pt>
                <c:pt idx="17">
                  <c:v>Sep-30</c:v>
                </c:pt>
                <c:pt idx="18">
                  <c:v>Mar-31</c:v>
                </c:pt>
                <c:pt idx="19">
                  <c:v>Sep-31</c:v>
                </c:pt>
              </c:strCache>
            </c:strRef>
          </c:cat>
          <c:val>
            <c:numRef>
              <c:f>Sheet1!$B$2:$B$21</c:f>
              <c:numCache>
                <c:formatCode>General</c:formatCode>
                <c:ptCount val="20"/>
                <c:pt idx="0">
                  <c:v>5016</c:v>
                </c:pt>
                <c:pt idx="1">
                  <c:v>5330</c:v>
                </c:pt>
                <c:pt idx="2">
                  <c:v>5280</c:v>
                </c:pt>
                <c:pt idx="3">
                  <c:v>5273</c:v>
                </c:pt>
                <c:pt idx="4">
                  <c:v>5411</c:v>
                </c:pt>
                <c:pt idx="5">
                  <c:v>5489</c:v>
                </c:pt>
                <c:pt idx="6">
                  <c:v>5476</c:v>
                </c:pt>
                <c:pt idx="7">
                  <c:v>5478</c:v>
                </c:pt>
                <c:pt idx="8">
                  <c:v>5477</c:v>
                </c:pt>
                <c:pt idx="9">
                  <c:v>5786</c:v>
                </c:pt>
                <c:pt idx="10">
                  <c:v>5967</c:v>
                </c:pt>
                <c:pt idx="11">
                  <c:v>6012</c:v>
                </c:pt>
                <c:pt idx="12">
                  <c:v>6032</c:v>
                </c:pt>
                <c:pt idx="13">
                  <c:v>6082</c:v>
                </c:pt>
                <c:pt idx="14">
                  <c:v>6605</c:v>
                </c:pt>
                <c:pt idx="15">
                  <c:v>6689</c:v>
                </c:pt>
                <c:pt idx="16">
                  <c:v>6728</c:v>
                </c:pt>
                <c:pt idx="17">
                  <c:v>6821</c:v>
                </c:pt>
                <c:pt idx="18">
                  <c:v>6852</c:v>
                </c:pt>
                <c:pt idx="19">
                  <c:v>7338</c:v>
                </c:pt>
              </c:numCache>
            </c:numRef>
          </c:val>
          <c:smooth val="0"/>
        </c:ser>
        <c:ser>
          <c:idx val="1"/>
          <c:order val="1"/>
          <c:tx>
            <c:strRef>
              <c:f>Sheet1!$C$1</c:f>
              <c:strCache>
                <c:ptCount val="1"/>
                <c:pt idx="0">
                  <c:v>Sculpted debt service</c:v>
                </c:pt>
              </c:strCache>
            </c:strRef>
          </c:tx>
          <c:spPr>
            <a:ln w="31750">
              <a:solidFill>
                <a:srgbClr val="D99A2B"/>
              </a:solidFill>
            </a:ln>
          </c:spPr>
          <c:marker>
            <c:symbol val="none"/>
          </c:marker>
          <c:cat>
            <c:strRef>
              <c:f>Sheet1!$A$2:$A$21</c:f>
              <c:strCache>
                <c:ptCount val="20"/>
                <c:pt idx="0">
                  <c:v>Mar-22</c:v>
                </c:pt>
                <c:pt idx="1">
                  <c:v>Sep-22</c:v>
                </c:pt>
                <c:pt idx="2">
                  <c:v>Mar-23</c:v>
                </c:pt>
                <c:pt idx="3">
                  <c:v>Sep-23</c:v>
                </c:pt>
                <c:pt idx="4">
                  <c:v>Mar-24</c:v>
                </c:pt>
                <c:pt idx="5">
                  <c:v>Sep-24</c:v>
                </c:pt>
                <c:pt idx="6">
                  <c:v>Mar-25</c:v>
                </c:pt>
                <c:pt idx="7">
                  <c:v>Sep-25</c:v>
                </c:pt>
                <c:pt idx="8">
                  <c:v>Mar-26</c:v>
                </c:pt>
                <c:pt idx="9">
                  <c:v>Sep-26</c:v>
                </c:pt>
                <c:pt idx="10">
                  <c:v>Mar-27</c:v>
                </c:pt>
                <c:pt idx="11">
                  <c:v>Sep-27</c:v>
                </c:pt>
                <c:pt idx="12">
                  <c:v>Mar-28</c:v>
                </c:pt>
                <c:pt idx="13">
                  <c:v>Sep-28</c:v>
                </c:pt>
                <c:pt idx="14">
                  <c:v>Mar-29</c:v>
                </c:pt>
                <c:pt idx="15">
                  <c:v>Sep-29</c:v>
                </c:pt>
                <c:pt idx="16">
                  <c:v>Mar-30</c:v>
                </c:pt>
                <c:pt idx="17">
                  <c:v>Sep-30</c:v>
                </c:pt>
                <c:pt idx="18">
                  <c:v>Mar-31</c:v>
                </c:pt>
                <c:pt idx="19">
                  <c:v>Sep-31</c:v>
                </c:pt>
              </c:strCache>
            </c:strRef>
          </c:cat>
          <c:val>
            <c:numRef>
              <c:f>Sheet1!$C$2:$C$21</c:f>
              <c:numCache>
                <c:formatCode>General</c:formatCode>
                <c:ptCount val="20"/>
                <c:pt idx="0">
                  <c:v>2229</c:v>
                </c:pt>
                <c:pt idx="1">
                  <c:v>2369</c:v>
                </c:pt>
                <c:pt idx="2">
                  <c:v>2346</c:v>
                </c:pt>
                <c:pt idx="3">
                  <c:v>2343</c:v>
                </c:pt>
                <c:pt idx="4">
                  <c:v>2405</c:v>
                </c:pt>
                <c:pt idx="5">
                  <c:v>2439</c:v>
                </c:pt>
                <c:pt idx="6">
                  <c:v>2434</c:v>
                </c:pt>
                <c:pt idx="7">
                  <c:v>2435</c:v>
                </c:pt>
                <c:pt idx="8">
                  <c:v>2434</c:v>
                </c:pt>
                <c:pt idx="9">
                  <c:v>2571</c:v>
                </c:pt>
                <c:pt idx="10">
                  <c:v>2652</c:v>
                </c:pt>
                <c:pt idx="11">
                  <c:v>2672</c:v>
                </c:pt>
                <c:pt idx="12">
                  <c:v>2681</c:v>
                </c:pt>
                <c:pt idx="13">
                  <c:v>2703</c:v>
                </c:pt>
                <c:pt idx="14">
                  <c:v>2936</c:v>
                </c:pt>
                <c:pt idx="15">
                  <c:v>2973</c:v>
                </c:pt>
                <c:pt idx="16">
                  <c:v>2990</c:v>
                </c:pt>
                <c:pt idx="17">
                  <c:v>3032</c:v>
                </c:pt>
                <c:pt idx="18">
                  <c:v>3046</c:v>
                </c:pt>
                <c:pt idx="19">
                  <c:v>3262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delete val="0"/>
        <c:axPos val="l"/>
        <c:majorGridlines>
          <c:spPr>
            <a:ln>
              <a:solidFill>
                <a:srgbClr val="E1E7EE"/>
              </a:solidFill>
            </a:ln>
          </c:spPr>
        </c:majorGridlines>
        <c:title>
          <c:tx>
            <c:rich>
              <a:bodyPr/>
              <a:lstStyle/>
              <a:p>
                <a:r>
                  <a:rPr sz="1100"/>
                  <a:t>$000s</a:t>
                </a:r>
              </a:p>
            </c:rich>
          </c:tx>
          <c:layout/>
          <c:overlay val="0"/>
        </c:title>
        <c:numFmt formatCode="#,##0" sourceLinked="0"/>
        <c:majorTickMark val="out"/>
        <c:minorTickMark val="none"/>
        <c:tickLblPos val="nextTo"/>
        <c:txPr>
          <a:bodyPr/>
          <a:lstStyle/>
          <a:p>
            <a:pPr>
              <a:defRPr sz="1100"/>
            </a:pPr>
          </a:p>
        </c:txPr>
        <c:crossAx val="2118791784"/>
        <c:crosses val="autoZero"/>
      </c:valAx>
    </c:plotArea>
    <c:legend>
      <c:legendPos val="b"/>
      <c:layout/>
      <c:overlay val="0"/>
      <c:txPr>
        <a:bodyPr/>
        <a:lstStyle/>
        <a:p>
          <a:pPr>
            <a:defRPr sz="1200"/>
          </a:pPr>
        </a:p>
      </c:txPr>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DSRA balance</c:v>
                </c:pt>
              </c:strCache>
            </c:strRef>
          </c:tx>
          <c:spPr>
            <a:ln w="31750">
              <a:solidFill>
                <a:srgbClr val="141B4D"/>
              </a:solidFill>
            </a:ln>
          </c:spPr>
          <c:marker>
            <c:symbol val="none"/>
          </c:marker>
          <c:cat>
            <c:strRef>
              <c:f>Sheet1!$A$2:$A$19</c:f>
              <c:strCache>
                <c:ptCount val="18"/>
                <c:pt idx="0">
                  <c:v>Dec-21</c:v>
                </c:pt>
                <c:pt idx="1">
                  <c:v>Sep-22</c:v>
                </c:pt>
                <c:pt idx="2">
                  <c:v>Jun-23</c:v>
                </c:pt>
                <c:pt idx="3">
                  <c:v>Mar-24</c:v>
                </c:pt>
                <c:pt idx="4">
                  <c:v>Dec-24</c:v>
                </c:pt>
                <c:pt idx="5">
                  <c:v>Sep-25</c:v>
                </c:pt>
                <c:pt idx="6">
                  <c:v>Jun-26</c:v>
                </c:pt>
                <c:pt idx="7">
                  <c:v>Mar-27</c:v>
                </c:pt>
                <c:pt idx="8">
                  <c:v>Dec-27</c:v>
                </c:pt>
                <c:pt idx="9">
                  <c:v>Sep-28</c:v>
                </c:pt>
                <c:pt idx="10">
                  <c:v>Jun-29</c:v>
                </c:pt>
                <c:pt idx="11">
                  <c:v>Mar-30</c:v>
                </c:pt>
                <c:pt idx="12">
                  <c:v>Dec-30</c:v>
                </c:pt>
                <c:pt idx="13">
                  <c:v>Sep-31</c:v>
                </c:pt>
                <c:pt idx="14">
                  <c:v>Jun-32</c:v>
                </c:pt>
                <c:pt idx="15">
                  <c:v>Mar-33</c:v>
                </c:pt>
                <c:pt idx="16">
                  <c:v>Dec-33</c:v>
                </c:pt>
                <c:pt idx="17">
                  <c:v>Sep-34</c:v>
                </c:pt>
              </c:strCache>
            </c:strRef>
          </c:cat>
          <c:val>
            <c:numRef>
              <c:f>Sheet1!$B$2:$B$19</c:f>
              <c:numCache>
                <c:formatCode>General</c:formatCode>
                <c:ptCount val="18"/>
                <c:pt idx="0">
                  <c:v>0</c:v>
                </c:pt>
                <c:pt idx="1">
                  <c:v>4636</c:v>
                </c:pt>
                <c:pt idx="2">
                  <c:v>3718</c:v>
                </c:pt>
                <c:pt idx="3">
                  <c:v>4800</c:v>
                </c:pt>
                <c:pt idx="4">
                  <c:v>4790</c:v>
                </c:pt>
                <c:pt idx="5">
                  <c:v>4115</c:v>
                </c:pt>
                <c:pt idx="6">
                  <c:v>4688</c:v>
                </c:pt>
                <c:pt idx="7">
                  <c:v>5251</c:v>
                </c:pt>
                <c:pt idx="8">
                  <c:v>5281</c:v>
                </c:pt>
                <c:pt idx="9">
                  <c:v>5237</c:v>
                </c:pt>
                <c:pt idx="10">
                  <c:v>5410</c:v>
                </c:pt>
                <c:pt idx="11">
                  <c:v>5951</c:v>
                </c:pt>
                <c:pt idx="12">
                  <c:v>6019</c:v>
                </c:pt>
                <c:pt idx="13">
                  <c:v>3269</c:v>
                </c:pt>
                <c:pt idx="14">
                  <c:v>0</c:v>
                </c:pt>
                <c:pt idx="15">
                  <c:v>0</c:v>
                </c:pt>
                <c:pt idx="16">
                  <c:v>0</c:v>
                </c:pt>
                <c:pt idx="17">
                  <c:v>0</c:v>
                </c:pt>
              </c:numCache>
            </c:numRef>
          </c:val>
          <c:smooth val="0"/>
        </c:ser>
        <c:ser>
          <c:idx val="1"/>
          <c:order val="1"/>
          <c:tx>
            <c:strRef>
              <c:f>Sheet1!$C$1</c:f>
              <c:strCache>
                <c:ptCount val="1"/>
                <c:pt idx="0">
                  <c:v>Target</c:v>
                </c:pt>
              </c:strCache>
            </c:strRef>
          </c:tx>
          <c:spPr>
            <a:ln w="31750">
              <a:solidFill>
                <a:srgbClr val="D99A2B"/>
              </a:solidFill>
            </a:ln>
          </c:spPr>
          <c:marker>
            <c:symbol val="none"/>
          </c:marker>
          <c:cat>
            <c:strRef>
              <c:f>Sheet1!$A$2:$A$19</c:f>
              <c:strCache>
                <c:ptCount val="18"/>
                <c:pt idx="0">
                  <c:v>Dec-21</c:v>
                </c:pt>
                <c:pt idx="1">
                  <c:v>Sep-22</c:v>
                </c:pt>
                <c:pt idx="2">
                  <c:v>Jun-23</c:v>
                </c:pt>
                <c:pt idx="3">
                  <c:v>Mar-24</c:v>
                </c:pt>
                <c:pt idx="4">
                  <c:v>Dec-24</c:v>
                </c:pt>
                <c:pt idx="5">
                  <c:v>Sep-25</c:v>
                </c:pt>
                <c:pt idx="6">
                  <c:v>Jun-26</c:v>
                </c:pt>
                <c:pt idx="7">
                  <c:v>Mar-27</c:v>
                </c:pt>
                <c:pt idx="8">
                  <c:v>Dec-27</c:v>
                </c:pt>
                <c:pt idx="9">
                  <c:v>Sep-28</c:v>
                </c:pt>
                <c:pt idx="10">
                  <c:v>Jun-29</c:v>
                </c:pt>
                <c:pt idx="11">
                  <c:v>Mar-30</c:v>
                </c:pt>
                <c:pt idx="12">
                  <c:v>Dec-30</c:v>
                </c:pt>
                <c:pt idx="13">
                  <c:v>Sep-31</c:v>
                </c:pt>
                <c:pt idx="14">
                  <c:v>Jun-32</c:v>
                </c:pt>
                <c:pt idx="15">
                  <c:v>Mar-33</c:v>
                </c:pt>
                <c:pt idx="16">
                  <c:v>Dec-33</c:v>
                </c:pt>
                <c:pt idx="17">
                  <c:v>Sep-34</c:v>
                </c:pt>
              </c:strCache>
            </c:strRef>
          </c:cat>
          <c:val>
            <c:numRef>
              <c:f>Sheet1!$C$2:$C$19</c:f>
              <c:numCache>
                <c:formatCode>General</c:formatCode>
                <c:ptCount val="18"/>
                <c:pt idx="0">
                  <c:v>4546</c:v>
                </c:pt>
                <c:pt idx="1">
                  <c:v>4636</c:v>
                </c:pt>
                <c:pt idx="2">
                  <c:v>3718</c:v>
                </c:pt>
                <c:pt idx="3">
                  <c:v>4800</c:v>
                </c:pt>
                <c:pt idx="4">
                  <c:v>4790</c:v>
                </c:pt>
                <c:pt idx="5">
                  <c:v>4115</c:v>
                </c:pt>
                <c:pt idx="6">
                  <c:v>4688</c:v>
                </c:pt>
                <c:pt idx="7">
                  <c:v>5251</c:v>
                </c:pt>
                <c:pt idx="8">
                  <c:v>5281</c:v>
                </c:pt>
                <c:pt idx="9">
                  <c:v>5237</c:v>
                </c:pt>
                <c:pt idx="10">
                  <c:v>5410</c:v>
                </c:pt>
                <c:pt idx="11">
                  <c:v>5951</c:v>
                </c:pt>
                <c:pt idx="12">
                  <c:v>6019</c:v>
                </c:pt>
                <c:pt idx="13">
                  <c:v>3269</c:v>
                </c:pt>
                <c:pt idx="14">
                  <c:v>0</c:v>
                </c:pt>
                <c:pt idx="15">
                  <c:v>0</c:v>
                </c:pt>
                <c:pt idx="16">
                  <c:v>0</c:v>
                </c:pt>
                <c:pt idx="17">
                  <c:v>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delete val="0"/>
        <c:axPos val="l"/>
        <c:majorGridlines>
          <c:spPr>
            <a:ln>
              <a:solidFill>
                <a:srgbClr val="E1E7EE"/>
              </a:solidFill>
            </a:ln>
          </c:spPr>
        </c:majorGridlines>
        <c:title>
          <c:tx>
            <c:rich>
              <a:bodyPr/>
              <a:lstStyle/>
              <a:p>
                <a:r>
                  <a:rPr sz="1100"/>
                  <a:t>$000s</a:t>
                </a:r>
              </a:p>
            </c:rich>
          </c:tx>
          <c:layout/>
          <c:overlay val="0"/>
        </c:title>
        <c:numFmt formatCode="#,##0" sourceLinked="0"/>
        <c:majorTickMark val="out"/>
        <c:minorTickMark val="none"/>
        <c:tickLblPos val="nextTo"/>
        <c:txPr>
          <a:bodyPr/>
          <a:lstStyle/>
          <a:p>
            <a:pPr>
              <a:defRPr sz="1100"/>
            </a:pPr>
          </a:p>
        </c:txPr>
        <c:crossAx val="2118791784"/>
        <c:crosses val="autoZero"/>
      </c:valAx>
    </c:plotArea>
    <c:legend>
      <c:legendPos val="b"/>
      <c:layout/>
      <c:overlay val="0"/>
      <c:txPr>
        <a:bodyPr/>
        <a:lstStyle/>
        <a:p>
          <a:pPr>
            <a:defRPr sz="1200"/>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chart" Target="../charts/chart1.xml"/><Relationship Id="rId6" Type="http://schemas.openxmlformats.org/officeDocument/2006/relationships/notesSlide" Target="../notesSlides/notesSlide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chart" Target="../charts/chart2.xml"/><Relationship Id="rId6" Type="http://schemas.openxmlformats.org/officeDocument/2006/relationships/notesSlide" Target="../notesSlides/notesSlide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chart" Target="../charts/chart3.xml"/><Relationship Id="rId6" Type="http://schemas.openxmlformats.org/officeDocument/2006/relationships/notesSlide" Target="../notesSlides/notesSlide2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ounded Rectangle 1"/>
          <p:cNvSpPr/>
          <p:nvPr/>
        </p:nvSpPr>
        <p:spPr>
          <a:xfrm>
            <a:off x="457200" y="411480"/>
            <a:ext cx="3200400"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566928" y="502920"/>
            <a:ext cx="2516682" cy="868680"/>
          </a:xfrm>
          <a:prstGeom prst="rect">
            <a:avLst/>
          </a:prstGeom>
        </p:spPr>
      </p:pic>
      <p:pic>
        <p:nvPicPr>
          <p:cNvPr id="4" name="Picture 3" descr="mipf_hex.png"/>
          <p:cNvPicPr>
            <a:picLocks noChangeAspect="1"/>
          </p:cNvPicPr>
          <p:nvPr/>
        </p:nvPicPr>
        <p:blipFill>
          <a:blip r:embed="rId3"/>
          <a:stretch>
            <a:fillRect/>
          </a:stretch>
        </p:blipFill>
        <p:spPr>
          <a:xfrm>
            <a:off x="9144000" y="457200"/>
            <a:ext cx="2377440" cy="2377440"/>
          </a:xfrm>
          <a:prstGeom prst="rect">
            <a:avLst/>
          </a:prstGeom>
        </p:spPr>
      </p:pic>
      <p:pic>
        <p:nvPicPr>
          <p:cNvPr id="5" name="Picture 4" descr="bongo_ai_hex_dark_256.png"/>
          <p:cNvPicPr>
            <a:picLocks noChangeAspect="1"/>
          </p:cNvPicPr>
          <p:nvPr/>
        </p:nvPicPr>
        <p:blipFill>
          <a:blip r:embed="rId4"/>
          <a:stretch>
            <a:fillRect/>
          </a:stretch>
        </p:blipFill>
        <p:spPr>
          <a:xfrm>
            <a:off x="10607040" y="5074920"/>
            <a:ext cx="1188720" cy="1188720"/>
          </a:xfrm>
          <a:prstGeom prst="rect">
            <a:avLst/>
          </a:prstGeom>
        </p:spPr>
      </p:pic>
      <p:sp>
        <p:nvSpPr>
          <p:cNvPr id="6" name="TextBox 5"/>
          <p:cNvSpPr txBox="1"/>
          <p:nvPr/>
        </p:nvSpPr>
        <p:spPr>
          <a:xfrm>
            <a:off x="9144000" y="6035040"/>
            <a:ext cx="1463040" cy="274320"/>
          </a:xfrm>
          <a:prstGeom prst="rect">
            <a:avLst/>
          </a:prstGeom>
          <a:noFill/>
        </p:spPr>
        <p:txBody>
          <a:bodyPr wrap="square" lIns="45720" rIns="45720" tIns="27432" bIns="27432" anchor="t">
            <a:spAutoFit/>
          </a:bodyPr>
          <a:lstStyle/>
          <a:p>
            <a:pPr algn="r"/>
            <a:r>
              <a:rPr b="0" sz="1100" i="0">
                <a:solidFill>
                  <a:srgbClr val="C9D3F5"/>
                </a:solidFill>
                <a:latin typeface="Calibri"/>
              </a:rPr>
              <a:t>bongo.ai  ·  MIPF</a:t>
            </a:r>
          </a:p>
        </p:txBody>
      </p:sp>
      <p:sp>
        <p:nvSpPr>
          <p:cNvPr id="7" name="TextBox 6"/>
          <p:cNvSpPr txBox="1"/>
          <p:nvPr/>
        </p:nvSpPr>
        <p:spPr>
          <a:xfrm>
            <a:off x="548640" y="2331720"/>
            <a:ext cx="8412480" cy="365760"/>
          </a:xfrm>
          <a:prstGeom prst="rect">
            <a:avLst/>
          </a:prstGeom>
          <a:noFill/>
        </p:spPr>
        <p:txBody>
          <a:bodyPr wrap="square" lIns="45720" rIns="45720" tIns="27432" bIns="27432" anchor="t">
            <a:spAutoFit/>
          </a:bodyPr>
          <a:lstStyle/>
          <a:p>
            <a:pPr algn="l"/>
            <a:r>
              <a:rPr b="1" sz="1400" i="0">
                <a:solidFill>
                  <a:srgbClr val="D99A2B"/>
                </a:solidFill>
                <a:latin typeface="Calibri"/>
              </a:rPr>
              <a:t>MASTERING INFRASTRUCTURE AND PROJECT FINANCE BOOT CAMP</a:t>
            </a:r>
          </a:p>
        </p:txBody>
      </p:sp>
      <p:sp>
        <p:nvSpPr>
          <p:cNvPr id="8" name="TextBox 7"/>
          <p:cNvSpPr txBox="1"/>
          <p:nvPr/>
        </p:nvSpPr>
        <p:spPr>
          <a:xfrm>
            <a:off x="548640" y="2743200"/>
            <a:ext cx="8595360" cy="1737360"/>
          </a:xfrm>
          <a:prstGeom prst="rect">
            <a:avLst/>
          </a:prstGeom>
          <a:noFill/>
        </p:spPr>
        <p:txBody>
          <a:bodyPr wrap="square" lIns="45720" rIns="45720" tIns="27432" bIns="27432" anchor="t">
            <a:spAutoFit/>
          </a:bodyPr>
          <a:lstStyle/>
          <a:p>
            <a:pPr algn="l"/>
            <a:r>
              <a:rPr b="1" sz="3400" i="0">
                <a:solidFill>
                  <a:srgbClr val="FFFFFF"/>
                </a:solidFill>
                <a:latin typeface="Georgia"/>
              </a:rPr>
              <a:t>Project Finance Modelling II: Debt Sizing, Sculpting and Returns</a:t>
            </a:r>
          </a:p>
        </p:txBody>
      </p:sp>
      <p:sp>
        <p:nvSpPr>
          <p:cNvPr id="9" name="TextBox 8"/>
          <p:cNvSpPr txBox="1"/>
          <p:nvPr/>
        </p:nvSpPr>
        <p:spPr>
          <a:xfrm>
            <a:off x="548640" y="4526280"/>
            <a:ext cx="8595360" cy="822960"/>
          </a:xfrm>
          <a:prstGeom prst="rect">
            <a:avLst/>
          </a:prstGeom>
          <a:noFill/>
        </p:spPr>
        <p:txBody>
          <a:bodyPr wrap="square" lIns="45720" rIns="45720" tIns="27432" bIns="27432" anchor="t">
            <a:spAutoFit/>
          </a:bodyPr>
          <a:lstStyle/>
          <a:p>
            <a:pPr algn="l"/>
            <a:r>
              <a:rPr b="0" sz="1800" i="0">
                <a:solidFill>
                  <a:srgbClr val="D8DEF5"/>
                </a:solidFill>
                <a:latin typeface="Calibri"/>
              </a:rPr>
              <a:t>Drawdown, DSCR, LLCR and PLCR, debt capacity and sculpting, the shareholder loan and DSRA, blended equity return and optimisation</a:t>
            </a:r>
          </a:p>
        </p:txBody>
      </p:sp>
      <p:sp>
        <p:nvSpPr>
          <p:cNvPr id="10" name="TextBox 9"/>
          <p:cNvSpPr txBox="1"/>
          <p:nvPr/>
        </p:nvSpPr>
        <p:spPr>
          <a:xfrm>
            <a:off x="548640" y="5669280"/>
            <a:ext cx="8595360" cy="457200"/>
          </a:xfrm>
          <a:prstGeom prst="rect">
            <a:avLst/>
          </a:prstGeom>
          <a:noFill/>
        </p:spPr>
        <p:txBody>
          <a:bodyPr wrap="square" lIns="45720" rIns="45720" tIns="27432" bIns="27432" anchor="t">
            <a:spAutoFit/>
          </a:bodyPr>
          <a:lstStyle/>
          <a:p>
            <a:pPr algn="l"/>
            <a:r>
              <a:rPr b="1" sz="1500" i="0">
                <a:solidFill>
                  <a:srgbClr val="FFFFFF"/>
                </a:solidFill>
                <a:latin typeface="Calibri"/>
              </a:rPr>
              <a:t>Thursday 22nd October 2026  |  Facilitator: Promise Godbold</a:t>
            </a:r>
          </a:p>
        </p:txBody>
      </p:sp>
      <p:sp>
        <p:nvSpPr>
          <p:cNvPr id="11" name="TextBox 10"/>
          <p:cNvSpPr txBox="1"/>
          <p:nvPr/>
        </p:nvSpPr>
        <p:spPr>
          <a:xfrm>
            <a:off x="548640" y="6053328"/>
            <a:ext cx="10058400" cy="274320"/>
          </a:xfrm>
          <a:prstGeom prst="rect">
            <a:avLst/>
          </a:prstGeom>
          <a:noFill/>
        </p:spPr>
        <p:txBody>
          <a:bodyPr wrap="square" lIns="45720" rIns="45720" tIns="27432" bIns="27432" anchor="t">
            <a:spAutoFit/>
          </a:bodyPr>
          <a:lstStyle/>
          <a:p>
            <a:pPr algn="l"/>
            <a:r>
              <a:rPr b="0" sz="1100" i="0">
                <a:solidFill>
                  <a:srgbClr val="C9D3F5"/>
                </a:solidFill>
                <a:latin typeface="Calibri"/>
              </a:rPr>
              <a:t>Prof Bongo Adi  |  +234 706 164 8699  |  badi@lbs.edu.ng  |  bongo.adi@fulbrightmail.org</a:t>
            </a:r>
          </a:p>
        </p:txBody>
      </p:sp>
      <p:sp>
        <p:nvSpPr>
          <p:cNvPr id="12" name="Rectangle 11"/>
          <p:cNvSpPr/>
          <p:nvPr/>
        </p:nvSpPr>
        <p:spPr>
          <a:xfrm>
            <a:off x="548640" y="5532120"/>
            <a:ext cx="219456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783080"/>
            <a:ext cx="8229600" cy="320040"/>
          </a:xfrm>
          <a:prstGeom prst="rect">
            <a:avLst/>
          </a:prstGeom>
          <a:noFill/>
        </p:spPr>
        <p:txBody>
          <a:bodyPr wrap="none">
            <a:spAutoFit/>
          </a:bodyPr>
          <a:lstStyle/>
          <a:p>
            <a:r>
              <a:rPr sz="1200" b="1">
                <a:solidFill>
                  <a:srgbClr val="D99A2B"/>
                </a:solidFill>
                <a:latin typeface="Calibri"/>
              </a:rPr>
              <a:t>PARTICIPANT EDITION  ·  exercise answers and facilitator notes are withheld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PLAN FOR THE DAY</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Today's timetable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719578"/>
        </p:xfrm>
        <a:graphic>
          <a:graphicData uri="http://schemas.openxmlformats.org/drawingml/2006/table">
            <a:tbl>
              <a:tblPr firstRow="1" bandRow="1">
                <a:tableStyleId>{5C22544A-7EE6-4342-B048-85BDC9FD1C3A}</a:tableStyleId>
              </a:tblPr>
              <a:tblGrid>
                <a:gridCol w="1828800"/>
                <a:gridCol w="4572000"/>
                <a:gridCol w="4663440"/>
              </a:tblGrid>
              <a:tr h="384048">
                <a:tc>
                  <a:txBody>
                    <a:bodyPr wrap="square"/>
                    <a:lstStyle/>
                    <a:p>
                      <a:r>
                        <a:rPr b="1" sz="1300" i="0">
                          <a:solidFill>
                            <a:srgbClr val="FFFFFF"/>
                          </a:solidFill>
                          <a:latin typeface="Calibri"/>
                        </a:rPr>
                        <a:t>Time</a:t>
                      </a:r>
                    </a:p>
                  </a:txBody>
                  <a:tcPr marL="64008" marR="64008" marT="27432" marB="27432" anchor="ctr">
                    <a:solidFill>
                      <a:srgbClr val="141B4D"/>
                    </a:solidFill>
                  </a:tcPr>
                </a:tc>
                <a:tc>
                  <a:txBody>
                    <a:bodyPr wrap="square"/>
                    <a:lstStyle/>
                    <a:p>
                      <a:r>
                        <a:rPr b="1" sz="1300" i="0">
                          <a:solidFill>
                            <a:srgbClr val="FFFFFF"/>
                          </a:solidFill>
                          <a:latin typeface="Calibri"/>
                        </a:rPr>
                        <a:t>Session</a:t>
                      </a:r>
                    </a:p>
                  </a:txBody>
                  <a:tcPr marL="64008" marR="64008" marT="27432" marB="27432" anchor="ctr">
                    <a:solidFill>
                      <a:srgbClr val="141B4D"/>
                    </a:solidFill>
                  </a:tcPr>
                </a:tc>
                <a:tc>
                  <a:txBody>
                    <a:bodyPr wrap="square"/>
                    <a:lstStyle/>
                    <a:p>
                      <a:r>
                        <a:rPr b="1" sz="1300" i="0">
                          <a:solidFill>
                            <a:srgbClr val="FFFFFF"/>
                          </a:solidFill>
                          <a:latin typeface="Calibri"/>
                        </a:rPr>
                        <a:t>What participants do</a:t>
                      </a:r>
                    </a:p>
                  </a:txBody>
                  <a:tcPr marL="64008" marR="64008" marT="27432" marB="27432" anchor="ctr">
                    <a:solidFill>
                      <a:srgbClr val="141B4D"/>
                    </a:solidFill>
                  </a:tcPr>
                </a:tc>
              </a:tr>
              <a:tr h="522478">
                <a:tc>
                  <a:txBody>
                    <a:bodyPr wrap="square"/>
                    <a:lstStyle/>
                    <a:p>
                      <a:r>
                        <a:rPr b="1" sz="1300" i="0">
                          <a:solidFill>
                            <a:srgbClr val="1A2233"/>
                          </a:solidFill>
                          <a:latin typeface="Calibri"/>
                        </a:rPr>
                        <a:t>09.00 – 10.00</a:t>
                      </a:r>
                    </a:p>
                  </a:txBody>
                  <a:tcPr marL="64008" marR="64008" marT="27432" marB="27432" anchor="ctr">
                    <a:solidFill>
                      <a:srgbClr val="FFFFFF"/>
                    </a:solidFill>
                  </a:tcPr>
                </a:tc>
                <a:tc>
                  <a:txBody>
                    <a:bodyPr wrap="square"/>
                    <a:lstStyle/>
                    <a:p>
                      <a:r>
                        <a:rPr b="0" sz="1300" i="0">
                          <a:solidFill>
                            <a:srgbClr val="1A2233"/>
                          </a:solidFill>
                          <a:latin typeface="Calibri"/>
                        </a:rPr>
                        <a:t>Construction debt drawdown structure; DSCR, LLCR and PLCR</a:t>
                      </a:r>
                    </a:p>
                  </a:txBody>
                  <a:tcPr marL="64008" marR="64008" marT="27432" marB="27432" anchor="ctr">
                    <a:solidFill>
                      <a:srgbClr val="FFFFFF"/>
                    </a:solidFill>
                  </a:tcPr>
                </a:tc>
                <a:tc>
                  <a:txBody>
                    <a:bodyPr wrap="square"/>
                    <a:lstStyle/>
                    <a:p>
                      <a:r>
                        <a:rPr b="0" sz="1300" i="0">
                          <a:solidFill>
                            <a:srgbClr val="1A2233"/>
                          </a:solidFill>
                          <a:latin typeface="Calibri"/>
                        </a:rPr>
                        <a:t>Compare drawdown methods; build the Ratios sheet (Exercises 7.1, 7.2)</a:t>
                      </a:r>
                    </a:p>
                  </a:txBody>
                  <a:tcPr marL="64008" marR="64008" marT="27432" marB="27432" anchor="ctr">
                    <a:solidFill>
                      <a:srgbClr val="FFFFFF"/>
                    </a:solidFill>
                  </a:tcPr>
                </a:tc>
              </a:tr>
              <a:tr h="384048">
                <a:tc>
                  <a:txBody>
                    <a:bodyPr wrap="square"/>
                    <a:lstStyle/>
                    <a:p>
                      <a:r>
                        <a:rPr b="1" sz="1300" i="0">
                          <a:solidFill>
                            <a:srgbClr val="1A2233"/>
                          </a:solidFill>
                          <a:latin typeface="Calibri"/>
                        </a:rPr>
                        <a:t>10.00 – 10.30</a:t>
                      </a:r>
                    </a:p>
                  </a:txBody>
                  <a:tcPr marL="64008" marR="64008" marT="27432" marB="27432" anchor="ctr">
                    <a:solidFill>
                      <a:srgbClr val="F3F6F9"/>
                    </a:solidFill>
                  </a:tcPr>
                </a:tc>
                <a:tc>
                  <a:txBody>
                    <a:bodyPr wrap="square"/>
                    <a:lstStyle/>
                    <a:p>
                      <a:r>
                        <a:rPr b="0" sz="1300" i="0">
                          <a:solidFill>
                            <a:srgbClr val="1A2233"/>
                          </a:solidFill>
                          <a:latin typeface="Calibri"/>
                        </a:rPr>
                        <a:t>Coffee break</a:t>
                      </a:r>
                    </a:p>
                  </a:txBody>
                  <a:tcPr marL="64008" marR="64008" marT="27432" marB="27432" anchor="ctr">
                    <a:solidFill>
                      <a:srgbClr val="F3F6F9"/>
                    </a:solidFill>
                  </a:tcPr>
                </a:tc>
                <a:tc>
                  <a:txBody>
                    <a:bodyPr wrap="square"/>
                    <a:lstStyle/>
                    <a:p/>
                  </a:txBody>
                  <a:tcPr marL="64008" marR="64008" marT="27432" marB="27432" anchor="ctr">
                    <a:solidFill>
                      <a:srgbClr val="F3F6F9"/>
                    </a:solidFill>
                  </a:tcPr>
                </a:tc>
              </a:tr>
              <a:tr h="522478">
                <a:tc>
                  <a:txBody>
                    <a:bodyPr wrap="square"/>
                    <a:lstStyle/>
                    <a:p>
                      <a:r>
                        <a:rPr b="1" sz="1300" i="0">
                          <a:solidFill>
                            <a:srgbClr val="1A2233"/>
                          </a:solidFill>
                          <a:latin typeface="Calibri"/>
                        </a:rPr>
                        <a:t>10.30 – 14.00</a:t>
                      </a:r>
                    </a:p>
                  </a:txBody>
                  <a:tcPr marL="64008" marR="64008" marT="27432" marB="27432" anchor="ctr">
                    <a:solidFill>
                      <a:srgbClr val="FFFFFF"/>
                    </a:solidFill>
                  </a:tcPr>
                </a:tc>
                <a:tc>
                  <a:txBody>
                    <a:bodyPr wrap="square"/>
                    <a:lstStyle/>
                    <a:p>
                      <a:r>
                        <a:rPr b="0" sz="1300" i="0">
                          <a:solidFill>
                            <a:srgbClr val="1A2233"/>
                          </a:solidFill>
                          <a:latin typeface="Calibri"/>
                        </a:rPr>
                        <a:t>Debt sculpting and sizing; blended equity rate of return</a:t>
                      </a:r>
                    </a:p>
                  </a:txBody>
                  <a:tcPr marL="64008" marR="64008" marT="27432" marB="27432" anchor="ctr">
                    <a:solidFill>
                      <a:srgbClr val="FFFFFF"/>
                    </a:solidFill>
                  </a:tcPr>
                </a:tc>
                <a:tc>
                  <a:txBody>
                    <a:bodyPr wrap="square"/>
                    <a:lstStyle/>
                    <a:p>
                      <a:r>
                        <a:rPr b="0" sz="1300" i="0">
                          <a:solidFill>
                            <a:srgbClr val="1A2233"/>
                          </a:solidFill>
                          <a:latin typeface="Calibri"/>
                        </a:rPr>
                        <a:t>Build Sculpt; Goal Seek the gearing; add Debt profile 4 (Exercises 7.3, 7.4)</a:t>
                      </a:r>
                    </a:p>
                  </a:txBody>
                  <a:tcPr marL="64008" marR="64008" marT="27432" marB="27432" anchor="ctr">
                    <a:solidFill>
                      <a:srgbClr val="FFFFFF"/>
                    </a:solidFill>
                  </a:tcPr>
                </a:tc>
              </a:tr>
              <a:tr h="384048">
                <a:tc>
                  <a:txBody>
                    <a:bodyPr wrap="square"/>
                    <a:lstStyle/>
                    <a:p>
                      <a:r>
                        <a:rPr b="1" sz="1300" i="0">
                          <a:solidFill>
                            <a:srgbClr val="1A2233"/>
                          </a:solidFill>
                          <a:latin typeface="Calibri"/>
                        </a:rPr>
                        <a:t>14.00 – 14.45</a:t>
                      </a:r>
                    </a:p>
                  </a:txBody>
                  <a:tcPr marL="64008" marR="64008" marT="27432" marB="27432" anchor="ctr">
                    <a:solidFill>
                      <a:srgbClr val="F3F6F9"/>
                    </a:solidFill>
                  </a:tcPr>
                </a:tc>
                <a:tc>
                  <a:txBody>
                    <a:bodyPr wrap="square"/>
                    <a:lstStyle/>
                    <a:p>
                      <a:r>
                        <a:rPr b="0" sz="1300" i="0">
                          <a:solidFill>
                            <a:srgbClr val="1A2233"/>
                          </a:solidFill>
                          <a:latin typeface="Calibri"/>
                        </a:rPr>
                        <a:t>Lunch break</a:t>
                      </a:r>
                    </a:p>
                  </a:txBody>
                  <a:tcPr marL="64008" marR="64008" marT="27432" marB="27432" anchor="ctr">
                    <a:solidFill>
                      <a:srgbClr val="F3F6F9"/>
                    </a:solidFill>
                  </a:tcPr>
                </a:tc>
                <a:tc>
                  <a:txBody>
                    <a:bodyPr wrap="square"/>
                    <a:lstStyle/>
                    <a:p/>
                  </a:txBody>
                  <a:tcPr marL="64008" marR="64008" marT="27432" marB="27432" anchor="ctr">
                    <a:solidFill>
                      <a:srgbClr val="F3F6F9"/>
                    </a:solidFill>
                  </a:tcPr>
                </a:tc>
              </a:tr>
              <a:tr h="522478">
                <a:tc>
                  <a:txBody>
                    <a:bodyPr wrap="square"/>
                    <a:lstStyle/>
                    <a:p>
                      <a:r>
                        <a:rPr b="1" sz="1300" i="0">
                          <a:solidFill>
                            <a:srgbClr val="1A2233"/>
                          </a:solidFill>
                          <a:latin typeface="Calibri"/>
                        </a:rPr>
                        <a:t>14.45 – 17.00</a:t>
                      </a:r>
                    </a:p>
                  </a:txBody>
                  <a:tcPr marL="64008" marR="64008" marT="27432" marB="27432" anchor="ctr">
                    <a:solidFill>
                      <a:srgbClr val="FFFFFF"/>
                    </a:solidFill>
                  </a:tcPr>
                </a:tc>
                <a:tc>
                  <a:txBody>
                    <a:bodyPr wrap="square"/>
                    <a:lstStyle/>
                    <a:p>
                      <a:r>
                        <a:rPr b="0" sz="1300" i="0">
                          <a:solidFill>
                            <a:srgbClr val="1A2233"/>
                          </a:solidFill>
                          <a:latin typeface="Calibri"/>
                        </a:rPr>
                        <a:t>DSRA; shareholder loan; model optimisation</a:t>
                      </a:r>
                    </a:p>
                  </a:txBody>
                  <a:tcPr marL="64008" marR="64008" marT="27432" marB="27432" anchor="ctr">
                    <a:solidFill>
                      <a:srgbClr val="FFFFFF"/>
                    </a:solidFill>
                  </a:tcPr>
                </a:tc>
                <a:tc>
                  <a:txBody>
                    <a:bodyPr wrap="square"/>
                    <a:lstStyle/>
                    <a:p>
                      <a:r>
                        <a:rPr b="0" sz="1300" i="0">
                          <a:solidFill>
                            <a:srgbClr val="1A2233"/>
                          </a:solidFill>
                          <a:latin typeface="Calibri"/>
                        </a:rPr>
                        <a:t>Build DSRA and SHL; integrate into FinStat and Val; optimise (Exercises 7.5, 7.6)</a:t>
                      </a:r>
                    </a:p>
                  </a:txBody>
                  <a:tcPr marL="64008" marR="64008" marT="27432" marB="27432" anchor="ctr">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OUTCOMES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Learning outcomes for Day 7</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4754880"/>
          </a:xfrm>
          <a:prstGeom prst="rect">
            <a:avLst/>
          </a:prstGeom>
          <a:noFill/>
        </p:spPr>
        <p:txBody>
          <a:bodyPr wrap="square">
            <a:spAutoFit/>
          </a:bodyPr>
          <a:lstStyle/>
          <a:p>
            <a:pPr>
              <a:spcAft>
                <a:spcPts val="700"/>
              </a:spcAft>
            </a:pPr>
            <a:r>
              <a:rPr b="0" sz="2000" i="0">
                <a:solidFill>
                  <a:srgbClr val="1A2233"/>
                </a:solidFill>
                <a:latin typeface="Calibri"/>
              </a:rPr>
              <a:t>▪ Compare drawdown structures and their effect on cost and gearing</a:t>
            </a:r>
          </a:p>
          <a:p>
            <a:pPr>
              <a:spcAft>
                <a:spcPts val="700"/>
              </a:spcAft>
            </a:pPr>
            <a:r>
              <a:rPr b="0" sz="2000" i="0">
                <a:solidFill>
                  <a:srgbClr val="1A2233"/>
                </a:solidFill>
                <a:latin typeface="Calibri"/>
              </a:rPr>
              <a:t>▪ Calculate DSCR, LLCR and PLCR and explain what each protects against</a:t>
            </a:r>
          </a:p>
          <a:p>
            <a:pPr>
              <a:spcAft>
                <a:spcPts val="700"/>
              </a:spcAft>
            </a:pPr>
            <a:r>
              <a:rPr b="0" sz="2000" i="0">
                <a:solidFill>
                  <a:srgbClr val="1A2233"/>
                </a:solidFill>
                <a:latin typeface="Calibri"/>
              </a:rPr>
              <a:t>▪ Compute debt capacity by discounting target debt service backwards, and size debt as the lower of the DSCR and gearing tests</a:t>
            </a:r>
          </a:p>
          <a:p>
            <a:pPr>
              <a:spcAft>
                <a:spcPts val="700"/>
              </a:spcAft>
            </a:pPr>
            <a:r>
              <a:rPr b="0" sz="2000" i="0">
                <a:solidFill>
                  <a:srgbClr val="1A2233"/>
                </a:solidFill>
                <a:latin typeface="Calibri"/>
              </a:rPr>
              <a:t>▪ Sculpt repayments to a target DSCR and feed them into the Debt sheet</a:t>
            </a:r>
          </a:p>
          <a:p>
            <a:pPr>
              <a:spcAft>
                <a:spcPts val="700"/>
              </a:spcAft>
            </a:pPr>
            <a:r>
              <a:rPr b="0" sz="2000" i="0">
                <a:solidFill>
                  <a:srgbClr val="1A2233"/>
                </a:solidFill>
                <a:latin typeface="Calibri"/>
              </a:rPr>
              <a:t>▪ Add a debt service reserve account and a shareholder loan, and integrate both into the statements</a:t>
            </a:r>
          </a:p>
          <a:p>
            <a:pPr>
              <a:spcAft>
                <a:spcPts val="700"/>
              </a:spcAft>
            </a:pPr>
            <a:r>
              <a:rPr b="0" sz="2000" i="0">
                <a:solidFill>
                  <a:srgbClr val="1A2233"/>
                </a:solidFill>
                <a:latin typeface="Calibri"/>
              </a:rPr>
              <a:t>▪ Calculate the blended sponsor return and optimise the structure with Goal Seek and a data table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WARM-UP</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Starting point: Day 6 end-state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920240"/>
        </p:xfrm>
        <a:graphic>
          <a:graphicData uri="http://schemas.openxmlformats.org/drawingml/2006/table">
            <a:tbl>
              <a:tblPr firstRow="1" bandRow="1">
                <a:tableStyleId>{5C22544A-7EE6-4342-B048-85BDC9FD1C3A}</a:tableStyleId>
              </a:tblPr>
              <a:tblGrid>
                <a:gridCol w="6035040"/>
                <a:gridCol w="5029200"/>
              </a:tblGrid>
              <a:tr h="384048">
                <a:tc>
                  <a:txBody>
                    <a:bodyPr wrap="square"/>
                    <a:lstStyle/>
                    <a:p>
                      <a:r>
                        <a:rPr b="1" sz="1300" i="0">
                          <a:solidFill>
                            <a:srgbClr val="FFFFFF"/>
                          </a:solidFill>
                          <a:latin typeface="Calibri"/>
                        </a:rPr>
                        <a:t>Item</a:t>
                      </a:r>
                    </a:p>
                  </a:txBody>
                  <a:tcPr marL="64008" marR="64008" marT="27432" marB="27432" anchor="ctr">
                    <a:solidFill>
                      <a:srgbClr val="141B4D"/>
                    </a:solidFill>
                  </a:tcPr>
                </a:tc>
                <a:tc>
                  <a:txBody>
                    <a:bodyPr wrap="square"/>
                    <a:lstStyle/>
                    <a:p>
                      <a:r>
                        <a:rPr b="1" sz="1300" i="0">
                          <a:solidFill>
                            <a:srgbClr val="FFFFFF"/>
                          </a:solidFill>
                          <a:latin typeface="Calibri"/>
                        </a:rPr>
                        <a:t>Value ($000s)</a:t>
                      </a:r>
                    </a:p>
                  </a:txBody>
                  <a:tcPr marL="64008" marR="64008" marT="27432" marB="27432" anchor="ctr">
                    <a:solidFill>
                      <a:srgbClr val="141B4D"/>
                    </a:solidFill>
                  </a:tcPr>
                </a:tc>
              </a:tr>
              <a:tr h="384048">
                <a:tc>
                  <a:txBody>
                    <a:bodyPr wrap="square"/>
                    <a:lstStyle/>
                    <a:p>
                      <a:r>
                        <a:rPr b="1" sz="1300" i="0">
                          <a:solidFill>
                            <a:srgbClr val="1A2233"/>
                          </a:solidFill>
                          <a:latin typeface="Calibri"/>
                        </a:rPr>
                        <a:t>Capitalised project cost (Constr!F52)</a:t>
                      </a:r>
                    </a:p>
                  </a:txBody>
                  <a:tcPr marL="64008" marR="64008" marT="27432" marB="27432" anchor="ctr">
                    <a:solidFill>
                      <a:srgbClr val="FFFFFF"/>
                    </a:solidFill>
                  </a:tcPr>
                </a:tc>
                <a:tc>
                  <a:txBody>
                    <a:bodyPr wrap="square"/>
                    <a:lstStyle/>
                    <a:p>
                      <a:r>
                        <a:rPr b="0" sz="1300" i="0">
                          <a:solidFill>
                            <a:srgbClr val="1A2233"/>
                          </a:solidFill>
                          <a:latin typeface="Calibri"/>
                        </a:rPr>
                        <a:t>101,067.8</a:t>
                      </a:r>
                    </a:p>
                  </a:txBody>
                  <a:tcPr marL="64008" marR="64008" marT="27432" marB="27432" anchor="ctr">
                    <a:solidFill>
                      <a:srgbClr val="FFFFFF"/>
                    </a:solidFill>
                  </a:tcPr>
                </a:tc>
              </a:tr>
              <a:tr h="384048">
                <a:tc>
                  <a:txBody>
                    <a:bodyPr wrap="square"/>
                    <a:lstStyle/>
                    <a:p>
                      <a:r>
                        <a:rPr b="1" sz="1300" i="0">
                          <a:solidFill>
                            <a:srgbClr val="1A2233"/>
                          </a:solidFill>
                          <a:latin typeface="Calibri"/>
                        </a:rPr>
                        <a:t>Senior debt at COD (Constr!F53)</a:t>
                      </a:r>
                    </a:p>
                  </a:txBody>
                  <a:tcPr marL="64008" marR="64008" marT="27432" marB="27432" anchor="ctr">
                    <a:solidFill>
                      <a:srgbClr val="F3F6F9"/>
                    </a:solidFill>
                  </a:tcPr>
                </a:tc>
                <a:tc>
                  <a:txBody>
                    <a:bodyPr wrap="square"/>
                    <a:lstStyle/>
                    <a:p>
                      <a:r>
                        <a:rPr b="0" sz="1300" i="0">
                          <a:solidFill>
                            <a:srgbClr val="1A2233"/>
                          </a:solidFill>
                          <a:latin typeface="Calibri"/>
                        </a:rPr>
                        <a:t>72,154.2</a:t>
                      </a:r>
                    </a:p>
                  </a:txBody>
                  <a:tcPr marL="64008" marR="64008" marT="27432" marB="27432" anchor="ctr">
                    <a:solidFill>
                      <a:srgbClr val="F3F6F9"/>
                    </a:solidFill>
                  </a:tcPr>
                </a:tc>
              </a:tr>
              <a:tr h="384048">
                <a:tc>
                  <a:txBody>
                    <a:bodyPr wrap="square"/>
                    <a:lstStyle/>
                    <a:p>
                      <a:r>
                        <a:rPr b="1" sz="1300" i="0">
                          <a:solidFill>
                            <a:srgbClr val="1A2233"/>
                          </a:solidFill>
                          <a:latin typeface="Calibri"/>
                        </a:rPr>
                        <a:t>Sponsor funding at COD (Constr!F54)</a:t>
                      </a:r>
                    </a:p>
                  </a:txBody>
                  <a:tcPr marL="64008" marR="64008" marT="27432" marB="27432" anchor="ctr">
                    <a:solidFill>
                      <a:srgbClr val="FFFFFF"/>
                    </a:solidFill>
                  </a:tcPr>
                </a:tc>
                <a:tc>
                  <a:txBody>
                    <a:bodyPr wrap="square"/>
                    <a:lstStyle/>
                    <a:p>
                      <a:r>
                        <a:rPr b="0" sz="1300" i="0">
                          <a:solidFill>
                            <a:srgbClr val="1A2233"/>
                          </a:solidFill>
                          <a:latin typeface="Calibri"/>
                        </a:rPr>
                        <a:t>28,913.6</a:t>
                      </a:r>
                    </a:p>
                  </a:txBody>
                  <a:tcPr marL="64008" marR="64008" marT="27432" marB="27432" anchor="ctr">
                    <a:solidFill>
                      <a:srgbClr val="FFFFFF"/>
                    </a:solidFill>
                  </a:tcPr>
                </a:tc>
              </a:tr>
              <a:tr h="384048">
                <a:tc>
                  <a:txBody>
                    <a:bodyPr wrap="square"/>
                    <a:lstStyle/>
                    <a:p>
                      <a:r>
                        <a:rPr b="1" sz="1300" i="0">
                          <a:solidFill>
                            <a:srgbClr val="1A2233"/>
                          </a:solidFill>
                          <a:latin typeface="Calibri"/>
                        </a:rPr>
                        <a:t>Debt profile in use (InpC row 74)</a:t>
                      </a:r>
                    </a:p>
                  </a:txBody>
                  <a:tcPr marL="64008" marR="64008" marT="27432" marB="27432" anchor="ctr">
                    <a:solidFill>
                      <a:srgbClr val="F3F6F9"/>
                    </a:solidFill>
                  </a:tcPr>
                </a:tc>
                <a:tc>
                  <a:txBody>
                    <a:bodyPr wrap="square"/>
                    <a:lstStyle/>
                    <a:p>
                      <a:r>
                        <a:rPr b="0" sz="1300" i="0">
                          <a:solidFill>
                            <a:srgbClr val="1A2233"/>
                          </a:solidFill>
                          <a:latin typeface="Calibri"/>
                        </a:rPr>
                        <a:t>1 to 3 (fixed profiles); today we add 4 (sculpted)</a:t>
                      </a:r>
                    </a:p>
                  </a:txBody>
                  <a:tcPr marL="64008" marR="64008" marT="27432" marB="27432" anchor="ctr">
                    <a:solidFill>
                      <a:srgbClr val="F3F6F9"/>
                    </a:solidFill>
                  </a:tcPr>
                </a:tc>
              </a:tr>
            </a:tbl>
          </a:graphicData>
        </a:graphic>
      </p:graphicFrame>
      <p:sp>
        <p:nvSpPr>
          <p:cNvPr id="12" name="Rectangle 11"/>
          <p:cNvSpPr/>
          <p:nvPr/>
        </p:nvSpPr>
        <p:spPr>
          <a:xfrm>
            <a:off x="548640" y="3840480"/>
            <a:ext cx="1106424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84048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Today's solved case: debt sized to a 2.25x target DSCR over 10 years, drawn at the gearing found by Goal Seek (71.6%).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7  |  Thu 22 Oct 2026  |  Project finance modelling II: debt sizing and returns</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5</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09.00 – 09.30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1: Construction debt drawdown structure</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Pro-rata, equity first, debt first.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Three drawdown structures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951482"/>
        </p:xfrm>
        <a:graphic>
          <a:graphicData uri="http://schemas.openxmlformats.org/drawingml/2006/table">
            <a:tbl>
              <a:tblPr firstRow="1" bandRow="1">
                <a:tableStyleId>{5C22544A-7EE6-4342-B048-85BDC9FD1C3A}</a:tableStyleId>
              </a:tblPr>
              <a:tblGrid>
                <a:gridCol w="1645920"/>
                <a:gridCol w="4206240"/>
                <a:gridCol w="2651760"/>
                <a:gridCol w="2560320"/>
              </a:tblGrid>
              <a:tr h="384048">
                <a:tc>
                  <a:txBody>
                    <a:bodyPr wrap="square"/>
                    <a:lstStyle/>
                    <a:p>
                      <a:r>
                        <a:rPr b="1" sz="1300" i="0">
                          <a:solidFill>
                            <a:srgbClr val="FFFFFF"/>
                          </a:solidFill>
                          <a:latin typeface="Calibri"/>
                        </a:rPr>
                        <a:t>Structure</a:t>
                      </a:r>
                    </a:p>
                  </a:txBody>
                  <a:tcPr marL="64008" marR="64008" marT="27432" marB="27432" anchor="ctr">
                    <a:solidFill>
                      <a:srgbClr val="141B4D"/>
                    </a:solidFill>
                  </a:tcPr>
                </a:tc>
                <a:tc>
                  <a:txBody>
                    <a:bodyPr wrap="square"/>
                    <a:lstStyle/>
                    <a:p>
                      <a:r>
                        <a:rPr b="1" sz="1300" i="0">
                          <a:solidFill>
                            <a:srgbClr val="FFFFFF"/>
                          </a:solidFill>
                          <a:latin typeface="Calibri"/>
                        </a:rPr>
                        <a:t>How it works</a:t>
                      </a:r>
                    </a:p>
                  </a:txBody>
                  <a:tcPr marL="64008" marR="64008" marT="27432" marB="27432" anchor="ctr">
                    <a:solidFill>
                      <a:srgbClr val="141B4D"/>
                    </a:solidFill>
                  </a:tcPr>
                </a:tc>
                <a:tc>
                  <a:txBody>
                    <a:bodyPr wrap="square"/>
                    <a:lstStyle/>
                    <a:p>
                      <a:r>
                        <a:rPr b="1" sz="1300" i="0">
                          <a:solidFill>
                            <a:srgbClr val="FFFFFF"/>
                          </a:solidFill>
                          <a:latin typeface="Calibri"/>
                        </a:rPr>
                        <a:t>Effect on cost</a:t>
                      </a:r>
                    </a:p>
                  </a:txBody>
                  <a:tcPr marL="64008" marR="64008" marT="27432" marB="27432" anchor="ctr">
                    <a:solidFill>
                      <a:srgbClr val="141B4D"/>
                    </a:solidFill>
                  </a:tcPr>
                </a:tc>
                <a:tc>
                  <a:txBody>
                    <a:bodyPr wrap="square"/>
                    <a:lstStyle/>
                    <a:p>
                      <a:r>
                        <a:rPr b="1" sz="1300" i="0">
                          <a:solidFill>
                            <a:srgbClr val="FFFFFF"/>
                          </a:solidFill>
                          <a:latin typeface="Calibri"/>
                        </a:rPr>
                        <a:t>Who prefers it</a:t>
                      </a:r>
                    </a:p>
                  </a:txBody>
                  <a:tcPr marL="64008" marR="64008" marT="27432" marB="27432" anchor="ctr">
                    <a:solidFill>
                      <a:srgbClr val="141B4D"/>
                    </a:solidFill>
                  </a:tcPr>
                </a:tc>
              </a:tr>
              <a:tr h="522478">
                <a:tc>
                  <a:txBody>
                    <a:bodyPr wrap="square"/>
                    <a:lstStyle/>
                    <a:p>
                      <a:r>
                        <a:rPr b="1" sz="1300" i="0">
                          <a:solidFill>
                            <a:srgbClr val="1A2233"/>
                          </a:solidFill>
                          <a:latin typeface="Calibri"/>
                        </a:rPr>
                        <a:t>Pro-rata</a:t>
                      </a:r>
                    </a:p>
                  </a:txBody>
                  <a:tcPr marL="64008" marR="64008" marT="27432" marB="27432" anchor="ctr">
                    <a:solidFill>
                      <a:srgbClr val="FFFFFF"/>
                    </a:solidFill>
                  </a:tcPr>
                </a:tc>
                <a:tc>
                  <a:txBody>
                    <a:bodyPr wrap="square"/>
                    <a:lstStyle/>
                    <a:p>
                      <a:r>
                        <a:rPr b="0" sz="1300" i="0">
                          <a:solidFill>
                            <a:srgbClr val="1A2233"/>
                          </a:solidFill>
                          <a:latin typeface="Calibri"/>
                        </a:rPr>
                        <a:t>Debt and equity drawn in the same proportion each quarter</a:t>
                      </a:r>
                    </a:p>
                  </a:txBody>
                  <a:tcPr marL="64008" marR="64008" marT="27432" marB="27432" anchor="ctr">
                    <a:solidFill>
                      <a:srgbClr val="FFFFFF"/>
                    </a:solidFill>
                  </a:tcPr>
                </a:tc>
                <a:tc>
                  <a:txBody>
                    <a:bodyPr wrap="square"/>
                    <a:lstStyle/>
                    <a:p>
                      <a:r>
                        <a:rPr b="0" sz="1300" i="0">
                          <a:solidFill>
                            <a:srgbClr val="1A2233"/>
                          </a:solidFill>
                          <a:latin typeface="Calibri"/>
                        </a:rPr>
                        <a:t>Middle</a:t>
                      </a:r>
                    </a:p>
                  </a:txBody>
                  <a:tcPr marL="64008" marR="64008" marT="27432" marB="27432" anchor="ctr">
                    <a:solidFill>
                      <a:srgbClr val="FFFFFF"/>
                    </a:solidFill>
                  </a:tcPr>
                </a:tc>
                <a:tc>
                  <a:txBody>
                    <a:bodyPr wrap="square"/>
                    <a:lstStyle/>
                    <a:p>
                      <a:r>
                        <a:rPr b="0" sz="1300" i="0">
                          <a:solidFill>
                            <a:srgbClr val="1A2233"/>
                          </a:solidFill>
                          <a:latin typeface="Calibri"/>
                        </a:rPr>
                        <a:t>Sponsors (simple, spreads their cheque)</a:t>
                      </a:r>
                    </a:p>
                  </a:txBody>
                  <a:tcPr marL="64008" marR="64008" marT="27432" marB="27432" anchor="ctr">
                    <a:solidFill>
                      <a:srgbClr val="FFFFFF"/>
                    </a:solidFill>
                  </a:tcPr>
                </a:tc>
              </a:tr>
              <a:tr h="522478">
                <a:tc>
                  <a:txBody>
                    <a:bodyPr wrap="square"/>
                    <a:lstStyle/>
                    <a:p>
                      <a:r>
                        <a:rPr b="1" sz="1300" i="0">
                          <a:solidFill>
                            <a:srgbClr val="1A2233"/>
                          </a:solidFill>
                          <a:latin typeface="Calibri"/>
                        </a:rPr>
                        <a:t>Equity first</a:t>
                      </a:r>
                    </a:p>
                  </a:txBody>
                  <a:tcPr marL="64008" marR="64008" marT="27432" marB="27432" anchor="ctr">
                    <a:solidFill>
                      <a:srgbClr val="F3F6F9"/>
                    </a:solidFill>
                  </a:tcPr>
                </a:tc>
                <a:tc>
                  <a:txBody>
                    <a:bodyPr wrap="square"/>
                    <a:lstStyle/>
                    <a:p>
                      <a:r>
                        <a:rPr b="0" sz="1300" i="0">
                          <a:solidFill>
                            <a:srgbClr val="1A2233"/>
                          </a:solidFill>
                          <a:latin typeface="Calibri"/>
                        </a:rPr>
                        <a:t>Sponsors fund all costs until their commitment is used; then debt</a:t>
                      </a:r>
                    </a:p>
                  </a:txBody>
                  <a:tcPr marL="64008" marR="64008" marT="27432" marB="27432" anchor="ctr">
                    <a:solidFill>
                      <a:srgbClr val="F3F6F9"/>
                    </a:solidFill>
                  </a:tcPr>
                </a:tc>
                <a:tc>
                  <a:txBody>
                    <a:bodyPr wrap="square"/>
                    <a:lstStyle/>
                    <a:p>
                      <a:r>
                        <a:rPr b="0" sz="1300" i="0">
                          <a:solidFill>
                            <a:srgbClr val="1A2233"/>
                          </a:solidFill>
                          <a:latin typeface="Calibri"/>
                        </a:rPr>
                        <a:t>Lowest IDC and commitment fees</a:t>
                      </a:r>
                    </a:p>
                  </a:txBody>
                  <a:tcPr marL="64008" marR="64008" marT="27432" marB="27432" anchor="ctr">
                    <a:solidFill>
                      <a:srgbClr val="F3F6F9"/>
                    </a:solidFill>
                  </a:tcPr>
                </a:tc>
                <a:tc>
                  <a:txBody>
                    <a:bodyPr wrap="square"/>
                    <a:lstStyle/>
                    <a:p>
                      <a:r>
                        <a:rPr b="0" sz="1300" i="0">
                          <a:solidFill>
                            <a:srgbClr val="1A2233"/>
                          </a:solidFill>
                          <a:latin typeface="Calibri"/>
                        </a:rPr>
                        <a:t>Lenders (sponsors have skin in the game early)</a:t>
                      </a:r>
                    </a:p>
                  </a:txBody>
                  <a:tcPr marL="64008" marR="64008" marT="27432" marB="27432" anchor="ctr">
                    <a:solidFill>
                      <a:srgbClr val="F3F6F9"/>
                    </a:solidFill>
                  </a:tcPr>
                </a:tc>
              </a:tr>
              <a:tr h="522478">
                <a:tc>
                  <a:txBody>
                    <a:bodyPr wrap="square"/>
                    <a:lstStyle/>
                    <a:p>
                      <a:r>
                        <a:rPr b="1" sz="1300" i="0">
                          <a:solidFill>
                            <a:srgbClr val="1A2233"/>
                          </a:solidFill>
                          <a:latin typeface="Calibri"/>
                        </a:rPr>
                        <a:t>Debt first</a:t>
                      </a:r>
                    </a:p>
                  </a:txBody>
                  <a:tcPr marL="64008" marR="64008" marT="27432" marB="27432" anchor="ctr">
                    <a:solidFill>
                      <a:srgbClr val="FFFFFF"/>
                    </a:solidFill>
                  </a:tcPr>
                </a:tc>
                <a:tc>
                  <a:txBody>
                    <a:bodyPr wrap="square"/>
                    <a:lstStyle/>
                    <a:p>
                      <a:r>
                        <a:rPr b="0" sz="1300" i="0">
                          <a:solidFill>
                            <a:srgbClr val="1A2233"/>
                          </a:solidFill>
                          <a:latin typeface="Calibri"/>
                        </a:rPr>
                        <a:t>Debt drawn until exhausted, then equity</a:t>
                      </a:r>
                    </a:p>
                  </a:txBody>
                  <a:tcPr marL="64008" marR="64008" marT="27432" marB="27432" anchor="ctr">
                    <a:solidFill>
                      <a:srgbClr val="FFFFFF"/>
                    </a:solidFill>
                  </a:tcPr>
                </a:tc>
                <a:tc>
                  <a:txBody>
                    <a:bodyPr wrap="square"/>
                    <a:lstStyle/>
                    <a:p>
                      <a:r>
                        <a:rPr b="0" sz="1300" i="0">
                          <a:solidFill>
                            <a:srgbClr val="1A2233"/>
                          </a:solidFill>
                          <a:latin typeface="Calibri"/>
                        </a:rPr>
                        <a:t>Highest interest during construction</a:t>
                      </a:r>
                    </a:p>
                  </a:txBody>
                  <a:tcPr marL="64008" marR="64008" marT="27432" marB="27432" anchor="ctr">
                    <a:solidFill>
                      <a:srgbClr val="FFFFFF"/>
                    </a:solidFill>
                  </a:tcPr>
                </a:tc>
                <a:tc>
                  <a:txBody>
                    <a:bodyPr wrap="square"/>
                    <a:lstStyle/>
                    <a:p>
                      <a:r>
                        <a:rPr b="0" sz="1300" i="0">
                          <a:solidFill>
                            <a:srgbClr val="1A2233"/>
                          </a:solidFill>
                          <a:latin typeface="Calibri"/>
                        </a:rPr>
                        <a:t>Rare; some sponsors to defer cash</a:t>
                      </a:r>
                    </a:p>
                  </a:txBody>
                  <a:tcPr marL="64008" marR="64008" marT="27432" marB="27432" anchor="ctr">
                    <a:solidFill>
                      <a:srgbClr val="FFFFFF"/>
                    </a:solidFill>
                  </a:tcPr>
                </a:tc>
              </a:tr>
            </a:tbl>
          </a:graphicData>
        </a:graphic>
      </p:graphicFrame>
      <p:sp>
        <p:nvSpPr>
          <p:cNvPr id="12" name="Rectangle 11"/>
          <p:cNvSpPr/>
          <p:nvPr/>
        </p:nvSpPr>
        <p:spPr>
          <a:xfrm>
            <a:off x="548640" y="3931920"/>
            <a:ext cx="11064240" cy="77724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931920"/>
            <a:ext cx="82296" cy="77724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931920"/>
            <a:ext cx="10835640" cy="777240"/>
          </a:xfrm>
          <a:prstGeom prst="rect">
            <a:avLst/>
          </a:prstGeom>
          <a:noFill/>
        </p:spPr>
        <p:txBody>
          <a:bodyPr wrap="square" lIns="45720" rIns="45720" tIns="27432" bIns="27432" anchor="ctr">
            <a:spAutoFit/>
          </a:bodyPr>
          <a:lstStyle/>
          <a:p>
            <a:pPr algn="l"/>
            <a:r>
              <a:rPr b="0" sz="1400" i="0">
                <a:solidFill>
                  <a:srgbClr val="1A2233"/>
                </a:solidFill>
                <a:latin typeface="Calibri"/>
              </a:rPr>
              <a:t>Our model implements pro-rata (switch 1) and equity first (switch 2). Debt first is a one-line change: mirror the equity formula.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COMPARE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Effect on the solved case (US$000s)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152144"/>
        </p:xfrm>
        <a:graphic>
          <a:graphicData uri="http://schemas.openxmlformats.org/drawingml/2006/table">
            <a:tbl>
              <a:tblPr firstRow="1" bandRow="1">
                <a:tableStyleId>{5C22544A-7EE6-4342-B048-85BDC9FD1C3A}</a:tableStyleId>
              </a:tblPr>
              <a:tblGrid>
                <a:gridCol w="2011680"/>
                <a:gridCol w="1737360"/>
                <a:gridCol w="1920240"/>
                <a:gridCol w="1737360"/>
                <a:gridCol w="1828800"/>
                <a:gridCol w="1828800"/>
              </a:tblGrid>
              <a:tr h="384048">
                <a:tc>
                  <a:txBody>
                    <a:bodyPr wrap="square"/>
                    <a:lstStyle/>
                    <a:p>
                      <a:r>
                        <a:rPr b="1" sz="1300" i="0">
                          <a:solidFill>
                            <a:srgbClr val="FFFFFF"/>
                          </a:solidFill>
                          <a:latin typeface="Calibri"/>
                        </a:rPr>
                        <a:t>Method</a:t>
                      </a:r>
                    </a:p>
                  </a:txBody>
                  <a:tcPr marL="64008" marR="64008" marT="27432" marB="27432" anchor="ctr">
                    <a:solidFill>
                      <a:srgbClr val="141B4D"/>
                    </a:solidFill>
                  </a:tcPr>
                </a:tc>
                <a:tc>
                  <a:txBody>
                    <a:bodyPr wrap="square"/>
                    <a:lstStyle/>
                    <a:p>
                      <a:r>
                        <a:rPr b="1" sz="1300" i="0">
                          <a:solidFill>
                            <a:srgbClr val="FFFFFF"/>
                          </a:solidFill>
                          <a:latin typeface="Calibri"/>
                        </a:rPr>
                        <a:t>IDC</a:t>
                      </a:r>
                    </a:p>
                  </a:txBody>
                  <a:tcPr marL="64008" marR="64008" marT="27432" marB="27432" anchor="ctr">
                    <a:solidFill>
                      <a:srgbClr val="141B4D"/>
                    </a:solidFill>
                  </a:tcPr>
                </a:tc>
                <a:tc>
                  <a:txBody>
                    <a:bodyPr wrap="square"/>
                    <a:lstStyle/>
                    <a:p>
                      <a:r>
                        <a:rPr b="1" sz="1300" i="0">
                          <a:solidFill>
                            <a:srgbClr val="FFFFFF"/>
                          </a:solidFill>
                          <a:latin typeface="Calibri"/>
                        </a:rPr>
                        <a:t>Commitment fee</a:t>
                      </a:r>
                    </a:p>
                  </a:txBody>
                  <a:tcPr marL="64008" marR="64008" marT="27432" marB="27432" anchor="ctr">
                    <a:solidFill>
                      <a:srgbClr val="141B4D"/>
                    </a:solidFill>
                  </a:tcPr>
                </a:tc>
                <a:tc>
                  <a:txBody>
                    <a:bodyPr wrap="square"/>
                    <a:lstStyle/>
                    <a:p>
                      <a:r>
                        <a:rPr b="1" sz="1300" i="0">
                          <a:solidFill>
                            <a:srgbClr val="FFFFFF"/>
                          </a:solidFill>
                          <a:latin typeface="Calibri"/>
                        </a:rPr>
                        <a:t>Total uses</a:t>
                      </a:r>
                    </a:p>
                  </a:txBody>
                  <a:tcPr marL="64008" marR="64008" marT="27432" marB="27432" anchor="ctr">
                    <a:solidFill>
                      <a:srgbClr val="141B4D"/>
                    </a:solidFill>
                  </a:tcPr>
                </a:tc>
                <a:tc>
                  <a:txBody>
                    <a:bodyPr wrap="square"/>
                    <a:lstStyle/>
                    <a:p>
                      <a:r>
                        <a:rPr b="1" sz="1300" i="0">
                          <a:solidFill>
                            <a:srgbClr val="FFFFFF"/>
                          </a:solidFill>
                          <a:latin typeface="Calibri"/>
                        </a:rPr>
                        <a:t>Debt at COD</a:t>
                      </a:r>
                    </a:p>
                  </a:txBody>
                  <a:tcPr marL="64008" marR="64008" marT="27432" marB="27432" anchor="ctr">
                    <a:solidFill>
                      <a:srgbClr val="141B4D"/>
                    </a:solidFill>
                  </a:tcPr>
                </a:tc>
                <a:tc>
                  <a:txBody>
                    <a:bodyPr wrap="square"/>
                    <a:lstStyle/>
                    <a:p>
                      <a:r>
                        <a:rPr b="1" sz="1300" i="0">
                          <a:solidFill>
                            <a:srgbClr val="FFFFFF"/>
                          </a:solidFill>
                          <a:latin typeface="Calibri"/>
                        </a:rPr>
                        <a:t>Equity</a:t>
                      </a:r>
                    </a:p>
                  </a:txBody>
                  <a:tcPr marL="64008" marR="64008" marT="27432" marB="27432" anchor="ctr">
                    <a:solidFill>
                      <a:srgbClr val="141B4D"/>
                    </a:solidFill>
                  </a:tcPr>
                </a:tc>
              </a:tr>
              <a:tr h="384048">
                <a:tc>
                  <a:txBody>
                    <a:bodyPr wrap="square"/>
                    <a:lstStyle/>
                    <a:p>
                      <a:r>
                        <a:rPr b="1" sz="1300" i="0">
                          <a:solidFill>
                            <a:srgbClr val="1A2233"/>
                          </a:solidFill>
                          <a:latin typeface="Calibri"/>
                        </a:rPr>
                        <a:t>Pro-rata</a:t>
                      </a:r>
                    </a:p>
                  </a:txBody>
                  <a:tcPr marL="64008" marR="64008" marT="27432" marB="27432" anchor="ctr">
                    <a:solidFill>
                      <a:srgbClr val="FFFFFF"/>
                    </a:solidFill>
                  </a:tcPr>
                </a:tc>
                <a:tc>
                  <a:txBody>
                    <a:bodyPr wrap="square"/>
                    <a:lstStyle/>
                    <a:p>
                      <a:r>
                        <a:rPr b="0" sz="1300" i="0">
                          <a:solidFill>
                            <a:srgbClr val="1A2233"/>
                          </a:solidFill>
                          <a:latin typeface="Calibri"/>
                        </a:rPr>
                        <a:t>4,155.3</a:t>
                      </a:r>
                    </a:p>
                  </a:txBody>
                  <a:tcPr marL="64008" marR="64008" marT="27432" marB="27432" anchor="ctr">
                    <a:solidFill>
                      <a:srgbClr val="FFFFFF"/>
                    </a:solidFill>
                  </a:tcPr>
                </a:tc>
                <a:tc>
                  <a:txBody>
                    <a:bodyPr wrap="square"/>
                    <a:lstStyle/>
                    <a:p>
                      <a:r>
                        <a:rPr b="0" sz="1300" i="0">
                          <a:solidFill>
                            <a:srgbClr val="1A2233"/>
                          </a:solidFill>
                          <a:latin typeface="Calibri"/>
                        </a:rPr>
                        <a:t>619.4</a:t>
                      </a:r>
                    </a:p>
                  </a:txBody>
                  <a:tcPr marL="64008" marR="64008" marT="27432" marB="27432" anchor="ctr">
                    <a:solidFill>
                      <a:srgbClr val="FFFFFF"/>
                    </a:solidFill>
                  </a:tcPr>
                </a:tc>
                <a:tc>
                  <a:txBody>
                    <a:bodyPr wrap="square"/>
                    <a:lstStyle/>
                    <a:p>
                      <a:r>
                        <a:rPr b="0" sz="1300" i="0">
                          <a:solidFill>
                            <a:srgbClr val="1A2233"/>
                          </a:solidFill>
                          <a:latin typeface="Calibri"/>
                        </a:rPr>
                        <a:t>101,067.8</a:t>
                      </a:r>
                    </a:p>
                  </a:txBody>
                  <a:tcPr marL="64008" marR="64008" marT="27432" marB="27432" anchor="ctr">
                    <a:solidFill>
                      <a:srgbClr val="FFFFFF"/>
                    </a:solidFill>
                  </a:tcPr>
                </a:tc>
                <a:tc>
                  <a:txBody>
                    <a:bodyPr wrap="square"/>
                    <a:lstStyle/>
                    <a:p>
                      <a:r>
                        <a:rPr b="0" sz="1300" i="0">
                          <a:solidFill>
                            <a:srgbClr val="1A2233"/>
                          </a:solidFill>
                          <a:latin typeface="Calibri"/>
                        </a:rPr>
                        <a:t>72,154.2</a:t>
                      </a:r>
                    </a:p>
                  </a:txBody>
                  <a:tcPr marL="64008" marR="64008" marT="27432" marB="27432" anchor="ctr">
                    <a:solidFill>
                      <a:srgbClr val="FFFFFF"/>
                    </a:solidFill>
                  </a:tcPr>
                </a:tc>
                <a:tc>
                  <a:txBody>
                    <a:bodyPr wrap="square"/>
                    <a:lstStyle/>
                    <a:p>
                      <a:r>
                        <a:rPr b="0" sz="1300" i="0">
                          <a:solidFill>
                            <a:srgbClr val="1A2233"/>
                          </a:solidFill>
                          <a:latin typeface="Calibri"/>
                        </a:rPr>
                        <a:t>28,913.6</a:t>
                      </a:r>
                    </a:p>
                  </a:txBody>
                  <a:tcPr marL="64008" marR="64008" marT="27432" marB="27432" anchor="ctr">
                    <a:solidFill>
                      <a:srgbClr val="FFFFFF"/>
                    </a:solidFill>
                  </a:tcPr>
                </a:tc>
              </a:tr>
              <a:tr h="384048">
                <a:tc>
                  <a:txBody>
                    <a:bodyPr wrap="square"/>
                    <a:lstStyle/>
                    <a:p>
                      <a:r>
                        <a:rPr b="1" sz="1300" i="0">
                          <a:solidFill>
                            <a:srgbClr val="1A2233"/>
                          </a:solidFill>
                          <a:latin typeface="Calibri"/>
                        </a:rPr>
                        <a:t>Equity first</a:t>
                      </a:r>
                    </a:p>
                  </a:txBody>
                  <a:tcPr marL="64008" marR="64008" marT="27432" marB="27432" anchor="ctr">
                    <a:solidFill>
                      <a:srgbClr val="F3F6F9"/>
                    </a:solidFill>
                  </a:tcPr>
                </a:tc>
                <a:tc>
                  <a:txBody>
                    <a:bodyPr wrap="square"/>
                    <a:lstStyle/>
                    <a:p>
                      <a:r>
                        <a:rPr b="0" sz="1300" i="0">
                          <a:solidFill>
                            <a:srgbClr val="1A2233"/>
                          </a:solidFill>
                          <a:latin typeface="Calibri"/>
                        </a:rPr>
                        <a:t>3,008.8</a:t>
                      </a:r>
                    </a:p>
                  </a:txBody>
                  <a:tcPr marL="64008" marR="64008" marT="27432" marB="27432" anchor="ctr">
                    <a:solidFill>
                      <a:srgbClr val="F3F6F9"/>
                    </a:solidFill>
                  </a:tcPr>
                </a:tc>
                <a:tc>
                  <a:txBody>
                    <a:bodyPr wrap="square"/>
                    <a:lstStyle/>
                    <a:p>
                      <a:r>
                        <a:rPr b="0" sz="1300" i="0">
                          <a:solidFill>
                            <a:srgbClr val="1A2233"/>
                          </a:solidFill>
                          <a:latin typeface="Calibri"/>
                        </a:rPr>
                        <a:t>751.7</a:t>
                      </a:r>
                    </a:p>
                  </a:txBody>
                  <a:tcPr marL="64008" marR="64008" marT="27432" marB="27432" anchor="ctr">
                    <a:solidFill>
                      <a:srgbClr val="F3F6F9"/>
                    </a:solidFill>
                  </a:tcPr>
                </a:tc>
                <a:tc>
                  <a:txBody>
                    <a:bodyPr wrap="square"/>
                    <a:lstStyle/>
                    <a:p>
                      <a:r>
                        <a:rPr b="0" sz="1300" i="0">
                          <a:solidFill>
                            <a:srgbClr val="1A2233"/>
                          </a:solidFill>
                          <a:latin typeface="Calibri"/>
                        </a:rPr>
                        <a:t>100,053.6</a:t>
                      </a:r>
                    </a:p>
                  </a:txBody>
                  <a:tcPr marL="64008" marR="64008" marT="27432" marB="27432" anchor="ctr">
                    <a:solidFill>
                      <a:srgbClr val="F3F6F9"/>
                    </a:solidFill>
                  </a:tcPr>
                </a:tc>
                <a:tc>
                  <a:txBody>
                    <a:bodyPr wrap="square"/>
                    <a:lstStyle/>
                    <a:p>
                      <a:r>
                        <a:rPr b="0" sz="1300" i="0">
                          <a:solidFill>
                            <a:srgbClr val="1A2233"/>
                          </a:solidFill>
                          <a:latin typeface="Calibri"/>
                        </a:rPr>
                        <a:t>71,139.6</a:t>
                      </a:r>
                    </a:p>
                  </a:txBody>
                  <a:tcPr marL="64008" marR="64008" marT="27432" marB="27432" anchor="ctr">
                    <a:solidFill>
                      <a:srgbClr val="F3F6F9"/>
                    </a:solidFill>
                  </a:tcPr>
                </a:tc>
                <a:tc>
                  <a:txBody>
                    <a:bodyPr wrap="square"/>
                    <a:lstStyle/>
                    <a:p>
                      <a:r>
                        <a:rPr b="0" sz="1300" i="0">
                          <a:solidFill>
                            <a:srgbClr val="1A2233"/>
                          </a:solidFill>
                          <a:latin typeface="Calibri"/>
                        </a:rPr>
                        <a:t>28,914.0</a:t>
                      </a:r>
                    </a:p>
                  </a:txBody>
                  <a:tcPr marL="64008" marR="64008" marT="27432" marB="27432" anchor="ctr">
                    <a:solidFill>
                      <a:srgbClr val="F3F6F9"/>
                    </a:solidFill>
                  </a:tcPr>
                </a:tc>
              </a:tr>
            </a:tbl>
          </a:graphicData>
        </a:graphic>
      </p:graphicFrame>
      <p:sp>
        <p:nvSpPr>
          <p:cNvPr id="12" name="Rectangle 11"/>
          <p:cNvSpPr/>
          <p:nvPr/>
        </p:nvSpPr>
        <p:spPr>
          <a:xfrm>
            <a:off x="548640" y="3200400"/>
            <a:ext cx="1106424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20040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20040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Equity first lowers total cost but requires the sponsor's whole cheque earlier: a financing-cost versus liquidity trade-off.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7.1: Test the drawdown switch on the solved model</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Switch InpC!L133 between 1 and 2 and complete the table: IDC, total uses, gearing at COD.</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Method 1: read Constr!H31, F52, F53</a:t>
            </a:r>
          </a:p>
          <a:p>
            <a:pPr>
              <a:spcAft>
                <a:spcPts val="300"/>
              </a:spcAft>
            </a:pPr>
            <a:r>
              <a:rPr b="0" sz="1500" i="0">
                <a:solidFill>
                  <a:srgbClr val="1A2233"/>
                </a:solidFill>
                <a:latin typeface="Calibri"/>
              </a:rPr>
              <a:t>2.  Method 2: read the same cells</a:t>
            </a:r>
          </a:p>
          <a:p>
            <a:pPr>
              <a:spcAft>
                <a:spcPts val="300"/>
              </a:spcAft>
            </a:pPr>
            <a:r>
              <a:rPr b="0" sz="1500" i="0">
                <a:solidFill>
                  <a:srgbClr val="1A2233"/>
                </a:solidFill>
                <a:latin typeface="Calibri"/>
              </a:rPr>
              <a:t>3.  Compute gearing = F53 ÷ F52</a:t>
            </a:r>
          </a:p>
          <a:p>
            <a:pPr>
              <a:spcAft>
                <a:spcPts val="300"/>
              </a:spcAft>
            </a:pPr>
            <a:r>
              <a:rPr b="0" sz="1500" i="0">
                <a:solidFill>
                  <a:srgbClr val="1A2233"/>
                </a:solidFill>
                <a:latin typeface="Calibri"/>
              </a:rPr>
              <a:t>4.  Restore method 1</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10 min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7  |  Thu 22 Oct 2026  |  Project finance modelling II: debt sizing and returns</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9</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09.30 – 10.00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2: DSCR, LLCR and PLCR</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Three lender tests, three different time horizons.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Three cover ratios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046730"/>
        </p:xfrm>
        <a:graphic>
          <a:graphicData uri="http://schemas.openxmlformats.org/drawingml/2006/table">
            <a:tbl>
              <a:tblPr firstRow="1" bandRow="1">
                <a:tableStyleId>{5C22544A-7EE6-4342-B048-85BDC9FD1C3A}</a:tableStyleId>
              </a:tblPr>
              <a:tblGrid>
                <a:gridCol w="1097280"/>
                <a:gridCol w="3291840"/>
                <a:gridCol w="1463040"/>
                <a:gridCol w="2194560"/>
                <a:gridCol w="3017520"/>
              </a:tblGrid>
              <a:tr h="384048">
                <a:tc>
                  <a:txBody>
                    <a:bodyPr wrap="square"/>
                    <a:lstStyle/>
                    <a:p>
                      <a:r>
                        <a:rPr b="1" sz="1200" i="0">
                          <a:solidFill>
                            <a:srgbClr val="FFFFFF"/>
                          </a:solidFill>
                          <a:latin typeface="Calibri"/>
                        </a:rPr>
                        <a:t>Ratio</a:t>
                      </a:r>
                    </a:p>
                  </a:txBody>
                  <a:tcPr marL="64008" marR="64008" marT="27432" marB="27432" anchor="ctr">
                    <a:solidFill>
                      <a:srgbClr val="141B4D"/>
                    </a:solidFill>
                  </a:tcPr>
                </a:tc>
                <a:tc>
                  <a:txBody>
                    <a:bodyPr wrap="square"/>
                    <a:lstStyle/>
                    <a:p>
                      <a:r>
                        <a:rPr b="1" sz="1200" i="0">
                          <a:solidFill>
                            <a:srgbClr val="FFFFFF"/>
                          </a:solidFill>
                          <a:latin typeface="Calibri"/>
                        </a:rPr>
                        <a:t>Formula</a:t>
                      </a:r>
                    </a:p>
                  </a:txBody>
                  <a:tcPr marL="64008" marR="64008" marT="27432" marB="27432" anchor="ctr">
                    <a:solidFill>
                      <a:srgbClr val="141B4D"/>
                    </a:solidFill>
                  </a:tcPr>
                </a:tc>
                <a:tc>
                  <a:txBody>
                    <a:bodyPr wrap="square"/>
                    <a:lstStyle/>
                    <a:p>
                      <a:r>
                        <a:rPr b="1" sz="1200" i="0">
                          <a:solidFill>
                            <a:srgbClr val="FFFFFF"/>
                          </a:solidFill>
                          <a:latin typeface="Calibri"/>
                        </a:rPr>
                        <a:t>Horizon</a:t>
                      </a:r>
                    </a:p>
                  </a:txBody>
                  <a:tcPr marL="64008" marR="64008" marT="27432" marB="27432" anchor="ctr">
                    <a:solidFill>
                      <a:srgbClr val="141B4D"/>
                    </a:solidFill>
                  </a:tcPr>
                </a:tc>
                <a:tc>
                  <a:txBody>
                    <a:bodyPr wrap="square"/>
                    <a:lstStyle/>
                    <a:p>
                      <a:r>
                        <a:rPr b="1" sz="1200" i="0">
                          <a:solidFill>
                            <a:srgbClr val="FFFFFF"/>
                          </a:solidFill>
                          <a:latin typeface="Calibri"/>
                        </a:rPr>
                        <a:t>Protects against</a:t>
                      </a:r>
                    </a:p>
                  </a:txBody>
                  <a:tcPr marL="64008" marR="64008" marT="27432" marB="27432" anchor="ctr">
                    <a:solidFill>
                      <a:srgbClr val="141B4D"/>
                    </a:solidFill>
                  </a:tcPr>
                </a:tc>
                <a:tc>
                  <a:txBody>
                    <a:bodyPr wrap="square"/>
                    <a:lstStyle/>
                    <a:p>
                      <a:r>
                        <a:rPr b="1" sz="1200" i="0">
                          <a:solidFill>
                            <a:srgbClr val="FFFFFF"/>
                          </a:solidFill>
                          <a:latin typeface="Calibri"/>
                        </a:rPr>
                        <a:t>Typical lender use</a:t>
                      </a:r>
                    </a:p>
                  </a:txBody>
                  <a:tcPr marL="64008" marR="64008" marT="27432" marB="27432" anchor="ctr">
                    <a:solidFill>
                      <a:srgbClr val="141B4D"/>
                    </a:solidFill>
                  </a:tcPr>
                </a:tc>
              </a:tr>
              <a:tr h="490727">
                <a:tc>
                  <a:txBody>
                    <a:bodyPr wrap="square"/>
                    <a:lstStyle/>
                    <a:p>
                      <a:r>
                        <a:rPr b="1" sz="1200" i="0">
                          <a:solidFill>
                            <a:srgbClr val="1A2233"/>
                          </a:solidFill>
                          <a:latin typeface="Calibri"/>
                        </a:rPr>
                        <a:t>DSCR</a:t>
                      </a:r>
                    </a:p>
                  </a:txBody>
                  <a:tcPr marL="64008" marR="64008" marT="27432" marB="27432" anchor="ctr">
                    <a:solidFill>
                      <a:srgbClr val="FFFFFF"/>
                    </a:solidFill>
                  </a:tcPr>
                </a:tc>
                <a:tc>
                  <a:txBody>
                    <a:bodyPr wrap="square"/>
                    <a:lstStyle/>
                    <a:p>
                      <a:r>
                        <a:rPr b="0" sz="1200" i="0">
                          <a:solidFill>
                            <a:srgbClr val="1A2233"/>
                          </a:solidFill>
                          <a:latin typeface="Consolas"/>
                        </a:rPr>
                        <a:t>CFADS ÷ debt service (each period)</a:t>
                      </a:r>
                    </a:p>
                  </a:txBody>
                  <a:tcPr marL="64008" marR="64008" marT="27432" marB="27432" anchor="ctr">
                    <a:solidFill>
                      <a:srgbClr val="FFFFFF"/>
                    </a:solidFill>
                  </a:tcPr>
                </a:tc>
                <a:tc>
                  <a:txBody>
                    <a:bodyPr wrap="square"/>
                    <a:lstStyle/>
                    <a:p>
                      <a:r>
                        <a:rPr b="0" sz="1200" i="0">
                          <a:solidFill>
                            <a:srgbClr val="1A2233"/>
                          </a:solidFill>
                          <a:latin typeface="Calibri"/>
                        </a:rPr>
                        <a:t>One period</a:t>
                      </a:r>
                    </a:p>
                  </a:txBody>
                  <a:tcPr marL="64008" marR="64008" marT="27432" marB="27432" anchor="ctr">
                    <a:solidFill>
                      <a:srgbClr val="FFFFFF"/>
                    </a:solidFill>
                  </a:tcPr>
                </a:tc>
                <a:tc>
                  <a:txBody>
                    <a:bodyPr wrap="square"/>
                    <a:lstStyle/>
                    <a:p>
                      <a:r>
                        <a:rPr b="0" sz="1200" i="0">
                          <a:solidFill>
                            <a:srgbClr val="1A2233"/>
                          </a:solidFill>
                          <a:latin typeface="Calibri"/>
                        </a:rPr>
                        <a:t>A bad quarter</a:t>
                      </a:r>
                    </a:p>
                  </a:txBody>
                  <a:tcPr marL="64008" marR="64008" marT="27432" marB="27432" anchor="ctr">
                    <a:solidFill>
                      <a:srgbClr val="FFFFFF"/>
                    </a:solidFill>
                  </a:tcPr>
                </a:tc>
                <a:tc>
                  <a:txBody>
                    <a:bodyPr wrap="square"/>
                    <a:lstStyle/>
                    <a:p>
                      <a:r>
                        <a:rPr b="0" sz="1200" i="0">
                          <a:solidFill>
                            <a:srgbClr val="1A2233"/>
                          </a:solidFill>
                          <a:latin typeface="Calibri"/>
                        </a:rPr>
                        <a:t>Minimum covenant; lock-up of dividends if below a trigger</a:t>
                      </a:r>
                    </a:p>
                  </a:txBody>
                  <a:tcPr marL="64008" marR="64008" marT="27432" marB="27432" anchor="ctr">
                    <a:solidFill>
                      <a:srgbClr val="FFFFFF"/>
                    </a:solidFill>
                  </a:tcPr>
                </a:tc>
              </a:tr>
              <a:tr h="681228">
                <a:tc>
                  <a:txBody>
                    <a:bodyPr wrap="square"/>
                    <a:lstStyle/>
                    <a:p>
                      <a:r>
                        <a:rPr b="1" sz="1200" i="0">
                          <a:solidFill>
                            <a:srgbClr val="1A2233"/>
                          </a:solidFill>
                          <a:latin typeface="Calibri"/>
                        </a:rPr>
                        <a:t>LLCR</a:t>
                      </a:r>
                    </a:p>
                  </a:txBody>
                  <a:tcPr marL="64008" marR="64008" marT="27432" marB="27432" anchor="ctr">
                    <a:solidFill>
                      <a:srgbClr val="F3F6F9"/>
                    </a:solidFill>
                  </a:tcPr>
                </a:tc>
                <a:tc>
                  <a:txBody>
                    <a:bodyPr wrap="square"/>
                    <a:lstStyle/>
                    <a:p>
                      <a:r>
                        <a:rPr b="0" sz="1200" i="0">
                          <a:solidFill>
                            <a:srgbClr val="1A2233"/>
                          </a:solidFill>
                          <a:latin typeface="Consolas"/>
                        </a:rPr>
                        <a:t>PV(CFADS over loan life) ÷ debt outstanding</a:t>
                      </a:r>
                    </a:p>
                  </a:txBody>
                  <a:tcPr marL="64008" marR="64008" marT="27432" marB="27432" anchor="ctr">
                    <a:solidFill>
                      <a:srgbClr val="F3F6F9"/>
                    </a:solidFill>
                  </a:tcPr>
                </a:tc>
                <a:tc>
                  <a:txBody>
                    <a:bodyPr wrap="square"/>
                    <a:lstStyle/>
                    <a:p>
                      <a:r>
                        <a:rPr b="0" sz="1200" i="0">
                          <a:solidFill>
                            <a:srgbClr val="1A2233"/>
                          </a:solidFill>
                          <a:latin typeface="Calibri"/>
                        </a:rPr>
                        <a:t>Loan life</a:t>
                      </a:r>
                    </a:p>
                  </a:txBody>
                  <a:tcPr marL="64008" marR="64008" marT="27432" marB="27432" anchor="ctr">
                    <a:solidFill>
                      <a:srgbClr val="F3F6F9"/>
                    </a:solidFill>
                  </a:tcPr>
                </a:tc>
                <a:tc>
                  <a:txBody>
                    <a:bodyPr wrap="square"/>
                    <a:lstStyle/>
                    <a:p>
                      <a:r>
                        <a:rPr b="0" sz="1200" i="0">
                          <a:solidFill>
                            <a:srgbClr val="1A2233"/>
                          </a:solidFill>
                          <a:latin typeface="Calibri"/>
                        </a:rPr>
                        <a:t>A weak loan overall</a:t>
                      </a:r>
                    </a:p>
                  </a:txBody>
                  <a:tcPr marL="64008" marR="64008" marT="27432" marB="27432" anchor="ctr">
                    <a:solidFill>
                      <a:srgbClr val="F3F6F9"/>
                    </a:solidFill>
                  </a:tcPr>
                </a:tc>
                <a:tc>
                  <a:txBody>
                    <a:bodyPr wrap="square"/>
                    <a:lstStyle/>
                    <a:p>
                      <a:r>
                        <a:rPr b="0" sz="1200" i="0">
                          <a:solidFill>
                            <a:srgbClr val="1A2233"/>
                          </a:solidFill>
                          <a:latin typeface="Calibri"/>
                        </a:rPr>
                        <a:t>Sizing and covenants; ≥ about 1.2 to 1.5x typical for demand-risk projects</a:t>
                      </a:r>
                    </a:p>
                  </a:txBody>
                  <a:tcPr marL="64008" marR="64008" marT="27432" marB="27432" anchor="ctr">
                    <a:solidFill>
                      <a:srgbClr val="F3F6F9"/>
                    </a:solidFill>
                  </a:tcPr>
                </a:tc>
              </a:tr>
              <a:tr h="490727">
                <a:tc>
                  <a:txBody>
                    <a:bodyPr wrap="square"/>
                    <a:lstStyle/>
                    <a:p>
                      <a:r>
                        <a:rPr b="1" sz="1200" i="0">
                          <a:solidFill>
                            <a:srgbClr val="1A2233"/>
                          </a:solidFill>
                          <a:latin typeface="Calibri"/>
                        </a:rPr>
                        <a:t>PLCR</a:t>
                      </a:r>
                    </a:p>
                  </a:txBody>
                  <a:tcPr marL="64008" marR="64008" marT="27432" marB="27432" anchor="ctr">
                    <a:solidFill>
                      <a:srgbClr val="FFFFFF"/>
                    </a:solidFill>
                  </a:tcPr>
                </a:tc>
                <a:tc>
                  <a:txBody>
                    <a:bodyPr wrap="square"/>
                    <a:lstStyle/>
                    <a:p>
                      <a:r>
                        <a:rPr b="0" sz="1200" i="0">
                          <a:solidFill>
                            <a:srgbClr val="1A2233"/>
                          </a:solidFill>
                          <a:latin typeface="Consolas"/>
                        </a:rPr>
                        <a:t>PV(CFADS over project life) ÷ debt outstanding</a:t>
                      </a:r>
                    </a:p>
                  </a:txBody>
                  <a:tcPr marL="64008" marR="64008" marT="27432" marB="27432" anchor="ctr">
                    <a:solidFill>
                      <a:srgbClr val="FFFFFF"/>
                    </a:solidFill>
                  </a:tcPr>
                </a:tc>
                <a:tc>
                  <a:txBody>
                    <a:bodyPr wrap="square"/>
                    <a:lstStyle/>
                    <a:p>
                      <a:r>
                        <a:rPr b="0" sz="1200" i="0">
                          <a:solidFill>
                            <a:srgbClr val="1A2233"/>
                          </a:solidFill>
                          <a:latin typeface="Calibri"/>
                        </a:rPr>
                        <a:t>Project life</a:t>
                      </a:r>
                    </a:p>
                  </a:txBody>
                  <a:tcPr marL="64008" marR="64008" marT="27432" marB="27432" anchor="ctr">
                    <a:solidFill>
                      <a:srgbClr val="FFFFFF"/>
                    </a:solidFill>
                  </a:tcPr>
                </a:tc>
                <a:tc>
                  <a:txBody>
                    <a:bodyPr wrap="square"/>
                    <a:lstStyle/>
                    <a:p>
                      <a:r>
                        <a:rPr b="0" sz="1200" i="0">
                          <a:solidFill>
                            <a:srgbClr val="1A2233"/>
                          </a:solidFill>
                          <a:latin typeface="Calibri"/>
                        </a:rPr>
                        <a:t>Tail risk beyond maturity</a:t>
                      </a:r>
                    </a:p>
                  </a:txBody>
                  <a:tcPr marL="64008" marR="64008" marT="27432" marB="27432" anchor="ctr">
                    <a:solidFill>
                      <a:srgbClr val="FFFFFF"/>
                    </a:solidFill>
                  </a:tcPr>
                </a:tc>
                <a:tc>
                  <a:txBody>
                    <a:bodyPr wrap="square"/>
                    <a:lstStyle/>
                    <a:p>
                      <a:r>
                        <a:rPr b="0" sz="1200" i="0">
                          <a:solidFill>
                            <a:srgbClr val="1A2233"/>
                          </a:solidFill>
                          <a:latin typeface="Calibri"/>
                        </a:rPr>
                        <a:t>Shows the cash flow cushion after the loan is repaid</a:t>
                      </a:r>
                    </a:p>
                  </a:txBody>
                  <a:tcPr marL="64008" marR="64008" marT="27432" marB="27432" anchor="ctr">
                    <a:solidFill>
                      <a:srgbClr val="FFFFFF"/>
                    </a:solidFill>
                  </a:tcPr>
                </a:tc>
              </a:tr>
            </a:tbl>
          </a:graphicData>
        </a:graphic>
      </p:graphicFrame>
      <p:sp>
        <p:nvSpPr>
          <p:cNvPr id="12" name="Rectangle 11"/>
          <p:cNvSpPr/>
          <p:nvPr/>
        </p:nvSpPr>
        <p:spPr>
          <a:xfrm>
            <a:off x="548640" y="4297680"/>
            <a:ext cx="1106424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29768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29768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Illustrative levels only: the actual covenants come from each credit agreement (Day 2). Discount rate for PVs = cost of debt.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LLCR by hand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2000" i="0">
                <a:solidFill>
                  <a:srgbClr val="1A2233"/>
                </a:solidFill>
                <a:latin typeface="Calibri"/>
              </a:rPr>
              <a:t>LLCR asks: if I discounted every quarter's cash flow until the loan's last repayment, would it cover the debt still owed? Above 1.0 the whole loan is covered in present-value terms.</a:t>
            </a:r>
          </a:p>
        </p:txBody>
      </p:sp>
      <p:sp>
        <p:nvSpPr>
          <p:cNvPr id="13" name="Rectangle 12"/>
          <p:cNvSpPr/>
          <p:nvPr/>
        </p:nvSpPr>
        <p:spPr>
          <a:xfrm>
            <a:off x="640080" y="3108960"/>
            <a:ext cx="10881360" cy="64008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2000" i="0">
                <a:solidFill>
                  <a:srgbClr val="141B4D"/>
                </a:solidFill>
                <a:latin typeface="Consolas"/>
              </a:rPr>
              <a:t>LLCR = Σ CFADS_t ÷ (1 + r)^t ÷ Debt outstanding</a:t>
            </a:r>
          </a:p>
        </p:txBody>
      </p:sp>
      <p:sp>
        <p:nvSpPr>
          <p:cNvPr id="14" name="TextBox 13"/>
          <p:cNvSpPr txBox="1"/>
          <p:nvPr/>
        </p:nvSpPr>
        <p:spPr>
          <a:xfrm>
            <a:off x="640080" y="388620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5" name="TextBox 14"/>
          <p:cNvSpPr txBox="1"/>
          <p:nvPr/>
        </p:nvSpPr>
        <p:spPr>
          <a:xfrm>
            <a:off x="640080" y="4160520"/>
            <a:ext cx="10881360" cy="1325879"/>
          </a:xfrm>
          <a:prstGeom prst="rect">
            <a:avLst/>
          </a:prstGeom>
          <a:noFill/>
        </p:spPr>
        <p:txBody>
          <a:bodyPr wrap="square" lIns="45720" rIns="45720" tIns="27432" bIns="27432" anchor="t">
            <a:spAutoFit/>
          </a:bodyPr>
          <a:lstStyle/>
          <a:p>
            <a:pPr algn="l"/>
            <a:r>
              <a:rPr b="0" sz="1600" i="0">
                <a:solidFill>
                  <a:srgbClr val="1A2233"/>
                </a:solidFill>
                <a:latin typeface="Calibri"/>
              </a:rPr>
              <a:t>Three-period toy: CFADS 60, 60, 60; debt 100; rate 5% per period</a:t>
            </a:r>
          </a:p>
          <a:p>
            <a:pPr algn="l"/>
            <a:r>
              <a:rPr b="0" sz="1600" i="0">
                <a:solidFill>
                  <a:srgbClr val="1A2233"/>
                </a:solidFill>
                <a:latin typeface="Calibri"/>
              </a:rPr>
              <a:t>PV = 60/1.05 + 60/1.05² + 60/1.05³ = 57.14 + 54.42 + 51.83 = 163.39</a:t>
            </a:r>
          </a:p>
          <a:p>
            <a:pPr algn="l"/>
            <a:r>
              <a:rPr b="0" sz="1600" i="0">
                <a:solidFill>
                  <a:srgbClr val="1A2233"/>
                </a:solidFill>
                <a:latin typeface="Calibri"/>
              </a:rPr>
              <a:t>LLCR = 163.39 ÷ 100 = 1.63x</a:t>
            </a:r>
          </a:p>
        </p:txBody>
      </p:sp>
      <p:sp>
        <p:nvSpPr>
          <p:cNvPr id="16" name="Rectangle 15"/>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LLCR looks through quarter-to-quarter volatility; DSCR does not.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TECHNIQUE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Backward recursion: PV of cash flow in one column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81328"/>
            <a:ext cx="1005840" cy="347472"/>
          </a:xfrm>
          <a:prstGeom prst="rect">
            <a:avLst/>
          </a:prstGeom>
          <a:solidFill>
            <a:srgbClr val="FFFFFF"/>
          </a:solidFill>
          <a:ln w="12700">
            <a:solidFill>
              <a:srgbClr val="5C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1A2233"/>
                </a:solidFill>
                <a:latin typeface="Consolas"/>
              </a:rPr>
              <a:t>J19</a:t>
            </a:r>
          </a:p>
        </p:txBody>
      </p:sp>
      <p:sp>
        <p:nvSpPr>
          <p:cNvPr id="12" name="Rectangle 11"/>
          <p:cNvSpPr/>
          <p:nvPr/>
        </p:nvSpPr>
        <p:spPr>
          <a:xfrm>
            <a:off x="1600200" y="1481328"/>
            <a:ext cx="411480" cy="347472"/>
          </a:xfrm>
          <a:prstGeom prst="rect">
            <a:avLst/>
          </a:prstGeom>
          <a:solidFill>
            <a:srgbClr val="F3F6F9"/>
          </a:solidFill>
          <a:ln w="12700">
            <a:solidFill>
              <a:srgbClr val="5C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1">
                <a:solidFill>
                  <a:srgbClr val="5C6B7A"/>
                </a:solidFill>
                <a:latin typeface="Calibri"/>
              </a:rPr>
              <a:t>fx</a:t>
            </a:r>
          </a:p>
        </p:txBody>
      </p:sp>
      <p:sp>
        <p:nvSpPr>
          <p:cNvPr id="13" name="Rectangle 12"/>
          <p:cNvSpPr/>
          <p:nvPr/>
        </p:nvSpPr>
        <p:spPr>
          <a:xfrm>
            <a:off x="2057400" y="1481328"/>
            <a:ext cx="7498079" cy="347472"/>
          </a:xfrm>
          <a:prstGeom prst="rect">
            <a:avLst/>
          </a:prstGeom>
          <a:solidFill>
            <a:srgbClr val="FFFFFF"/>
          </a:solidFill>
          <a:ln w="12700">
            <a:solidFill>
              <a:srgbClr val="5C6B7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0" sz="1300" i="0">
                <a:solidFill>
                  <a:srgbClr val="1A2233"/>
                </a:solidFill>
                <a:latin typeface="Consolas"/>
              </a:rPr>
              <a:t>=(K19+K18)/(1+K17)</a:t>
            </a:r>
          </a:p>
        </p:txBody>
      </p:sp>
      <p:graphicFrame>
        <p:nvGraphicFramePr>
          <p:cNvPr id="14" name="Table 13"/>
          <p:cNvGraphicFramePr>
            <a:graphicFrameLocks noGrp="1"/>
          </p:cNvGraphicFramePr>
          <p:nvPr/>
        </p:nvGraphicFramePr>
        <p:xfrm>
          <a:off x="548640" y="1938528"/>
          <a:ext cx="9144000" cy="1554480"/>
        </p:xfrm>
        <a:graphic>
          <a:graphicData uri="http://schemas.openxmlformats.org/drawingml/2006/table">
            <a:tbl>
              <a:tblPr firstRow="1" bandRow="1">
                <a:tableStyleId>{5C22544A-7EE6-4342-B048-85BDC9FD1C3A}</a:tableStyleId>
              </a:tblPr>
              <a:tblGrid>
                <a:gridCol w="502920"/>
                <a:gridCol w="960120"/>
                <a:gridCol w="960120"/>
                <a:gridCol w="960120"/>
                <a:gridCol w="960120"/>
                <a:gridCol w="960120"/>
                <a:gridCol w="960120"/>
                <a:gridCol w="960120"/>
                <a:gridCol w="960120"/>
                <a:gridCol w="960120"/>
              </a:tblGrid>
              <a:tr h="310896">
                <a:tc>
                  <a:txBody>
                    <a:bodyPr/>
                    <a:lstStyle/>
                    <a:p>
                      <a:pPr algn="ctr"/>
                      <a:r>
                        <a:rPr sz="1100" b="0">
                          <a:solidFill>
                            <a:srgbClr val="1A2233"/>
                          </a:solidFill>
                          <a:latin typeface="Calibri"/>
                        </a:rPr>
                        <a:t/>
                      </a:r>
                    </a:p>
                  </a:txBody>
                  <a:tcPr marL="45720" marR="45720" marT="9144" marB="9144" anchor="ctr">
                    <a:solidFill>
                      <a:srgbClr val="D9DEE6"/>
                    </a:solidFill>
                  </a:tcPr>
                </a:tc>
                <a:tc>
                  <a:txBody>
                    <a:bodyPr/>
                    <a:lstStyle/>
                    <a:p>
                      <a:pPr algn="ctr"/>
                      <a:r>
                        <a:rPr sz="1100" b="1">
                          <a:solidFill>
                            <a:srgbClr val="1A2233"/>
                          </a:solidFill>
                          <a:latin typeface="Calibri"/>
                        </a:rPr>
                        <a:t>E</a:t>
                      </a:r>
                    </a:p>
                  </a:txBody>
                  <a:tcPr marL="45720" marR="45720" marT="9144" marB="9144" anchor="ctr">
                    <a:solidFill>
                      <a:srgbClr val="D9DEE6"/>
                    </a:solidFill>
                  </a:tcPr>
                </a:tc>
                <a:tc>
                  <a:txBody>
                    <a:bodyPr/>
                    <a:lstStyle/>
                    <a:p>
                      <a:pPr algn="ctr"/>
                      <a:r>
                        <a:rPr sz="1100" b="1">
                          <a:solidFill>
                            <a:srgbClr val="1A2233"/>
                          </a:solidFill>
                          <a:latin typeface="Calibri"/>
                        </a:rPr>
                        <a:t>F</a:t>
                      </a:r>
                    </a:p>
                  </a:txBody>
                  <a:tcPr marL="45720" marR="45720" marT="9144" marB="9144" anchor="ctr">
                    <a:solidFill>
                      <a:srgbClr val="D9DEE6"/>
                    </a:solidFill>
                  </a:tcPr>
                </a:tc>
                <a:tc>
                  <a:txBody>
                    <a:bodyPr/>
                    <a:lstStyle/>
                    <a:p>
                      <a:pPr algn="ctr"/>
                      <a:r>
                        <a:rPr sz="1100" b="1">
                          <a:solidFill>
                            <a:srgbClr val="1A2233"/>
                          </a:solidFill>
                          <a:latin typeface="Calibri"/>
                        </a:rPr>
                        <a:t>G</a:t>
                      </a:r>
                    </a:p>
                  </a:txBody>
                  <a:tcPr marL="45720" marR="45720" marT="9144" marB="9144" anchor="ctr">
                    <a:solidFill>
                      <a:srgbClr val="D9DEE6"/>
                    </a:solidFill>
                  </a:tcPr>
                </a:tc>
                <a:tc>
                  <a:txBody>
                    <a:bodyPr/>
                    <a:lstStyle/>
                    <a:p>
                      <a:pPr algn="ctr"/>
                      <a:r>
                        <a:rPr sz="1100" b="1">
                          <a:solidFill>
                            <a:srgbClr val="1A2233"/>
                          </a:solidFill>
                          <a:latin typeface="Calibri"/>
                        </a:rPr>
                        <a:t>H</a:t>
                      </a:r>
                    </a:p>
                  </a:txBody>
                  <a:tcPr marL="45720" marR="45720" marT="9144" marB="9144" anchor="ctr">
                    <a:solidFill>
                      <a:srgbClr val="D9DEE6"/>
                    </a:solidFill>
                  </a:tcPr>
                </a:tc>
                <a:tc>
                  <a:txBody>
                    <a:bodyPr/>
                    <a:lstStyle/>
                    <a:p>
                      <a:pPr algn="ctr"/>
                      <a:r>
                        <a:rPr sz="1100" b="1">
                          <a:solidFill>
                            <a:srgbClr val="1A2233"/>
                          </a:solidFill>
                          <a:latin typeface="Calibri"/>
                        </a:rPr>
                        <a:t>I</a:t>
                      </a:r>
                    </a:p>
                  </a:txBody>
                  <a:tcPr marL="45720" marR="45720" marT="9144" marB="9144" anchor="ctr">
                    <a:solidFill>
                      <a:srgbClr val="D9DEE6"/>
                    </a:solidFill>
                  </a:tcPr>
                </a:tc>
                <a:tc>
                  <a:txBody>
                    <a:bodyPr/>
                    <a:lstStyle/>
                    <a:p>
                      <a:pPr algn="ctr"/>
                      <a:r>
                        <a:rPr sz="1100" b="1">
                          <a:solidFill>
                            <a:srgbClr val="1A2233"/>
                          </a:solidFill>
                          <a:latin typeface="Calibri"/>
                        </a:rPr>
                        <a:t>J</a:t>
                      </a:r>
                    </a:p>
                  </a:txBody>
                  <a:tcPr marL="45720" marR="45720" marT="9144" marB="9144" anchor="ctr">
                    <a:solidFill>
                      <a:srgbClr val="D9DEE6"/>
                    </a:solidFill>
                  </a:tcPr>
                </a:tc>
                <a:tc>
                  <a:txBody>
                    <a:bodyPr/>
                    <a:lstStyle/>
                    <a:p>
                      <a:pPr algn="ctr"/>
                      <a:r>
                        <a:rPr sz="1100" b="1">
                          <a:solidFill>
                            <a:srgbClr val="1A2233"/>
                          </a:solidFill>
                          <a:latin typeface="Calibri"/>
                        </a:rPr>
                        <a:t>K</a:t>
                      </a:r>
                    </a:p>
                  </a:txBody>
                  <a:tcPr marL="45720" marR="45720" marT="9144" marB="9144" anchor="ctr">
                    <a:solidFill>
                      <a:srgbClr val="D9DEE6"/>
                    </a:solidFill>
                  </a:tcPr>
                </a:tc>
                <a:tc>
                  <a:txBody>
                    <a:bodyPr/>
                    <a:lstStyle/>
                    <a:p>
                      <a:pPr algn="ctr"/>
                      <a:r>
                        <a:rPr sz="1100" b="1">
                          <a:solidFill>
                            <a:srgbClr val="1A2233"/>
                          </a:solidFill>
                          <a:latin typeface="Calibri"/>
                        </a:rPr>
                        <a:t>L</a:t>
                      </a:r>
                    </a:p>
                  </a:txBody>
                  <a:tcPr marL="45720" marR="45720" marT="9144" marB="9144" anchor="ctr">
                    <a:solidFill>
                      <a:srgbClr val="D9DEE6"/>
                    </a:solidFill>
                  </a:tcPr>
                </a:tc>
                <a:tc>
                  <a:txBody>
                    <a:bodyPr/>
                    <a:lstStyle/>
                    <a:p>
                      <a:pPr algn="ctr"/>
                      <a:r>
                        <a:rPr sz="1100" b="1">
                          <a:solidFill>
                            <a:srgbClr val="1A2233"/>
                          </a:solidFill>
                          <a:latin typeface="Calibri"/>
                        </a:rPr>
                        <a:t>M</a:t>
                      </a:r>
                    </a:p>
                  </a:txBody>
                  <a:tcPr marL="45720" marR="45720" marT="9144" marB="9144" anchor="ctr">
                    <a:solidFill>
                      <a:srgbClr val="D9DEE6"/>
                    </a:solidFill>
                  </a:tcPr>
                </a:tc>
              </a:tr>
              <a:tr h="310896">
                <a:tc>
                  <a:txBody>
                    <a:bodyPr/>
                    <a:lstStyle/>
                    <a:p>
                      <a:pPr algn="ctr"/>
                      <a:r>
                        <a:rPr sz="1100" b="1">
                          <a:solidFill>
                            <a:srgbClr val="1A2233"/>
                          </a:solidFill>
                          <a:latin typeface="Calibri"/>
                        </a:rPr>
                        <a:t>16</a:t>
                      </a:r>
                    </a:p>
                  </a:txBody>
                  <a:tcPr marL="45720" marR="45720" marT="9144" marB="9144" anchor="ctr">
                    <a:solidFill>
                      <a:srgbClr val="D9DEE6"/>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r>
              <a:tr h="310896">
                <a:tc>
                  <a:txBody>
                    <a:bodyPr/>
                    <a:lstStyle/>
                    <a:p>
                      <a:pPr algn="ctr"/>
                      <a:r>
                        <a:rPr sz="1100" b="1">
                          <a:solidFill>
                            <a:srgbClr val="1A2233"/>
                          </a:solidFill>
                          <a:latin typeface="Calibri"/>
                        </a:rPr>
                        <a:t>17</a:t>
                      </a:r>
                    </a:p>
                  </a:txBody>
                  <a:tcPr marL="45720" marR="45720" marT="9144" marB="9144" anchor="ctr">
                    <a:solidFill>
                      <a:srgbClr val="D9DEE6"/>
                    </a:solidFill>
                  </a:tcPr>
                </a:tc>
                <a:tc>
                  <a:txBody>
                    <a:bodyPr/>
                    <a:lstStyle/>
                    <a:p>
                      <a:pPr algn="l"/>
                      <a:r>
                        <a:rPr sz="1100" b="0">
                          <a:solidFill>
                            <a:srgbClr val="1A2233"/>
                          </a:solidFill>
                          <a:latin typeface="Calibri"/>
                        </a:rPr>
                        <a:t>Rate per period</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1">
                          <a:solidFill>
                            <a:srgbClr val="1A2233"/>
                          </a:solidFill>
                          <a:latin typeface="Calibri"/>
                        </a:rPr>
                        <a:t>5%</a:t>
                      </a:r>
                    </a:p>
                  </a:txBody>
                  <a:tcPr marL="45720" marR="45720" marT="9144" marB="9144" anchor="ctr">
                    <a:solidFill>
                      <a:srgbClr val="FBF0D9"/>
                    </a:solidFill>
                  </a:tcPr>
                </a:tc>
                <a:tc>
                  <a:txBody>
                    <a:bodyPr/>
                    <a:lstStyle/>
                    <a:p>
                      <a:pPr algn="l"/>
                      <a:r>
                        <a:rPr sz="1100" b="0">
                          <a:solidFill>
                            <a:srgbClr val="1A2233"/>
                          </a:solidFill>
                          <a:latin typeface="Calibri"/>
                        </a:rPr>
                        <a:t>5%</a:t>
                      </a:r>
                    </a:p>
                  </a:txBody>
                  <a:tcPr marL="45720" marR="45720" marT="9144" marB="9144" anchor="ctr">
                    <a:solidFill>
                      <a:srgbClr val="FFFFFF"/>
                    </a:solidFill>
                  </a:tcPr>
                </a:tc>
                <a:tc>
                  <a:txBody>
                    <a:bodyPr/>
                    <a:lstStyle/>
                    <a:p>
                      <a:pPr algn="l"/>
                      <a:r>
                        <a:rPr sz="1100" b="0">
                          <a:solidFill>
                            <a:srgbClr val="1A2233"/>
                          </a:solidFill>
                          <a:latin typeface="Calibri"/>
                        </a:rPr>
                        <a:t>5%</a:t>
                      </a:r>
                    </a:p>
                  </a:txBody>
                  <a:tcPr marL="45720" marR="45720" marT="9144" marB="9144" anchor="ctr">
                    <a:solidFill>
                      <a:srgbClr val="FFFFFF"/>
                    </a:solidFill>
                  </a:tcPr>
                </a:tc>
              </a:tr>
              <a:tr h="310896">
                <a:tc>
                  <a:txBody>
                    <a:bodyPr/>
                    <a:lstStyle/>
                    <a:p>
                      <a:pPr algn="ctr"/>
                      <a:r>
                        <a:rPr sz="1100" b="1">
                          <a:solidFill>
                            <a:srgbClr val="1A2233"/>
                          </a:solidFill>
                          <a:latin typeface="Calibri"/>
                        </a:rPr>
                        <a:t>18</a:t>
                      </a:r>
                    </a:p>
                  </a:txBody>
                  <a:tcPr marL="45720" marR="45720" marT="9144" marB="9144" anchor="ctr">
                    <a:solidFill>
                      <a:srgbClr val="D9DEE6"/>
                    </a:solidFill>
                  </a:tcPr>
                </a:tc>
                <a:tc>
                  <a:txBody>
                    <a:bodyPr/>
                    <a:lstStyle/>
                    <a:p>
                      <a:pPr algn="l"/>
                      <a:r>
                        <a:rPr sz="1100" b="0">
                          <a:solidFill>
                            <a:srgbClr val="1A2233"/>
                          </a:solidFill>
                          <a:latin typeface="Calibri"/>
                        </a:rPr>
                        <a:t>CFADS in loan life</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60</a:t>
                      </a:r>
                    </a:p>
                  </a:txBody>
                  <a:tcPr marL="45720" marR="45720" marT="9144" marB="9144" anchor="ctr">
                    <a:solidFill>
                      <a:srgbClr val="FFFFFF"/>
                    </a:solidFill>
                  </a:tcPr>
                </a:tc>
                <a:tc>
                  <a:txBody>
                    <a:bodyPr/>
                    <a:lstStyle/>
                    <a:p>
                      <a:pPr algn="l"/>
                      <a:r>
                        <a:rPr sz="1100" b="1">
                          <a:solidFill>
                            <a:srgbClr val="1A2233"/>
                          </a:solidFill>
                          <a:latin typeface="Calibri"/>
                        </a:rPr>
                        <a:t>60</a:t>
                      </a:r>
                    </a:p>
                  </a:txBody>
                  <a:tcPr marL="45720" marR="45720" marT="9144" marB="9144" anchor="ctr">
                    <a:solidFill>
                      <a:srgbClr val="FBF0D9"/>
                    </a:solidFill>
                  </a:tcPr>
                </a:tc>
                <a:tc>
                  <a:txBody>
                    <a:bodyPr/>
                    <a:lstStyle/>
                    <a:p>
                      <a:pPr algn="l"/>
                      <a:r>
                        <a:rPr sz="1100" b="0">
                          <a:solidFill>
                            <a:srgbClr val="1A2233"/>
                          </a:solidFill>
                          <a:latin typeface="Calibri"/>
                        </a:rPr>
                        <a:t>60</a:t>
                      </a:r>
                    </a:p>
                  </a:txBody>
                  <a:tcPr marL="45720" marR="45720" marT="9144" marB="9144" anchor="ctr">
                    <a:solidFill>
                      <a:srgbClr val="FFFFFF"/>
                    </a:solidFill>
                  </a:tcPr>
                </a:tc>
                <a:tc>
                  <a:txBody>
                    <a:bodyPr/>
                    <a:lstStyle/>
                    <a:p>
                      <a:pPr algn="l"/>
                      <a:r>
                        <a:rPr sz="1100" b="0">
                          <a:solidFill>
                            <a:srgbClr val="1A2233"/>
                          </a:solidFill>
                          <a:latin typeface="Calibri"/>
                        </a:rPr>
                        <a:t>0</a:t>
                      </a:r>
                    </a:p>
                  </a:txBody>
                  <a:tcPr marL="45720" marR="45720" marT="9144" marB="9144" anchor="ctr">
                    <a:solidFill>
                      <a:srgbClr val="FFFFFF"/>
                    </a:solidFill>
                  </a:tcPr>
                </a:tc>
              </a:tr>
              <a:tr h="310896">
                <a:tc>
                  <a:txBody>
                    <a:bodyPr/>
                    <a:lstStyle/>
                    <a:p>
                      <a:pPr algn="ctr"/>
                      <a:r>
                        <a:rPr sz="1100" b="1">
                          <a:solidFill>
                            <a:srgbClr val="1A2233"/>
                          </a:solidFill>
                          <a:latin typeface="Calibri"/>
                        </a:rPr>
                        <a:t>19</a:t>
                      </a:r>
                    </a:p>
                  </a:txBody>
                  <a:tcPr marL="45720" marR="45720" marT="9144" marB="9144" anchor="ctr">
                    <a:solidFill>
                      <a:srgbClr val="D9DEE6"/>
                    </a:solidFill>
                  </a:tcPr>
                </a:tc>
                <a:tc>
                  <a:txBody>
                    <a:bodyPr/>
                    <a:lstStyle/>
                    <a:p>
                      <a:pPr algn="l"/>
                      <a:r>
                        <a:rPr sz="1100" b="0">
                          <a:solidFill>
                            <a:srgbClr val="1A2233"/>
                          </a:solidFill>
                          <a:latin typeface="Calibri"/>
                        </a:rPr>
                        <a:t>PV END of period</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1">
                          <a:solidFill>
                            <a:srgbClr val="1A2233"/>
                          </a:solidFill>
                          <a:latin typeface="Consolas"/>
                        </a:rPr>
                        <a:t>=(K19+K18)/(1+K17)</a:t>
                      </a:r>
                    </a:p>
                  </a:txBody>
                  <a:tcPr marL="45720" marR="45720" marT="9144" marB="9144" anchor="ctr">
                    <a:solidFill>
                      <a:srgbClr val="FFE9B8"/>
                    </a:solidFill>
                  </a:tcPr>
                </a:tc>
                <a:tc>
                  <a:txBody>
                    <a:bodyPr/>
                    <a:lstStyle/>
                    <a:p>
                      <a:pPr algn="l"/>
                      <a:r>
                        <a:rPr sz="1100" b="1">
                          <a:solidFill>
                            <a:srgbClr val="1A2233"/>
                          </a:solidFill>
                          <a:latin typeface="Consolas"/>
                        </a:rPr>
                        <a:t>=(L19+L18)/(1+L17)</a:t>
                      </a:r>
                    </a:p>
                  </a:txBody>
                  <a:tcPr marL="45720" marR="45720" marT="9144" marB="9144" anchor="ctr">
                    <a:solidFill>
                      <a:srgbClr val="FBF0D9"/>
                    </a:solidFill>
                  </a:tcPr>
                </a:tc>
                <a:tc>
                  <a:txBody>
                    <a:bodyPr/>
                    <a:lstStyle/>
                    <a:p>
                      <a:pPr algn="l"/>
                      <a:r>
                        <a:rPr sz="1100" b="0">
                          <a:solidFill>
                            <a:srgbClr val="1A2233"/>
                          </a:solidFill>
                          <a:latin typeface="Consolas"/>
                        </a:rPr>
                        <a:t>=(M19+M18)/(1+M17)</a:t>
                      </a:r>
                    </a:p>
                  </a:txBody>
                  <a:tcPr marL="45720" marR="45720" marT="9144" marB="9144" anchor="ctr">
                    <a:solidFill>
                      <a:srgbClr val="FFFFFF"/>
                    </a:solidFill>
                  </a:tcPr>
                </a:tc>
                <a:tc>
                  <a:txBody>
                    <a:bodyPr/>
                    <a:lstStyle/>
                    <a:p>
                      <a:pPr algn="l"/>
                      <a:r>
                        <a:rPr sz="1100" b="0">
                          <a:solidFill>
                            <a:srgbClr val="1A2233"/>
                          </a:solidFill>
                          <a:latin typeface="Calibri"/>
                        </a:rPr>
                        <a:t>0</a:t>
                      </a:r>
                    </a:p>
                  </a:txBody>
                  <a:tcPr marL="45720" marR="45720" marT="9144" marB="9144" anchor="ctr">
                    <a:solidFill>
                      <a:srgbClr val="FFFFFF"/>
                    </a:solidFill>
                  </a:tcPr>
                </a:tc>
              </a:tr>
            </a:tbl>
          </a:graphicData>
        </a:graphic>
      </p:graphicFrame>
      <p:sp>
        <p:nvSpPr>
          <p:cNvPr id="15" name="Rectangle 14"/>
          <p:cNvSpPr/>
          <p:nvPr/>
        </p:nvSpPr>
        <p:spPr>
          <a:xfrm>
            <a:off x="9966960" y="1481328"/>
            <a:ext cx="1691639" cy="347472"/>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FFFFFF"/>
                </a:solidFill>
                <a:latin typeface="Calibri"/>
              </a:rPr>
              <a:t>HOW IT WORKS</a:t>
            </a:r>
          </a:p>
        </p:txBody>
      </p:sp>
      <p:sp>
        <p:nvSpPr>
          <p:cNvPr id="16" name="TextBox 15"/>
          <p:cNvSpPr txBox="1"/>
          <p:nvPr/>
        </p:nvSpPr>
        <p:spPr>
          <a:xfrm>
            <a:off x="9966960" y="1920240"/>
            <a:ext cx="1691639" cy="4206240"/>
          </a:xfrm>
          <a:prstGeom prst="rect">
            <a:avLst/>
          </a:prstGeom>
          <a:noFill/>
        </p:spPr>
        <p:txBody>
          <a:bodyPr wrap="square">
            <a:spAutoFit/>
          </a:bodyPr>
          <a:lstStyle/>
          <a:p>
            <a:pPr>
              <a:spcAft>
                <a:spcPts val="600"/>
              </a:spcAft>
            </a:pPr>
            <a:r>
              <a:rPr b="0" sz="1100" i="0">
                <a:solidFill>
                  <a:srgbClr val="1A2233"/>
                </a:solidFill>
                <a:latin typeface="Calibri"/>
              </a:rPr>
              <a:t>▪ Each column asks: what is the cash flow from the NEXT period worth now?</a:t>
            </a:r>
          </a:p>
          <a:p>
            <a:pPr>
              <a:spcAft>
                <a:spcPts val="600"/>
              </a:spcAft>
            </a:pPr>
            <a:r>
              <a:rPr b="0" sz="1100" i="0">
                <a:solidFill>
                  <a:srgbClr val="1A2233"/>
                </a:solidFill>
                <a:latin typeface="Calibri"/>
              </a:rPr>
              <a:t>▪ </a:t>
            </a:r>
            <a:r>
              <a:rPr b="0" sz="1100" i="0">
                <a:solidFill>
                  <a:srgbClr val="0B5E82"/>
                </a:solidFill>
                <a:latin typeface="Consolas"/>
              </a:rPr>
              <a:t>PV_END(t) = (PV_END(t+1) + CFADS(t+1)) ÷ (1 + r(t+1))</a:t>
            </a:r>
          </a:p>
          <a:p>
            <a:pPr>
              <a:spcAft>
                <a:spcPts val="600"/>
              </a:spcAft>
            </a:pPr>
            <a:r>
              <a:rPr b="0" sz="1100" i="0">
                <a:solidFill>
                  <a:srgbClr val="1A2233"/>
                </a:solidFill>
                <a:latin typeface="Calibri"/>
              </a:rPr>
              <a:t>▪ Start at the end (value 0) and work backwards: copy the formula right; it points one column to the right</a:t>
            </a:r>
          </a:p>
          <a:p>
            <a:pPr>
              <a:spcAft>
                <a:spcPts val="600"/>
              </a:spcAft>
            </a:pPr>
            <a:r>
              <a:rPr b="0" sz="1100" i="0">
                <a:solidFill>
                  <a:srgbClr val="1A2233"/>
                </a:solidFill>
                <a:latin typeface="Calibri"/>
              </a:rPr>
              <a:t>▪ Last column refers to a blank cell, which Excel treats as 0, so the recursion starts itself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Ratios!J19: PV of CFADS in loan life (END of period)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Ratios</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J19  (to CO19)</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PV of CFADS in loan life (END of period)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=(K19+K18)/(1+K17)</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PV of the loan-life cash flow at the end of this period</a:t>
            </a:r>
          </a:p>
          <a:p>
            <a:pPr algn="l"/>
            <a:r>
              <a:rPr b="0" sz="1500" i="0">
                <a:solidFill>
                  <a:srgbClr val="1A2233"/>
                </a:solidFill>
                <a:latin typeface="Calibri"/>
              </a:rPr>
              <a:t>▪ = (value next period + CFADS next period) ÷ (1 + next period's rate)</a:t>
            </a:r>
          </a:p>
          <a:p>
            <a:pPr algn="l"/>
            <a:r>
              <a:rPr b="0" sz="1500" i="0">
                <a:solidFill>
                  <a:srgbClr val="1A2233"/>
                </a:solidFill>
                <a:latin typeface="Calibri"/>
              </a:rPr>
              <a:t>▪ Copy right: each formula looks one column ahead</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J19:CO19,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J19:CO19,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J19 → CO19</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K19 (COD column) = PV of the whole loan-life CFADS</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Backward recursion needs no loop and no NPV function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Ratios!J21: LLCR</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Ratios</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J21  (to CO21)</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LLCR  (x)</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=IF(J20&gt;CHK_TOL,J19/J20,0)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LLCR = PV of loan-life CFADS ÷ debt outstanding</a:t>
            </a:r>
          </a:p>
          <a:p>
            <a:pPr algn="l"/>
            <a:r>
              <a:rPr b="0" sz="1500" i="0">
                <a:solidFill>
                  <a:srgbClr val="1A2233"/>
                </a:solidFill>
                <a:latin typeface="Calibri"/>
              </a:rPr>
              <a:t>▪ IF(debt &gt; tolerance, ..., 0) avoids dividing by zero after repayment</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J21:CO21,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J21:CO21,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J21 → CO21</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LLCR at COD (F22) = 2.40x</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A ratio per period; the COD value is the headline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Ratios!J27: PLCR</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Ratios</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J27  (to CO27)</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PLCR  (x)</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=IF(J20&gt;CHK_TOL,J26/J20,0)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PLCR = PV of project-life CFADS ÷ debt outstanding</a:t>
            </a:r>
          </a:p>
          <a:p>
            <a:pPr algn="l"/>
            <a:r>
              <a:rPr b="0" sz="1500" i="0">
                <a:solidFill>
                  <a:srgbClr val="1A2233"/>
                </a:solidFill>
                <a:latin typeface="Calibri"/>
              </a:rPr>
              <a:t>▪ Uses the forecast flag instead of the loan flag so the tail is included</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J27:CO27,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J27:CO27,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J27 → CO27</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PLCR at COD (F28) = 4.19x</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PLCR is always at least as large as LLCR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7.2: Build the Ratios sheet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Create a Ratios sheet with debt service, DSCR (pulled from FinStat), LLCR and PLCR, and read the minimum and COD values.</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New sheet Ratios (copy rows 1 to 5 from OpRev)</a:t>
            </a:r>
          </a:p>
          <a:p>
            <a:pPr>
              <a:spcAft>
                <a:spcPts val="300"/>
              </a:spcAft>
            </a:pPr>
            <a:r>
              <a:rPr b="0" sz="1500" i="0">
                <a:solidFill>
                  <a:srgbClr val="1A2233"/>
                </a:solidFill>
                <a:latin typeface="Calibri"/>
              </a:rPr>
              <a:t>2.  Pull debt service, CFADS and DSCR from FinStat (rows 94, 39, 96 after Day 7 insertions)</a:t>
            </a:r>
          </a:p>
          <a:p>
            <a:pPr>
              <a:spcAft>
                <a:spcPts val="300"/>
              </a:spcAft>
            </a:pPr>
            <a:r>
              <a:rPr b="0" sz="1500" i="0">
                <a:solidFill>
                  <a:srgbClr val="1A2233"/>
                </a:solidFill>
                <a:latin typeface="Calibri"/>
              </a:rPr>
              <a:t>3.  Build rows 17 to 22 (LLCR) and 25 to 28 (PLCR)</a:t>
            </a:r>
          </a:p>
          <a:p>
            <a:pPr>
              <a:spcAft>
                <a:spcPts val="300"/>
              </a:spcAft>
            </a:pPr>
            <a:r>
              <a:rPr b="0" sz="1500" i="0">
                <a:solidFill>
                  <a:srgbClr val="1A2233"/>
                </a:solidFill>
                <a:latin typeface="Calibri"/>
              </a:rPr>
              <a:t>4.  Read F13 (min DSCR), F22 and F28</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25 min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7  |  Thu 22 Oct 2026  |  Project finance modelling II: debt sizing and returns</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17</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10.30 – 12.30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3: Debt capacity, sizing and sculpting</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How much can the project borrow, and how should it repay?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Why sculpt?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1900" i="0">
                <a:solidFill>
                  <a:srgbClr val="1A2233"/>
                </a:solidFill>
                <a:latin typeface="Calibri"/>
              </a:rPr>
              <a:t>A flat repayment schedule repays the same amount each quarter, but cash flow varies. In weak quarters debt service can exceed cash flow (DSCR below 1). Sculpting sets each quarter's debt service equal to that quarter's cash flow divided by the target DSCR, so cover is the same in every quarter.</a:t>
            </a:r>
          </a:p>
        </p:txBody>
      </p:sp>
      <p:sp>
        <p:nvSpPr>
          <p:cNvPr id="13" name="Rectangle 12"/>
          <p:cNvSpPr/>
          <p:nvPr/>
        </p:nvSpPr>
        <p:spPr>
          <a:xfrm>
            <a:off x="640080" y="3108960"/>
            <a:ext cx="10881360" cy="64008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2000" i="0">
                <a:solidFill>
                  <a:srgbClr val="141B4D"/>
                </a:solidFill>
                <a:latin typeface="Consolas"/>
              </a:rPr>
              <a:t>Debt capacity = Σ [CFADS_t ÷ target DSCR] ÷ (1 + r)^t</a:t>
            </a:r>
          </a:p>
        </p:txBody>
      </p:sp>
      <p:sp>
        <p:nvSpPr>
          <p:cNvPr id="14" name="TextBox 13"/>
          <p:cNvSpPr txBox="1"/>
          <p:nvPr/>
        </p:nvSpPr>
        <p:spPr>
          <a:xfrm>
            <a:off x="640080" y="388620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5" name="TextBox 14"/>
          <p:cNvSpPr txBox="1"/>
          <p:nvPr/>
        </p:nvSpPr>
        <p:spPr>
          <a:xfrm>
            <a:off x="640080" y="4160520"/>
            <a:ext cx="10881360" cy="1325879"/>
          </a:xfrm>
          <a:prstGeom prst="rect">
            <a:avLst/>
          </a:prstGeom>
          <a:noFill/>
        </p:spPr>
        <p:txBody>
          <a:bodyPr wrap="square" lIns="45720" rIns="45720" tIns="27432" bIns="27432" anchor="t">
            <a:spAutoFit/>
          </a:bodyPr>
          <a:lstStyle/>
          <a:p>
            <a:pPr algn="l"/>
            <a:r>
              <a:rPr b="0" sz="1600" i="0">
                <a:solidFill>
                  <a:srgbClr val="1A2233"/>
                </a:solidFill>
                <a:latin typeface="Calibri"/>
              </a:rPr>
              <a:t>Start model profile 1 (7.5-year straight line): minimum DSCR was 1.17x (Day 5)</a:t>
            </a:r>
          </a:p>
          <a:p>
            <a:pPr algn="l"/>
            <a:r>
              <a:rPr b="0" sz="1600" i="0">
                <a:solidFill>
                  <a:srgbClr val="1A2233"/>
                </a:solidFill>
                <a:latin typeface="Calibri"/>
              </a:rPr>
              <a:t>Sculpted at 2.25x: DSCR is 2.25x in every repayment quarter by construction</a:t>
            </a:r>
          </a:p>
          <a:p>
            <a:pPr algn="l"/>
            <a:r>
              <a:rPr b="0" sz="1600" i="0">
                <a:solidFill>
                  <a:srgbClr val="1A2233"/>
                </a:solidFill>
                <a:latin typeface="Calibri"/>
              </a:rPr>
              <a:t>Debt service_t = CFADS_t ÷ target DSCR;   Principal_t = Debt service_t − Interest_t</a:t>
            </a:r>
          </a:p>
        </p:txBody>
      </p:sp>
      <p:sp>
        <p:nvSpPr>
          <p:cNvPr id="16" name="Rectangle 15"/>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Higher target DSCR → lower debt capacity: lenders protect themselves by lending less.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Debt capacity: a small worked example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2000" i="0">
                <a:solidFill>
                  <a:srgbClr val="1A2233"/>
                </a:solidFill>
                <a:latin typeface="Calibri"/>
              </a:rPr>
              <a:t>Three quarters of CFADS: 60, 80, 70. Target DSCR 1.5x. Rate 5% per quarter. The debt the project can carry is the present value of the allowed debt service.</a:t>
            </a:r>
          </a:p>
        </p:txBody>
      </p:sp>
      <p:sp>
        <p:nvSpPr>
          <p:cNvPr id="13" name="Rectangle 12"/>
          <p:cNvSpPr/>
          <p:nvPr/>
        </p:nvSpPr>
        <p:spPr>
          <a:xfrm>
            <a:off x="640080" y="3108960"/>
            <a:ext cx="10881360" cy="64008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2000" i="0">
                <a:solidFill>
                  <a:srgbClr val="141B4D"/>
                </a:solidFill>
                <a:latin typeface="Consolas"/>
              </a:rPr>
              <a:t>Capacity(2.0x) = Capacity(1.5x) × 1.5 ÷ 2.0</a:t>
            </a:r>
          </a:p>
        </p:txBody>
      </p:sp>
      <p:sp>
        <p:nvSpPr>
          <p:cNvPr id="14" name="TextBox 13"/>
          <p:cNvSpPr txBox="1"/>
          <p:nvPr/>
        </p:nvSpPr>
        <p:spPr>
          <a:xfrm>
            <a:off x="640080" y="388620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5" name="TextBox 14"/>
          <p:cNvSpPr txBox="1"/>
          <p:nvPr/>
        </p:nvSpPr>
        <p:spPr>
          <a:xfrm>
            <a:off x="640080" y="4160520"/>
            <a:ext cx="10881360" cy="1325879"/>
          </a:xfrm>
          <a:prstGeom prst="rect">
            <a:avLst/>
          </a:prstGeom>
          <a:noFill/>
        </p:spPr>
        <p:txBody>
          <a:bodyPr wrap="square" lIns="45720" rIns="45720" tIns="27432" bIns="27432" anchor="t">
            <a:spAutoFit/>
          </a:bodyPr>
          <a:lstStyle/>
          <a:p>
            <a:pPr algn="l"/>
            <a:r>
              <a:rPr b="0" sz="1600" i="0">
                <a:solidFill>
                  <a:srgbClr val="1A2233"/>
                </a:solidFill>
                <a:latin typeface="Calibri"/>
              </a:rPr>
              <a:t>Allowed debt service: 60/1.5 = 40;  80/1.5 = 53.33;  70/1.5 = 46.67</a:t>
            </a:r>
          </a:p>
          <a:p>
            <a:pPr algn="l"/>
            <a:r>
              <a:rPr b="0" sz="1600" i="0">
                <a:solidFill>
                  <a:srgbClr val="1A2233"/>
                </a:solidFill>
                <a:latin typeface="Calibri"/>
              </a:rPr>
              <a:t>PV = 40/1.05 + 53.33/1.05² + 46.67/1.05³ = 38.10 + 48.37 + 40.32 = 126.79</a:t>
            </a:r>
          </a:p>
          <a:p>
            <a:pPr algn="l"/>
            <a:r>
              <a:rPr b="0" sz="1600" i="0">
                <a:solidFill>
                  <a:srgbClr val="1A2233"/>
                </a:solidFill>
                <a:latin typeface="Calibri"/>
              </a:rPr>
              <a:t>Capacity ≈ 126.8. With DSCR 2.0x capacity falls to 95.1: it scales with 1 ÷ DSCR.</a:t>
            </a:r>
          </a:p>
        </p:txBody>
      </p:sp>
      <p:sp>
        <p:nvSpPr>
          <p:cNvPr id="16" name="Rectangle 15"/>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Capacity depends on cash flows, discount rate and target DSCR: not on the cost of the project. Gearing limits come next.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SIZING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Two tests; take the lower</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197100"/>
        </p:xfrm>
        <a:graphic>
          <a:graphicData uri="http://schemas.openxmlformats.org/drawingml/2006/table">
            <a:tbl>
              <a:tblPr firstRow="1" bandRow="1">
                <a:tableStyleId>{5C22544A-7EE6-4342-B048-85BDC9FD1C3A}</a:tableStyleId>
              </a:tblPr>
              <a:tblGrid>
                <a:gridCol w="2743200"/>
                <a:gridCol w="5669280"/>
                <a:gridCol w="2651760"/>
              </a:tblGrid>
              <a:tr h="384048">
                <a:tc>
                  <a:txBody>
                    <a:bodyPr wrap="square"/>
                    <a:lstStyle/>
                    <a:p>
                      <a:r>
                        <a:rPr b="1" sz="1300" i="0">
                          <a:solidFill>
                            <a:srgbClr val="FFFFFF"/>
                          </a:solidFill>
                          <a:latin typeface="Calibri"/>
                        </a:rPr>
                        <a:t>Test</a:t>
                      </a:r>
                    </a:p>
                  </a:txBody>
                  <a:tcPr marL="64008" marR="64008" marT="27432" marB="27432" anchor="ctr">
                    <a:solidFill>
                      <a:srgbClr val="141B4D"/>
                    </a:solidFill>
                  </a:tcPr>
                </a:tc>
                <a:tc>
                  <a:txBody>
                    <a:bodyPr wrap="square"/>
                    <a:lstStyle/>
                    <a:p>
                      <a:r>
                        <a:rPr b="1" sz="1300" i="0">
                          <a:solidFill>
                            <a:srgbClr val="FFFFFF"/>
                          </a:solidFill>
                          <a:latin typeface="Calibri"/>
                        </a:rPr>
                        <a:t>Formula</a:t>
                      </a:r>
                    </a:p>
                  </a:txBody>
                  <a:tcPr marL="64008" marR="64008" marT="27432" marB="27432" anchor="ctr">
                    <a:solidFill>
                      <a:srgbClr val="141B4D"/>
                    </a:solidFill>
                  </a:tcPr>
                </a:tc>
                <a:tc>
                  <a:txBody>
                    <a:bodyPr wrap="square"/>
                    <a:lstStyle/>
                    <a:p>
                      <a:r>
                        <a:rPr b="1" sz="1300" i="0">
                          <a:solidFill>
                            <a:srgbClr val="FFFFFF"/>
                          </a:solidFill>
                          <a:latin typeface="Calibri"/>
                        </a:rPr>
                        <a:t>In the solved case ($000s)</a:t>
                      </a:r>
                    </a:p>
                  </a:txBody>
                  <a:tcPr marL="64008" marR="64008" marT="27432" marB="27432" anchor="ctr">
                    <a:solidFill>
                      <a:srgbClr val="141B4D"/>
                    </a:solidFill>
                  </a:tcPr>
                </a:tc>
              </a:tr>
              <a:tr h="522478">
                <a:tc>
                  <a:txBody>
                    <a:bodyPr wrap="square"/>
                    <a:lstStyle/>
                    <a:p>
                      <a:r>
                        <a:rPr b="1" sz="1300" i="0">
                          <a:solidFill>
                            <a:srgbClr val="1A2233"/>
                          </a:solidFill>
                          <a:latin typeface="Calibri"/>
                        </a:rPr>
                        <a:t>Cash-flow (DSCR) test</a:t>
                      </a:r>
                    </a:p>
                  </a:txBody>
                  <a:tcPr marL="64008" marR="64008" marT="27432" marB="27432" anchor="ctr">
                    <a:solidFill>
                      <a:srgbClr val="FFFFFF"/>
                    </a:solidFill>
                  </a:tcPr>
                </a:tc>
                <a:tc>
                  <a:txBody>
                    <a:bodyPr wrap="square"/>
                    <a:lstStyle/>
                    <a:p>
                      <a:r>
                        <a:rPr b="0" sz="1300" i="0">
                          <a:solidFill>
                            <a:srgbClr val="1A2233"/>
                          </a:solidFill>
                          <a:latin typeface="Consolas"/>
                        </a:rPr>
                        <a:t>Sculpt!F26 = SUMPRODUCT(J23:CO23, J25:CO25): the capacity at COD</a:t>
                      </a:r>
                    </a:p>
                  </a:txBody>
                  <a:tcPr marL="64008" marR="64008" marT="27432" marB="27432" anchor="ctr">
                    <a:solidFill>
                      <a:srgbClr val="FFFFFF"/>
                    </a:solidFill>
                  </a:tcPr>
                </a:tc>
                <a:tc>
                  <a:txBody>
                    <a:bodyPr wrap="square"/>
                    <a:lstStyle/>
                    <a:p>
                      <a:r>
                        <a:rPr b="0" sz="1300" i="0">
                          <a:solidFill>
                            <a:srgbClr val="1A2233"/>
                          </a:solidFill>
                          <a:latin typeface="Calibri"/>
                        </a:rPr>
                        <a:t>72,154.2</a:t>
                      </a:r>
                    </a:p>
                  </a:txBody>
                  <a:tcPr marL="64008" marR="64008" marT="27432" marB="27432" anchor="ctr">
                    <a:solidFill>
                      <a:srgbClr val="FFFFFF"/>
                    </a:solidFill>
                  </a:tcPr>
                </a:tc>
              </a:tr>
              <a:tr h="522478">
                <a:tc>
                  <a:txBody>
                    <a:bodyPr wrap="square"/>
                    <a:lstStyle/>
                    <a:p>
                      <a:r>
                        <a:rPr b="1" sz="1300" i="0">
                          <a:solidFill>
                            <a:srgbClr val="1A2233"/>
                          </a:solidFill>
                          <a:latin typeface="Calibri"/>
                        </a:rPr>
                        <a:t>Gearing test</a:t>
                      </a:r>
                    </a:p>
                  </a:txBody>
                  <a:tcPr marL="64008" marR="64008" marT="27432" marB="27432" anchor="ctr">
                    <a:solidFill>
                      <a:srgbClr val="F3F6F9"/>
                    </a:solidFill>
                  </a:tcPr>
                </a:tc>
                <a:tc>
                  <a:txBody>
                    <a:bodyPr wrap="square"/>
                    <a:lstStyle/>
                    <a:p>
                      <a:r>
                        <a:rPr b="0" sz="1300" i="0">
                          <a:solidFill>
                            <a:srgbClr val="1A2233"/>
                          </a:solidFill>
                          <a:latin typeface="Consolas"/>
                        </a:rPr>
                        <a:t>Sculpt!F28 = max gearing × project cost = 75% × Constr!F52</a:t>
                      </a:r>
                    </a:p>
                  </a:txBody>
                  <a:tcPr marL="64008" marR="64008" marT="27432" marB="27432" anchor="ctr">
                    <a:solidFill>
                      <a:srgbClr val="F3F6F9"/>
                    </a:solidFill>
                  </a:tcPr>
                </a:tc>
                <a:tc>
                  <a:txBody>
                    <a:bodyPr wrap="square"/>
                    <a:lstStyle/>
                    <a:p>
                      <a:r>
                        <a:rPr b="0" sz="1300" i="0">
                          <a:solidFill>
                            <a:srgbClr val="1A2233"/>
                          </a:solidFill>
                          <a:latin typeface="Calibri"/>
                        </a:rPr>
                        <a:t>75,800.8</a:t>
                      </a:r>
                    </a:p>
                  </a:txBody>
                  <a:tcPr marL="64008" marR="64008" marT="27432" marB="27432" anchor="ctr">
                    <a:solidFill>
                      <a:srgbClr val="F3F6F9"/>
                    </a:solidFill>
                  </a:tcPr>
                </a:tc>
              </a:tr>
              <a:tr h="384048">
                <a:tc>
                  <a:txBody>
                    <a:bodyPr wrap="square"/>
                    <a:lstStyle/>
                    <a:p>
                      <a:r>
                        <a:rPr b="1" sz="1300" i="0">
                          <a:solidFill>
                            <a:srgbClr val="1A2233"/>
                          </a:solidFill>
                          <a:latin typeface="Calibri"/>
                        </a:rPr>
                        <a:t>Senior debt size</a:t>
                      </a:r>
                    </a:p>
                  </a:txBody>
                  <a:tcPr marL="64008" marR="64008" marT="27432" marB="27432" anchor="ctr">
                    <a:solidFill>
                      <a:srgbClr val="FFFFFF"/>
                    </a:solidFill>
                  </a:tcPr>
                </a:tc>
                <a:tc>
                  <a:txBody>
                    <a:bodyPr wrap="square"/>
                    <a:lstStyle/>
                    <a:p>
                      <a:r>
                        <a:rPr b="0" sz="1300" i="0">
                          <a:solidFill>
                            <a:srgbClr val="1A2233"/>
                          </a:solidFill>
                          <a:latin typeface="Consolas"/>
                        </a:rPr>
                        <a:t>Sculpt!F29 = MIN(F26, F28)</a:t>
                      </a:r>
                    </a:p>
                  </a:txBody>
                  <a:tcPr marL="64008" marR="64008" marT="27432" marB="27432" anchor="ctr">
                    <a:solidFill>
                      <a:srgbClr val="FFFFFF"/>
                    </a:solidFill>
                  </a:tcPr>
                </a:tc>
                <a:tc>
                  <a:txBody>
                    <a:bodyPr wrap="square"/>
                    <a:lstStyle/>
                    <a:p>
                      <a:r>
                        <a:rPr b="0" sz="1300" i="0">
                          <a:solidFill>
                            <a:srgbClr val="1A2233"/>
                          </a:solidFill>
                          <a:latin typeface="Calibri"/>
                        </a:rPr>
                        <a:t>72,154.2</a:t>
                      </a:r>
                    </a:p>
                  </a:txBody>
                  <a:tcPr marL="64008" marR="64008" marT="27432" marB="27432" anchor="ctr">
                    <a:solidFill>
                      <a:srgbClr val="FFFFFF"/>
                    </a:solidFill>
                  </a:tcPr>
                </a:tc>
              </a:tr>
              <a:tr h="384048">
                <a:tc>
                  <a:txBody>
                    <a:bodyPr wrap="square"/>
                    <a:lstStyle/>
                    <a:p>
                      <a:r>
                        <a:rPr b="1" sz="1300" i="0">
                          <a:solidFill>
                            <a:srgbClr val="1A2233"/>
                          </a:solidFill>
                          <a:latin typeface="Calibri"/>
                        </a:rPr>
                        <a:t>Binding constraint</a:t>
                      </a:r>
                    </a:p>
                  </a:txBody>
                  <a:tcPr marL="64008" marR="64008" marT="27432" marB="27432" anchor="ctr">
                    <a:solidFill>
                      <a:srgbClr val="F3F6F9"/>
                    </a:solidFill>
                  </a:tcPr>
                </a:tc>
                <a:tc>
                  <a:txBody>
                    <a:bodyPr wrap="square"/>
                    <a:lstStyle/>
                    <a:p>
                      <a:r>
                        <a:rPr b="0" sz="1300" i="0">
                          <a:solidFill>
                            <a:srgbClr val="1A2233"/>
                          </a:solidFill>
                          <a:latin typeface="Consolas"/>
                        </a:rPr>
                        <a:t>Sculpt!F30 = IF(F26&lt;=F28,"DSCR","Gearing")</a:t>
                      </a:r>
                    </a:p>
                  </a:txBody>
                  <a:tcPr marL="64008" marR="64008" marT="27432" marB="27432" anchor="ctr">
                    <a:solidFill>
                      <a:srgbClr val="F3F6F9"/>
                    </a:solidFill>
                  </a:tcPr>
                </a:tc>
                <a:tc>
                  <a:txBody>
                    <a:bodyPr wrap="square"/>
                    <a:lstStyle/>
                    <a:p>
                      <a:r>
                        <a:rPr b="0" sz="1300" i="0">
                          <a:solidFill>
                            <a:srgbClr val="1A2233"/>
                          </a:solidFill>
                          <a:latin typeface="Calibri"/>
                        </a:rPr>
                        <a:t>DSCR</a:t>
                      </a:r>
                    </a:p>
                  </a:txBody>
                  <a:tcPr marL="64008" marR="64008" marT="27432" marB="27432" anchor="ctr">
                    <a:solidFill>
                      <a:srgbClr val="F3F6F9"/>
                    </a:solidFill>
                  </a:tcPr>
                </a:tc>
              </a:tr>
            </a:tbl>
          </a:graphicData>
        </a:graphic>
      </p:graphicFrame>
      <p:sp>
        <p:nvSpPr>
          <p:cNvPr id="12" name="Rectangle 11"/>
          <p:cNvSpPr/>
          <p:nvPr/>
        </p:nvSpPr>
        <p:spPr>
          <a:xfrm>
            <a:off x="548640" y="4023360"/>
            <a:ext cx="11064240" cy="82296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023360"/>
            <a:ext cx="82296" cy="82296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023360"/>
            <a:ext cx="10835640" cy="822960"/>
          </a:xfrm>
          <a:prstGeom prst="rect">
            <a:avLst/>
          </a:prstGeom>
          <a:noFill/>
        </p:spPr>
        <p:txBody>
          <a:bodyPr wrap="square" lIns="45720" rIns="45720" tIns="27432" bIns="27432" anchor="ctr">
            <a:spAutoFit/>
          </a:bodyPr>
          <a:lstStyle/>
          <a:p>
            <a:pPr algn="l"/>
            <a:r>
              <a:rPr b="0" sz="1400" i="0">
                <a:solidFill>
                  <a:srgbClr val="1A2233"/>
                </a:solidFill>
                <a:latin typeface="Calibri"/>
              </a:rPr>
              <a:t>If you lower the target DSCR to 2.0x, capacity rises to about 81,500 and the gearing cap (about 76,000 after the extra fees) binds: the constraint flips and debt stops growing.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 block 1: loan timeline (rows 9 to 12)</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645920"/>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9</a:t>
                      </a:r>
                    </a:p>
                  </a:txBody>
                  <a:tcPr marL="64008" marR="64008" marT="27432" marB="27432" anchor="ctr">
                    <a:solidFill>
                      <a:srgbClr val="FFFFFF"/>
                    </a:solidFill>
                  </a:tcPr>
                </a:tc>
                <a:tc>
                  <a:txBody>
                    <a:bodyPr wrap="square"/>
                    <a:lstStyle/>
                    <a:p>
                      <a:r>
                        <a:rPr b="0" sz="1200" i="0">
                          <a:solidFill>
                            <a:srgbClr val="1A2233"/>
                          </a:solidFill>
                          <a:latin typeface="Calibri"/>
                        </a:rPr>
                        <a:t>Senior debt tenor</a:t>
                      </a:r>
                    </a:p>
                  </a:txBody>
                  <a:tcPr marL="64008" marR="64008" marT="27432" marB="27432" anchor="ctr">
                    <a:solidFill>
                      <a:srgbClr val="FFFFFF"/>
                    </a:solidFill>
                  </a:tcPr>
                </a:tc>
                <a:tc>
                  <a:txBody>
                    <a:bodyPr wrap="square"/>
                    <a:lstStyle/>
                    <a:p>
                      <a:r>
                        <a:rPr b="0" sz="1200" i="0">
                          <a:solidFill>
                            <a:srgbClr val="1A2233"/>
                          </a:solidFill>
                          <a:latin typeface="Consolas"/>
                        </a:rPr>
                        <a:t>F: =InpC!F$139</a:t>
                      </a:r>
                    </a:p>
                  </a:txBody>
                  <a:tcPr marL="64008" marR="64008" marT="27432" marB="27432" anchor="ctr">
                    <a:solidFill>
                      <a:srgbClr val="FFFFFF"/>
                    </a:solidFill>
                  </a:tcPr>
                </a:tc>
              </a:tr>
              <a:tr h="329184">
                <a:tc>
                  <a:txBody>
                    <a:bodyPr wrap="square"/>
                    <a:lstStyle/>
                    <a:p>
                      <a:r>
                        <a:rPr b="1" sz="1200" i="0">
                          <a:solidFill>
                            <a:srgbClr val="1A2233"/>
                          </a:solidFill>
                          <a:latin typeface="Calibri"/>
                        </a:rPr>
                        <a:t>10</a:t>
                      </a:r>
                    </a:p>
                  </a:txBody>
                  <a:tcPr marL="64008" marR="64008" marT="27432" marB="27432" anchor="ctr">
                    <a:solidFill>
                      <a:srgbClr val="F3F6F9"/>
                    </a:solidFill>
                  </a:tcPr>
                </a:tc>
                <a:tc>
                  <a:txBody>
                    <a:bodyPr wrap="square"/>
                    <a:lstStyle/>
                    <a:p>
                      <a:r>
                        <a:rPr b="0" sz="1200" i="0">
                          <a:solidFill>
                            <a:srgbClr val="1A2233"/>
                          </a:solidFill>
                          <a:latin typeface="Calibri"/>
                        </a:rPr>
                        <a:t>Forecast period flag</a:t>
                      </a:r>
                    </a:p>
                  </a:txBody>
                  <a:tcPr marL="64008" marR="64008" marT="27432" marB="27432" anchor="ctr">
                    <a:solidFill>
                      <a:srgbClr val="F3F6F9"/>
                    </a:solidFill>
                  </a:tcPr>
                </a:tc>
                <a:tc>
                  <a:txBody>
                    <a:bodyPr wrap="square"/>
                    <a:lstStyle/>
                    <a:p>
                      <a:r>
                        <a:rPr b="0" sz="1200" i="0">
                          <a:solidFill>
                            <a:srgbClr val="1A2233"/>
                          </a:solidFill>
                          <a:latin typeface="Consolas"/>
                        </a:rPr>
                        <a:t>J: =Time!J$69</a:t>
                      </a:r>
                    </a:p>
                  </a:txBody>
                  <a:tcPr marL="64008" marR="64008" marT="27432" marB="27432" anchor="ctr">
                    <a:solidFill>
                      <a:srgbClr val="F3F6F9"/>
                    </a:solidFill>
                  </a:tcPr>
                </a:tc>
              </a:tr>
              <a:tr h="329184">
                <a:tc>
                  <a:txBody>
                    <a:bodyPr wrap="square"/>
                    <a:lstStyle/>
                    <a:p>
                      <a:r>
                        <a:rPr b="1" sz="1200" i="0">
                          <a:solidFill>
                            <a:srgbClr val="1A2233"/>
                          </a:solidFill>
                          <a:latin typeface="Calibri"/>
                        </a:rPr>
                        <a:t>11</a:t>
                      </a:r>
                    </a:p>
                  </a:txBody>
                  <a:tcPr marL="64008" marR="64008" marT="27432" marB="27432" anchor="ctr">
                    <a:solidFill>
                      <a:srgbClr val="FFFFFF"/>
                    </a:solidFill>
                  </a:tcPr>
                </a:tc>
                <a:tc>
                  <a:txBody>
                    <a:bodyPr wrap="square"/>
                    <a:lstStyle/>
                    <a:p>
                      <a:r>
                        <a:rPr b="0" sz="1200" i="0">
                          <a:solidFill>
                            <a:srgbClr val="1A2233"/>
                          </a:solidFill>
                          <a:latin typeface="Calibri"/>
                        </a:rPr>
                        <a:t>Operating period counter</a:t>
                      </a:r>
                    </a:p>
                  </a:txBody>
                  <a:tcPr marL="64008" marR="64008" marT="27432" marB="27432" anchor="ctr">
                    <a:solidFill>
                      <a:srgbClr val="FFFFFF"/>
                    </a:solidFill>
                  </a:tcPr>
                </a:tc>
                <a:tc>
                  <a:txBody>
                    <a:bodyPr wrap="square"/>
                    <a:lstStyle/>
                    <a:p>
                      <a:r>
                        <a:rPr b="0" sz="1200" i="0">
                          <a:solidFill>
                            <a:srgbClr val="1A2233"/>
                          </a:solidFill>
                          <a:latin typeface="Consolas"/>
                        </a:rPr>
                        <a:t>J: =I11+J10</a:t>
                      </a:r>
                    </a:p>
                  </a:txBody>
                  <a:tcPr marL="64008" marR="64008" marT="27432" marB="27432" anchor="ctr">
                    <a:solidFill>
                      <a:srgbClr val="FFFFFF"/>
                    </a:solidFill>
                  </a:tcPr>
                </a:tc>
              </a:tr>
              <a:tr h="329184">
                <a:tc>
                  <a:txBody>
                    <a:bodyPr wrap="square"/>
                    <a:lstStyle/>
                    <a:p>
                      <a:r>
                        <a:rPr b="1" sz="1200" i="0">
                          <a:solidFill>
                            <a:srgbClr val="1A2233"/>
                          </a:solidFill>
                          <a:latin typeface="Calibri"/>
                        </a:rPr>
                        <a:t>12</a:t>
                      </a:r>
                    </a:p>
                  </a:txBody>
                  <a:tcPr marL="64008" marR="64008" marT="27432" marB="27432" anchor="ctr">
                    <a:solidFill>
                      <a:srgbClr val="F3F6F9"/>
                    </a:solidFill>
                  </a:tcPr>
                </a:tc>
                <a:tc>
                  <a:txBody>
                    <a:bodyPr wrap="square"/>
                    <a:lstStyle/>
                    <a:p>
                      <a:r>
                        <a:rPr b="0" sz="1200" i="0">
                          <a:solidFill>
                            <a:srgbClr val="1A2233"/>
                          </a:solidFill>
                          <a:latin typeface="Calibri"/>
                        </a:rPr>
                        <a:t>Repayment period flag</a:t>
                      </a:r>
                    </a:p>
                  </a:txBody>
                  <a:tcPr marL="64008" marR="64008" marT="27432" marB="27432" anchor="ctr">
                    <a:solidFill>
                      <a:srgbClr val="F3F6F9"/>
                    </a:solidFill>
                  </a:tcPr>
                </a:tc>
                <a:tc>
                  <a:txBody>
                    <a:bodyPr wrap="square"/>
                    <a:lstStyle/>
                    <a:p>
                      <a:r>
                        <a:rPr b="0" sz="1200" i="0">
                          <a:solidFill>
                            <a:srgbClr val="1A2233"/>
                          </a:solidFill>
                          <a:latin typeface="Consolas"/>
                        </a:rPr>
                        <a:t>J: =IF(AND(J11&gt;=1,J11&lt;=$F$9),1,0)</a:t>
                      </a:r>
                    </a:p>
                  </a:txBody>
                  <a:tcPr marL="64008" marR="64008" marT="27432" marB="27432" anchor="ctr">
                    <a:solidFill>
                      <a:srgbClr val="F3F6F9"/>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Sculpt!J11: operating period counter</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J11  (to CO11)</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Operating period counter  (counter)</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=I11+J10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Running count of forecast periods: last column's count + this column's forecast flag</a:t>
            </a:r>
          </a:p>
          <a:p>
            <a:pPr algn="l"/>
            <a:r>
              <a:rPr b="0" sz="1500" i="0">
                <a:solidFill>
                  <a:srgbClr val="1A2233"/>
                </a:solidFill>
                <a:latin typeface="Calibri"/>
              </a:rPr>
              <a:t>▪ COD column = 0, first operating quarter = 1, last = 80</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J10 = Time!J$69 (forecast flag)</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J11:CO11,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J11:CO11,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J11 → CO11</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Counter 1 in March 2022 … 80 in December 2041</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Counting periods lets us say 'the first 40 operating quarters'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Sculpt!J12: repayment period flag</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J12  (to CO12)</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Repayment period flag  (flag)</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=IF(AND(J11&gt;=1,J11&lt;=$F$9),1,0)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1 if the counter is at least 1 and no more than the tenor F9 (40 quarters)</a:t>
            </a:r>
          </a:p>
          <a:p>
            <a:pPr algn="l"/>
            <a:r>
              <a:rPr b="0" sz="1500" i="0">
                <a:solidFill>
                  <a:srgbClr val="1A2233"/>
                </a:solidFill>
                <a:latin typeface="Calibri"/>
              </a:rPr>
              <a:t>▪ Debt is repaid in operating quarters 1 to 40: March 2022 to December 2031</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F9 = InpC!F$139 (40)</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J12:CO12,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J12:CO12,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J12 → CO12</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H12 = 40</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The flag multiplies cash flow so only loan-life cash flow counts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 block 2: debt capacity recursion (rows 15 to 23)</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453383"/>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15</a:t>
                      </a:r>
                    </a:p>
                  </a:txBody>
                  <a:tcPr marL="64008" marR="64008" marT="27432" marB="27432" anchor="ctr">
                    <a:solidFill>
                      <a:srgbClr val="FFFFFF"/>
                    </a:solidFill>
                  </a:tcPr>
                </a:tc>
                <a:tc>
                  <a:txBody>
                    <a:bodyPr wrap="square"/>
                    <a:lstStyle/>
                    <a:p>
                      <a:r>
                        <a:rPr b="0" sz="1200" i="0">
                          <a:solidFill>
                            <a:srgbClr val="1A2233"/>
                          </a:solidFill>
                          <a:latin typeface="Calibri"/>
                        </a:rPr>
                        <a:t>Target DSCR for sculpting</a:t>
                      </a:r>
                    </a:p>
                  </a:txBody>
                  <a:tcPr marL="64008" marR="64008" marT="27432" marB="27432" anchor="ctr">
                    <a:solidFill>
                      <a:srgbClr val="FFFFFF"/>
                    </a:solidFill>
                  </a:tcPr>
                </a:tc>
                <a:tc>
                  <a:txBody>
                    <a:bodyPr wrap="square"/>
                    <a:lstStyle/>
                    <a:p>
                      <a:r>
                        <a:rPr b="0" sz="1200" i="0">
                          <a:solidFill>
                            <a:srgbClr val="1A2233"/>
                          </a:solidFill>
                          <a:latin typeface="Consolas"/>
                        </a:rPr>
                        <a:t>F: =InpC!F$140</a:t>
                      </a:r>
                    </a:p>
                  </a:txBody>
                  <a:tcPr marL="64008" marR="64008" marT="27432" marB="27432" anchor="ctr">
                    <a:solidFill>
                      <a:srgbClr val="FFFFFF"/>
                    </a:solidFill>
                  </a:tcPr>
                </a:tc>
              </a:tr>
              <a:tr h="329184">
                <a:tc>
                  <a:txBody>
                    <a:bodyPr wrap="square"/>
                    <a:lstStyle/>
                    <a:p>
                      <a:r>
                        <a:rPr b="1" sz="1200" i="0">
                          <a:solidFill>
                            <a:srgbClr val="1A2233"/>
                          </a:solidFill>
                          <a:latin typeface="Calibri"/>
                        </a:rPr>
                        <a:t>16</a:t>
                      </a:r>
                    </a:p>
                  </a:txBody>
                  <a:tcPr marL="64008" marR="64008" marT="27432" marB="27432" anchor="ctr">
                    <a:solidFill>
                      <a:srgbClr val="F3F6F9"/>
                    </a:solidFill>
                  </a:tcPr>
                </a:tc>
                <a:tc>
                  <a:txBody>
                    <a:bodyPr wrap="square"/>
                    <a:lstStyle/>
                    <a:p>
                      <a:r>
                        <a:rPr b="0" sz="1200" i="0">
                          <a:solidFill>
                            <a:srgbClr val="1A2233"/>
                          </a:solidFill>
                          <a:latin typeface="Calibri"/>
                        </a:rPr>
                        <a:t>All in annual senior debt interest rate </a:t>
                      </a:r>
                    </a:p>
                  </a:txBody>
                  <a:tcPr marL="64008" marR="64008" marT="27432" marB="27432" anchor="ctr">
                    <a:solidFill>
                      <a:srgbClr val="F3F6F9"/>
                    </a:solidFill>
                  </a:tcPr>
                </a:tc>
                <a:tc>
                  <a:txBody>
                    <a:bodyPr wrap="square"/>
                    <a:lstStyle/>
                    <a:p>
                      <a:r>
                        <a:rPr b="0" sz="1200" i="0">
                          <a:solidFill>
                            <a:srgbClr val="1A2233"/>
                          </a:solidFill>
                          <a:latin typeface="Consolas"/>
                        </a:rPr>
                        <a:t>F: =InpC!F$77</a:t>
                      </a:r>
                    </a:p>
                  </a:txBody>
                  <a:tcPr marL="64008" marR="64008" marT="27432" marB="27432" anchor="ctr">
                    <a:solidFill>
                      <a:srgbClr val="F3F6F9"/>
                    </a:solidFill>
                  </a:tcPr>
                </a:tc>
              </a:tr>
              <a:tr h="329184">
                <a:tc>
                  <a:txBody>
                    <a:bodyPr wrap="square"/>
                    <a:lstStyle/>
                    <a:p>
                      <a:r>
                        <a:rPr b="1" sz="1200" i="0">
                          <a:solidFill>
                            <a:srgbClr val="1A2233"/>
                          </a:solidFill>
                          <a:latin typeface="Calibri"/>
                        </a:rPr>
                        <a:t>17</a:t>
                      </a:r>
                    </a:p>
                  </a:txBody>
                  <a:tcPr marL="64008" marR="64008" marT="27432" marB="27432" anchor="ctr">
                    <a:solidFill>
                      <a:srgbClr val="FFFFFF"/>
                    </a:solidFill>
                  </a:tcPr>
                </a:tc>
                <a:tc>
                  <a:txBody>
                    <a:bodyPr wrap="square"/>
                    <a:lstStyle/>
                    <a:p>
                      <a:r>
                        <a:rPr b="0" sz="1200" i="0">
                          <a:solidFill>
                            <a:srgbClr val="1A2233"/>
                          </a:solidFill>
                          <a:latin typeface="Calibri"/>
                        </a:rPr>
                        <a:t>Day count convention </a:t>
                      </a:r>
                    </a:p>
                  </a:txBody>
                  <a:tcPr marL="64008" marR="64008" marT="27432" marB="27432" anchor="ctr">
                    <a:solidFill>
                      <a:srgbClr val="FFFFFF"/>
                    </a:solidFill>
                  </a:tcPr>
                </a:tc>
                <a:tc>
                  <a:txBody>
                    <a:bodyPr wrap="square"/>
                    <a:lstStyle/>
                    <a:p>
                      <a:r>
                        <a:rPr b="0" sz="1200" i="0">
                          <a:solidFill>
                            <a:srgbClr val="1A2233"/>
                          </a:solidFill>
                          <a:latin typeface="Consolas"/>
                        </a:rPr>
                        <a:t>F: =InpC!F$79</a:t>
                      </a:r>
                    </a:p>
                  </a:txBody>
                  <a:tcPr marL="64008" marR="64008" marT="27432" marB="27432" anchor="ctr">
                    <a:solidFill>
                      <a:srgbClr val="FFFFFF"/>
                    </a:solidFill>
                  </a:tcPr>
                </a:tc>
              </a:tr>
              <a:tr h="329184">
                <a:tc>
                  <a:txBody>
                    <a:bodyPr wrap="square"/>
                    <a:lstStyle/>
                    <a:p>
                      <a:r>
                        <a:rPr b="1" sz="1200" i="0">
                          <a:solidFill>
                            <a:srgbClr val="1A2233"/>
                          </a:solidFill>
                          <a:latin typeface="Calibri"/>
                        </a:rPr>
                        <a:t>18</a:t>
                      </a:r>
                    </a:p>
                  </a:txBody>
                  <a:tcPr marL="64008" marR="64008" marT="27432" marB="27432" anchor="ctr">
                    <a:solidFill>
                      <a:srgbClr val="F3F6F9"/>
                    </a:solidFill>
                  </a:tcPr>
                </a:tc>
                <a:tc>
                  <a:txBody>
                    <a:bodyPr wrap="square"/>
                    <a:lstStyle/>
                    <a:p>
                      <a:r>
                        <a:rPr b="0" sz="1200" i="0">
                          <a:solidFill>
                            <a:srgbClr val="1A2233"/>
                          </a:solidFill>
                          <a:latin typeface="Calibri"/>
                        </a:rPr>
                        <a:t>Days in period</a:t>
                      </a:r>
                    </a:p>
                  </a:txBody>
                  <a:tcPr marL="64008" marR="64008" marT="27432" marB="27432" anchor="ctr">
                    <a:solidFill>
                      <a:srgbClr val="F3F6F9"/>
                    </a:solidFill>
                  </a:tcPr>
                </a:tc>
                <a:tc>
                  <a:txBody>
                    <a:bodyPr wrap="square"/>
                    <a:lstStyle/>
                    <a:p>
                      <a:r>
                        <a:rPr b="0" sz="1200" i="0">
                          <a:solidFill>
                            <a:srgbClr val="1A2233"/>
                          </a:solidFill>
                          <a:latin typeface="Consolas"/>
                        </a:rPr>
                        <a:t>J: =Time!J$30</a:t>
                      </a:r>
                    </a:p>
                  </a:txBody>
                  <a:tcPr marL="64008" marR="64008" marT="27432" marB="27432" anchor="ctr">
                    <a:solidFill>
                      <a:srgbClr val="F3F6F9"/>
                    </a:solidFill>
                  </a:tcPr>
                </a:tc>
              </a:tr>
              <a:tr h="329184">
                <a:tc>
                  <a:txBody>
                    <a:bodyPr wrap="square"/>
                    <a:lstStyle/>
                    <a:p>
                      <a:r>
                        <a:rPr b="1" sz="1200" i="0">
                          <a:solidFill>
                            <a:srgbClr val="1A2233"/>
                          </a:solidFill>
                          <a:latin typeface="Calibri"/>
                        </a:rPr>
                        <a:t>19</a:t>
                      </a:r>
                    </a:p>
                  </a:txBody>
                  <a:tcPr marL="64008" marR="64008" marT="27432" marB="27432" anchor="ctr">
                    <a:solidFill>
                      <a:srgbClr val="FFFFFF"/>
                    </a:solidFill>
                  </a:tcPr>
                </a:tc>
                <a:tc>
                  <a:txBody>
                    <a:bodyPr wrap="square"/>
                    <a:lstStyle/>
                    <a:p>
                      <a:r>
                        <a:rPr b="0" sz="1200" i="0">
                          <a:solidFill>
                            <a:srgbClr val="1A2233"/>
                          </a:solidFill>
                          <a:latin typeface="Calibri"/>
                        </a:rPr>
                        <a:t>Periodic interest rate</a:t>
                      </a:r>
                    </a:p>
                  </a:txBody>
                  <a:tcPr marL="64008" marR="64008" marT="27432" marB="27432" anchor="ctr">
                    <a:solidFill>
                      <a:srgbClr val="FFFFFF"/>
                    </a:solidFill>
                  </a:tcPr>
                </a:tc>
                <a:tc>
                  <a:txBody>
                    <a:bodyPr wrap="square"/>
                    <a:lstStyle/>
                    <a:p>
                      <a:r>
                        <a:rPr b="0" sz="1200" i="0">
                          <a:solidFill>
                            <a:srgbClr val="1A2233"/>
                          </a:solidFill>
                          <a:latin typeface="Consolas"/>
                        </a:rPr>
                        <a:t>J: =$F$16/$F$17*J18</a:t>
                      </a:r>
                    </a:p>
                  </a:txBody>
                  <a:tcPr marL="64008" marR="64008" marT="27432" marB="27432" anchor="ctr">
                    <a:solidFill>
                      <a:srgbClr val="FFFFFF"/>
                    </a:solidFill>
                  </a:tcPr>
                </a:tc>
              </a:tr>
              <a:tr h="490727">
                <a:tc>
                  <a:txBody>
                    <a:bodyPr wrap="square"/>
                    <a:lstStyle/>
                    <a:p>
                      <a:r>
                        <a:rPr b="1" sz="1200" i="0">
                          <a:solidFill>
                            <a:srgbClr val="1A2233"/>
                          </a:solidFill>
                          <a:latin typeface="Calibri"/>
                        </a:rPr>
                        <a:t>20</a:t>
                      </a:r>
                    </a:p>
                  </a:txBody>
                  <a:tcPr marL="64008" marR="64008" marT="27432" marB="27432" anchor="ctr">
                    <a:solidFill>
                      <a:srgbClr val="F3F6F9"/>
                    </a:solidFill>
                  </a:tcPr>
                </a:tc>
                <a:tc>
                  <a:txBody>
                    <a:bodyPr wrap="square"/>
                    <a:lstStyle/>
                    <a:p>
                      <a:r>
                        <a:rPr b="0" sz="1200" i="0">
                          <a:solidFill>
                            <a:srgbClr val="1A2233"/>
                          </a:solidFill>
                          <a:latin typeface="Calibri"/>
                        </a:rPr>
                        <a:t>CFADS for sizing (tax before interest deduction)</a:t>
                      </a:r>
                    </a:p>
                  </a:txBody>
                  <a:tcPr marL="64008" marR="64008" marT="27432" marB="27432" anchor="ctr">
                    <a:solidFill>
                      <a:srgbClr val="F3F6F9"/>
                    </a:solidFill>
                  </a:tcPr>
                </a:tc>
                <a:tc>
                  <a:txBody>
                    <a:bodyPr wrap="square"/>
                    <a:lstStyle/>
                    <a:p>
                      <a:r>
                        <a:rPr b="0" sz="1200" i="0">
                          <a:solidFill>
                            <a:srgbClr val="1A2233"/>
                          </a:solidFill>
                          <a:latin typeface="Consolas"/>
                        </a:rPr>
                        <a:t>J: =FinStat!J$36-Tax!J$53</a:t>
                      </a:r>
                    </a:p>
                  </a:txBody>
                  <a:tcPr marL="64008" marR="64008" marT="27432" marB="27432" anchor="ctr">
                    <a:solidFill>
                      <a:srgbClr val="F3F6F9"/>
                    </a:solidFill>
                  </a:tcPr>
                </a:tc>
              </a:tr>
              <a:tr h="329184">
                <a:tc>
                  <a:txBody>
                    <a:bodyPr wrap="square"/>
                    <a:lstStyle/>
                    <a:p>
                      <a:r>
                        <a:rPr b="1" sz="1200" i="0">
                          <a:solidFill>
                            <a:srgbClr val="1A2233"/>
                          </a:solidFill>
                          <a:latin typeface="Calibri"/>
                        </a:rPr>
                        <a:t>21</a:t>
                      </a:r>
                    </a:p>
                  </a:txBody>
                  <a:tcPr marL="64008" marR="64008" marT="27432" marB="27432" anchor="ctr">
                    <a:solidFill>
                      <a:srgbClr val="FFFFFF"/>
                    </a:solidFill>
                  </a:tcPr>
                </a:tc>
                <a:tc>
                  <a:txBody>
                    <a:bodyPr wrap="square"/>
                    <a:lstStyle/>
                    <a:p>
                      <a:r>
                        <a:rPr b="0" sz="1200" i="0">
                          <a:solidFill>
                            <a:srgbClr val="1A2233"/>
                          </a:solidFill>
                          <a:latin typeface="Calibri"/>
                        </a:rPr>
                        <a:t>CFADS available to lenders</a:t>
                      </a:r>
                    </a:p>
                  </a:txBody>
                  <a:tcPr marL="64008" marR="64008" marT="27432" marB="27432" anchor="ctr">
                    <a:solidFill>
                      <a:srgbClr val="FFFFFF"/>
                    </a:solidFill>
                  </a:tcPr>
                </a:tc>
                <a:tc>
                  <a:txBody>
                    <a:bodyPr wrap="square"/>
                    <a:lstStyle/>
                    <a:p>
                      <a:r>
                        <a:rPr b="0" sz="1200" i="0">
                          <a:solidFill>
                            <a:srgbClr val="1A2233"/>
                          </a:solidFill>
                          <a:latin typeface="Consolas"/>
                        </a:rPr>
                        <a:t>J: =J20*J12</a:t>
                      </a:r>
                    </a:p>
                  </a:txBody>
                  <a:tcPr marL="64008" marR="64008" marT="27432" marB="27432" anchor="ctr">
                    <a:solidFill>
                      <a:srgbClr val="FFFFFF"/>
                    </a:solidFill>
                  </a:tcPr>
                </a:tc>
              </a:tr>
              <a:tr h="329184">
                <a:tc>
                  <a:txBody>
                    <a:bodyPr wrap="square"/>
                    <a:lstStyle/>
                    <a:p>
                      <a:r>
                        <a:rPr b="1" sz="1200" i="0">
                          <a:solidFill>
                            <a:srgbClr val="1A2233"/>
                          </a:solidFill>
                          <a:latin typeface="Calibri"/>
                        </a:rPr>
                        <a:t>22</a:t>
                      </a:r>
                    </a:p>
                  </a:txBody>
                  <a:tcPr marL="64008" marR="64008" marT="27432" marB="27432" anchor="ctr">
                    <a:solidFill>
                      <a:srgbClr val="F3F6F9"/>
                    </a:solidFill>
                  </a:tcPr>
                </a:tc>
                <a:tc>
                  <a:txBody>
                    <a:bodyPr wrap="square"/>
                    <a:lstStyle/>
                    <a:p>
                      <a:r>
                        <a:rPr b="0" sz="1200" i="0">
                          <a:solidFill>
                            <a:srgbClr val="1A2233"/>
                          </a:solidFill>
                          <a:latin typeface="Calibri"/>
                        </a:rPr>
                        <a:t>Debt service at target DSCR</a:t>
                      </a:r>
                    </a:p>
                  </a:txBody>
                  <a:tcPr marL="64008" marR="64008" marT="27432" marB="27432" anchor="ctr">
                    <a:solidFill>
                      <a:srgbClr val="F3F6F9"/>
                    </a:solidFill>
                  </a:tcPr>
                </a:tc>
                <a:tc>
                  <a:txBody>
                    <a:bodyPr wrap="square"/>
                    <a:lstStyle/>
                    <a:p>
                      <a:r>
                        <a:rPr b="0" sz="1200" i="0">
                          <a:solidFill>
                            <a:srgbClr val="1A2233"/>
                          </a:solidFill>
                          <a:latin typeface="Consolas"/>
                        </a:rPr>
                        <a:t>J: =J21/$F$15</a:t>
                      </a:r>
                    </a:p>
                  </a:txBody>
                  <a:tcPr marL="64008" marR="64008" marT="27432" marB="27432" anchor="ctr">
                    <a:solidFill>
                      <a:srgbClr val="F3F6F9"/>
                    </a:solidFill>
                  </a:tcPr>
                </a:tc>
              </a:tr>
              <a:tr h="329184">
                <a:tc>
                  <a:txBody>
                    <a:bodyPr wrap="square"/>
                    <a:lstStyle/>
                    <a:p>
                      <a:r>
                        <a:rPr b="1" sz="1200" i="0">
                          <a:solidFill>
                            <a:srgbClr val="1A2233"/>
                          </a:solidFill>
                          <a:latin typeface="Calibri"/>
                        </a:rPr>
                        <a:t>23</a:t>
                      </a:r>
                    </a:p>
                  </a:txBody>
                  <a:tcPr marL="64008" marR="64008" marT="27432" marB="27432" anchor="ctr">
                    <a:solidFill>
                      <a:srgbClr val="FFFFFF"/>
                    </a:solidFill>
                  </a:tcPr>
                </a:tc>
                <a:tc>
                  <a:txBody>
                    <a:bodyPr wrap="square"/>
                    <a:lstStyle/>
                    <a:p>
                      <a:r>
                        <a:rPr b="0" sz="1200" i="0">
                          <a:solidFill>
                            <a:srgbClr val="1A2233"/>
                          </a:solidFill>
                          <a:latin typeface="Calibri"/>
                        </a:rPr>
                        <a:t>Debt capacity balance END</a:t>
                      </a:r>
                    </a:p>
                  </a:txBody>
                  <a:tcPr marL="64008" marR="64008" marT="27432" marB="27432" anchor="ctr">
                    <a:solidFill>
                      <a:srgbClr val="FFFFFF"/>
                    </a:solidFill>
                  </a:tcPr>
                </a:tc>
                <a:tc>
                  <a:txBody>
                    <a:bodyPr wrap="square"/>
                    <a:lstStyle/>
                    <a:p>
                      <a:r>
                        <a:rPr b="0" sz="1200" i="0">
                          <a:solidFill>
                            <a:srgbClr val="1A2233"/>
                          </a:solidFill>
                          <a:latin typeface="Consolas"/>
                        </a:rPr>
                        <a:t>J: =(K23+K22)/(1+K19)</a:t>
                      </a:r>
                    </a:p>
                  </a:txBody>
                  <a:tcPr marL="64008" marR="64008" marT="27432" marB="27432" anchor="ctr">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Sculpt!J20: CFADS for sizing</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J20  (to CO20)</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CFADS for sizing (tax before interest deduction)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=FinStat!J$36-Tax!J$53</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100" i="0">
                <a:solidFill>
                  <a:srgbClr val="1A2233"/>
                </a:solidFill>
                <a:latin typeface="Calibri"/>
              </a:rPr>
              <a:t>▪ Pre-tax pre-financing cash flow (FinStat) minus tax computed BEFORE the interest deduction (Tax row 53)</a:t>
            </a:r>
          </a:p>
          <a:p>
            <a:pPr algn="l"/>
            <a:r>
              <a:rPr b="0" sz="1100" i="0">
                <a:solidFill>
                  <a:srgbClr val="1A2233"/>
                </a:solidFill>
                <a:latin typeface="Calibri"/>
              </a:rPr>
              <a:t>▪ Why: using actual tax would make the loan size depend on interest, which depends on the loan size: circular</a:t>
            </a:r>
          </a:p>
          <a:p>
            <a:pPr algn="l"/>
            <a:r>
              <a:rPr b="0" sz="1100" i="0">
                <a:solidFill>
                  <a:srgbClr val="1A2233"/>
                </a:solidFill>
                <a:latin typeface="Calibri"/>
              </a:rPr>
              <a:t>▪ Result is slightly conservative: actual CFADS is higher because interest reduces tax</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FinStat!J36 = pre-tax pre-financing cash flow</a:t>
            </a:r>
          </a:p>
          <a:p>
            <a:pPr algn="l"/>
            <a:r>
              <a:rPr b="0" sz="1300" i="0">
                <a:solidFill>
                  <a:srgbClr val="1A2233"/>
                </a:solidFill>
                <a:latin typeface="Consolas"/>
              </a:rPr>
              <a:t>Tax!J53 = tax paid before interest deduction</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300" i="0">
                <a:solidFill>
                  <a:srgbClr val="1A2233"/>
                </a:solidFill>
                <a:latin typeface="Consolas"/>
              </a:rPr>
              <a:t>Ctrl+G, then type</a:t>
            </a:r>
          </a:p>
          <a:p>
            <a:pPr algn="l"/>
            <a:r>
              <a:rPr b="0" sz="1300" i="0">
                <a:solidFill>
                  <a:srgbClr val="1A2233"/>
                </a:solidFill>
                <a:latin typeface="Consolas"/>
              </a:rPr>
              <a:t>J20:CO20, Enter</a:t>
            </a:r>
          </a:p>
          <a:p>
            <a:pPr algn="l"/>
            <a:r>
              <a:rPr b="0" sz="1300" i="0">
                <a:solidFill>
                  <a:srgbClr val="1A2233"/>
                </a:solidFill>
                <a:latin typeface="Consolas"/>
              </a:rPr>
              <a:t>Type the formula</a:t>
            </a:r>
          </a:p>
          <a:p>
            <a:pPr algn="l"/>
            <a:r>
              <a:rPr b="0" sz="1300" i="0">
                <a:solidFill>
                  <a:srgbClr val="1A2233"/>
                </a:solidFill>
                <a:latin typeface="Consolas"/>
              </a:rPr>
              <a:t>Ctrl+Enter fills the range</a:t>
            </a:r>
          </a:p>
          <a:p>
            <a:pPr algn="l"/>
            <a:r>
              <a:rPr b="0" sz="1300" i="0">
                <a:solidFill>
                  <a:srgbClr val="1A2233"/>
                </a:solidFill>
                <a:latin typeface="Consolas"/>
              </a:rPr>
              <a:t>F4 cycles the $ signs</a:t>
            </a:r>
          </a:p>
          <a:p>
            <a:pPr algn="l"/>
            <a:r>
              <a:rPr b="0" sz="1300" i="0">
                <a:solidFill>
                  <a:srgbClr val="1A2233"/>
                </a:solidFill>
                <a:latin typeface="Consolas"/>
              </a:rPr>
              <a:t>Sheets: Ctrl+PgUp/PgDn</a:t>
            </a:r>
          </a:p>
          <a:p>
            <a:pPr algn="l"/>
            <a:r>
              <a:rPr b="0" sz="13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300" i="0">
                <a:solidFill>
                  <a:srgbClr val="1A2233"/>
                </a:solidFill>
                <a:latin typeface="Consolas"/>
              </a:rPr>
              <a:t>Ctrl+G, then type</a:t>
            </a:r>
          </a:p>
          <a:p>
            <a:pPr algn="l"/>
            <a:r>
              <a:rPr b="0" sz="1300" i="0">
                <a:solidFill>
                  <a:srgbClr val="1A2233"/>
                </a:solidFill>
                <a:latin typeface="Consolas"/>
              </a:rPr>
              <a:t>J20:CO20, Return</a:t>
            </a:r>
          </a:p>
          <a:p>
            <a:pPr algn="l"/>
            <a:r>
              <a:rPr b="0" sz="1300" i="0">
                <a:solidFill>
                  <a:srgbClr val="1A2233"/>
                </a:solidFill>
                <a:latin typeface="Consolas"/>
              </a:rPr>
              <a:t>Type the formula</a:t>
            </a:r>
          </a:p>
          <a:p>
            <a:pPr algn="l"/>
            <a:r>
              <a:rPr b="0" sz="1300" i="0">
                <a:solidFill>
                  <a:srgbClr val="1A2233"/>
                </a:solidFill>
                <a:latin typeface="Consolas"/>
              </a:rPr>
              <a:t>Ctrl+Return fills range</a:t>
            </a:r>
          </a:p>
          <a:p>
            <a:pPr algn="l"/>
            <a:r>
              <a:rPr b="0" sz="1300" i="0">
                <a:solidFill>
                  <a:srgbClr val="1A2233"/>
                </a:solidFill>
                <a:latin typeface="Consolas"/>
              </a:rPr>
              <a:t>Cmd+T (Fn+F4): $ signs</a:t>
            </a:r>
          </a:p>
          <a:p>
            <a:pPr algn="l"/>
            <a:r>
              <a:rPr b="0" sz="1300" i="0">
                <a:solidFill>
                  <a:srgbClr val="1A2233"/>
                </a:solidFill>
                <a:latin typeface="Consolas"/>
              </a:rPr>
              <a:t>Sheets: Option+←/→</a:t>
            </a:r>
          </a:p>
          <a:p>
            <a:pPr algn="l"/>
            <a:r>
              <a:rPr b="0" sz="13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J20 → CO20</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H20 = 577,157  (20-year total, solved case)</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Lenders accept this convention: sizing on a conservative base removes circularity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Sculpt!J22: debt service at target DSCR</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J22  (to CO22)</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Debt service at target DSCR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=J21/$F$15</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Allowed debt service each quarter = CFADS in loan life ÷ target DSCR (F15)</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F15 = InpC!F$140 (2.25x)</a:t>
            </a:r>
          </a:p>
          <a:p>
            <a:pPr algn="l"/>
            <a:r>
              <a:rPr b="0" sz="1300" i="0">
                <a:solidFill>
                  <a:srgbClr val="1A2233"/>
                </a:solidFill>
                <a:latin typeface="Consolas"/>
              </a:rPr>
              <a:t>J21 = J20 × J12</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J22:CO22,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J22:CO22,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J22 → CO22</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Quarterly debt service about 2.2 to 3.5 thousand… (see H22 total)</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The cap on debt service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Sculpt!J23: debt capacity balance END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J23  (to CO23)</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Debt capacity balance END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=(K23+K22)/(1+K19)</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Debt that could be carried at the end of this period: (next period's balance + next period's allowed debt service) ÷ (1 + next period's rate)</a:t>
            </a:r>
          </a:p>
          <a:p>
            <a:pPr algn="l"/>
            <a:r>
              <a:rPr b="0" sz="1500" i="0">
                <a:solidFill>
                  <a:srgbClr val="1A2233"/>
                </a:solidFill>
                <a:latin typeface="Calibri"/>
              </a:rPr>
              <a:t>▪ Same backward recursion as LLCR</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K22 = next period's debt service</a:t>
            </a:r>
          </a:p>
          <a:p>
            <a:pPr algn="l"/>
            <a:r>
              <a:rPr b="0" sz="1300" i="0">
                <a:solidFill>
                  <a:srgbClr val="1A2233"/>
                </a:solidFill>
                <a:latin typeface="Consolas"/>
              </a:rPr>
              <a:t>K19 = next period's periodic rate</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J23:CO23,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J23:CO23,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J23 → CO23</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COD column (K23) = 72,154.2</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The COD column gives the capacity of the loan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Sculpt!F26: debt capacity at COD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F26</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Debt capacity at COD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=SUMPRODUCT(J23:CO23,J25:CO25)</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Pick the COD value out of the row: multiply each capacity by its flag (1 only at COD) and add</a:t>
            </a:r>
          </a:p>
          <a:p>
            <a:pPr algn="l"/>
            <a:r>
              <a:rPr b="0" sz="1500" i="0">
                <a:solidFill>
                  <a:srgbClr val="1A2233"/>
                </a:solidFill>
                <a:latin typeface="Calibri"/>
              </a:rPr>
              <a:t>▪ </a:t>
            </a:r>
            <a:r>
              <a:rPr b="0" sz="1500" i="0">
                <a:solidFill>
                  <a:srgbClr val="0B5E82"/>
                </a:solidFill>
                <a:latin typeface="Consolas"/>
              </a:rPr>
              <a:t>SUMPRODUCT(J23:CO23, J25:CO25)</a:t>
            </a:r>
            <a:r>
              <a:rPr b="0" sz="1500" i="0">
                <a:solidFill>
                  <a:srgbClr val="1A2233"/>
                </a:solidFill>
                <a:latin typeface="Calibri"/>
              </a:rPr>
              <a:t>; row 25 = Time!J$45 (acquisition flag)</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F26,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F26,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544068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F26 = 72,154.2</a:t>
            </a:r>
          </a:p>
        </p:txBody>
      </p:sp>
      <p:sp>
        <p:nvSpPr>
          <p:cNvPr id="24" name="Rectangle 23"/>
          <p:cNvSpPr/>
          <p:nvPr/>
        </p:nvSpPr>
        <p:spPr>
          <a:xfrm>
            <a:off x="6080759" y="5596128"/>
            <a:ext cx="544068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One cell holding the capacity: no lookup needed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Sculpt!F29: senior debt size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F29</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Senior debt size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=MIN(F26,F28)</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Senior debt size = the lower of capacity (F26) and the gearing limit (F28)</a:t>
            </a:r>
          </a:p>
          <a:p>
            <a:pPr algn="l"/>
            <a:r>
              <a:rPr b="0" sz="1500" i="0">
                <a:solidFill>
                  <a:srgbClr val="1A2233"/>
                </a:solidFill>
                <a:latin typeface="Calibri"/>
              </a:rPr>
              <a:t>▪ F28 = F27 × Constr!F52 (75% of project cost)</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F29,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F29,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544068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F29 = 72,154.2;  F30 = DSCR</a:t>
            </a:r>
          </a:p>
        </p:txBody>
      </p:sp>
      <p:sp>
        <p:nvSpPr>
          <p:cNvPr id="24" name="Rectangle 23"/>
          <p:cNvSpPr/>
          <p:nvPr/>
        </p:nvSpPr>
        <p:spPr>
          <a:xfrm>
            <a:off x="6080759" y="5596128"/>
            <a:ext cx="544068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Two lender constraints; the tighter one rules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Sculpt!F31: sculpted DSCR at debt size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F31</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Sculpted DSCR at debt size  (x)</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=F15*F26/F29</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Actual sculpted DSCR = target × capacity ÷ debt size</a:t>
            </a:r>
          </a:p>
          <a:p>
            <a:pPr algn="l"/>
            <a:r>
              <a:rPr b="0" sz="1500" i="0">
                <a:solidFill>
                  <a:srgbClr val="1A2233"/>
                </a:solidFill>
                <a:latin typeface="Calibri"/>
              </a:rPr>
              <a:t>▪ If the debt size equals capacity, DSCR = target. If the gearing cap binds, the DSCR is higher than target</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F31,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F31,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544068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F31 = 2.25x in the solved case</a:t>
            </a:r>
          </a:p>
        </p:txBody>
      </p:sp>
      <p:sp>
        <p:nvSpPr>
          <p:cNvPr id="24" name="Rectangle 23"/>
          <p:cNvSpPr/>
          <p:nvPr/>
        </p:nvSpPr>
        <p:spPr>
          <a:xfrm>
            <a:off x="6080759" y="5596128"/>
            <a:ext cx="544068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Cover actually delivered by the sized loan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GOAL SEEK</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Goal Seek: make debt drawn equal debt sized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8640" y="15453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1</a:t>
            </a:r>
          </a:p>
        </p:txBody>
      </p:sp>
      <p:sp>
        <p:nvSpPr>
          <p:cNvPr id="12" name="TextBox 11"/>
          <p:cNvSpPr txBox="1"/>
          <p:nvPr/>
        </p:nvSpPr>
        <p:spPr>
          <a:xfrm>
            <a:off x="1078992" y="15087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The debt drawn in construction is gearing × uses (Constr!F53). The debt sized is Sculpt!F29. They must match.</a:t>
            </a:r>
          </a:p>
        </p:txBody>
      </p:sp>
      <p:sp>
        <p:nvSpPr>
          <p:cNvPr id="13" name="Oval 12"/>
          <p:cNvSpPr/>
          <p:nvPr/>
        </p:nvSpPr>
        <p:spPr>
          <a:xfrm>
            <a:off x="548640" y="21930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2</a:t>
            </a:r>
          </a:p>
        </p:txBody>
      </p:sp>
      <p:sp>
        <p:nvSpPr>
          <p:cNvPr id="14" name="TextBox 13"/>
          <p:cNvSpPr txBox="1"/>
          <p:nvPr/>
        </p:nvSpPr>
        <p:spPr>
          <a:xfrm>
            <a:off x="1078992" y="21564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Sculpt!F32 = Constr!F53 − F29 is the gap. Select F32.</a:t>
            </a:r>
          </a:p>
        </p:txBody>
      </p:sp>
      <p:sp>
        <p:nvSpPr>
          <p:cNvPr id="15" name="Oval 14"/>
          <p:cNvSpPr/>
          <p:nvPr/>
        </p:nvSpPr>
        <p:spPr>
          <a:xfrm>
            <a:off x="548640" y="28407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3</a:t>
            </a:r>
          </a:p>
        </p:txBody>
      </p:sp>
      <p:sp>
        <p:nvSpPr>
          <p:cNvPr id="16" name="TextBox 15"/>
          <p:cNvSpPr txBox="1"/>
          <p:nvPr/>
        </p:nvSpPr>
        <p:spPr>
          <a:xfrm>
            <a:off x="1078992" y="28041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Open Goal Seek: </a:t>
            </a:r>
            <a:r>
              <a:rPr b="0" sz="1600" i="0">
                <a:solidFill>
                  <a:srgbClr val="0B5E82"/>
                </a:solidFill>
                <a:latin typeface="Consolas"/>
              </a:rPr>
              <a:t>Alt+A, W, G</a:t>
            </a:r>
            <a:r>
              <a:rPr b="0" sz="1600" i="0">
                <a:solidFill>
                  <a:srgbClr val="1A2233"/>
                </a:solidFill>
                <a:latin typeface="Calibri"/>
              </a:rPr>
              <a:t> (Windows) or Data ▸ What-If Analysis ▸ Goal Seek (Mac).</a:t>
            </a:r>
          </a:p>
        </p:txBody>
      </p:sp>
      <p:sp>
        <p:nvSpPr>
          <p:cNvPr id="17" name="Oval 16"/>
          <p:cNvSpPr/>
          <p:nvPr/>
        </p:nvSpPr>
        <p:spPr>
          <a:xfrm>
            <a:off x="548640" y="34884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4</a:t>
            </a:r>
          </a:p>
        </p:txBody>
      </p:sp>
      <p:sp>
        <p:nvSpPr>
          <p:cNvPr id="18" name="TextBox 17"/>
          <p:cNvSpPr txBox="1"/>
          <p:nvPr/>
        </p:nvSpPr>
        <p:spPr>
          <a:xfrm>
            <a:off x="1078992" y="34518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Set cell: </a:t>
            </a:r>
            <a:r>
              <a:rPr b="0" sz="1600" i="0">
                <a:solidFill>
                  <a:srgbClr val="0B5E82"/>
                </a:solidFill>
                <a:latin typeface="Consolas"/>
              </a:rPr>
              <a:t>F32</a:t>
            </a:r>
            <a:r>
              <a:rPr b="0" sz="1600" i="0">
                <a:solidFill>
                  <a:srgbClr val="1A2233"/>
                </a:solidFill>
                <a:latin typeface="Calibri"/>
              </a:rPr>
              <a:t>.  To value: </a:t>
            </a:r>
            <a:r>
              <a:rPr b="0" sz="1600" i="0">
                <a:solidFill>
                  <a:srgbClr val="0B5E82"/>
                </a:solidFill>
                <a:latin typeface="Consolas"/>
              </a:rPr>
              <a:t>0</a:t>
            </a:r>
            <a:r>
              <a:rPr b="0" sz="1600" i="0">
                <a:solidFill>
                  <a:srgbClr val="1A2233"/>
                </a:solidFill>
                <a:latin typeface="Calibri"/>
              </a:rPr>
              <a:t>.  By changing cell: </a:t>
            </a:r>
            <a:r>
              <a:rPr b="0" sz="1600" i="0">
                <a:solidFill>
                  <a:srgbClr val="0B5E82"/>
                </a:solidFill>
                <a:latin typeface="Consolas"/>
              </a:rPr>
              <a:t>InpC!L72</a:t>
            </a:r>
            <a:r>
              <a:rPr b="0" sz="1600" i="0">
                <a:solidFill>
                  <a:srgbClr val="1A2233"/>
                </a:solidFill>
                <a:latin typeface="Calibri"/>
              </a:rPr>
              <a:t> (the active scenario's gearing).</a:t>
            </a:r>
          </a:p>
        </p:txBody>
      </p:sp>
      <p:sp>
        <p:nvSpPr>
          <p:cNvPr id="19" name="Oval 18"/>
          <p:cNvSpPr/>
          <p:nvPr/>
        </p:nvSpPr>
        <p:spPr>
          <a:xfrm>
            <a:off x="548640" y="41361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5</a:t>
            </a:r>
          </a:p>
        </p:txBody>
      </p:sp>
      <p:sp>
        <p:nvSpPr>
          <p:cNvPr id="20" name="TextBox 19"/>
          <p:cNvSpPr txBox="1"/>
          <p:nvPr/>
        </p:nvSpPr>
        <p:spPr>
          <a:xfrm>
            <a:off x="1078992" y="40995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Click OK. Excel adjusts gearing until the gap is zero.</a:t>
            </a:r>
          </a:p>
        </p:txBody>
      </p:sp>
      <p:sp>
        <p:nvSpPr>
          <p:cNvPr id="21" name="Oval 20"/>
          <p:cNvSpPr/>
          <p:nvPr/>
        </p:nvSpPr>
        <p:spPr>
          <a:xfrm>
            <a:off x="548640" y="47838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6</a:t>
            </a:r>
          </a:p>
        </p:txBody>
      </p:sp>
      <p:sp>
        <p:nvSpPr>
          <p:cNvPr id="22" name="TextBox 21"/>
          <p:cNvSpPr txBox="1"/>
          <p:nvPr/>
        </p:nvSpPr>
        <p:spPr>
          <a:xfrm>
            <a:off x="1078992" y="47472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Read the result: gearing ≈ 71.39%. Keep it (OK) or type it as a hard-coded input and record the date.</a:t>
            </a:r>
          </a:p>
        </p:txBody>
      </p:sp>
      <p:sp>
        <p:nvSpPr>
          <p:cNvPr id="23" name="Rectangle 22"/>
          <p:cNvSpPr/>
          <p:nvPr/>
        </p:nvSpPr>
        <p:spPr>
          <a:xfrm>
            <a:off x="548640" y="5486400"/>
            <a:ext cx="1106424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48640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48640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Re-run Goal Seek whenever price, cost, DSCR or tenor inputs change. Goal Seek changes a constant, not a formula, so it never creates a circular reference.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 block 3: sculpted repayment (rows 34 to 40)</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304288"/>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34</a:t>
                      </a:r>
                    </a:p>
                  </a:txBody>
                  <a:tcPr marL="64008" marR="64008" marT="27432" marB="27432" anchor="ctr">
                    <a:solidFill>
                      <a:srgbClr val="FFFFFF"/>
                    </a:solidFill>
                  </a:tcPr>
                </a:tc>
                <a:tc>
                  <a:txBody>
                    <a:bodyPr wrap="square"/>
                    <a:lstStyle/>
                    <a:p>
                      <a:r>
                        <a:rPr b="0" sz="1200" i="0">
                          <a:solidFill>
                            <a:srgbClr val="1A2233"/>
                          </a:solidFill>
                          <a:latin typeface="Calibri"/>
                        </a:rPr>
                        <a:t>Sculpted debt service</a:t>
                      </a:r>
                    </a:p>
                  </a:txBody>
                  <a:tcPr marL="64008" marR="64008" marT="27432" marB="27432" anchor="ctr">
                    <a:solidFill>
                      <a:srgbClr val="FFFFFF"/>
                    </a:solidFill>
                  </a:tcPr>
                </a:tc>
                <a:tc>
                  <a:txBody>
                    <a:bodyPr wrap="square"/>
                    <a:lstStyle/>
                    <a:p>
                      <a:r>
                        <a:rPr b="0" sz="1200" i="0">
                          <a:solidFill>
                            <a:srgbClr val="1A2233"/>
                          </a:solidFill>
                          <a:latin typeface="Consolas"/>
                        </a:rPr>
                        <a:t>J: =J21/$F$31</a:t>
                      </a:r>
                    </a:p>
                  </a:txBody>
                  <a:tcPr marL="64008" marR="64008" marT="27432" marB="27432" anchor="ctr">
                    <a:solidFill>
                      <a:srgbClr val="FFFFFF"/>
                    </a:solidFill>
                  </a:tcPr>
                </a:tc>
              </a:tr>
              <a:tr h="329184">
                <a:tc>
                  <a:txBody>
                    <a:bodyPr wrap="square"/>
                    <a:lstStyle/>
                    <a:p>
                      <a:r>
                        <a:rPr b="1" sz="1200" i="0">
                          <a:solidFill>
                            <a:srgbClr val="1A2233"/>
                          </a:solidFill>
                          <a:latin typeface="Calibri"/>
                        </a:rPr>
                        <a:t>35</a:t>
                      </a:r>
                    </a:p>
                  </a:txBody>
                  <a:tcPr marL="64008" marR="64008" marT="27432" marB="27432" anchor="ctr">
                    <a:solidFill>
                      <a:srgbClr val="F3F6F9"/>
                    </a:solidFill>
                  </a:tcPr>
                </a:tc>
                <a:tc>
                  <a:txBody>
                    <a:bodyPr wrap="square"/>
                    <a:lstStyle/>
                    <a:p>
                      <a:r>
                        <a:rPr b="0" sz="1200" i="0">
                          <a:solidFill>
                            <a:srgbClr val="1A2233"/>
                          </a:solidFill>
                          <a:latin typeface="Calibri"/>
                        </a:rPr>
                        <a:t>Senior debt balance BEG</a:t>
                      </a:r>
                    </a:p>
                  </a:txBody>
                  <a:tcPr marL="64008" marR="64008" marT="27432" marB="27432" anchor="ctr">
                    <a:solidFill>
                      <a:srgbClr val="F3F6F9"/>
                    </a:solidFill>
                  </a:tcPr>
                </a:tc>
                <a:tc>
                  <a:txBody>
                    <a:bodyPr wrap="square"/>
                    <a:lstStyle/>
                    <a:p>
                      <a:r>
                        <a:rPr b="0" sz="1200" i="0">
                          <a:solidFill>
                            <a:srgbClr val="1A2233"/>
                          </a:solidFill>
                          <a:latin typeface="Consolas"/>
                        </a:rPr>
                        <a:t>J: =I38</a:t>
                      </a:r>
                    </a:p>
                  </a:txBody>
                  <a:tcPr marL="64008" marR="64008" marT="27432" marB="27432" anchor="ctr">
                    <a:solidFill>
                      <a:srgbClr val="F3F6F9"/>
                    </a:solidFill>
                  </a:tcPr>
                </a:tc>
              </a:tr>
              <a:tr h="329184">
                <a:tc>
                  <a:txBody>
                    <a:bodyPr wrap="square"/>
                    <a:lstStyle/>
                    <a:p>
                      <a:r>
                        <a:rPr b="1" sz="1200" i="0">
                          <a:solidFill>
                            <a:srgbClr val="1A2233"/>
                          </a:solidFill>
                          <a:latin typeface="Calibri"/>
                        </a:rPr>
                        <a:t>36</a:t>
                      </a:r>
                    </a:p>
                  </a:txBody>
                  <a:tcPr marL="64008" marR="64008" marT="27432" marB="27432" anchor="ctr">
                    <a:solidFill>
                      <a:srgbClr val="FFFFFF"/>
                    </a:solidFill>
                  </a:tcPr>
                </a:tc>
                <a:tc>
                  <a:txBody>
                    <a:bodyPr wrap="square"/>
                    <a:lstStyle/>
                    <a:p>
                      <a:r>
                        <a:rPr b="0" sz="1200" i="0">
                          <a:solidFill>
                            <a:srgbClr val="1A2233"/>
                          </a:solidFill>
                          <a:latin typeface="Calibri"/>
                        </a:rPr>
                        <a:t>Interest</a:t>
                      </a:r>
                    </a:p>
                  </a:txBody>
                  <a:tcPr marL="64008" marR="64008" marT="27432" marB="27432" anchor="ctr">
                    <a:solidFill>
                      <a:srgbClr val="FFFFFF"/>
                    </a:solidFill>
                  </a:tcPr>
                </a:tc>
                <a:tc>
                  <a:txBody>
                    <a:bodyPr wrap="square"/>
                    <a:lstStyle/>
                    <a:p>
                      <a:r>
                        <a:rPr b="0" sz="1200" i="0">
                          <a:solidFill>
                            <a:srgbClr val="1A2233"/>
                          </a:solidFill>
                          <a:latin typeface="Consolas"/>
                        </a:rPr>
                        <a:t>J: =J35*J19</a:t>
                      </a:r>
                    </a:p>
                  </a:txBody>
                  <a:tcPr marL="64008" marR="64008" marT="27432" marB="27432" anchor="ctr">
                    <a:solidFill>
                      <a:srgbClr val="FFFFFF"/>
                    </a:solidFill>
                  </a:tcPr>
                </a:tc>
              </a:tr>
              <a:tr h="329184">
                <a:tc>
                  <a:txBody>
                    <a:bodyPr wrap="square"/>
                    <a:lstStyle/>
                    <a:p>
                      <a:r>
                        <a:rPr b="1" sz="1200" i="0">
                          <a:solidFill>
                            <a:srgbClr val="1A2233"/>
                          </a:solidFill>
                          <a:latin typeface="Calibri"/>
                        </a:rPr>
                        <a:t>37</a:t>
                      </a:r>
                    </a:p>
                  </a:txBody>
                  <a:tcPr marL="64008" marR="64008" marT="27432" marB="27432" anchor="ctr">
                    <a:solidFill>
                      <a:srgbClr val="F3F6F9"/>
                    </a:solidFill>
                  </a:tcPr>
                </a:tc>
                <a:tc>
                  <a:txBody>
                    <a:bodyPr wrap="square"/>
                    <a:lstStyle/>
                    <a:p>
                      <a:r>
                        <a:rPr b="0" sz="1200" i="0">
                          <a:solidFill>
                            <a:srgbClr val="1A2233"/>
                          </a:solidFill>
                          <a:latin typeface="Calibri"/>
                        </a:rPr>
                        <a:t>Principal</a:t>
                      </a:r>
                    </a:p>
                  </a:txBody>
                  <a:tcPr marL="64008" marR="64008" marT="27432" marB="27432" anchor="ctr">
                    <a:solidFill>
                      <a:srgbClr val="F3F6F9"/>
                    </a:solidFill>
                  </a:tcPr>
                </a:tc>
                <a:tc>
                  <a:txBody>
                    <a:bodyPr wrap="square"/>
                    <a:lstStyle/>
                    <a:p>
                      <a:r>
                        <a:rPr b="0" sz="1200" i="0">
                          <a:solidFill>
                            <a:srgbClr val="1A2233"/>
                          </a:solidFill>
                          <a:latin typeface="Consolas"/>
                        </a:rPr>
                        <a:t>J: =J34-J36</a:t>
                      </a:r>
                    </a:p>
                  </a:txBody>
                  <a:tcPr marL="64008" marR="64008" marT="27432" marB="27432" anchor="ctr">
                    <a:solidFill>
                      <a:srgbClr val="F3F6F9"/>
                    </a:solidFill>
                  </a:tcPr>
                </a:tc>
              </a:tr>
              <a:tr h="329184">
                <a:tc>
                  <a:txBody>
                    <a:bodyPr wrap="square"/>
                    <a:lstStyle/>
                    <a:p>
                      <a:r>
                        <a:rPr b="1" sz="1200" i="0">
                          <a:solidFill>
                            <a:srgbClr val="1A2233"/>
                          </a:solidFill>
                          <a:latin typeface="Calibri"/>
                        </a:rPr>
                        <a:t>38</a:t>
                      </a:r>
                    </a:p>
                  </a:txBody>
                  <a:tcPr marL="64008" marR="64008" marT="27432" marB="27432" anchor="ctr">
                    <a:solidFill>
                      <a:srgbClr val="FFFFFF"/>
                    </a:solidFill>
                  </a:tcPr>
                </a:tc>
                <a:tc>
                  <a:txBody>
                    <a:bodyPr wrap="square"/>
                    <a:lstStyle/>
                    <a:p>
                      <a:r>
                        <a:rPr b="0" sz="1200" i="0">
                          <a:solidFill>
                            <a:srgbClr val="1A2233"/>
                          </a:solidFill>
                          <a:latin typeface="Calibri"/>
                        </a:rPr>
                        <a:t>Senior debt balance END</a:t>
                      </a:r>
                    </a:p>
                  </a:txBody>
                  <a:tcPr marL="64008" marR="64008" marT="27432" marB="27432" anchor="ctr">
                    <a:solidFill>
                      <a:srgbClr val="FFFFFF"/>
                    </a:solidFill>
                  </a:tcPr>
                </a:tc>
                <a:tc>
                  <a:txBody>
                    <a:bodyPr wrap="square"/>
                    <a:lstStyle/>
                    <a:p>
                      <a:r>
                        <a:rPr b="0" sz="1200" i="0">
                          <a:solidFill>
                            <a:srgbClr val="1A2233"/>
                          </a:solidFill>
                          <a:latin typeface="Consolas"/>
                        </a:rPr>
                        <a:t>J: =IF(J25=1,$F$29,J35-J37)</a:t>
                      </a:r>
                    </a:p>
                  </a:txBody>
                  <a:tcPr marL="64008" marR="64008" marT="27432" marB="27432" anchor="ctr">
                    <a:solidFill>
                      <a:srgbClr val="FFFFFF"/>
                    </a:solidFill>
                  </a:tcPr>
                </a:tc>
              </a:tr>
              <a:tr h="329184">
                <a:tc>
                  <a:txBody>
                    <a:bodyPr wrap="square"/>
                    <a:lstStyle/>
                    <a:p>
                      <a:r>
                        <a:rPr b="1" sz="1200" i="0">
                          <a:solidFill>
                            <a:srgbClr val="1A2233"/>
                          </a:solidFill>
                          <a:latin typeface="Calibri"/>
                        </a:rPr>
                        <a:t>40</a:t>
                      </a:r>
                    </a:p>
                  </a:txBody>
                  <a:tcPr marL="64008" marR="64008" marT="27432" marB="27432" anchor="ctr">
                    <a:solidFill>
                      <a:srgbClr val="F3F6F9"/>
                    </a:solidFill>
                  </a:tcPr>
                </a:tc>
                <a:tc>
                  <a:txBody>
                    <a:bodyPr wrap="square"/>
                    <a:lstStyle/>
                    <a:p>
                      <a:r>
                        <a:rPr b="0" sz="1200" i="0">
                          <a:solidFill>
                            <a:srgbClr val="1A2233"/>
                          </a:solidFill>
                          <a:latin typeface="Calibri"/>
                        </a:rPr>
                        <a:t>Sculpted repayment profile (% of opening debt)</a:t>
                      </a:r>
                    </a:p>
                  </a:txBody>
                  <a:tcPr marL="64008" marR="64008" marT="27432" marB="27432" anchor="ctr">
                    <a:solidFill>
                      <a:srgbClr val="F3F6F9"/>
                    </a:solidFill>
                  </a:tcPr>
                </a:tc>
                <a:tc>
                  <a:txBody>
                    <a:bodyPr wrap="square"/>
                    <a:lstStyle/>
                    <a:p>
                      <a:r>
                        <a:rPr b="0" sz="1200" i="0">
                          <a:solidFill>
                            <a:srgbClr val="1A2233"/>
                          </a:solidFill>
                          <a:latin typeface="Consolas"/>
                        </a:rPr>
                        <a:t>J: =J37/$F$29</a:t>
                      </a:r>
                    </a:p>
                  </a:txBody>
                  <a:tcPr marL="64008" marR="64008" marT="27432" marB="27432" anchor="ctr">
                    <a:solidFill>
                      <a:srgbClr val="F3F6F9"/>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Sculpt!J34: sculpted debt service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J34  (to CO34)</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Sculpted debt service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=J21/$F$31</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Sculpted debt service = CFADS in loan life ÷ the DSCR actually delivered (F31)</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J34:CO34,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J34:CO34,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J34 → CO34</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H34 = 101,238 total debt service</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Constant cover in every repayment quarter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Sculpt!J36: interest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J36  (to CO36)</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Interest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=J35*J19</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Interest = opening balance (row 35) × periodic rate (row 19)</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J35 = I38 (last column's closing balance)</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J36:CO36,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J36:CO36,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J36 → CO36</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H36 = 29,083 total interest</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Interest on the opening balance as in Constr and Debt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Sculpt!J37: principal</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J37  (to CO37)</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Principal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=J34-J36</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Principal = sculpted debt service − interest</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J37:CO37,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J37:CO37,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J37 → CO37</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H37 = 72,154.2 (equals debt)</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Principal is what is left of debt service after interest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Sculpt!J38: senior debt balance END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J38  (to CO38)</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Senior debt balance END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=IF(J25=1,$F$29,J35-J37)</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At COD the balance is the debt size (F29); otherwise opening − principal</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J25 = acquisition flag</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J38:CO38,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J38:CO38,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J38 → CO38</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Closes at zero in December 2031 (quarter 40)</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Roll-forward once more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Sculpt!J40: sculpted repayment profile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J40  (to CO40)</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Sculpted repayment profile (% of opening debt)  (%)</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=J37/$F$29</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Principal ÷ debt size: a profile like the three typed on InpS, but calculated</a:t>
            </a:r>
          </a:p>
          <a:p>
            <a:pPr algn="l"/>
            <a:r>
              <a:rPr b="0" sz="1500" i="0">
                <a:solidFill>
                  <a:srgbClr val="1A2233"/>
                </a:solidFill>
                <a:latin typeface="Calibri"/>
              </a:rPr>
              <a:t>▪ Sums to 100%</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J40:CO40,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J40:CO40,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J40 → CO40</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H40 = 100%</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This row becomes repayment profile 4 on the Debt sheet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INTEGRATE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Plug the sculpted profile into the Debt sheet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8640" y="15453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1</a:t>
            </a:r>
          </a:p>
        </p:txBody>
      </p:sp>
      <p:sp>
        <p:nvSpPr>
          <p:cNvPr id="12" name="TextBox 11"/>
          <p:cNvSpPr txBox="1"/>
          <p:nvPr/>
        </p:nvSpPr>
        <p:spPr>
          <a:xfrm>
            <a:off x="1078992" y="15087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On </a:t>
            </a:r>
            <a:r>
              <a:rPr b="1" sz="1600" i="0">
                <a:solidFill>
                  <a:srgbClr val="1A2233"/>
                </a:solidFill>
                <a:latin typeface="Calibri"/>
              </a:rPr>
              <a:t>Debt</a:t>
            </a:r>
            <a:r>
              <a:rPr b="0" sz="1600" i="0">
                <a:solidFill>
                  <a:srgbClr val="1A2233"/>
                </a:solidFill>
                <a:latin typeface="Calibri"/>
              </a:rPr>
              <a:t>, insert a row below the third profile: select row 17, </a:t>
            </a:r>
            <a:r>
              <a:rPr b="0" sz="1600" i="0">
                <a:solidFill>
                  <a:srgbClr val="0B5E82"/>
                </a:solidFill>
                <a:latin typeface="Consolas"/>
              </a:rPr>
              <a:t>Ctrl+Shift++</a:t>
            </a:r>
            <a:r>
              <a:rPr b="0" sz="1600" i="0">
                <a:solidFill>
                  <a:srgbClr val="1A2233"/>
                </a:solidFill>
                <a:latin typeface="Calibri"/>
              </a:rPr>
              <a:t> (Win) / </a:t>
            </a:r>
            <a:r>
              <a:rPr b="0" sz="1600" i="0">
                <a:solidFill>
                  <a:srgbClr val="0B5E82"/>
                </a:solidFill>
                <a:latin typeface="Consolas"/>
              </a:rPr>
              <a:t>Cmd+Shift++</a:t>
            </a:r>
            <a:r>
              <a:rPr b="0" sz="1600" i="0">
                <a:solidFill>
                  <a:srgbClr val="1A2233"/>
                </a:solidFill>
                <a:latin typeface="Calibri"/>
              </a:rPr>
              <a:t> (Mac).</a:t>
            </a:r>
          </a:p>
        </p:txBody>
      </p:sp>
      <p:sp>
        <p:nvSpPr>
          <p:cNvPr id="13" name="Oval 12"/>
          <p:cNvSpPr/>
          <p:nvPr/>
        </p:nvSpPr>
        <p:spPr>
          <a:xfrm>
            <a:off x="548640" y="21930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2</a:t>
            </a:r>
          </a:p>
        </p:txBody>
      </p:sp>
      <p:sp>
        <p:nvSpPr>
          <p:cNvPr id="14" name="TextBox 13"/>
          <p:cNvSpPr txBox="1"/>
          <p:nvPr/>
        </p:nvSpPr>
        <p:spPr>
          <a:xfrm>
            <a:off x="1078992" y="21564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In E17 type the label 'Senior debt profile 4 - sculpted'; in J17 </a:t>
            </a:r>
            <a:r>
              <a:rPr b="0" sz="1600" i="0">
                <a:solidFill>
                  <a:srgbClr val="0B5E82"/>
                </a:solidFill>
                <a:latin typeface="Consolas"/>
              </a:rPr>
              <a:t>=Sculpt!J$40</a:t>
            </a:r>
            <a:r>
              <a:rPr b="0" sz="1600" i="0">
                <a:solidFill>
                  <a:srgbClr val="1A2233"/>
                </a:solidFill>
                <a:latin typeface="Calibri"/>
              </a:rPr>
              <a:t>, fill to CO17 (</a:t>
            </a:r>
            <a:r>
              <a:rPr b="0" sz="1600" i="0">
                <a:solidFill>
                  <a:srgbClr val="0B5E82"/>
                </a:solidFill>
                <a:latin typeface="Consolas"/>
              </a:rPr>
              <a:t>Ctrl+Enter</a:t>
            </a:r>
            <a:r>
              <a:rPr b="0" sz="1600" i="0">
                <a:solidFill>
                  <a:srgbClr val="1A2233"/>
                </a:solidFill>
                <a:latin typeface="Calibri"/>
              </a:rPr>
              <a:t> after selecting J17:CO17).</a:t>
            </a:r>
          </a:p>
        </p:txBody>
      </p:sp>
      <p:sp>
        <p:nvSpPr>
          <p:cNvPr id="15" name="Oval 14"/>
          <p:cNvSpPr/>
          <p:nvPr/>
        </p:nvSpPr>
        <p:spPr>
          <a:xfrm>
            <a:off x="548640" y="28407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3</a:t>
            </a:r>
          </a:p>
        </p:txBody>
      </p:sp>
      <p:sp>
        <p:nvSpPr>
          <p:cNvPr id="16" name="TextBox 15"/>
          <p:cNvSpPr txBox="1"/>
          <p:nvPr/>
        </p:nvSpPr>
        <p:spPr>
          <a:xfrm>
            <a:off x="1078992" y="28041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In the active-profile row (now 18) extend the INDEX: </a:t>
            </a:r>
            <a:r>
              <a:rPr b="0" sz="1600" i="0">
                <a:solidFill>
                  <a:srgbClr val="0B5E82"/>
                </a:solidFill>
                <a:latin typeface="Consolas"/>
              </a:rPr>
              <a:t>=INDEX(J14:J17,$F13)</a:t>
            </a:r>
            <a:r>
              <a:rPr b="0" sz="1600" i="0">
                <a:solidFill>
                  <a:srgbClr val="1A2233"/>
                </a:solidFill>
                <a:latin typeface="Calibri"/>
              </a:rPr>
              <a:t> and </a:t>
            </a:r>
            <a:r>
              <a:rPr b="0" sz="1600" i="0">
                <a:solidFill>
                  <a:srgbClr val="0B5E82"/>
                </a:solidFill>
                <a:latin typeface="Consolas"/>
              </a:rPr>
              <a:t>=INDEX(E14:E17,F13)&amp;" - active"</a:t>
            </a:r>
            <a:r>
              <a:rPr b="0" sz="1600" i="0">
                <a:solidFill>
                  <a:srgbClr val="1A2233"/>
                </a:solidFill>
                <a:latin typeface="Calibri"/>
              </a:rPr>
              <a:t>.</a:t>
            </a:r>
          </a:p>
        </p:txBody>
      </p:sp>
      <p:sp>
        <p:nvSpPr>
          <p:cNvPr id="17" name="Oval 16"/>
          <p:cNvSpPr/>
          <p:nvPr/>
        </p:nvSpPr>
        <p:spPr>
          <a:xfrm>
            <a:off x="548640" y="34884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4</a:t>
            </a:r>
          </a:p>
        </p:txBody>
      </p:sp>
      <p:sp>
        <p:nvSpPr>
          <p:cNvPr id="18" name="TextBox 17"/>
          <p:cNvSpPr txBox="1"/>
          <p:nvPr/>
        </p:nvSpPr>
        <p:spPr>
          <a:xfrm>
            <a:off x="1078992" y="34518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On </a:t>
            </a:r>
            <a:r>
              <a:rPr b="1" sz="1600" i="0">
                <a:solidFill>
                  <a:srgbClr val="1A2233"/>
                </a:solidFill>
                <a:latin typeface="Calibri"/>
              </a:rPr>
              <a:t>InpC</a:t>
            </a:r>
            <a:r>
              <a:rPr b="0" sz="1600" i="0">
                <a:solidFill>
                  <a:srgbClr val="1A2233"/>
                </a:solidFill>
                <a:latin typeface="Calibri"/>
              </a:rPr>
              <a:t> set J74:L74 to </a:t>
            </a:r>
            <a:r>
              <a:rPr b="0" sz="1600" i="0">
                <a:solidFill>
                  <a:srgbClr val="0B5E82"/>
                </a:solidFill>
                <a:latin typeface="Consolas"/>
              </a:rPr>
              <a:t>4</a:t>
            </a:r>
            <a:r>
              <a:rPr b="0" sz="1600" i="0">
                <a:solidFill>
                  <a:srgbClr val="1A2233"/>
                </a:solidFill>
                <a:latin typeface="Calibri"/>
              </a:rPr>
              <a:t> (the profile switch).</a:t>
            </a:r>
          </a:p>
        </p:txBody>
      </p:sp>
      <p:sp>
        <p:nvSpPr>
          <p:cNvPr id="19" name="Oval 18"/>
          <p:cNvSpPr/>
          <p:nvPr/>
        </p:nvSpPr>
        <p:spPr>
          <a:xfrm>
            <a:off x="548640" y="41361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5</a:t>
            </a:r>
          </a:p>
        </p:txBody>
      </p:sp>
      <p:sp>
        <p:nvSpPr>
          <p:cNvPr id="20" name="TextBox 19"/>
          <p:cNvSpPr txBox="1"/>
          <p:nvPr/>
        </p:nvSpPr>
        <p:spPr>
          <a:xfrm>
            <a:off x="1078992" y="40995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Debt!F11 already points at Constr (Day 6): principal = initial debt × profile 4 each quarter, interest on the balance, as before.</a:t>
            </a:r>
          </a:p>
        </p:txBody>
      </p:sp>
      <p:sp>
        <p:nvSpPr>
          <p:cNvPr id="21" name="Oval 20"/>
          <p:cNvSpPr/>
          <p:nvPr/>
        </p:nvSpPr>
        <p:spPr>
          <a:xfrm>
            <a:off x="548640" y="47838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6</a:t>
            </a:r>
          </a:p>
        </p:txBody>
      </p:sp>
      <p:sp>
        <p:nvSpPr>
          <p:cNvPr id="22" name="TextBox 21"/>
          <p:cNvSpPr txBox="1"/>
          <p:nvPr/>
        </p:nvSpPr>
        <p:spPr>
          <a:xfrm>
            <a:off x="1078992" y="47472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Press </a:t>
            </a:r>
            <a:r>
              <a:rPr b="0" sz="1600" i="0">
                <a:solidFill>
                  <a:srgbClr val="0B5E82"/>
                </a:solidFill>
                <a:latin typeface="Consolas"/>
              </a:rPr>
              <a:t>F9</a:t>
            </a:r>
            <a:r>
              <a:rPr b="0" sz="1600" i="0">
                <a:solidFill>
                  <a:srgbClr val="1A2233"/>
                </a:solidFill>
                <a:latin typeface="Calibri"/>
              </a:rPr>
              <a:t>. Debt balance reaches zero in December 2031; DSCR is 2.25x or more in every repayment quarter.</a:t>
            </a:r>
          </a:p>
        </p:txBody>
      </p:sp>
      <p:sp>
        <p:nvSpPr>
          <p:cNvPr id="23" name="Rectangle 22"/>
          <p:cNvSpPr/>
          <p:nvPr/>
        </p:nvSpPr>
        <p:spPr>
          <a:xfrm>
            <a:off x="548640" y="5486400"/>
            <a:ext cx="11064240" cy="73152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486400"/>
            <a:ext cx="82296" cy="73152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48640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The Debt sheet formulas did not change: only the profile selection. That is the benefit of the INDEX switch built on Day 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SCULPTING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100" i="0">
                <a:solidFill>
                  <a:srgbClr val="141B4D"/>
                </a:solidFill>
                <a:latin typeface="Georgia"/>
              </a:rPr>
              <a:t>Principal repayments: straight-line profile versus sculpted (US$ thousands per quarter)</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Chart 10"/>
          <p:cNvGraphicFramePr>
            <a:graphicFrameLocks noGrp="1"/>
          </p:cNvGraphicFramePr>
          <p:nvPr/>
        </p:nvGraphicFramePr>
        <p:xfrm>
          <a:off x="548640" y="1508760"/>
          <a:ext cx="10881360" cy="4297680"/>
        </p:xfrm>
        <a:graphic>
          <a:graphicData uri="http://schemas.openxmlformats.org/drawingml/2006/chart">
            <c:chart xmlns:c="http://schemas.openxmlformats.org/drawingml/2006/chart" r:id="rId5"/>
          </a:graphicData>
        </a:graphic>
      </p:graphicFrame>
      <p:sp>
        <p:nvSpPr>
          <p:cNvPr id="12" name="TextBox 11"/>
          <p:cNvSpPr txBox="1"/>
          <p:nvPr/>
        </p:nvSpPr>
        <p:spPr>
          <a:xfrm>
            <a:off x="548640" y="5852159"/>
            <a:ext cx="11064240" cy="502920"/>
          </a:xfrm>
          <a:prstGeom prst="rect">
            <a:avLst/>
          </a:prstGeom>
          <a:noFill/>
        </p:spPr>
        <p:txBody>
          <a:bodyPr wrap="square" lIns="45720" rIns="45720" tIns="27432" bIns="27432" anchor="t">
            <a:spAutoFit/>
          </a:bodyPr>
          <a:lstStyle/>
          <a:p>
            <a:pPr algn="l"/>
            <a:r>
              <a:rPr b="0" sz="1300" i="1">
                <a:solidFill>
                  <a:srgbClr val="5C6B7A"/>
                </a:solidFill>
                <a:latin typeface="Calibri"/>
              </a:rPr>
              <a:t>Sculpted principal starts small and grows because early cash flow is lower and interest is highest; interest falls as the balance falls.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SCULPTING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Cash flow and debt service: a constant cover ratio</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Chart 10"/>
          <p:cNvGraphicFramePr>
            <a:graphicFrameLocks noGrp="1"/>
          </p:cNvGraphicFramePr>
          <p:nvPr/>
        </p:nvGraphicFramePr>
        <p:xfrm>
          <a:off x="548640" y="1508760"/>
          <a:ext cx="10881360" cy="4297680"/>
        </p:xfrm>
        <a:graphic>
          <a:graphicData uri="http://schemas.openxmlformats.org/drawingml/2006/chart">
            <c:chart xmlns:c="http://schemas.openxmlformats.org/drawingml/2006/chart" r:id="rId5"/>
          </a:graphicData>
        </a:graphic>
      </p:graphicFrame>
      <p:sp>
        <p:nvSpPr>
          <p:cNvPr id="12" name="TextBox 11"/>
          <p:cNvSpPr txBox="1"/>
          <p:nvPr/>
        </p:nvSpPr>
        <p:spPr>
          <a:xfrm>
            <a:off x="548640" y="5852159"/>
            <a:ext cx="11064240" cy="502920"/>
          </a:xfrm>
          <a:prstGeom prst="rect">
            <a:avLst/>
          </a:prstGeom>
          <a:noFill/>
        </p:spPr>
        <p:txBody>
          <a:bodyPr wrap="square" lIns="45720" rIns="45720" tIns="27432" bIns="27432" anchor="t">
            <a:spAutoFit/>
          </a:bodyPr>
          <a:lstStyle/>
          <a:p>
            <a:pPr algn="l"/>
            <a:r>
              <a:rPr b="0" sz="1300" i="1">
                <a:solidFill>
                  <a:srgbClr val="5C6B7A"/>
                </a:solidFill>
                <a:latin typeface="Calibri"/>
              </a:rPr>
              <a:t>Debt service moves in step with cash flow: the ratio is always 2.25x on the sizing basis.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7.3: Size, sculpt and plug in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Build Sculpt rows 9 to 40, run Goal Seek, add profile 4 to Debt and check.</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Timeline and flags (9 to 12)</a:t>
            </a:r>
          </a:p>
          <a:p>
            <a:pPr>
              <a:spcAft>
                <a:spcPts val="300"/>
              </a:spcAft>
            </a:pPr>
            <a:r>
              <a:rPr b="0" sz="1500" i="0">
                <a:solidFill>
                  <a:srgbClr val="1A2233"/>
                </a:solidFill>
                <a:latin typeface="Calibri"/>
              </a:rPr>
              <a:t>2.  Capacity recursion (15 to 26)</a:t>
            </a:r>
          </a:p>
          <a:p>
            <a:pPr>
              <a:spcAft>
                <a:spcPts val="300"/>
              </a:spcAft>
            </a:pPr>
            <a:r>
              <a:rPr b="0" sz="1500" i="0">
                <a:solidFill>
                  <a:srgbClr val="1A2233"/>
                </a:solidFill>
                <a:latin typeface="Calibri"/>
              </a:rPr>
              <a:t>3.  Sizing (27 to 32); Goal Seek F32 = 0 by changing InpC!L72</a:t>
            </a:r>
          </a:p>
          <a:p>
            <a:pPr>
              <a:spcAft>
                <a:spcPts val="300"/>
              </a:spcAft>
            </a:pPr>
            <a:r>
              <a:rPr b="0" sz="1500" i="0">
                <a:solidFill>
                  <a:srgbClr val="1A2233"/>
                </a:solidFill>
                <a:latin typeface="Calibri"/>
              </a:rPr>
              <a:t>4.  Sculpted repayment (34 to 40)</a:t>
            </a:r>
          </a:p>
          <a:p>
            <a:pPr>
              <a:spcAft>
                <a:spcPts val="300"/>
              </a:spcAft>
            </a:pPr>
            <a:r>
              <a:rPr b="0" sz="1500" i="0">
                <a:solidFill>
                  <a:srgbClr val="1A2233"/>
                </a:solidFill>
                <a:latin typeface="Calibri"/>
              </a:rPr>
              <a:t>5.  Debt profile 4 and switch = 4; check Debt balance END → 0 in Dec 2031</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60 min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CHECKPOINTS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Checkpoints: sizing</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779776"/>
        </p:xfrm>
        <a:graphic>
          <a:graphicData uri="http://schemas.openxmlformats.org/drawingml/2006/table">
            <a:tbl>
              <a:tblPr firstRow="1" bandRow="1">
                <a:tableStyleId>{5C22544A-7EE6-4342-B048-85BDC9FD1C3A}</a:tableStyleId>
              </a:tblPr>
              <a:tblGrid>
                <a:gridCol w="2743200"/>
                <a:gridCol w="5303520"/>
                <a:gridCol w="3017520"/>
              </a:tblGrid>
              <a:tr h="347472">
                <a:tc>
                  <a:txBody>
                    <a:bodyPr wrap="square"/>
                    <a:lstStyle/>
                    <a:p>
                      <a:r>
                        <a:rPr b="1" sz="1300" i="0">
                          <a:solidFill>
                            <a:srgbClr val="FFFFFF"/>
                          </a:solidFill>
                          <a:latin typeface="Calibri"/>
                        </a:rPr>
                        <a:t>Cell</a:t>
                      </a:r>
                    </a:p>
                  </a:txBody>
                  <a:tcPr marL="64008" marR="64008" marT="27432" marB="27432" anchor="ctr">
                    <a:solidFill>
                      <a:srgbClr val="141B4D"/>
                    </a:solidFill>
                  </a:tcPr>
                </a:tc>
                <a:tc>
                  <a:txBody>
                    <a:bodyPr wrap="square"/>
                    <a:lstStyle/>
                    <a:p>
                      <a:r>
                        <a:rPr b="1" sz="1300" i="0">
                          <a:solidFill>
                            <a:srgbClr val="FFFFFF"/>
                          </a:solidFill>
                          <a:latin typeface="Calibri"/>
                        </a:rPr>
                        <a:t>Item</a:t>
                      </a:r>
                    </a:p>
                  </a:txBody>
                  <a:tcPr marL="64008" marR="64008" marT="27432" marB="27432" anchor="ctr">
                    <a:solidFill>
                      <a:srgbClr val="141B4D"/>
                    </a:solidFill>
                  </a:tcPr>
                </a:tc>
                <a:tc>
                  <a:txBody>
                    <a:bodyPr wrap="square"/>
                    <a:lstStyle/>
                    <a:p>
                      <a:r>
                        <a:rPr b="1" sz="1300" i="0">
                          <a:solidFill>
                            <a:srgbClr val="FFFFFF"/>
                          </a:solidFill>
                          <a:latin typeface="Calibri"/>
                        </a:rPr>
                        <a:t>Value</a:t>
                      </a:r>
                    </a:p>
                  </a:txBody>
                  <a:tcPr marL="64008" marR="64008" marT="27432" marB="27432" anchor="ctr">
                    <a:solidFill>
                      <a:srgbClr val="141B4D"/>
                    </a:solidFill>
                  </a:tcPr>
                </a:tc>
              </a:tr>
              <a:tr h="347472">
                <a:tc>
                  <a:txBody>
                    <a:bodyPr wrap="square"/>
                    <a:lstStyle/>
                    <a:p>
                      <a:r>
                        <a:rPr b="1" sz="1300" i="0">
                          <a:solidFill>
                            <a:srgbClr val="1A2233"/>
                          </a:solidFill>
                          <a:latin typeface="Calibri"/>
                        </a:rPr>
                        <a:t>Sculpt!F26</a:t>
                      </a:r>
                    </a:p>
                  </a:txBody>
                  <a:tcPr marL="64008" marR="64008" marT="27432" marB="27432" anchor="ctr">
                    <a:solidFill>
                      <a:srgbClr val="FFFFFF"/>
                    </a:solidFill>
                  </a:tcPr>
                </a:tc>
                <a:tc>
                  <a:txBody>
                    <a:bodyPr wrap="square"/>
                    <a:lstStyle/>
                    <a:p>
                      <a:r>
                        <a:rPr b="0" sz="1300" i="0">
                          <a:solidFill>
                            <a:srgbClr val="1A2233"/>
                          </a:solidFill>
                          <a:latin typeface="Calibri"/>
                        </a:rPr>
                        <a:t>Debt capacity at 2.25x, 40 quarters</a:t>
                      </a:r>
                    </a:p>
                  </a:txBody>
                  <a:tcPr marL="64008" marR="64008" marT="27432" marB="27432" anchor="ctr">
                    <a:solidFill>
                      <a:srgbClr val="FFFFFF"/>
                    </a:solidFill>
                  </a:tcPr>
                </a:tc>
                <a:tc>
                  <a:txBody>
                    <a:bodyPr wrap="square"/>
                    <a:lstStyle/>
                    <a:p>
                      <a:r>
                        <a:rPr b="0" sz="1300" i="0">
                          <a:solidFill>
                            <a:srgbClr val="1A2233"/>
                          </a:solidFill>
                          <a:latin typeface="Calibri"/>
                        </a:rPr>
                        <a:t>72,154.2</a:t>
                      </a:r>
                    </a:p>
                  </a:txBody>
                  <a:tcPr marL="64008" marR="64008" marT="27432" marB="27432" anchor="ctr">
                    <a:solidFill>
                      <a:srgbClr val="FFFFFF"/>
                    </a:solidFill>
                  </a:tcPr>
                </a:tc>
              </a:tr>
              <a:tr h="347472">
                <a:tc>
                  <a:txBody>
                    <a:bodyPr wrap="square"/>
                    <a:lstStyle/>
                    <a:p>
                      <a:r>
                        <a:rPr b="1" sz="1300" i="0">
                          <a:solidFill>
                            <a:srgbClr val="1A2233"/>
                          </a:solidFill>
                          <a:latin typeface="Calibri"/>
                        </a:rPr>
                        <a:t>Sculpt!F28</a:t>
                      </a:r>
                    </a:p>
                  </a:txBody>
                  <a:tcPr marL="64008" marR="64008" marT="27432" marB="27432" anchor="ctr">
                    <a:solidFill>
                      <a:srgbClr val="F3F6F9"/>
                    </a:solidFill>
                  </a:tcPr>
                </a:tc>
                <a:tc>
                  <a:txBody>
                    <a:bodyPr wrap="square"/>
                    <a:lstStyle/>
                    <a:p>
                      <a:r>
                        <a:rPr b="0" sz="1300" i="0">
                          <a:solidFill>
                            <a:srgbClr val="1A2233"/>
                          </a:solidFill>
                          <a:latin typeface="Calibri"/>
                        </a:rPr>
                        <a:t>Debt limit from gearing (75%)</a:t>
                      </a:r>
                    </a:p>
                  </a:txBody>
                  <a:tcPr marL="64008" marR="64008" marT="27432" marB="27432" anchor="ctr">
                    <a:solidFill>
                      <a:srgbClr val="F3F6F9"/>
                    </a:solidFill>
                  </a:tcPr>
                </a:tc>
                <a:tc>
                  <a:txBody>
                    <a:bodyPr wrap="square"/>
                    <a:lstStyle/>
                    <a:p>
                      <a:r>
                        <a:rPr b="0" sz="1300" i="0">
                          <a:solidFill>
                            <a:srgbClr val="1A2233"/>
                          </a:solidFill>
                          <a:latin typeface="Calibri"/>
                        </a:rPr>
                        <a:t>75,800.8</a:t>
                      </a:r>
                    </a:p>
                  </a:txBody>
                  <a:tcPr marL="64008" marR="64008" marT="27432" marB="27432" anchor="ctr">
                    <a:solidFill>
                      <a:srgbClr val="F3F6F9"/>
                    </a:solidFill>
                  </a:tcPr>
                </a:tc>
              </a:tr>
              <a:tr h="347472">
                <a:tc>
                  <a:txBody>
                    <a:bodyPr wrap="square"/>
                    <a:lstStyle/>
                    <a:p>
                      <a:r>
                        <a:rPr b="1" sz="1300" i="0">
                          <a:solidFill>
                            <a:srgbClr val="1A2233"/>
                          </a:solidFill>
                          <a:latin typeface="Calibri"/>
                        </a:rPr>
                        <a:t>Sculpt!F29</a:t>
                      </a:r>
                    </a:p>
                  </a:txBody>
                  <a:tcPr marL="64008" marR="64008" marT="27432" marB="27432" anchor="ctr">
                    <a:solidFill>
                      <a:srgbClr val="FFFFFF"/>
                    </a:solidFill>
                  </a:tcPr>
                </a:tc>
                <a:tc>
                  <a:txBody>
                    <a:bodyPr wrap="square"/>
                    <a:lstStyle/>
                    <a:p>
                      <a:r>
                        <a:rPr b="0" sz="1300" i="0">
                          <a:solidFill>
                            <a:srgbClr val="1A2233"/>
                          </a:solidFill>
                          <a:latin typeface="Calibri"/>
                        </a:rPr>
                        <a:t>Senior debt size</a:t>
                      </a:r>
                    </a:p>
                  </a:txBody>
                  <a:tcPr marL="64008" marR="64008" marT="27432" marB="27432" anchor="ctr">
                    <a:solidFill>
                      <a:srgbClr val="FFFFFF"/>
                    </a:solidFill>
                  </a:tcPr>
                </a:tc>
                <a:tc>
                  <a:txBody>
                    <a:bodyPr wrap="square"/>
                    <a:lstStyle/>
                    <a:p>
                      <a:r>
                        <a:rPr b="0" sz="1300" i="0">
                          <a:solidFill>
                            <a:srgbClr val="1A2233"/>
                          </a:solidFill>
                          <a:latin typeface="Calibri"/>
                        </a:rPr>
                        <a:t>72,154.2</a:t>
                      </a:r>
                    </a:p>
                  </a:txBody>
                  <a:tcPr marL="64008" marR="64008" marT="27432" marB="27432" anchor="ctr">
                    <a:solidFill>
                      <a:srgbClr val="FFFFFF"/>
                    </a:solidFill>
                  </a:tcPr>
                </a:tc>
              </a:tr>
              <a:tr h="347472">
                <a:tc>
                  <a:txBody>
                    <a:bodyPr wrap="square"/>
                    <a:lstStyle/>
                    <a:p>
                      <a:r>
                        <a:rPr b="1" sz="1300" i="0">
                          <a:solidFill>
                            <a:srgbClr val="1A2233"/>
                          </a:solidFill>
                          <a:latin typeface="Calibri"/>
                        </a:rPr>
                        <a:t>Constr!F52</a:t>
                      </a:r>
                    </a:p>
                  </a:txBody>
                  <a:tcPr marL="64008" marR="64008" marT="27432" marB="27432" anchor="ctr">
                    <a:solidFill>
                      <a:srgbClr val="F3F6F9"/>
                    </a:solidFill>
                  </a:tcPr>
                </a:tc>
                <a:tc>
                  <a:txBody>
                    <a:bodyPr wrap="square"/>
                    <a:lstStyle/>
                    <a:p>
                      <a:r>
                        <a:rPr b="0" sz="1300" i="0">
                          <a:solidFill>
                            <a:srgbClr val="1A2233"/>
                          </a:solidFill>
                          <a:latin typeface="Calibri"/>
                        </a:rPr>
                        <a:t>Project cost</a:t>
                      </a:r>
                    </a:p>
                  </a:txBody>
                  <a:tcPr marL="64008" marR="64008" marT="27432" marB="27432" anchor="ctr">
                    <a:solidFill>
                      <a:srgbClr val="F3F6F9"/>
                    </a:solidFill>
                  </a:tcPr>
                </a:tc>
                <a:tc>
                  <a:txBody>
                    <a:bodyPr wrap="square"/>
                    <a:lstStyle/>
                    <a:p>
                      <a:r>
                        <a:rPr b="0" sz="1300" i="0">
                          <a:solidFill>
                            <a:srgbClr val="1A2233"/>
                          </a:solidFill>
                          <a:latin typeface="Calibri"/>
                        </a:rPr>
                        <a:t>101,067.8</a:t>
                      </a:r>
                    </a:p>
                  </a:txBody>
                  <a:tcPr marL="64008" marR="64008" marT="27432" marB="27432" anchor="ctr">
                    <a:solidFill>
                      <a:srgbClr val="F3F6F9"/>
                    </a:solidFill>
                  </a:tcPr>
                </a:tc>
              </a:tr>
              <a:tr h="347472">
                <a:tc>
                  <a:txBody>
                    <a:bodyPr wrap="square"/>
                    <a:lstStyle/>
                    <a:p>
                      <a:r>
                        <a:rPr b="1" sz="1300" i="0">
                          <a:solidFill>
                            <a:srgbClr val="1A2233"/>
                          </a:solidFill>
                          <a:latin typeface="Calibri"/>
                        </a:rPr>
                        <a:t>Constr!F53</a:t>
                      </a:r>
                    </a:p>
                  </a:txBody>
                  <a:tcPr marL="64008" marR="64008" marT="27432" marB="27432" anchor="ctr">
                    <a:solidFill>
                      <a:srgbClr val="FFFFFF"/>
                    </a:solidFill>
                  </a:tcPr>
                </a:tc>
                <a:tc>
                  <a:txBody>
                    <a:bodyPr wrap="square"/>
                    <a:lstStyle/>
                    <a:p>
                      <a:r>
                        <a:rPr b="0" sz="1300" i="0">
                          <a:solidFill>
                            <a:srgbClr val="1A2233"/>
                          </a:solidFill>
                          <a:latin typeface="Calibri"/>
                        </a:rPr>
                        <a:t>Debt drawn</a:t>
                      </a:r>
                    </a:p>
                  </a:txBody>
                  <a:tcPr marL="64008" marR="64008" marT="27432" marB="27432" anchor="ctr">
                    <a:solidFill>
                      <a:srgbClr val="FFFFFF"/>
                    </a:solidFill>
                  </a:tcPr>
                </a:tc>
                <a:tc>
                  <a:txBody>
                    <a:bodyPr wrap="square"/>
                    <a:lstStyle/>
                    <a:p>
                      <a:r>
                        <a:rPr b="0" sz="1300" i="0">
                          <a:solidFill>
                            <a:srgbClr val="1A2233"/>
                          </a:solidFill>
                          <a:latin typeface="Calibri"/>
                        </a:rPr>
                        <a:t>72,154.2</a:t>
                      </a:r>
                    </a:p>
                  </a:txBody>
                  <a:tcPr marL="64008" marR="64008" marT="27432" marB="27432" anchor="ctr">
                    <a:solidFill>
                      <a:srgbClr val="FFFFFF"/>
                    </a:solidFill>
                  </a:tcPr>
                </a:tc>
              </a:tr>
              <a:tr h="347472">
                <a:tc>
                  <a:txBody>
                    <a:bodyPr wrap="square"/>
                    <a:lstStyle/>
                    <a:p>
                      <a:r>
                        <a:rPr b="1" sz="1300" i="0">
                          <a:solidFill>
                            <a:srgbClr val="1A2233"/>
                          </a:solidFill>
                          <a:latin typeface="Calibri"/>
                        </a:rPr>
                        <a:t>Constr!F54</a:t>
                      </a:r>
                    </a:p>
                  </a:txBody>
                  <a:tcPr marL="64008" marR="64008" marT="27432" marB="27432" anchor="ctr">
                    <a:solidFill>
                      <a:srgbClr val="F3F6F9"/>
                    </a:solidFill>
                  </a:tcPr>
                </a:tc>
                <a:tc>
                  <a:txBody>
                    <a:bodyPr wrap="square"/>
                    <a:lstStyle/>
                    <a:p>
                      <a:r>
                        <a:rPr b="0" sz="1300" i="0">
                          <a:solidFill>
                            <a:srgbClr val="1A2233"/>
                          </a:solidFill>
                          <a:latin typeface="Calibri"/>
                        </a:rPr>
                        <a:t>Sponsor funding</a:t>
                      </a:r>
                    </a:p>
                  </a:txBody>
                  <a:tcPr marL="64008" marR="64008" marT="27432" marB="27432" anchor="ctr">
                    <a:solidFill>
                      <a:srgbClr val="F3F6F9"/>
                    </a:solidFill>
                  </a:tcPr>
                </a:tc>
                <a:tc>
                  <a:txBody>
                    <a:bodyPr wrap="square"/>
                    <a:lstStyle/>
                    <a:p>
                      <a:r>
                        <a:rPr b="0" sz="1300" i="0">
                          <a:solidFill>
                            <a:srgbClr val="1A2233"/>
                          </a:solidFill>
                          <a:latin typeface="Calibri"/>
                        </a:rPr>
                        <a:t>28,913.6</a:t>
                      </a:r>
                    </a:p>
                  </a:txBody>
                  <a:tcPr marL="64008" marR="64008" marT="27432" marB="27432" anchor="ctr">
                    <a:solidFill>
                      <a:srgbClr val="F3F6F9"/>
                    </a:solidFill>
                  </a:tcPr>
                </a:tc>
              </a:tr>
              <a:tr h="347472">
                <a:tc>
                  <a:txBody>
                    <a:bodyPr wrap="square"/>
                    <a:lstStyle/>
                    <a:p>
                      <a:r>
                        <a:rPr b="1" sz="1300" i="0">
                          <a:solidFill>
                            <a:srgbClr val="1A2233"/>
                          </a:solidFill>
                          <a:latin typeface="Calibri"/>
                        </a:rPr>
                        <a:t>Sculpt!H40</a:t>
                      </a:r>
                    </a:p>
                  </a:txBody>
                  <a:tcPr marL="64008" marR="64008" marT="27432" marB="27432" anchor="ctr">
                    <a:solidFill>
                      <a:srgbClr val="FFFFFF"/>
                    </a:solidFill>
                  </a:tcPr>
                </a:tc>
                <a:tc>
                  <a:txBody>
                    <a:bodyPr wrap="square"/>
                    <a:lstStyle/>
                    <a:p>
                      <a:r>
                        <a:rPr b="0" sz="1300" i="0">
                          <a:solidFill>
                            <a:srgbClr val="1A2233"/>
                          </a:solidFill>
                          <a:latin typeface="Calibri"/>
                        </a:rPr>
                        <a:t>Profile total</a:t>
                      </a:r>
                    </a:p>
                  </a:txBody>
                  <a:tcPr marL="64008" marR="64008" marT="27432" marB="27432" anchor="ctr">
                    <a:solidFill>
                      <a:srgbClr val="FFFFFF"/>
                    </a:solidFill>
                  </a:tcPr>
                </a:tc>
                <a:tc>
                  <a:txBody>
                    <a:bodyPr wrap="square"/>
                    <a:lstStyle/>
                    <a:p>
                      <a:r>
                        <a:rPr b="0" sz="1300" i="0">
                          <a:solidFill>
                            <a:srgbClr val="1A2233"/>
                          </a:solidFill>
                          <a:latin typeface="Calibri"/>
                        </a:rPr>
                        <a:t>100%</a:t>
                      </a:r>
                    </a:p>
                  </a:txBody>
                  <a:tcPr marL="64008" marR="64008" marT="27432" marB="27432" anchor="ctr">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7  |  Thu 22 Oct 2026  |  Project finance modelling II: debt sizing and returns</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43</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12.30 – 14.00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4: Shareholder loan and blended equity return</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Two ways for sponsors to put money in.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Why a shareholder loan?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1900" i="0">
                <a:solidFill>
                  <a:srgbClr val="1A2233"/>
                </a:solidFill>
                <a:latin typeface="Calibri"/>
              </a:rPr>
              <a:t>Sponsors can fund the project with share capital (ordinary equity) or with a loan to the project company. The loan ranks ahead of equity but behind senior lenders. It gets interest, can be repaid before dividends, and its interest is usually tax deductible.</a:t>
            </a:r>
          </a:p>
        </p:txBody>
      </p:sp>
      <p:sp>
        <p:nvSpPr>
          <p:cNvPr id="13" name="Rectangle 12"/>
          <p:cNvSpPr/>
          <p:nvPr/>
        </p:nvSpPr>
        <p:spPr>
          <a:xfrm>
            <a:off x="640080" y="3108960"/>
            <a:ext cx="10881360" cy="64008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2000" i="0">
                <a:solidFill>
                  <a:srgbClr val="141B4D"/>
                </a:solidFill>
                <a:latin typeface="Consolas"/>
              </a:rPr>
              <a:t>Sponsor return = IRR of (dividends + loan interest + loan principal + share capital redemption) vs (share capital + loan)</a:t>
            </a:r>
          </a:p>
        </p:txBody>
      </p:sp>
      <p:sp>
        <p:nvSpPr>
          <p:cNvPr id="14" name="TextBox 13"/>
          <p:cNvSpPr txBox="1"/>
          <p:nvPr/>
        </p:nvSpPr>
        <p:spPr>
          <a:xfrm>
            <a:off x="640080" y="388620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5" name="TextBox 14"/>
          <p:cNvSpPr txBox="1"/>
          <p:nvPr/>
        </p:nvSpPr>
        <p:spPr>
          <a:xfrm>
            <a:off x="640080" y="4160520"/>
            <a:ext cx="10881360" cy="1325879"/>
          </a:xfrm>
          <a:prstGeom prst="rect">
            <a:avLst/>
          </a:prstGeom>
          <a:noFill/>
        </p:spPr>
        <p:txBody>
          <a:bodyPr wrap="square" lIns="45720" rIns="45720" tIns="27432" bIns="27432" anchor="t">
            <a:spAutoFit/>
          </a:bodyPr>
          <a:lstStyle/>
          <a:p>
            <a:pPr algn="l"/>
            <a:r>
              <a:rPr b="0" sz="1600" i="0">
                <a:solidFill>
                  <a:srgbClr val="1A2233"/>
                </a:solidFill>
                <a:latin typeface="Calibri"/>
              </a:rPr>
              <a:t>Sponsor funding at COD: 28,913.6</a:t>
            </a:r>
          </a:p>
          <a:p>
            <a:pPr algn="l"/>
            <a:r>
              <a:rPr b="0" sz="1600" i="0">
                <a:solidFill>
                  <a:srgbClr val="1A2233"/>
                </a:solidFill>
                <a:latin typeface="Calibri"/>
              </a:rPr>
              <a:t>60% as shareholder loan (17,348.1), 40% as share capital (11,565.4)</a:t>
            </a:r>
          </a:p>
          <a:p>
            <a:pPr algn="l"/>
            <a:r>
              <a:rPr b="0" sz="1600" i="0">
                <a:solidFill>
                  <a:srgbClr val="1A2233"/>
                </a:solidFill>
                <a:latin typeface="Calibri"/>
              </a:rPr>
              <a:t>Interest 10% p.a. paid only from cash left after senior debt service and the DSRA; unpaid interest is capitalised</a:t>
            </a:r>
          </a:p>
        </p:txBody>
      </p:sp>
      <p:sp>
        <p:nvSpPr>
          <p:cNvPr id="16" name="Rectangle 15"/>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Sponsors judge the project on the blended return: both instruments together. Looking at ordinary equity alone overstates the return because the cheque is small. The workbook dates all sponsor funding at COD; dated at the construction quarters the Base blended IRR is about 34.9%.</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WATERFALL</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Cash waterfall after Day 7</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474720"/>
        </p:xfrm>
        <a:graphic>
          <a:graphicData uri="http://schemas.openxmlformats.org/drawingml/2006/table">
            <a:tbl>
              <a:tblPr firstRow="1" bandRow="1">
                <a:tableStyleId>{5C22544A-7EE6-4342-B048-85BDC9FD1C3A}</a:tableStyleId>
              </a:tblPr>
              <a:tblGrid>
                <a:gridCol w="1097280"/>
                <a:gridCol w="6583680"/>
                <a:gridCol w="3383280"/>
              </a:tblGrid>
              <a:tr h="347472">
                <a:tc>
                  <a:txBody>
                    <a:bodyPr wrap="square"/>
                    <a:lstStyle/>
                    <a:p>
                      <a:r>
                        <a:rPr b="1" sz="1300" i="0">
                          <a:solidFill>
                            <a:srgbClr val="FFFFFF"/>
                          </a:solidFill>
                          <a:latin typeface="Calibri"/>
                        </a:rPr>
                        <a:t>Order</a:t>
                      </a:r>
                    </a:p>
                  </a:txBody>
                  <a:tcPr marL="64008" marR="64008" marT="27432" marB="27432" anchor="ctr">
                    <a:solidFill>
                      <a:srgbClr val="141B4D"/>
                    </a:solidFill>
                  </a:tcPr>
                </a:tc>
                <a:tc>
                  <a:txBody>
                    <a:bodyPr wrap="square"/>
                    <a:lstStyle/>
                    <a:p>
                      <a:r>
                        <a:rPr b="1" sz="1300" i="0">
                          <a:solidFill>
                            <a:srgbClr val="FFFFFF"/>
                          </a:solidFill>
                          <a:latin typeface="Calibri"/>
                        </a:rPr>
                        <a:t>Item</a:t>
                      </a:r>
                    </a:p>
                  </a:txBody>
                  <a:tcPr marL="64008" marR="64008" marT="27432" marB="27432" anchor="ctr">
                    <a:solidFill>
                      <a:srgbClr val="141B4D"/>
                    </a:solidFill>
                  </a:tcPr>
                </a:tc>
                <a:tc>
                  <a:txBody>
                    <a:bodyPr wrap="square"/>
                    <a:lstStyle/>
                    <a:p>
                      <a:r>
                        <a:rPr b="1" sz="1300" i="0">
                          <a:solidFill>
                            <a:srgbClr val="FFFFFF"/>
                          </a:solidFill>
                          <a:latin typeface="Calibri"/>
                        </a:rPr>
                        <a:t>FinStat row (final)</a:t>
                      </a:r>
                    </a:p>
                  </a:txBody>
                  <a:tcPr marL="64008" marR="64008" marT="27432" marB="27432" anchor="ctr">
                    <a:solidFill>
                      <a:srgbClr val="141B4D"/>
                    </a:solidFill>
                  </a:tcPr>
                </a:tc>
              </a:tr>
              <a:tr h="347472">
                <a:tc>
                  <a:txBody>
                    <a:bodyPr wrap="square"/>
                    <a:lstStyle/>
                    <a:p>
                      <a:r>
                        <a:rPr b="1" sz="1300" i="0">
                          <a:solidFill>
                            <a:srgbClr val="1A2233"/>
                          </a:solidFill>
                          <a:latin typeface="Calibri"/>
                        </a:rPr>
                        <a:t>1</a:t>
                      </a:r>
                    </a:p>
                  </a:txBody>
                  <a:tcPr marL="64008" marR="64008" marT="27432" marB="27432" anchor="ctr">
                    <a:solidFill>
                      <a:srgbClr val="FFFFFF"/>
                    </a:solidFill>
                  </a:tcPr>
                </a:tc>
                <a:tc>
                  <a:txBody>
                    <a:bodyPr wrap="square"/>
                    <a:lstStyle/>
                    <a:p>
                      <a:r>
                        <a:rPr b="0" sz="1300" i="0">
                          <a:solidFill>
                            <a:srgbClr val="1A2233"/>
                          </a:solidFill>
                          <a:latin typeface="Calibri"/>
                        </a:rPr>
                        <a:t>CFADS</a:t>
                      </a:r>
                    </a:p>
                  </a:txBody>
                  <a:tcPr marL="64008" marR="64008" marT="27432" marB="27432" anchor="ctr">
                    <a:solidFill>
                      <a:srgbClr val="FFFFFF"/>
                    </a:solidFill>
                  </a:tcPr>
                </a:tc>
                <a:tc>
                  <a:txBody>
                    <a:bodyPr wrap="square"/>
                    <a:lstStyle/>
                    <a:p>
                      <a:r>
                        <a:rPr b="0" sz="1300" i="0">
                          <a:solidFill>
                            <a:srgbClr val="1A2233"/>
                          </a:solidFill>
                          <a:latin typeface="Calibri"/>
                        </a:rPr>
                        <a:t>39</a:t>
                      </a:r>
                    </a:p>
                  </a:txBody>
                  <a:tcPr marL="64008" marR="64008" marT="27432" marB="27432" anchor="ctr">
                    <a:solidFill>
                      <a:srgbClr val="FFFFFF"/>
                    </a:solidFill>
                  </a:tcPr>
                </a:tc>
              </a:tr>
              <a:tr h="347472">
                <a:tc>
                  <a:txBody>
                    <a:bodyPr wrap="square"/>
                    <a:lstStyle/>
                    <a:p>
                      <a:r>
                        <a:rPr b="1" sz="1300" i="0">
                          <a:solidFill>
                            <a:srgbClr val="1A2233"/>
                          </a:solidFill>
                          <a:latin typeface="Calibri"/>
                        </a:rPr>
                        <a:t>2</a:t>
                      </a:r>
                    </a:p>
                  </a:txBody>
                  <a:tcPr marL="64008" marR="64008" marT="27432" marB="27432" anchor="ctr">
                    <a:solidFill>
                      <a:srgbClr val="F3F6F9"/>
                    </a:solidFill>
                  </a:tcPr>
                </a:tc>
                <a:tc>
                  <a:txBody>
                    <a:bodyPr wrap="square"/>
                    <a:lstStyle/>
                    <a:p>
                      <a:r>
                        <a:rPr b="0" sz="1300" i="0">
                          <a:solidFill>
                            <a:srgbClr val="1A2233"/>
                          </a:solidFill>
                          <a:latin typeface="Calibri"/>
                        </a:rPr>
                        <a:t>Senior interest and principal</a:t>
                      </a:r>
                    </a:p>
                  </a:txBody>
                  <a:tcPr marL="64008" marR="64008" marT="27432" marB="27432" anchor="ctr">
                    <a:solidFill>
                      <a:srgbClr val="F3F6F9"/>
                    </a:solidFill>
                  </a:tcPr>
                </a:tc>
                <a:tc>
                  <a:txBody>
                    <a:bodyPr wrap="square"/>
                    <a:lstStyle/>
                    <a:p>
                      <a:r>
                        <a:rPr b="0" sz="1300" i="0">
                          <a:solidFill>
                            <a:srgbClr val="1A2233"/>
                          </a:solidFill>
                          <a:latin typeface="Calibri"/>
                        </a:rPr>
                        <a:t>41, 42</a:t>
                      </a:r>
                    </a:p>
                  </a:txBody>
                  <a:tcPr marL="64008" marR="64008" marT="27432" marB="27432" anchor="ctr">
                    <a:solidFill>
                      <a:srgbClr val="F3F6F9"/>
                    </a:solidFill>
                  </a:tcPr>
                </a:tc>
              </a:tr>
              <a:tr h="347472">
                <a:tc>
                  <a:txBody>
                    <a:bodyPr wrap="square"/>
                    <a:lstStyle/>
                    <a:p>
                      <a:r>
                        <a:rPr b="1" sz="1300" i="0">
                          <a:solidFill>
                            <a:srgbClr val="1A2233"/>
                          </a:solidFill>
                          <a:latin typeface="Calibri"/>
                        </a:rPr>
                        <a:t>3</a:t>
                      </a:r>
                    </a:p>
                  </a:txBody>
                  <a:tcPr marL="64008" marR="64008" marT="27432" marB="27432" anchor="ctr">
                    <a:solidFill>
                      <a:srgbClr val="FFFFFF"/>
                    </a:solidFill>
                  </a:tcPr>
                </a:tc>
                <a:tc>
                  <a:txBody>
                    <a:bodyPr wrap="square"/>
                    <a:lstStyle/>
                    <a:p>
                      <a:r>
                        <a:rPr b="0" sz="1300" i="0">
                          <a:solidFill>
                            <a:srgbClr val="1A2233"/>
                          </a:solidFill>
                          <a:latin typeface="Calibri"/>
                        </a:rPr>
                        <a:t>CF available to shareholders</a:t>
                      </a:r>
                    </a:p>
                  </a:txBody>
                  <a:tcPr marL="64008" marR="64008" marT="27432" marB="27432" anchor="ctr">
                    <a:solidFill>
                      <a:srgbClr val="FFFFFF"/>
                    </a:solidFill>
                  </a:tcPr>
                </a:tc>
                <a:tc>
                  <a:txBody>
                    <a:bodyPr wrap="square"/>
                    <a:lstStyle/>
                    <a:p>
                      <a:r>
                        <a:rPr b="0" sz="1300" i="0">
                          <a:solidFill>
                            <a:srgbClr val="1A2233"/>
                          </a:solidFill>
                          <a:latin typeface="Calibri"/>
                        </a:rPr>
                        <a:t>43</a:t>
                      </a:r>
                    </a:p>
                  </a:txBody>
                  <a:tcPr marL="64008" marR="64008" marT="27432" marB="27432" anchor="ctr">
                    <a:solidFill>
                      <a:srgbClr val="FFFFFF"/>
                    </a:solidFill>
                  </a:tcPr>
                </a:tc>
              </a:tr>
              <a:tr h="347472">
                <a:tc>
                  <a:txBody>
                    <a:bodyPr wrap="square"/>
                    <a:lstStyle/>
                    <a:p>
                      <a:r>
                        <a:rPr b="1" sz="1300" i="0">
                          <a:solidFill>
                            <a:srgbClr val="1A2233"/>
                          </a:solidFill>
                          <a:latin typeface="Calibri"/>
                        </a:rPr>
                        <a:t>4</a:t>
                      </a:r>
                    </a:p>
                  </a:txBody>
                  <a:tcPr marL="64008" marR="64008" marT="27432" marB="27432" anchor="ctr">
                    <a:solidFill>
                      <a:srgbClr val="F3F6F9"/>
                    </a:solidFill>
                  </a:tcPr>
                </a:tc>
                <a:tc>
                  <a:txBody>
                    <a:bodyPr wrap="square"/>
                    <a:lstStyle/>
                    <a:p>
                      <a:r>
                        <a:rPr b="0" sz="1300" i="0">
                          <a:solidFill>
                            <a:srgbClr val="1A2233"/>
                          </a:solidFill>
                          <a:latin typeface="Calibri"/>
                        </a:rPr>
                        <a:t>DSRA funding / release</a:t>
                      </a:r>
                    </a:p>
                  </a:txBody>
                  <a:tcPr marL="64008" marR="64008" marT="27432" marB="27432" anchor="ctr">
                    <a:solidFill>
                      <a:srgbClr val="F3F6F9"/>
                    </a:solidFill>
                  </a:tcPr>
                </a:tc>
                <a:tc>
                  <a:txBody>
                    <a:bodyPr wrap="square"/>
                    <a:lstStyle/>
                    <a:p>
                      <a:r>
                        <a:rPr b="0" sz="1300" i="0">
                          <a:solidFill>
                            <a:srgbClr val="1A2233"/>
                          </a:solidFill>
                          <a:latin typeface="Calibri"/>
                        </a:rPr>
                        <a:t>44</a:t>
                      </a:r>
                    </a:p>
                  </a:txBody>
                  <a:tcPr marL="64008" marR="64008" marT="27432" marB="27432" anchor="ctr">
                    <a:solidFill>
                      <a:srgbClr val="F3F6F9"/>
                    </a:solidFill>
                  </a:tcPr>
                </a:tc>
              </a:tr>
              <a:tr h="347472">
                <a:tc>
                  <a:txBody>
                    <a:bodyPr wrap="square"/>
                    <a:lstStyle/>
                    <a:p>
                      <a:r>
                        <a:rPr b="1" sz="1300" i="0">
                          <a:solidFill>
                            <a:srgbClr val="1A2233"/>
                          </a:solidFill>
                          <a:latin typeface="Calibri"/>
                        </a:rPr>
                        <a:t>5</a:t>
                      </a:r>
                    </a:p>
                  </a:txBody>
                  <a:tcPr marL="64008" marR="64008" marT="27432" marB="27432" anchor="ctr">
                    <a:solidFill>
                      <a:srgbClr val="FFFFFF"/>
                    </a:solidFill>
                  </a:tcPr>
                </a:tc>
                <a:tc>
                  <a:txBody>
                    <a:bodyPr wrap="square"/>
                    <a:lstStyle/>
                    <a:p>
                      <a:r>
                        <a:rPr b="0" sz="1300" i="0">
                          <a:solidFill>
                            <a:srgbClr val="1A2233"/>
                          </a:solidFill>
                          <a:latin typeface="Calibri"/>
                        </a:rPr>
                        <a:t>Shareholder loan interest paid</a:t>
                      </a:r>
                    </a:p>
                  </a:txBody>
                  <a:tcPr marL="64008" marR="64008" marT="27432" marB="27432" anchor="ctr">
                    <a:solidFill>
                      <a:srgbClr val="FFFFFF"/>
                    </a:solidFill>
                  </a:tcPr>
                </a:tc>
                <a:tc>
                  <a:txBody>
                    <a:bodyPr wrap="square"/>
                    <a:lstStyle/>
                    <a:p>
                      <a:r>
                        <a:rPr b="0" sz="1300" i="0">
                          <a:solidFill>
                            <a:srgbClr val="1A2233"/>
                          </a:solidFill>
                          <a:latin typeface="Calibri"/>
                        </a:rPr>
                        <a:t>45</a:t>
                      </a:r>
                    </a:p>
                  </a:txBody>
                  <a:tcPr marL="64008" marR="64008" marT="27432" marB="27432" anchor="ctr">
                    <a:solidFill>
                      <a:srgbClr val="FFFFFF"/>
                    </a:solidFill>
                  </a:tcPr>
                </a:tc>
              </a:tr>
              <a:tr h="347472">
                <a:tc>
                  <a:txBody>
                    <a:bodyPr wrap="square"/>
                    <a:lstStyle/>
                    <a:p>
                      <a:r>
                        <a:rPr b="1" sz="1300" i="0">
                          <a:solidFill>
                            <a:srgbClr val="1A2233"/>
                          </a:solidFill>
                          <a:latin typeface="Calibri"/>
                        </a:rPr>
                        <a:t>6</a:t>
                      </a:r>
                    </a:p>
                  </a:txBody>
                  <a:tcPr marL="64008" marR="64008" marT="27432" marB="27432" anchor="ctr">
                    <a:solidFill>
                      <a:srgbClr val="F3F6F9"/>
                    </a:solidFill>
                  </a:tcPr>
                </a:tc>
                <a:tc>
                  <a:txBody>
                    <a:bodyPr wrap="square"/>
                    <a:lstStyle/>
                    <a:p>
                      <a:r>
                        <a:rPr b="0" sz="1300" i="0">
                          <a:solidFill>
                            <a:srgbClr val="1A2233"/>
                          </a:solidFill>
                          <a:latin typeface="Calibri"/>
                        </a:rPr>
                        <a:t>Shareholder loan principal repaid</a:t>
                      </a:r>
                    </a:p>
                  </a:txBody>
                  <a:tcPr marL="64008" marR="64008" marT="27432" marB="27432" anchor="ctr">
                    <a:solidFill>
                      <a:srgbClr val="F3F6F9"/>
                    </a:solidFill>
                  </a:tcPr>
                </a:tc>
                <a:tc>
                  <a:txBody>
                    <a:bodyPr wrap="square"/>
                    <a:lstStyle/>
                    <a:p>
                      <a:r>
                        <a:rPr b="0" sz="1300" i="0">
                          <a:solidFill>
                            <a:srgbClr val="1A2233"/>
                          </a:solidFill>
                          <a:latin typeface="Calibri"/>
                        </a:rPr>
                        <a:t>46</a:t>
                      </a:r>
                    </a:p>
                  </a:txBody>
                  <a:tcPr marL="64008" marR="64008" marT="27432" marB="27432" anchor="ctr">
                    <a:solidFill>
                      <a:srgbClr val="F3F6F9"/>
                    </a:solidFill>
                  </a:tcPr>
                </a:tc>
              </a:tr>
              <a:tr h="347472">
                <a:tc>
                  <a:txBody>
                    <a:bodyPr wrap="square"/>
                    <a:lstStyle/>
                    <a:p>
                      <a:r>
                        <a:rPr b="1" sz="1300" i="0">
                          <a:solidFill>
                            <a:srgbClr val="1A2233"/>
                          </a:solidFill>
                          <a:latin typeface="Calibri"/>
                        </a:rPr>
                        <a:t>7</a:t>
                      </a:r>
                    </a:p>
                  </a:txBody>
                  <a:tcPr marL="64008" marR="64008" marT="27432" marB="27432" anchor="ctr">
                    <a:solidFill>
                      <a:srgbClr val="FFFFFF"/>
                    </a:solidFill>
                  </a:tcPr>
                </a:tc>
                <a:tc>
                  <a:txBody>
                    <a:bodyPr wrap="square"/>
                    <a:lstStyle/>
                    <a:p>
                      <a:r>
                        <a:rPr b="0" sz="1300" i="0">
                          <a:solidFill>
                            <a:srgbClr val="1A2233"/>
                          </a:solidFill>
                          <a:latin typeface="Calibri"/>
                        </a:rPr>
                        <a:t>Share capital injection / redemption</a:t>
                      </a:r>
                    </a:p>
                  </a:txBody>
                  <a:tcPr marL="64008" marR="64008" marT="27432" marB="27432" anchor="ctr">
                    <a:solidFill>
                      <a:srgbClr val="FFFFFF"/>
                    </a:solidFill>
                  </a:tcPr>
                </a:tc>
                <a:tc>
                  <a:txBody>
                    <a:bodyPr wrap="square"/>
                    <a:lstStyle/>
                    <a:p>
                      <a:r>
                        <a:rPr b="0" sz="1300" i="0">
                          <a:solidFill>
                            <a:srgbClr val="1A2233"/>
                          </a:solidFill>
                          <a:latin typeface="Calibri"/>
                        </a:rPr>
                        <a:t>47, 48</a:t>
                      </a:r>
                    </a:p>
                  </a:txBody>
                  <a:tcPr marL="64008" marR="64008" marT="27432" marB="27432" anchor="ctr">
                    <a:solidFill>
                      <a:srgbClr val="FFFFFF"/>
                    </a:solidFill>
                  </a:tcPr>
                </a:tc>
              </a:tr>
              <a:tr h="347472">
                <a:tc>
                  <a:txBody>
                    <a:bodyPr wrap="square"/>
                    <a:lstStyle/>
                    <a:p>
                      <a:r>
                        <a:rPr b="1" sz="1300" i="0">
                          <a:solidFill>
                            <a:srgbClr val="1A2233"/>
                          </a:solidFill>
                          <a:latin typeface="Calibri"/>
                        </a:rPr>
                        <a:t>8</a:t>
                      </a:r>
                    </a:p>
                  </a:txBody>
                  <a:tcPr marL="64008" marR="64008" marT="27432" marB="27432" anchor="ctr">
                    <a:solidFill>
                      <a:srgbClr val="F3F6F9"/>
                    </a:solidFill>
                  </a:tcPr>
                </a:tc>
                <a:tc>
                  <a:txBody>
                    <a:bodyPr wrap="square"/>
                    <a:lstStyle/>
                    <a:p>
                      <a:r>
                        <a:rPr b="0" sz="1300" i="0">
                          <a:solidFill>
                            <a:srgbClr val="1A2233"/>
                          </a:solidFill>
                          <a:latin typeface="Calibri"/>
                        </a:rPr>
                        <a:t>Cash flow available for dividends</a:t>
                      </a:r>
                    </a:p>
                  </a:txBody>
                  <a:tcPr marL="64008" marR="64008" marT="27432" marB="27432" anchor="ctr">
                    <a:solidFill>
                      <a:srgbClr val="F3F6F9"/>
                    </a:solidFill>
                  </a:tcPr>
                </a:tc>
                <a:tc>
                  <a:txBody>
                    <a:bodyPr wrap="square"/>
                    <a:lstStyle/>
                    <a:p>
                      <a:r>
                        <a:rPr b="0" sz="1300" i="0">
                          <a:solidFill>
                            <a:srgbClr val="1A2233"/>
                          </a:solidFill>
                          <a:latin typeface="Calibri"/>
                        </a:rPr>
                        <a:t>49</a:t>
                      </a:r>
                    </a:p>
                  </a:txBody>
                  <a:tcPr marL="64008" marR="64008" marT="27432" marB="27432" anchor="ctr">
                    <a:solidFill>
                      <a:srgbClr val="F3F6F9"/>
                    </a:solidFill>
                  </a:tcPr>
                </a:tc>
              </a:tr>
              <a:tr h="347472">
                <a:tc>
                  <a:txBody>
                    <a:bodyPr wrap="square"/>
                    <a:lstStyle/>
                    <a:p>
                      <a:r>
                        <a:rPr b="1" sz="1300" i="0">
                          <a:solidFill>
                            <a:srgbClr val="1A2233"/>
                          </a:solidFill>
                          <a:latin typeface="Calibri"/>
                        </a:rPr>
                        <a:t>9</a:t>
                      </a:r>
                    </a:p>
                  </a:txBody>
                  <a:tcPr marL="64008" marR="64008" marT="27432" marB="27432" anchor="ctr">
                    <a:solidFill>
                      <a:srgbClr val="FFFFFF"/>
                    </a:solidFill>
                  </a:tcPr>
                </a:tc>
                <a:tc>
                  <a:txBody>
                    <a:bodyPr wrap="square"/>
                    <a:lstStyle/>
                    <a:p>
                      <a:r>
                        <a:rPr b="0" sz="1300" i="0">
                          <a:solidFill>
                            <a:srgbClr val="1A2233"/>
                          </a:solidFill>
                          <a:latin typeface="Calibri"/>
                        </a:rPr>
                        <a:t>Dividends (smaller of cash and earnings)</a:t>
                      </a:r>
                    </a:p>
                  </a:txBody>
                  <a:tcPr marL="64008" marR="64008" marT="27432" marB="27432" anchor="ctr">
                    <a:solidFill>
                      <a:srgbClr val="FFFFFF"/>
                    </a:solidFill>
                  </a:tcPr>
                </a:tc>
                <a:tc>
                  <a:txBody>
                    <a:bodyPr wrap="square"/>
                    <a:lstStyle/>
                    <a:p>
                      <a:r>
                        <a:rPr b="0" sz="1300" i="0">
                          <a:solidFill>
                            <a:srgbClr val="1A2233"/>
                          </a:solidFill>
                          <a:latin typeface="Calibri"/>
                        </a:rPr>
                        <a:t>51</a:t>
                      </a:r>
                    </a:p>
                  </a:txBody>
                  <a:tcPr marL="64008" marR="64008" marT="27432" marB="27432" anchor="ctr">
                    <a:solidFill>
                      <a:srgbClr val="FFFFFF"/>
                    </a:solidFill>
                  </a:tcPr>
                </a:tc>
              </a:tr>
            </a:tbl>
          </a:graphicData>
        </a:graphic>
      </p:graphicFrame>
      <p:sp>
        <p:nvSpPr>
          <p:cNvPr id="12" name="Rectangle 11"/>
          <p:cNvSpPr/>
          <p:nvPr/>
        </p:nvSpPr>
        <p:spPr>
          <a:xfrm>
            <a:off x="548640" y="5212080"/>
            <a:ext cx="11064240" cy="68580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5212080"/>
            <a:ext cx="82296" cy="68580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212080"/>
            <a:ext cx="10835640" cy="685800"/>
          </a:xfrm>
          <a:prstGeom prst="rect">
            <a:avLst/>
          </a:prstGeom>
          <a:noFill/>
        </p:spPr>
        <p:txBody>
          <a:bodyPr wrap="square" lIns="45720" rIns="45720" tIns="27432" bIns="27432" anchor="ctr">
            <a:spAutoFit/>
          </a:bodyPr>
          <a:lstStyle/>
          <a:p>
            <a:pPr algn="l"/>
            <a:r>
              <a:rPr b="0" sz="1400" i="0">
                <a:solidFill>
                  <a:srgbClr val="1A2233"/>
                </a:solidFill>
                <a:latin typeface="Calibri"/>
              </a:rPr>
              <a:t>Rows 44 to 46 are new; the original rows below them moved down automatically when we inserted three rows.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SHL block 1: opening balances (rows 9 to 14)</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975104"/>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9</a:t>
                      </a:r>
                    </a:p>
                  </a:txBody>
                  <a:tcPr marL="64008" marR="64008" marT="27432" marB="27432" anchor="ctr">
                    <a:solidFill>
                      <a:srgbClr val="FFFFFF"/>
                    </a:solidFill>
                  </a:tcPr>
                </a:tc>
                <a:tc>
                  <a:txBody>
                    <a:bodyPr wrap="square"/>
                    <a:lstStyle/>
                    <a:p>
                      <a:r>
                        <a:rPr b="0" sz="1200" i="0">
                          <a:solidFill>
                            <a:srgbClr val="1A2233"/>
                          </a:solidFill>
                          <a:latin typeface="Calibri"/>
                        </a:rPr>
                        <a:t>Shareholder loan share of sponsor funding</a:t>
                      </a:r>
                    </a:p>
                  </a:txBody>
                  <a:tcPr marL="64008" marR="64008" marT="27432" marB="27432" anchor="ctr">
                    <a:solidFill>
                      <a:srgbClr val="FFFFFF"/>
                    </a:solidFill>
                  </a:tcPr>
                </a:tc>
                <a:tc>
                  <a:txBody>
                    <a:bodyPr wrap="square"/>
                    <a:lstStyle/>
                    <a:p>
                      <a:r>
                        <a:rPr b="0" sz="1200" i="0">
                          <a:solidFill>
                            <a:srgbClr val="1A2233"/>
                          </a:solidFill>
                          <a:latin typeface="Consolas"/>
                        </a:rPr>
                        <a:t>F: =InpC!F$147</a:t>
                      </a:r>
                    </a:p>
                  </a:txBody>
                  <a:tcPr marL="64008" marR="64008" marT="27432" marB="27432" anchor="ctr">
                    <a:solidFill>
                      <a:srgbClr val="FFFFFF"/>
                    </a:solidFill>
                  </a:tcPr>
                </a:tc>
              </a:tr>
              <a:tr h="329184">
                <a:tc>
                  <a:txBody>
                    <a:bodyPr wrap="square"/>
                    <a:lstStyle/>
                    <a:p>
                      <a:r>
                        <a:rPr b="1" sz="1200" i="0">
                          <a:solidFill>
                            <a:srgbClr val="1A2233"/>
                          </a:solidFill>
                          <a:latin typeface="Calibri"/>
                        </a:rPr>
                        <a:t>10</a:t>
                      </a:r>
                    </a:p>
                  </a:txBody>
                  <a:tcPr marL="64008" marR="64008" marT="27432" marB="27432" anchor="ctr">
                    <a:solidFill>
                      <a:srgbClr val="F3F6F9"/>
                    </a:solidFill>
                  </a:tcPr>
                </a:tc>
                <a:tc>
                  <a:txBody>
                    <a:bodyPr wrap="square"/>
                    <a:lstStyle/>
                    <a:p>
                      <a:r>
                        <a:rPr b="0" sz="1200" i="0">
                          <a:solidFill>
                            <a:srgbClr val="1A2233"/>
                          </a:solidFill>
                          <a:latin typeface="Calibri"/>
                        </a:rPr>
                        <a:t>Shareholder loan interest rate</a:t>
                      </a:r>
                    </a:p>
                  </a:txBody>
                  <a:tcPr marL="64008" marR="64008" marT="27432" marB="27432" anchor="ctr">
                    <a:solidFill>
                      <a:srgbClr val="F3F6F9"/>
                    </a:solidFill>
                  </a:tcPr>
                </a:tc>
                <a:tc>
                  <a:txBody>
                    <a:bodyPr wrap="square"/>
                    <a:lstStyle/>
                    <a:p>
                      <a:r>
                        <a:rPr b="0" sz="1200" i="0">
                          <a:solidFill>
                            <a:srgbClr val="1A2233"/>
                          </a:solidFill>
                          <a:latin typeface="Consolas"/>
                        </a:rPr>
                        <a:t>F: =InpC!F$148</a:t>
                      </a:r>
                    </a:p>
                  </a:txBody>
                  <a:tcPr marL="64008" marR="64008" marT="27432" marB="27432" anchor="ctr">
                    <a:solidFill>
                      <a:srgbClr val="F3F6F9"/>
                    </a:solidFill>
                  </a:tcPr>
                </a:tc>
              </a:tr>
              <a:tr h="329184">
                <a:tc>
                  <a:txBody>
                    <a:bodyPr wrap="square"/>
                    <a:lstStyle/>
                    <a:p>
                      <a:r>
                        <a:rPr b="1" sz="1200" i="0">
                          <a:solidFill>
                            <a:srgbClr val="1A2233"/>
                          </a:solidFill>
                          <a:latin typeface="Calibri"/>
                        </a:rPr>
                        <a:t>12</a:t>
                      </a:r>
                    </a:p>
                  </a:txBody>
                  <a:tcPr marL="64008" marR="64008" marT="27432" marB="27432" anchor="ctr">
                    <a:solidFill>
                      <a:srgbClr val="FFFFFF"/>
                    </a:solidFill>
                  </a:tcPr>
                </a:tc>
                <a:tc>
                  <a:txBody>
                    <a:bodyPr wrap="square"/>
                    <a:lstStyle/>
                    <a:p>
                      <a:r>
                        <a:rPr b="0" sz="1200" i="0">
                          <a:solidFill>
                            <a:srgbClr val="1A2233"/>
                          </a:solidFill>
                          <a:latin typeface="Calibri"/>
                        </a:rPr>
                        <a:t>Sponsor funding at COD</a:t>
                      </a:r>
                    </a:p>
                  </a:txBody>
                  <a:tcPr marL="64008" marR="64008" marT="27432" marB="27432" anchor="ctr">
                    <a:solidFill>
                      <a:srgbClr val="FFFFFF"/>
                    </a:solidFill>
                  </a:tcPr>
                </a:tc>
                <a:tc>
                  <a:txBody>
                    <a:bodyPr wrap="square"/>
                    <a:lstStyle/>
                    <a:p>
                      <a:r>
                        <a:rPr b="0" sz="1200" i="0">
                          <a:solidFill>
                            <a:srgbClr val="1A2233"/>
                          </a:solidFill>
                          <a:latin typeface="Consolas"/>
                        </a:rPr>
                        <a:t>F: =Constr!F54</a:t>
                      </a:r>
                    </a:p>
                  </a:txBody>
                  <a:tcPr marL="64008" marR="64008" marT="27432" marB="27432" anchor="ctr">
                    <a:solidFill>
                      <a:srgbClr val="FFFFFF"/>
                    </a:solidFill>
                  </a:tcPr>
                </a:tc>
              </a:tr>
              <a:tr h="329184">
                <a:tc>
                  <a:txBody>
                    <a:bodyPr wrap="square"/>
                    <a:lstStyle/>
                    <a:p>
                      <a:r>
                        <a:rPr b="1" sz="1200" i="0">
                          <a:solidFill>
                            <a:srgbClr val="1A2233"/>
                          </a:solidFill>
                          <a:latin typeface="Calibri"/>
                        </a:rPr>
                        <a:t>13</a:t>
                      </a:r>
                    </a:p>
                  </a:txBody>
                  <a:tcPr marL="64008" marR="64008" marT="27432" marB="27432" anchor="ctr">
                    <a:solidFill>
                      <a:srgbClr val="F3F6F9"/>
                    </a:solidFill>
                  </a:tcPr>
                </a:tc>
                <a:tc>
                  <a:txBody>
                    <a:bodyPr wrap="square"/>
                    <a:lstStyle/>
                    <a:p>
                      <a:r>
                        <a:rPr b="0" sz="1200" i="0">
                          <a:solidFill>
                            <a:srgbClr val="1A2233"/>
                          </a:solidFill>
                          <a:latin typeface="Calibri"/>
                        </a:rPr>
                        <a:t>Shareholder loan - initial balance</a:t>
                      </a:r>
                    </a:p>
                  </a:txBody>
                  <a:tcPr marL="64008" marR="64008" marT="27432" marB="27432" anchor="ctr">
                    <a:solidFill>
                      <a:srgbClr val="F3F6F9"/>
                    </a:solidFill>
                  </a:tcPr>
                </a:tc>
                <a:tc>
                  <a:txBody>
                    <a:bodyPr wrap="square"/>
                    <a:lstStyle/>
                    <a:p>
                      <a:r>
                        <a:rPr b="0" sz="1200" i="0">
                          <a:solidFill>
                            <a:srgbClr val="1A2233"/>
                          </a:solidFill>
                          <a:latin typeface="Consolas"/>
                        </a:rPr>
                        <a:t>F: =F12*F9</a:t>
                      </a:r>
                    </a:p>
                  </a:txBody>
                  <a:tcPr marL="64008" marR="64008" marT="27432" marB="27432" anchor="ctr">
                    <a:solidFill>
                      <a:srgbClr val="F3F6F9"/>
                    </a:solidFill>
                  </a:tcPr>
                </a:tc>
              </a:tr>
              <a:tr h="329184">
                <a:tc>
                  <a:txBody>
                    <a:bodyPr wrap="square"/>
                    <a:lstStyle/>
                    <a:p>
                      <a:r>
                        <a:rPr b="1" sz="1200" i="0">
                          <a:solidFill>
                            <a:srgbClr val="1A2233"/>
                          </a:solidFill>
                          <a:latin typeface="Calibri"/>
                        </a:rPr>
                        <a:t>14</a:t>
                      </a:r>
                    </a:p>
                  </a:txBody>
                  <a:tcPr marL="64008" marR="64008" marT="27432" marB="27432" anchor="ctr">
                    <a:solidFill>
                      <a:srgbClr val="FFFFFF"/>
                    </a:solidFill>
                  </a:tcPr>
                </a:tc>
                <a:tc>
                  <a:txBody>
                    <a:bodyPr wrap="square"/>
                    <a:lstStyle/>
                    <a:p>
                      <a:r>
                        <a:rPr b="0" sz="1200" i="0">
                          <a:solidFill>
                            <a:srgbClr val="1A2233"/>
                          </a:solidFill>
                          <a:latin typeface="Calibri"/>
                        </a:rPr>
                        <a:t>Share capital - initial balance</a:t>
                      </a:r>
                    </a:p>
                  </a:txBody>
                  <a:tcPr marL="64008" marR="64008" marT="27432" marB="27432" anchor="ctr">
                    <a:solidFill>
                      <a:srgbClr val="FFFFFF"/>
                    </a:solidFill>
                  </a:tcPr>
                </a:tc>
                <a:tc>
                  <a:txBody>
                    <a:bodyPr wrap="square"/>
                    <a:lstStyle/>
                    <a:p>
                      <a:r>
                        <a:rPr b="0" sz="1200" i="0">
                          <a:solidFill>
                            <a:srgbClr val="1A2233"/>
                          </a:solidFill>
                          <a:latin typeface="Consolas"/>
                        </a:rPr>
                        <a:t>F: =F12-F13</a:t>
                      </a:r>
                    </a:p>
                  </a:txBody>
                  <a:tcPr marL="64008" marR="64008" marT="27432" marB="27432" anchor="ctr">
                    <a:solidFill>
                      <a:srgbClr val="FFFFFF"/>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SHL!F13: shareholder loan initial balance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SHL</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F13</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Shareholder loan - initial balance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=F12*F9</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Shareholder loan initial balance = sponsor funding (F12 = Constr!F54) × shareholder loan share (F9 = 60%)</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F9 = InpC!F$147</a:t>
            </a:r>
          </a:p>
          <a:p>
            <a:pPr algn="l"/>
            <a:r>
              <a:rPr b="0" sz="1300" i="0">
                <a:solidFill>
                  <a:srgbClr val="1A2233"/>
                </a:solidFill>
                <a:latin typeface="Consolas"/>
              </a:rPr>
              <a:t>F12 = Constr!F$54</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F13,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F13,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5" name="Rectangle 24"/>
          <p:cNvSpPr/>
          <p:nvPr/>
        </p:nvSpPr>
        <p:spPr>
          <a:xfrm>
            <a:off x="548640" y="5596128"/>
            <a:ext cx="544068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F13 = 17,348.1</a:t>
            </a:r>
          </a:p>
        </p:txBody>
      </p:sp>
      <p:sp>
        <p:nvSpPr>
          <p:cNvPr id="26" name="Rectangle 25"/>
          <p:cNvSpPr/>
          <p:nvPr/>
        </p:nvSpPr>
        <p:spPr>
          <a:xfrm>
            <a:off x="6080759" y="5596128"/>
            <a:ext cx="544068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The split of the sponsor's cheque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SHL!F14: share capital initial balance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SHL</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F14</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Share capital - initial balance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=F12-F13</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Share capital initial balance = sponsor funding − loan</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F14,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F14,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544068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F14 = 11,565.4</a:t>
            </a:r>
          </a:p>
        </p:txBody>
      </p:sp>
      <p:sp>
        <p:nvSpPr>
          <p:cNvPr id="24" name="Rectangle 23"/>
          <p:cNvSpPr/>
          <p:nvPr/>
        </p:nvSpPr>
        <p:spPr>
          <a:xfrm>
            <a:off x="6080759" y="5596128"/>
            <a:ext cx="544068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Equity!F16 now points here (</a:t>
            </a:r>
            <a:r>
              <a:rPr b="0" sz="1200" i="0">
                <a:solidFill>
                  <a:srgbClr val="0B5E82"/>
                </a:solidFill>
                <a:latin typeface="Consolas"/>
              </a:rPr>
              <a:t>=SHL!$F$14</a:t>
            </a:r>
            <a:r>
              <a:rPr b="0" sz="1200" i="0">
                <a:solidFill>
                  <a:srgbClr val="1A2233"/>
                </a:solidFill>
                <a:latin typeface="Calibri"/>
              </a:rPr>
              <a: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SHL block 2: the loan waterfall (rows 16 to 24)</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291840"/>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16</a:t>
                      </a:r>
                    </a:p>
                  </a:txBody>
                  <a:tcPr marL="64008" marR="64008" marT="27432" marB="27432" anchor="ctr">
                    <a:solidFill>
                      <a:srgbClr val="FFFFFF"/>
                    </a:solidFill>
                  </a:tcPr>
                </a:tc>
                <a:tc>
                  <a:txBody>
                    <a:bodyPr wrap="square"/>
                    <a:lstStyle/>
                    <a:p>
                      <a:r>
                        <a:rPr b="0" sz="1200" i="0">
                          <a:solidFill>
                            <a:srgbClr val="1A2233"/>
                          </a:solidFill>
                          <a:latin typeface="Calibri"/>
                        </a:rPr>
                        <a:t>Cash available for shareholder loan</a:t>
                      </a:r>
                    </a:p>
                  </a:txBody>
                  <a:tcPr marL="64008" marR="64008" marT="27432" marB="27432" anchor="ctr">
                    <a:solidFill>
                      <a:srgbClr val="FFFFFF"/>
                    </a:solidFill>
                  </a:tcPr>
                </a:tc>
                <a:tc>
                  <a:txBody>
                    <a:bodyPr wrap="square"/>
                    <a:lstStyle/>
                    <a:p>
                      <a:r>
                        <a:rPr b="0" sz="1200" i="0">
                          <a:solidFill>
                            <a:srgbClr val="1A2233"/>
                          </a:solidFill>
                          <a:latin typeface="Consolas"/>
                        </a:rPr>
                        <a:t>J: =MAX(FinStat!J$43+DSRA!J$17,0)</a:t>
                      </a:r>
                    </a:p>
                  </a:txBody>
                  <a:tcPr marL="64008" marR="64008" marT="27432" marB="27432" anchor="ctr">
                    <a:solidFill>
                      <a:srgbClr val="FFFFFF"/>
                    </a:solidFill>
                  </a:tcPr>
                </a:tc>
              </a:tr>
              <a:tr h="329184">
                <a:tc>
                  <a:txBody>
                    <a:bodyPr wrap="square"/>
                    <a:lstStyle/>
                    <a:p>
                      <a:r>
                        <a:rPr b="1" sz="1200" i="0">
                          <a:solidFill>
                            <a:srgbClr val="1A2233"/>
                          </a:solidFill>
                          <a:latin typeface="Calibri"/>
                        </a:rPr>
                        <a:t>17</a:t>
                      </a:r>
                    </a:p>
                  </a:txBody>
                  <a:tcPr marL="64008" marR="64008" marT="27432" marB="27432" anchor="ctr">
                    <a:solidFill>
                      <a:srgbClr val="F3F6F9"/>
                    </a:solidFill>
                  </a:tcPr>
                </a:tc>
                <a:tc>
                  <a:txBody>
                    <a:bodyPr wrap="square"/>
                    <a:lstStyle/>
                    <a:p>
                      <a:r>
                        <a:rPr b="0" sz="1200" i="0">
                          <a:solidFill>
                            <a:srgbClr val="1A2233"/>
                          </a:solidFill>
                          <a:latin typeface="Calibri"/>
                        </a:rPr>
                        <a:t>Post-senior-loan flag</a:t>
                      </a:r>
                    </a:p>
                  </a:txBody>
                  <a:tcPr marL="64008" marR="64008" marT="27432" marB="27432" anchor="ctr">
                    <a:solidFill>
                      <a:srgbClr val="F3F6F9"/>
                    </a:solidFill>
                  </a:tcPr>
                </a:tc>
                <a:tc>
                  <a:txBody>
                    <a:bodyPr wrap="square"/>
                    <a:lstStyle/>
                    <a:p>
                      <a:r>
                        <a:rPr b="0" sz="1200" i="0">
                          <a:solidFill>
                            <a:srgbClr val="1A2233"/>
                          </a:solidFill>
                          <a:latin typeface="Consolas"/>
                        </a:rPr>
                        <a:t>J: =IF(Sculpt!J$11&gt;Sculpt!$F$9,1,0)</a:t>
                      </a:r>
                    </a:p>
                  </a:txBody>
                  <a:tcPr marL="64008" marR="64008" marT="27432" marB="27432" anchor="ctr">
                    <a:solidFill>
                      <a:srgbClr val="F3F6F9"/>
                    </a:solidFill>
                  </a:tcPr>
                </a:tc>
              </a:tr>
              <a:tr h="329184">
                <a:tc>
                  <a:txBody>
                    <a:bodyPr wrap="square"/>
                    <a:lstStyle/>
                    <a:p>
                      <a:r>
                        <a:rPr b="1" sz="1200" i="0">
                          <a:solidFill>
                            <a:srgbClr val="1A2233"/>
                          </a:solidFill>
                          <a:latin typeface="Calibri"/>
                        </a:rPr>
                        <a:t>18</a:t>
                      </a:r>
                    </a:p>
                  </a:txBody>
                  <a:tcPr marL="64008" marR="64008" marT="27432" marB="27432" anchor="ctr">
                    <a:solidFill>
                      <a:srgbClr val="FFFFFF"/>
                    </a:solidFill>
                  </a:tcPr>
                </a:tc>
                <a:tc>
                  <a:txBody>
                    <a:bodyPr wrap="square"/>
                    <a:lstStyle/>
                    <a:p>
                      <a:r>
                        <a:rPr b="0" sz="1200" i="0">
                          <a:solidFill>
                            <a:srgbClr val="1A2233"/>
                          </a:solidFill>
                          <a:latin typeface="Calibri"/>
                        </a:rPr>
                        <a:t>Days in period</a:t>
                      </a:r>
                    </a:p>
                  </a:txBody>
                  <a:tcPr marL="64008" marR="64008" marT="27432" marB="27432" anchor="ctr">
                    <a:solidFill>
                      <a:srgbClr val="FFFFFF"/>
                    </a:solidFill>
                  </a:tcPr>
                </a:tc>
                <a:tc>
                  <a:txBody>
                    <a:bodyPr wrap="square"/>
                    <a:lstStyle/>
                    <a:p>
                      <a:r>
                        <a:rPr b="0" sz="1200" i="0">
                          <a:solidFill>
                            <a:srgbClr val="1A2233"/>
                          </a:solidFill>
                          <a:latin typeface="Consolas"/>
                        </a:rPr>
                        <a:t>J: =Time!J$30</a:t>
                      </a:r>
                    </a:p>
                  </a:txBody>
                  <a:tcPr marL="64008" marR="64008" marT="27432" marB="27432" anchor="ctr">
                    <a:solidFill>
                      <a:srgbClr val="FFFFFF"/>
                    </a:solidFill>
                  </a:tcPr>
                </a:tc>
              </a:tr>
              <a:tr h="329184">
                <a:tc>
                  <a:txBody>
                    <a:bodyPr wrap="square"/>
                    <a:lstStyle/>
                    <a:p>
                      <a:r>
                        <a:rPr b="1" sz="1200" i="0">
                          <a:solidFill>
                            <a:srgbClr val="1A2233"/>
                          </a:solidFill>
                          <a:latin typeface="Calibri"/>
                        </a:rPr>
                        <a:t>19</a:t>
                      </a:r>
                    </a:p>
                  </a:txBody>
                  <a:tcPr marL="64008" marR="64008" marT="27432" marB="27432" anchor="ctr">
                    <a:solidFill>
                      <a:srgbClr val="F3F6F9"/>
                    </a:solidFill>
                  </a:tcPr>
                </a:tc>
                <a:tc>
                  <a:txBody>
                    <a:bodyPr wrap="square"/>
                    <a:lstStyle/>
                    <a:p>
                      <a:r>
                        <a:rPr b="0" sz="1200" i="0">
                          <a:solidFill>
                            <a:srgbClr val="1A2233"/>
                          </a:solidFill>
                          <a:latin typeface="Calibri"/>
                        </a:rPr>
                        <a:t>Shareholder loan balance BEG</a:t>
                      </a:r>
                    </a:p>
                  </a:txBody>
                  <a:tcPr marL="64008" marR="64008" marT="27432" marB="27432" anchor="ctr">
                    <a:solidFill>
                      <a:srgbClr val="F3F6F9"/>
                    </a:solidFill>
                  </a:tcPr>
                </a:tc>
                <a:tc>
                  <a:txBody>
                    <a:bodyPr wrap="square"/>
                    <a:lstStyle/>
                    <a:p>
                      <a:r>
                        <a:rPr b="0" sz="1200" i="0">
                          <a:solidFill>
                            <a:srgbClr val="1A2233"/>
                          </a:solidFill>
                          <a:latin typeface="Consolas"/>
                        </a:rPr>
                        <a:t>J: =I24</a:t>
                      </a:r>
                    </a:p>
                  </a:txBody>
                  <a:tcPr marL="64008" marR="64008" marT="27432" marB="27432" anchor="ctr">
                    <a:solidFill>
                      <a:srgbClr val="F3F6F9"/>
                    </a:solidFill>
                  </a:tcPr>
                </a:tc>
              </a:tr>
              <a:tr h="329184">
                <a:tc>
                  <a:txBody>
                    <a:bodyPr wrap="square"/>
                    <a:lstStyle/>
                    <a:p>
                      <a:r>
                        <a:rPr b="1" sz="1200" i="0">
                          <a:solidFill>
                            <a:srgbClr val="1A2233"/>
                          </a:solidFill>
                          <a:latin typeface="Calibri"/>
                        </a:rPr>
                        <a:t>20</a:t>
                      </a:r>
                    </a:p>
                  </a:txBody>
                  <a:tcPr marL="64008" marR="64008" marT="27432" marB="27432" anchor="ctr">
                    <a:solidFill>
                      <a:srgbClr val="FFFFFF"/>
                    </a:solidFill>
                  </a:tcPr>
                </a:tc>
                <a:tc>
                  <a:txBody>
                    <a:bodyPr wrap="square"/>
                    <a:lstStyle/>
                    <a:p>
                      <a:r>
                        <a:rPr b="0" sz="1200" i="0">
                          <a:solidFill>
                            <a:srgbClr val="1A2233"/>
                          </a:solidFill>
                          <a:latin typeface="Calibri"/>
                        </a:rPr>
                        <a:t>Interest due</a:t>
                      </a:r>
                    </a:p>
                  </a:txBody>
                  <a:tcPr marL="64008" marR="64008" marT="27432" marB="27432" anchor="ctr">
                    <a:solidFill>
                      <a:srgbClr val="FFFFFF"/>
                    </a:solidFill>
                  </a:tcPr>
                </a:tc>
                <a:tc>
                  <a:txBody>
                    <a:bodyPr wrap="square"/>
                    <a:lstStyle/>
                    <a:p>
                      <a:r>
                        <a:rPr b="0" sz="1200" i="0">
                          <a:solidFill>
                            <a:srgbClr val="1A2233"/>
                          </a:solidFill>
                          <a:latin typeface="Consolas"/>
                        </a:rPr>
                        <a:t>J: =J19*$F$10/$F$11*J18</a:t>
                      </a:r>
                    </a:p>
                  </a:txBody>
                  <a:tcPr marL="64008" marR="64008" marT="27432" marB="27432" anchor="ctr">
                    <a:solidFill>
                      <a:srgbClr val="FFFFFF"/>
                    </a:solidFill>
                  </a:tcPr>
                </a:tc>
              </a:tr>
              <a:tr h="329184">
                <a:tc>
                  <a:txBody>
                    <a:bodyPr wrap="square"/>
                    <a:lstStyle/>
                    <a:p>
                      <a:r>
                        <a:rPr b="1" sz="1200" i="0">
                          <a:solidFill>
                            <a:srgbClr val="1A2233"/>
                          </a:solidFill>
                          <a:latin typeface="Calibri"/>
                        </a:rPr>
                        <a:t>21</a:t>
                      </a:r>
                    </a:p>
                  </a:txBody>
                  <a:tcPr marL="64008" marR="64008" marT="27432" marB="27432" anchor="ctr">
                    <a:solidFill>
                      <a:srgbClr val="F3F6F9"/>
                    </a:solidFill>
                  </a:tcPr>
                </a:tc>
                <a:tc>
                  <a:txBody>
                    <a:bodyPr wrap="square"/>
                    <a:lstStyle/>
                    <a:p>
                      <a:r>
                        <a:rPr b="0" sz="1200" i="0">
                          <a:solidFill>
                            <a:srgbClr val="1A2233"/>
                          </a:solidFill>
                          <a:latin typeface="Calibri"/>
                        </a:rPr>
                        <a:t>Interest paid</a:t>
                      </a:r>
                    </a:p>
                  </a:txBody>
                  <a:tcPr marL="64008" marR="64008" marT="27432" marB="27432" anchor="ctr">
                    <a:solidFill>
                      <a:srgbClr val="F3F6F9"/>
                    </a:solidFill>
                  </a:tcPr>
                </a:tc>
                <a:tc>
                  <a:txBody>
                    <a:bodyPr wrap="square"/>
                    <a:lstStyle/>
                    <a:p>
                      <a:r>
                        <a:rPr b="0" sz="1200" i="0">
                          <a:solidFill>
                            <a:srgbClr val="1A2233"/>
                          </a:solidFill>
                          <a:latin typeface="Consolas"/>
                        </a:rPr>
                        <a:t>J: =MIN(J20,J16)</a:t>
                      </a:r>
                    </a:p>
                  </a:txBody>
                  <a:tcPr marL="64008" marR="64008" marT="27432" marB="27432" anchor="ctr">
                    <a:solidFill>
                      <a:srgbClr val="F3F6F9"/>
                    </a:solidFill>
                  </a:tcPr>
                </a:tc>
              </a:tr>
              <a:tr h="329184">
                <a:tc>
                  <a:txBody>
                    <a:bodyPr wrap="square"/>
                    <a:lstStyle/>
                    <a:p>
                      <a:r>
                        <a:rPr b="1" sz="1200" i="0">
                          <a:solidFill>
                            <a:srgbClr val="1A2233"/>
                          </a:solidFill>
                          <a:latin typeface="Calibri"/>
                        </a:rPr>
                        <a:t>22</a:t>
                      </a:r>
                    </a:p>
                  </a:txBody>
                  <a:tcPr marL="64008" marR="64008" marT="27432" marB="27432" anchor="ctr">
                    <a:solidFill>
                      <a:srgbClr val="FFFFFF"/>
                    </a:solidFill>
                  </a:tcPr>
                </a:tc>
                <a:tc>
                  <a:txBody>
                    <a:bodyPr wrap="square"/>
                    <a:lstStyle/>
                    <a:p>
                      <a:r>
                        <a:rPr b="0" sz="1200" i="0">
                          <a:solidFill>
                            <a:srgbClr val="1A2233"/>
                          </a:solidFill>
                          <a:latin typeface="Calibri"/>
                        </a:rPr>
                        <a:t>Interest capitalised (unpaid)</a:t>
                      </a:r>
                    </a:p>
                  </a:txBody>
                  <a:tcPr marL="64008" marR="64008" marT="27432" marB="27432" anchor="ctr">
                    <a:solidFill>
                      <a:srgbClr val="FFFFFF"/>
                    </a:solidFill>
                  </a:tcPr>
                </a:tc>
                <a:tc>
                  <a:txBody>
                    <a:bodyPr wrap="square"/>
                    <a:lstStyle/>
                    <a:p>
                      <a:r>
                        <a:rPr b="0" sz="1200" i="0">
                          <a:solidFill>
                            <a:srgbClr val="1A2233"/>
                          </a:solidFill>
                          <a:latin typeface="Consolas"/>
                        </a:rPr>
                        <a:t>J: =J20-J21</a:t>
                      </a:r>
                    </a:p>
                  </a:txBody>
                  <a:tcPr marL="64008" marR="64008" marT="27432" marB="27432" anchor="ctr">
                    <a:solidFill>
                      <a:srgbClr val="FFFFFF"/>
                    </a:solidFill>
                  </a:tcPr>
                </a:tc>
              </a:tr>
              <a:tr h="329184">
                <a:tc>
                  <a:txBody>
                    <a:bodyPr wrap="square"/>
                    <a:lstStyle/>
                    <a:p>
                      <a:r>
                        <a:rPr b="1" sz="1200" i="0">
                          <a:solidFill>
                            <a:srgbClr val="1A2233"/>
                          </a:solidFill>
                          <a:latin typeface="Calibri"/>
                        </a:rPr>
                        <a:t>23</a:t>
                      </a:r>
                    </a:p>
                  </a:txBody>
                  <a:tcPr marL="64008" marR="64008" marT="27432" marB="27432" anchor="ctr">
                    <a:solidFill>
                      <a:srgbClr val="F3F6F9"/>
                    </a:solidFill>
                  </a:tcPr>
                </a:tc>
                <a:tc>
                  <a:txBody>
                    <a:bodyPr wrap="square"/>
                    <a:lstStyle/>
                    <a:p>
                      <a:r>
                        <a:rPr b="0" sz="1200" i="0">
                          <a:solidFill>
                            <a:srgbClr val="1A2233"/>
                          </a:solidFill>
                          <a:latin typeface="Calibri"/>
                        </a:rPr>
                        <a:t>Principal repaid</a:t>
                      </a:r>
                    </a:p>
                  </a:txBody>
                  <a:tcPr marL="64008" marR="64008" marT="27432" marB="27432" anchor="ctr">
                    <a:solidFill>
                      <a:srgbClr val="F3F6F9"/>
                    </a:solidFill>
                  </a:tcPr>
                </a:tc>
                <a:tc>
                  <a:txBody>
                    <a:bodyPr wrap="square"/>
                    <a:lstStyle/>
                    <a:p>
                      <a:r>
                        <a:rPr b="0" sz="1200" i="0">
                          <a:solidFill>
                            <a:srgbClr val="1A2233"/>
                          </a:solidFill>
                          <a:latin typeface="Consolas"/>
                        </a:rPr>
                        <a:t>J: =J17*MIN(J19+J22,J16-J21)</a:t>
                      </a:r>
                    </a:p>
                  </a:txBody>
                  <a:tcPr marL="64008" marR="64008" marT="27432" marB="27432" anchor="ctr">
                    <a:solidFill>
                      <a:srgbClr val="F3F6F9"/>
                    </a:solidFill>
                  </a:tcPr>
                </a:tc>
              </a:tr>
              <a:tr h="329184">
                <a:tc>
                  <a:txBody>
                    <a:bodyPr wrap="square"/>
                    <a:lstStyle/>
                    <a:p>
                      <a:r>
                        <a:rPr b="1" sz="1200" i="0">
                          <a:solidFill>
                            <a:srgbClr val="1A2233"/>
                          </a:solidFill>
                          <a:latin typeface="Calibri"/>
                        </a:rPr>
                        <a:t>24</a:t>
                      </a:r>
                    </a:p>
                  </a:txBody>
                  <a:tcPr marL="64008" marR="64008" marT="27432" marB="27432" anchor="ctr">
                    <a:solidFill>
                      <a:srgbClr val="FFFFFF"/>
                    </a:solidFill>
                  </a:tcPr>
                </a:tc>
                <a:tc>
                  <a:txBody>
                    <a:bodyPr wrap="square"/>
                    <a:lstStyle/>
                    <a:p>
                      <a:r>
                        <a:rPr b="0" sz="1200" i="0">
                          <a:solidFill>
                            <a:srgbClr val="1A2233"/>
                          </a:solidFill>
                          <a:latin typeface="Calibri"/>
                        </a:rPr>
                        <a:t>Shareholder loan balance END</a:t>
                      </a:r>
                    </a:p>
                  </a:txBody>
                  <a:tcPr marL="64008" marR="64008" marT="27432" marB="27432" anchor="ctr">
                    <a:solidFill>
                      <a:srgbClr val="FFFFFF"/>
                    </a:solidFill>
                  </a:tcPr>
                </a:tc>
                <a:tc>
                  <a:txBody>
                    <a:bodyPr wrap="square"/>
                    <a:lstStyle/>
                    <a:p>
                      <a:r>
                        <a:rPr b="0" sz="1200" i="0">
                          <a:solidFill>
                            <a:srgbClr val="1A2233"/>
                          </a:solidFill>
                          <a:latin typeface="Consolas"/>
                        </a:rPr>
                        <a:t>J: =IF(Time!J$45=1,$F$13,J19+J22-J23)</a:t>
                      </a:r>
                    </a:p>
                  </a:txBody>
                  <a:tcPr marL="64008" marR="64008" marT="27432" marB="27432" anchor="ctr">
                    <a:solidFill>
                      <a:srgbClr val="FFFFFF"/>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SHL!J16: cash available for shareholder loan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SHL</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J16  (to CO16)</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Cash available for shareholder loan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=MAX(FinStat!J$43+DSRA!J$17,0)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Cash available after senior debt service and the DSRA: FinStat's cash flow to shareholders plus the DSRA movement; never below zero</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FinStat!J43 = cash flow available to shareholders</a:t>
            </a:r>
          </a:p>
          <a:p>
            <a:pPr algn="l"/>
            <a:r>
              <a:rPr b="0" sz="1300" i="0">
                <a:solidFill>
                  <a:srgbClr val="1A2233"/>
                </a:solidFill>
                <a:latin typeface="Consolas"/>
              </a:rPr>
              <a:t>DSRA!J17 = DSRA (funding) / release</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300" i="0">
                <a:solidFill>
                  <a:srgbClr val="1A2233"/>
                </a:solidFill>
                <a:latin typeface="Consolas"/>
              </a:rPr>
              <a:t>Ctrl+G, then type</a:t>
            </a:r>
          </a:p>
          <a:p>
            <a:pPr algn="l"/>
            <a:r>
              <a:rPr b="0" sz="1300" i="0">
                <a:solidFill>
                  <a:srgbClr val="1A2233"/>
                </a:solidFill>
                <a:latin typeface="Consolas"/>
              </a:rPr>
              <a:t>J16:CO16, Enter</a:t>
            </a:r>
          </a:p>
          <a:p>
            <a:pPr algn="l"/>
            <a:r>
              <a:rPr b="0" sz="1300" i="0">
                <a:solidFill>
                  <a:srgbClr val="1A2233"/>
                </a:solidFill>
                <a:latin typeface="Consolas"/>
              </a:rPr>
              <a:t>Type the formula</a:t>
            </a:r>
          </a:p>
          <a:p>
            <a:pPr algn="l"/>
            <a:r>
              <a:rPr b="0" sz="1300" i="0">
                <a:solidFill>
                  <a:srgbClr val="1A2233"/>
                </a:solidFill>
                <a:latin typeface="Consolas"/>
              </a:rPr>
              <a:t>Ctrl+Enter fills the range</a:t>
            </a:r>
          </a:p>
          <a:p>
            <a:pPr algn="l"/>
            <a:r>
              <a:rPr b="0" sz="1300" i="0">
                <a:solidFill>
                  <a:srgbClr val="1A2233"/>
                </a:solidFill>
                <a:latin typeface="Consolas"/>
              </a:rPr>
              <a:t>F4 cycles the $ signs</a:t>
            </a:r>
          </a:p>
          <a:p>
            <a:pPr algn="l"/>
            <a:r>
              <a:rPr b="0" sz="1300" i="0">
                <a:solidFill>
                  <a:srgbClr val="1A2233"/>
                </a:solidFill>
                <a:latin typeface="Consolas"/>
              </a:rPr>
              <a:t>Sheets: Ctrl+PgUp/PgDn</a:t>
            </a:r>
          </a:p>
          <a:p>
            <a:pPr algn="l"/>
            <a:r>
              <a:rPr b="0" sz="13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300" i="0">
                <a:solidFill>
                  <a:srgbClr val="1A2233"/>
                </a:solidFill>
                <a:latin typeface="Consolas"/>
              </a:rPr>
              <a:t>Ctrl+G, then type</a:t>
            </a:r>
          </a:p>
          <a:p>
            <a:pPr algn="l"/>
            <a:r>
              <a:rPr b="0" sz="1300" i="0">
                <a:solidFill>
                  <a:srgbClr val="1A2233"/>
                </a:solidFill>
                <a:latin typeface="Consolas"/>
              </a:rPr>
              <a:t>J16:CO16, Return</a:t>
            </a:r>
          </a:p>
          <a:p>
            <a:pPr algn="l"/>
            <a:r>
              <a:rPr b="0" sz="1300" i="0">
                <a:solidFill>
                  <a:srgbClr val="1A2233"/>
                </a:solidFill>
                <a:latin typeface="Consolas"/>
              </a:rPr>
              <a:t>Type the formula</a:t>
            </a:r>
          </a:p>
          <a:p>
            <a:pPr algn="l"/>
            <a:r>
              <a:rPr b="0" sz="1300" i="0">
                <a:solidFill>
                  <a:srgbClr val="1A2233"/>
                </a:solidFill>
                <a:latin typeface="Consolas"/>
              </a:rPr>
              <a:t>Ctrl+Return fills range</a:t>
            </a:r>
          </a:p>
          <a:p>
            <a:pPr algn="l"/>
            <a:r>
              <a:rPr b="0" sz="1300" i="0">
                <a:solidFill>
                  <a:srgbClr val="1A2233"/>
                </a:solidFill>
                <a:latin typeface="Consolas"/>
              </a:rPr>
              <a:t>Cmd+T (Fn+F4): $ signs</a:t>
            </a:r>
          </a:p>
          <a:p>
            <a:pPr algn="l"/>
            <a:r>
              <a:rPr b="0" sz="1300" i="0">
                <a:solidFill>
                  <a:srgbClr val="1A2233"/>
                </a:solidFill>
                <a:latin typeface="Consolas"/>
              </a:rPr>
              <a:t>Sheets: Option+←/→</a:t>
            </a:r>
          </a:p>
          <a:p>
            <a:pPr algn="l"/>
            <a:r>
              <a:rPr b="0" sz="13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J16 → CO16</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Positive in every operating quarter in the solved case</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Subordination: the loan is paid only from what is left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SHL!J20: interest due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SHL</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J20  (to CO20)</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Interest due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=J19*$F$10/$F$11*J18</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Interest due = opening balance × 10% ÷ 360 × days</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F10 = InpC!F$148</a:t>
            </a:r>
          </a:p>
          <a:p>
            <a:pPr algn="l"/>
            <a:r>
              <a:rPr b="0" sz="1300" i="0">
                <a:solidFill>
                  <a:srgbClr val="1A2233"/>
                </a:solidFill>
                <a:latin typeface="Consolas"/>
              </a:rPr>
              <a:t>J18 = Time!J$30</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J20:CO20,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J20:CO20,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J20 → CO20</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H20 = 18,824 total interest accrued</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Accrual basis: expensed and tax-deductible even if unpaid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SHL!J21: interest paid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SHL</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J21  (to CO21)</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Interest paid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=MIN(J20,J16)</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Interest paid = the smaller of interest due and cash available</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J21:CO21,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J21:CO21,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J21 → CO21</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H21 = 18,391 (all interest paid in the solved case)</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Cash constrains payment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SHL!J23: principal repaid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SHL</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J23  (to CO23)</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Principal repaid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=J17*MIN(J19+J22,J16-J21)</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Principal is repaid only after the senior loan is fully repaid (post-senior flag row 17 = 1)</a:t>
            </a:r>
          </a:p>
          <a:p>
            <a:pPr algn="l"/>
            <a:r>
              <a:rPr b="0" sz="1500" i="0">
                <a:solidFill>
                  <a:srgbClr val="1A2233"/>
                </a:solidFill>
                <a:latin typeface="Calibri"/>
              </a:rPr>
              <a:t>▪ Amount = the smaller of (balance + capitalised interest) and the cash left after interest</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J17 = IF(Sculpt!J$11&gt;Sculpt!$F$9,1,0)</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J23:CO23,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J23:CO23,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J23 → CO23</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H23 = 17,782 repaid after December 2031</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Senior lenders are repaid first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SHL!J24: shareholder loan balance END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SHL</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J24  (to CO24)</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Shareholder loan balance END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=IF(Time!J$45=1,$F$13,J19+J22-J23)</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At COD: the initial balance; otherwise opening + capitalised interest − principal</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300" i="0">
                <a:solidFill>
                  <a:srgbClr val="1A2233"/>
                </a:solidFill>
                <a:latin typeface="Consolas"/>
              </a:rPr>
              <a:t>Ctrl+G, then type</a:t>
            </a:r>
          </a:p>
          <a:p>
            <a:pPr algn="l"/>
            <a:r>
              <a:rPr b="0" sz="1300" i="0">
                <a:solidFill>
                  <a:srgbClr val="1A2233"/>
                </a:solidFill>
                <a:latin typeface="Consolas"/>
              </a:rPr>
              <a:t>J24:CO24, Enter</a:t>
            </a:r>
          </a:p>
          <a:p>
            <a:pPr algn="l"/>
            <a:r>
              <a:rPr b="0" sz="1300" i="0">
                <a:solidFill>
                  <a:srgbClr val="1A2233"/>
                </a:solidFill>
                <a:latin typeface="Consolas"/>
              </a:rPr>
              <a:t>Type the formula</a:t>
            </a:r>
          </a:p>
          <a:p>
            <a:pPr algn="l"/>
            <a:r>
              <a:rPr b="0" sz="1300" i="0">
                <a:solidFill>
                  <a:srgbClr val="1A2233"/>
                </a:solidFill>
                <a:latin typeface="Consolas"/>
              </a:rPr>
              <a:t>Ctrl+Enter fills the range</a:t>
            </a:r>
          </a:p>
          <a:p>
            <a:pPr algn="l"/>
            <a:r>
              <a:rPr b="0" sz="1300" i="0">
                <a:solidFill>
                  <a:srgbClr val="1A2233"/>
                </a:solidFill>
                <a:latin typeface="Consolas"/>
              </a:rPr>
              <a:t>F4 cycles the $ signs</a:t>
            </a:r>
          </a:p>
          <a:p>
            <a:pPr algn="l"/>
            <a:r>
              <a:rPr b="0" sz="1300" i="0">
                <a:solidFill>
                  <a:srgbClr val="1A2233"/>
                </a:solidFill>
                <a:latin typeface="Consolas"/>
              </a:rPr>
              <a:t>Sheets: Ctrl+PgUp/PgDn</a:t>
            </a:r>
          </a:p>
          <a:p>
            <a:pPr algn="l"/>
            <a:r>
              <a:rPr b="0" sz="13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300" i="0">
                <a:solidFill>
                  <a:srgbClr val="1A2233"/>
                </a:solidFill>
                <a:latin typeface="Consolas"/>
              </a:rPr>
              <a:t>Ctrl+G, then type</a:t>
            </a:r>
          </a:p>
          <a:p>
            <a:pPr algn="l"/>
            <a:r>
              <a:rPr b="0" sz="1300" i="0">
                <a:solidFill>
                  <a:srgbClr val="1A2233"/>
                </a:solidFill>
                <a:latin typeface="Consolas"/>
              </a:rPr>
              <a:t>J24:CO24, Return</a:t>
            </a:r>
          </a:p>
          <a:p>
            <a:pPr algn="l"/>
            <a:r>
              <a:rPr b="0" sz="1300" i="0">
                <a:solidFill>
                  <a:srgbClr val="1A2233"/>
                </a:solidFill>
                <a:latin typeface="Consolas"/>
              </a:rPr>
              <a:t>Type the formula</a:t>
            </a:r>
          </a:p>
          <a:p>
            <a:pPr algn="l"/>
            <a:r>
              <a:rPr b="0" sz="1300" i="0">
                <a:solidFill>
                  <a:srgbClr val="1A2233"/>
                </a:solidFill>
                <a:latin typeface="Consolas"/>
              </a:rPr>
              <a:t>Ctrl+Return fills range</a:t>
            </a:r>
          </a:p>
          <a:p>
            <a:pPr algn="l"/>
            <a:r>
              <a:rPr b="0" sz="1300" i="0">
                <a:solidFill>
                  <a:srgbClr val="1A2233"/>
                </a:solidFill>
                <a:latin typeface="Consolas"/>
              </a:rPr>
              <a:t>Cmd+T (Fn+F4): $ signs</a:t>
            </a:r>
          </a:p>
          <a:p>
            <a:pPr algn="l"/>
            <a:r>
              <a:rPr b="0" sz="1300" i="0">
                <a:solidFill>
                  <a:srgbClr val="1A2233"/>
                </a:solidFill>
                <a:latin typeface="Consolas"/>
              </a:rPr>
              <a:t>Sheets: Option+←/→</a:t>
            </a:r>
          </a:p>
          <a:p>
            <a:pPr algn="l"/>
            <a:r>
              <a:rPr b="0" sz="13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J24 → CO24</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Reaches zero shortly after the senior loan ends</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Roll-forward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INTEGRATION</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Changes to FinStat and Val for the shareholder loan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779776"/>
        </p:xfrm>
        <a:graphic>
          <a:graphicData uri="http://schemas.openxmlformats.org/drawingml/2006/table">
            <a:tbl>
              <a:tblPr firstRow="1" bandRow="1">
                <a:tableStyleId>{5C22544A-7EE6-4342-B048-85BDC9FD1C3A}</a:tableStyleId>
              </a:tblPr>
              <a:tblGrid>
                <a:gridCol w="1737360"/>
                <a:gridCol w="1371600"/>
                <a:gridCol w="3931920"/>
                <a:gridCol w="4023360"/>
              </a:tblGrid>
              <a:tr h="347472">
                <a:tc>
                  <a:txBody>
                    <a:bodyPr wrap="square"/>
                    <a:lstStyle/>
                    <a:p>
                      <a:r>
                        <a:rPr b="1" sz="1200" i="0">
                          <a:solidFill>
                            <a:srgbClr val="FFFFFF"/>
                          </a:solidFill>
                          <a:latin typeface="Calibri"/>
                        </a:rPr>
                        <a:t>Where</a:t>
                      </a:r>
                    </a:p>
                  </a:txBody>
                  <a:tcPr marL="64008" marR="64008" marT="27432" marB="27432" anchor="ctr">
                    <a:solidFill>
                      <a:srgbClr val="141B4D"/>
                    </a:solidFill>
                  </a:tcPr>
                </a:tc>
                <a:tc>
                  <a:txBody>
                    <a:bodyPr wrap="square"/>
                    <a:lstStyle/>
                    <a:p>
                      <a:r>
                        <a:rPr b="1" sz="1200" i="0">
                          <a:solidFill>
                            <a:srgbClr val="FFFFFF"/>
                          </a:solidFill>
                          <a:latin typeface="Calibri"/>
                        </a:rPr>
                        <a:t>Row (final)</a:t>
                      </a:r>
                    </a:p>
                  </a:txBody>
                  <a:tcPr marL="64008" marR="64008" marT="27432" marB="27432" anchor="ctr">
                    <a:solidFill>
                      <a:srgbClr val="141B4D"/>
                    </a:solidFill>
                  </a:tcPr>
                </a:tc>
                <a:tc>
                  <a:txBody>
                    <a:bodyPr wrap="square"/>
                    <a:lstStyle/>
                    <a:p>
                      <a:r>
                        <a:rPr b="1" sz="1200" i="0">
                          <a:solidFill>
                            <a:srgbClr val="FFFFFF"/>
                          </a:solidFill>
                          <a:latin typeface="Calibri"/>
                        </a:rPr>
                        <a:t>Formula (column J)</a:t>
                      </a:r>
                    </a:p>
                  </a:txBody>
                  <a:tcPr marL="64008" marR="64008" marT="27432" marB="27432" anchor="ctr">
                    <a:solidFill>
                      <a:srgbClr val="141B4D"/>
                    </a:solidFill>
                  </a:tcPr>
                </a:tc>
                <a:tc>
                  <a:txBody>
                    <a:bodyPr wrap="square"/>
                    <a:lstStyle/>
                    <a:p>
                      <a:r>
                        <a:rPr b="1" sz="1200" i="0">
                          <a:solidFill>
                            <a:srgbClr val="FFFFFF"/>
                          </a:solidFill>
                          <a:latin typeface="Calibri"/>
                        </a:rPr>
                        <a:t>Purpose</a:t>
                      </a:r>
                    </a:p>
                  </a:txBody>
                  <a:tcPr marL="64008" marR="64008" marT="27432" marB="27432" anchor="ctr">
                    <a:solidFill>
                      <a:srgbClr val="141B4D"/>
                    </a:solidFill>
                  </a:tcPr>
                </a:tc>
              </a:tr>
              <a:tr h="347472">
                <a:tc>
                  <a:txBody>
                    <a:bodyPr wrap="square"/>
                    <a:lstStyle/>
                    <a:p>
                      <a:r>
                        <a:rPr b="1" sz="1200" i="0">
                          <a:solidFill>
                            <a:srgbClr val="1A2233"/>
                          </a:solidFill>
                          <a:latin typeface="Calibri"/>
                        </a:rPr>
                        <a:t>FinStat IS</a:t>
                      </a:r>
                    </a:p>
                  </a:txBody>
                  <a:tcPr marL="64008" marR="64008" marT="27432" marB="27432" anchor="ctr">
                    <a:solidFill>
                      <a:srgbClr val="FFFFFF"/>
                    </a:solidFill>
                  </a:tcPr>
                </a:tc>
                <a:tc>
                  <a:txBody>
                    <a:bodyPr wrap="square"/>
                    <a:lstStyle/>
                    <a:p>
                      <a:r>
                        <a:rPr b="0" sz="1200" i="0">
                          <a:solidFill>
                            <a:srgbClr val="1A2233"/>
                          </a:solidFill>
                          <a:latin typeface="Calibri"/>
                        </a:rPr>
                        <a:t>15</a:t>
                      </a:r>
                    </a:p>
                  </a:txBody>
                  <a:tcPr marL="64008" marR="64008" marT="27432" marB="27432" anchor="ctr">
                    <a:solidFill>
                      <a:srgbClr val="FFFFFF"/>
                    </a:solidFill>
                  </a:tcPr>
                </a:tc>
                <a:tc>
                  <a:txBody>
                    <a:bodyPr wrap="square"/>
                    <a:lstStyle/>
                    <a:p>
                      <a:r>
                        <a:rPr b="0" sz="1200" i="0">
                          <a:solidFill>
                            <a:srgbClr val="1A2233"/>
                          </a:solidFill>
                          <a:latin typeface="Consolas"/>
                        </a:rPr>
                        <a:t>=SHL!J$25</a:t>
                      </a:r>
                    </a:p>
                  </a:txBody>
                  <a:tcPr marL="64008" marR="64008" marT="27432" marB="27432" anchor="ctr">
                    <a:solidFill>
                      <a:srgbClr val="FFFFFF"/>
                    </a:solidFill>
                  </a:tcPr>
                </a:tc>
                <a:tc>
                  <a:txBody>
                    <a:bodyPr wrap="square"/>
                    <a:lstStyle/>
                    <a:p>
                      <a:r>
                        <a:rPr b="0" sz="1200" i="0">
                          <a:solidFill>
                            <a:srgbClr val="1A2233"/>
                          </a:solidFill>
                          <a:latin typeface="Calibri"/>
                        </a:rPr>
                        <a:t>Shareholder loan interest expense</a:t>
                      </a:r>
                    </a:p>
                  </a:txBody>
                  <a:tcPr marL="64008" marR="64008" marT="27432" marB="27432" anchor="ctr">
                    <a:solidFill>
                      <a:srgbClr val="FFFFFF"/>
                    </a:solidFill>
                  </a:tcPr>
                </a:tc>
              </a:tr>
              <a:tr h="347472">
                <a:tc>
                  <a:txBody>
                    <a:bodyPr wrap="square"/>
                    <a:lstStyle/>
                    <a:p>
                      <a:r>
                        <a:rPr b="1" sz="1200" i="0">
                          <a:solidFill>
                            <a:srgbClr val="1A2233"/>
                          </a:solidFill>
                          <a:latin typeface="Calibri"/>
                        </a:rPr>
                        <a:t>FinStat IS</a:t>
                      </a:r>
                    </a:p>
                  </a:txBody>
                  <a:tcPr marL="64008" marR="64008" marT="27432" marB="27432" anchor="ctr">
                    <a:solidFill>
                      <a:srgbClr val="F3F6F9"/>
                    </a:solidFill>
                  </a:tcPr>
                </a:tc>
                <a:tc>
                  <a:txBody>
                    <a:bodyPr wrap="square"/>
                    <a:lstStyle/>
                    <a:p>
                      <a:r>
                        <a:rPr b="0" sz="1200" i="0">
                          <a:solidFill>
                            <a:srgbClr val="1A2233"/>
                          </a:solidFill>
                          <a:latin typeface="Calibri"/>
                        </a:rPr>
                        <a:t>16</a:t>
                      </a:r>
                    </a:p>
                  </a:txBody>
                  <a:tcPr marL="64008" marR="64008" marT="27432" marB="27432" anchor="ctr">
                    <a:solidFill>
                      <a:srgbClr val="F3F6F9"/>
                    </a:solidFill>
                  </a:tcPr>
                </a:tc>
                <a:tc>
                  <a:txBody>
                    <a:bodyPr wrap="square"/>
                    <a:lstStyle/>
                    <a:p>
                      <a:r>
                        <a:rPr b="0" sz="1200" i="0">
                          <a:solidFill>
                            <a:srgbClr val="1A2233"/>
                          </a:solidFill>
                          <a:latin typeface="Consolas"/>
                        </a:rPr>
                        <a:t>=J11+SUM(J13:J15)</a:t>
                      </a:r>
                    </a:p>
                  </a:txBody>
                  <a:tcPr marL="64008" marR="64008" marT="27432" marB="27432" anchor="ctr">
                    <a:solidFill>
                      <a:srgbClr val="F3F6F9"/>
                    </a:solidFill>
                  </a:tcPr>
                </a:tc>
                <a:tc>
                  <a:txBody>
                    <a:bodyPr wrap="square"/>
                    <a:lstStyle/>
                    <a:p>
                      <a:r>
                        <a:rPr b="0" sz="1200" i="0">
                          <a:solidFill>
                            <a:srgbClr val="1A2233"/>
                          </a:solidFill>
                          <a:latin typeface="Calibri"/>
                        </a:rPr>
                        <a:t>Profit before tax now includes row 15</a:t>
                      </a:r>
                    </a:p>
                  </a:txBody>
                  <a:tcPr marL="64008" marR="64008" marT="27432" marB="27432" anchor="ctr">
                    <a:solidFill>
                      <a:srgbClr val="F3F6F9"/>
                    </a:solidFill>
                  </a:tcPr>
                </a:tc>
              </a:tr>
              <a:tr h="347472">
                <a:tc>
                  <a:txBody>
                    <a:bodyPr wrap="square"/>
                    <a:lstStyle/>
                    <a:p>
                      <a:r>
                        <a:rPr b="1" sz="1200" i="0">
                          <a:solidFill>
                            <a:srgbClr val="1A2233"/>
                          </a:solidFill>
                          <a:latin typeface="Calibri"/>
                        </a:rPr>
                        <a:t>FinStat cash</a:t>
                      </a:r>
                    </a:p>
                  </a:txBody>
                  <a:tcPr marL="64008" marR="64008" marT="27432" marB="27432" anchor="ctr">
                    <a:solidFill>
                      <a:srgbClr val="FFFFFF"/>
                    </a:solidFill>
                  </a:tcPr>
                </a:tc>
                <a:tc>
                  <a:txBody>
                    <a:bodyPr wrap="square"/>
                    <a:lstStyle/>
                    <a:p>
                      <a:r>
                        <a:rPr b="0" sz="1200" i="0">
                          <a:solidFill>
                            <a:srgbClr val="1A2233"/>
                          </a:solidFill>
                          <a:latin typeface="Calibri"/>
                        </a:rPr>
                        <a:t>45, 46</a:t>
                      </a:r>
                    </a:p>
                  </a:txBody>
                  <a:tcPr marL="64008" marR="64008" marT="27432" marB="27432" anchor="ctr">
                    <a:solidFill>
                      <a:srgbClr val="FFFFFF"/>
                    </a:solidFill>
                  </a:tcPr>
                </a:tc>
                <a:tc>
                  <a:txBody>
                    <a:bodyPr wrap="square"/>
                    <a:lstStyle/>
                    <a:p>
                      <a:r>
                        <a:rPr b="0" sz="1200" i="0">
                          <a:solidFill>
                            <a:srgbClr val="1A2233"/>
                          </a:solidFill>
                          <a:latin typeface="Consolas"/>
                        </a:rPr>
                        <a:t>=SHL!J$26, =SHL!J$27</a:t>
                      </a:r>
                    </a:p>
                  </a:txBody>
                  <a:tcPr marL="64008" marR="64008" marT="27432" marB="27432" anchor="ctr">
                    <a:solidFill>
                      <a:srgbClr val="FFFFFF"/>
                    </a:solidFill>
                  </a:tcPr>
                </a:tc>
                <a:tc>
                  <a:txBody>
                    <a:bodyPr wrap="square"/>
                    <a:lstStyle/>
                    <a:p>
                      <a:r>
                        <a:rPr b="0" sz="1200" i="0">
                          <a:solidFill>
                            <a:srgbClr val="1A2233"/>
                          </a:solidFill>
                          <a:latin typeface="Calibri"/>
                        </a:rPr>
                        <a:t>Loan interest and principal paid</a:t>
                      </a:r>
                    </a:p>
                  </a:txBody>
                  <a:tcPr marL="64008" marR="64008" marT="27432" marB="27432" anchor="ctr">
                    <a:solidFill>
                      <a:srgbClr val="FFFFFF"/>
                    </a:solidFill>
                  </a:tcPr>
                </a:tc>
              </a:tr>
              <a:tr h="347472">
                <a:tc>
                  <a:txBody>
                    <a:bodyPr wrap="square"/>
                    <a:lstStyle/>
                    <a:p>
                      <a:r>
                        <a:rPr b="1" sz="1200" i="0">
                          <a:solidFill>
                            <a:srgbClr val="1A2233"/>
                          </a:solidFill>
                          <a:latin typeface="Calibri"/>
                        </a:rPr>
                        <a:t>FinStat BS</a:t>
                      </a:r>
                    </a:p>
                  </a:txBody>
                  <a:tcPr marL="64008" marR="64008" marT="27432" marB="27432" anchor="ctr">
                    <a:solidFill>
                      <a:srgbClr val="F3F6F9"/>
                    </a:solidFill>
                  </a:tcPr>
                </a:tc>
                <a:tc>
                  <a:txBody>
                    <a:bodyPr wrap="square"/>
                    <a:lstStyle/>
                    <a:p>
                      <a:r>
                        <a:rPr b="0" sz="1200" i="0">
                          <a:solidFill>
                            <a:srgbClr val="1A2233"/>
                          </a:solidFill>
                          <a:latin typeface="Calibri"/>
                        </a:rPr>
                        <a:t>71</a:t>
                      </a:r>
                    </a:p>
                  </a:txBody>
                  <a:tcPr marL="64008" marR="64008" marT="27432" marB="27432" anchor="ctr">
                    <a:solidFill>
                      <a:srgbClr val="F3F6F9"/>
                    </a:solidFill>
                  </a:tcPr>
                </a:tc>
                <a:tc>
                  <a:txBody>
                    <a:bodyPr wrap="square"/>
                    <a:lstStyle/>
                    <a:p>
                      <a:r>
                        <a:rPr b="0" sz="1200" i="0">
                          <a:solidFill>
                            <a:srgbClr val="1A2233"/>
                          </a:solidFill>
                          <a:latin typeface="Consolas"/>
                        </a:rPr>
                        <a:t>=SHL!J$24</a:t>
                      </a:r>
                    </a:p>
                  </a:txBody>
                  <a:tcPr marL="64008" marR="64008" marT="27432" marB="27432" anchor="ctr">
                    <a:solidFill>
                      <a:srgbClr val="F3F6F9"/>
                    </a:solidFill>
                  </a:tcPr>
                </a:tc>
                <a:tc>
                  <a:txBody>
                    <a:bodyPr wrap="square"/>
                    <a:lstStyle/>
                    <a:p>
                      <a:r>
                        <a:rPr b="0" sz="1200" i="0">
                          <a:solidFill>
                            <a:srgbClr val="1A2233"/>
                          </a:solidFill>
                          <a:latin typeface="Calibri"/>
                        </a:rPr>
                        <a:t>Shareholder loan as a liability</a:t>
                      </a:r>
                    </a:p>
                  </a:txBody>
                  <a:tcPr marL="64008" marR="64008" marT="27432" marB="27432" anchor="ctr">
                    <a:solidFill>
                      <a:srgbClr val="F3F6F9"/>
                    </a:solidFill>
                  </a:tcPr>
                </a:tc>
              </a:tr>
              <a:tr h="347472">
                <a:tc>
                  <a:txBody>
                    <a:bodyPr wrap="square"/>
                    <a:lstStyle/>
                    <a:p>
                      <a:r>
                        <a:rPr b="1" sz="1200" i="0">
                          <a:solidFill>
                            <a:srgbClr val="1A2233"/>
                          </a:solidFill>
                          <a:latin typeface="Calibri"/>
                        </a:rPr>
                        <a:t>Tax</a:t>
                      </a:r>
                    </a:p>
                  </a:txBody>
                  <a:tcPr marL="64008" marR="64008" marT="27432" marB="27432" anchor="ctr">
                    <a:solidFill>
                      <a:srgbClr val="FFFFFF"/>
                    </a:solidFill>
                  </a:tcPr>
                </a:tc>
                <a:tc>
                  <a:txBody>
                    <a:bodyPr wrap="square"/>
                    <a:lstStyle/>
                    <a:p>
                      <a:r>
                        <a:rPr b="0" sz="1200" i="0">
                          <a:solidFill>
                            <a:srgbClr val="1A2233"/>
                          </a:solidFill>
                          <a:latin typeface="Calibri"/>
                        </a:rPr>
                        <a:t>26</a:t>
                      </a:r>
                    </a:p>
                  </a:txBody>
                  <a:tcPr marL="64008" marR="64008" marT="27432" marB="27432" anchor="ctr">
                    <a:solidFill>
                      <a:srgbClr val="FFFFFF"/>
                    </a:solidFill>
                  </a:tcPr>
                </a:tc>
                <a:tc>
                  <a:txBody>
                    <a:bodyPr wrap="square"/>
                    <a:lstStyle/>
                    <a:p>
                      <a:r>
                        <a:rPr b="0" sz="1200" i="0">
                          <a:solidFill>
                            <a:srgbClr val="1A2233"/>
                          </a:solidFill>
                          <a:latin typeface="Consolas"/>
                        </a:rPr>
                        <a:t>=Debt!J$33+SHL!J$20</a:t>
                      </a:r>
                    </a:p>
                  </a:txBody>
                  <a:tcPr marL="64008" marR="64008" marT="27432" marB="27432" anchor="ctr">
                    <a:solidFill>
                      <a:srgbClr val="FFFFFF"/>
                    </a:solidFill>
                  </a:tcPr>
                </a:tc>
                <a:tc>
                  <a:txBody>
                    <a:bodyPr wrap="square"/>
                    <a:lstStyle/>
                    <a:p>
                      <a:r>
                        <a:rPr b="0" sz="1200" i="0">
                          <a:solidFill>
                            <a:srgbClr val="1A2233"/>
                          </a:solidFill>
                          <a:latin typeface="Calibri"/>
                        </a:rPr>
                        <a:t>Interest deduction includes the loan</a:t>
                      </a:r>
                    </a:p>
                  </a:txBody>
                  <a:tcPr marL="64008" marR="64008" marT="27432" marB="27432" anchor="ctr">
                    <a:solidFill>
                      <a:srgbClr val="FFFFFF"/>
                    </a:solidFill>
                  </a:tcPr>
                </a:tc>
              </a:tr>
              <a:tr h="347472">
                <a:tc>
                  <a:txBody>
                    <a:bodyPr wrap="square"/>
                    <a:lstStyle/>
                    <a:p>
                      <a:r>
                        <a:rPr b="1" sz="1200" i="0">
                          <a:solidFill>
                            <a:srgbClr val="1A2233"/>
                          </a:solidFill>
                          <a:latin typeface="Calibri"/>
                        </a:rPr>
                        <a:t>Equity</a:t>
                      </a:r>
                    </a:p>
                  </a:txBody>
                  <a:tcPr marL="64008" marR="64008" marT="27432" marB="27432" anchor="ctr">
                    <a:solidFill>
                      <a:srgbClr val="F3F6F9"/>
                    </a:solidFill>
                  </a:tcPr>
                </a:tc>
                <a:tc>
                  <a:txBody>
                    <a:bodyPr wrap="square"/>
                    <a:lstStyle/>
                    <a:p>
                      <a:r>
                        <a:rPr b="0" sz="1200" i="0">
                          <a:solidFill>
                            <a:srgbClr val="1A2233"/>
                          </a:solidFill>
                          <a:latin typeface="Calibri"/>
                        </a:rPr>
                        <a:t>F16</a:t>
                      </a:r>
                    </a:p>
                  </a:txBody>
                  <a:tcPr marL="64008" marR="64008" marT="27432" marB="27432" anchor="ctr">
                    <a:solidFill>
                      <a:srgbClr val="F3F6F9"/>
                    </a:solidFill>
                  </a:tcPr>
                </a:tc>
                <a:tc>
                  <a:txBody>
                    <a:bodyPr wrap="square"/>
                    <a:lstStyle/>
                    <a:p>
                      <a:r>
                        <a:rPr b="0" sz="1200" i="0">
                          <a:solidFill>
                            <a:srgbClr val="1A2233"/>
                          </a:solidFill>
                          <a:latin typeface="Consolas"/>
                        </a:rPr>
                        <a:t>=SHL!$F$14</a:t>
                      </a:r>
                    </a:p>
                  </a:txBody>
                  <a:tcPr marL="64008" marR="64008" marT="27432" marB="27432" anchor="ctr">
                    <a:solidFill>
                      <a:srgbClr val="F3F6F9"/>
                    </a:solidFill>
                  </a:tcPr>
                </a:tc>
                <a:tc>
                  <a:txBody>
                    <a:bodyPr wrap="square"/>
                    <a:lstStyle/>
                    <a:p>
                      <a:r>
                        <a:rPr b="0" sz="1200" i="0">
                          <a:solidFill>
                            <a:srgbClr val="1A2233"/>
                          </a:solidFill>
                          <a:latin typeface="Calibri"/>
                        </a:rPr>
                        <a:t>Share capital initial balance</a:t>
                      </a:r>
                    </a:p>
                  </a:txBody>
                  <a:tcPr marL="64008" marR="64008" marT="27432" marB="27432" anchor="ctr">
                    <a:solidFill>
                      <a:srgbClr val="F3F6F9"/>
                    </a:solidFill>
                  </a:tcPr>
                </a:tc>
              </a:tr>
              <a:tr h="347472">
                <a:tc>
                  <a:txBody>
                    <a:bodyPr wrap="square"/>
                    <a:lstStyle/>
                    <a:p>
                      <a:r>
                        <a:rPr b="1" sz="1200" i="0">
                          <a:solidFill>
                            <a:srgbClr val="1A2233"/>
                          </a:solidFill>
                          <a:latin typeface="Calibri"/>
                        </a:rPr>
                        <a:t>Val</a:t>
                      </a:r>
                    </a:p>
                  </a:txBody>
                  <a:tcPr marL="64008" marR="64008" marT="27432" marB="27432" anchor="ctr">
                    <a:solidFill>
                      <a:srgbClr val="FFFFFF"/>
                    </a:solidFill>
                  </a:tcPr>
                </a:tc>
                <a:tc>
                  <a:txBody>
                    <a:bodyPr wrap="square"/>
                    <a:lstStyle/>
                    <a:p>
                      <a:r>
                        <a:rPr b="0" sz="1200" i="0">
                          <a:solidFill>
                            <a:srgbClr val="1A2233"/>
                          </a:solidFill>
                          <a:latin typeface="Calibri"/>
                        </a:rPr>
                        <a:t>23, 24, 27</a:t>
                      </a:r>
                    </a:p>
                  </a:txBody>
                  <a:tcPr marL="64008" marR="64008" marT="27432" marB="27432" anchor="ctr">
                    <a:solidFill>
                      <a:srgbClr val="FFFFFF"/>
                    </a:solidFill>
                  </a:tcPr>
                </a:tc>
                <a:tc>
                  <a:txBody>
                    <a:bodyPr wrap="square"/>
                    <a:lstStyle/>
                    <a:p>
                      <a:r>
                        <a:rPr b="0" sz="1200" i="0">
                          <a:solidFill>
                            <a:srgbClr val="1A2233"/>
                          </a:solidFill>
                          <a:latin typeface="Consolas"/>
                        </a:rPr>
                        <a:t>=SHL!J$21, =SHL!J$23, =SHL!F$12</a:t>
                      </a:r>
                    </a:p>
                  </a:txBody>
                  <a:tcPr marL="64008" marR="64008" marT="27432" marB="27432" anchor="ctr">
                    <a:solidFill>
                      <a:srgbClr val="FFFFFF"/>
                    </a:solidFill>
                  </a:tcPr>
                </a:tc>
                <a:tc>
                  <a:txBody>
                    <a:bodyPr wrap="square"/>
                    <a:lstStyle/>
                    <a:p>
                      <a:r>
                        <a:rPr b="0" sz="1200" i="0">
                          <a:solidFill>
                            <a:srgbClr val="1A2233"/>
                          </a:solidFill>
                          <a:latin typeface="Calibri"/>
                        </a:rPr>
                        <a:t>Blended sponsor cash flows</a:t>
                      </a:r>
                    </a:p>
                  </a:txBody>
                  <a:tcPr marL="64008" marR="64008" marT="27432" marB="27432" anchor="ctr">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INTEGRATE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Insert rows and fix the totals (FinStat)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8640" y="15453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1</a:t>
            </a:r>
          </a:p>
        </p:txBody>
      </p:sp>
      <p:sp>
        <p:nvSpPr>
          <p:cNvPr id="12" name="TextBox 11"/>
          <p:cNvSpPr txBox="1"/>
          <p:nvPr/>
        </p:nvSpPr>
        <p:spPr>
          <a:xfrm>
            <a:off x="1078992" y="15087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Select the row below where you want the new row: click the row number (e.g. row 15) or </a:t>
            </a:r>
            <a:r>
              <a:rPr b="0" sz="1600" i="0">
                <a:solidFill>
                  <a:srgbClr val="0B5E82"/>
                </a:solidFill>
                <a:latin typeface="Consolas"/>
              </a:rPr>
              <a:t>Shift+Space</a:t>
            </a:r>
            <a:r>
              <a:rPr b="0" sz="1600" i="0">
                <a:solidFill>
                  <a:srgbClr val="1A2233"/>
                </a:solidFill>
                <a:latin typeface="Calibri"/>
              </a:rPr>
              <a:t>.</a:t>
            </a:r>
          </a:p>
        </p:txBody>
      </p:sp>
      <p:sp>
        <p:nvSpPr>
          <p:cNvPr id="13" name="Oval 12"/>
          <p:cNvSpPr/>
          <p:nvPr/>
        </p:nvSpPr>
        <p:spPr>
          <a:xfrm>
            <a:off x="548640" y="21930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2</a:t>
            </a:r>
          </a:p>
        </p:txBody>
      </p:sp>
      <p:sp>
        <p:nvSpPr>
          <p:cNvPr id="14" name="TextBox 13"/>
          <p:cNvSpPr txBox="1"/>
          <p:nvPr/>
        </p:nvSpPr>
        <p:spPr>
          <a:xfrm>
            <a:off x="1078992" y="21564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Insert: </a:t>
            </a:r>
            <a:r>
              <a:rPr b="0" sz="1600" i="0">
                <a:solidFill>
                  <a:srgbClr val="0B5E82"/>
                </a:solidFill>
                <a:latin typeface="Consolas"/>
              </a:rPr>
              <a:t>Ctrl+Shift++</a:t>
            </a:r>
            <a:r>
              <a:rPr b="0" sz="1600" i="0">
                <a:solidFill>
                  <a:srgbClr val="1A2233"/>
                </a:solidFill>
                <a:latin typeface="Calibri"/>
              </a:rPr>
              <a:t> (Win) / </a:t>
            </a:r>
            <a:r>
              <a:rPr b="0" sz="1600" i="0">
                <a:solidFill>
                  <a:srgbClr val="0B5E82"/>
                </a:solidFill>
                <a:latin typeface="Consolas"/>
              </a:rPr>
              <a:t>Cmd+Shift++</a:t>
            </a:r>
            <a:r>
              <a:rPr b="0" sz="1600" i="0">
                <a:solidFill>
                  <a:srgbClr val="1A2233"/>
                </a:solidFill>
                <a:latin typeface="Calibri"/>
              </a:rPr>
              <a:t> (Mac). Repeat for 3 rows at the cascade and 1 each on the balance sheet.</a:t>
            </a:r>
          </a:p>
        </p:txBody>
      </p:sp>
      <p:sp>
        <p:nvSpPr>
          <p:cNvPr id="15" name="Oval 14"/>
          <p:cNvSpPr/>
          <p:nvPr/>
        </p:nvSpPr>
        <p:spPr>
          <a:xfrm>
            <a:off x="548640" y="28407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3</a:t>
            </a:r>
          </a:p>
        </p:txBody>
      </p:sp>
      <p:sp>
        <p:nvSpPr>
          <p:cNvPr id="16" name="TextBox 15"/>
          <p:cNvSpPr txBox="1"/>
          <p:nvPr/>
        </p:nvSpPr>
        <p:spPr>
          <a:xfrm>
            <a:off x="1078992" y="28041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Fill the new rows with pulls from SHL and DSRA: </a:t>
            </a:r>
            <a:r>
              <a:rPr b="0" sz="1600" i="0">
                <a:solidFill>
                  <a:srgbClr val="0B5E82"/>
                </a:solidFill>
                <a:latin typeface="Consolas"/>
              </a:rPr>
              <a:t>Ctrl+G</a:t>
            </a:r>
            <a:r>
              <a:rPr b="0" sz="1600" i="0">
                <a:solidFill>
                  <a:srgbClr val="1A2233"/>
                </a:solidFill>
                <a:latin typeface="Calibri"/>
              </a:rPr>
              <a:t> J15:CO15, type </a:t>
            </a:r>
            <a:r>
              <a:rPr b="0" sz="1600" i="0">
                <a:solidFill>
                  <a:srgbClr val="0B5E82"/>
                </a:solidFill>
                <a:latin typeface="Consolas"/>
              </a:rPr>
              <a:t>=SHL!J$25</a:t>
            </a:r>
            <a:r>
              <a:rPr b="0" sz="1600" i="0">
                <a:solidFill>
                  <a:srgbClr val="1A2233"/>
                </a:solidFill>
                <a:latin typeface="Calibri"/>
              </a:rPr>
              <a:t>, </a:t>
            </a:r>
            <a:r>
              <a:rPr b="0" sz="1600" i="0">
                <a:solidFill>
                  <a:srgbClr val="0B5E82"/>
                </a:solidFill>
                <a:latin typeface="Consolas"/>
              </a:rPr>
              <a:t>Ctrl+Enter</a:t>
            </a:r>
            <a:r>
              <a:rPr b="0" sz="1600" i="0">
                <a:solidFill>
                  <a:srgbClr val="1A2233"/>
                </a:solidFill>
                <a:latin typeface="Calibri"/>
              </a:rPr>
              <a:t>.</a:t>
            </a:r>
          </a:p>
        </p:txBody>
      </p:sp>
      <p:sp>
        <p:nvSpPr>
          <p:cNvPr id="17" name="Oval 16"/>
          <p:cNvSpPr/>
          <p:nvPr/>
        </p:nvSpPr>
        <p:spPr>
          <a:xfrm>
            <a:off x="548640" y="34884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4</a:t>
            </a:r>
          </a:p>
        </p:txBody>
      </p:sp>
      <p:sp>
        <p:nvSpPr>
          <p:cNvPr id="18" name="TextBox 17"/>
          <p:cNvSpPr txBox="1"/>
          <p:nvPr/>
        </p:nvSpPr>
        <p:spPr>
          <a:xfrm>
            <a:off x="1078992" y="3451860"/>
            <a:ext cx="10378440" cy="601980"/>
          </a:xfrm>
          <a:prstGeom prst="rect">
            <a:avLst/>
          </a:prstGeom>
          <a:noFill/>
        </p:spPr>
        <p:txBody>
          <a:bodyPr wrap="square" lIns="45720" rIns="45720" tIns="27432" bIns="27432" anchor="ctr">
            <a:spAutoFit/>
          </a:bodyPr>
          <a:lstStyle/>
          <a:p>
            <a:pPr algn="l"/>
            <a:r>
              <a:rPr b="1" sz="1600" i="0">
                <a:solidFill>
                  <a:srgbClr val="1A2233"/>
                </a:solidFill>
                <a:latin typeface="Calibri"/>
              </a:rPr>
              <a:t>Fix totals that do not grow automatically</a:t>
            </a:r>
            <a:r>
              <a:rPr b="0" sz="1600" i="0">
                <a:solidFill>
                  <a:srgbClr val="1A2233"/>
                </a:solidFill>
                <a:latin typeface="Calibri"/>
              </a:rPr>
              <a:t>: PBT </a:t>
            </a:r>
            <a:r>
              <a:rPr b="0" sz="1600" i="0">
                <a:solidFill>
                  <a:srgbClr val="0B5E82"/>
                </a:solidFill>
                <a:latin typeface="Consolas"/>
              </a:rPr>
              <a:t>=J11+SUM(J13:J15)</a:t>
            </a:r>
            <a:r>
              <a:rPr b="0" sz="1600" i="0">
                <a:solidFill>
                  <a:srgbClr val="1A2233"/>
                </a:solidFill>
                <a:latin typeface="Calibri"/>
              </a:rPr>
              <a:t>; CF available for dividends </a:t>
            </a:r>
            <a:r>
              <a:rPr b="0" sz="1600" i="0">
                <a:solidFill>
                  <a:srgbClr val="0B5E82"/>
                </a:solidFill>
                <a:latin typeface="Consolas"/>
              </a:rPr>
              <a:t>=J43+SUM(J44:J48)</a:t>
            </a:r>
            <a:r>
              <a:rPr b="0" sz="1600" i="0">
                <a:solidFill>
                  <a:srgbClr val="1A2233"/>
                </a:solidFill>
                <a:latin typeface="Calibri"/>
              </a:rPr>
              <a:t>; total assets </a:t>
            </a:r>
            <a:r>
              <a:rPr b="0" sz="1600" i="0">
                <a:solidFill>
                  <a:srgbClr val="0B5E82"/>
                </a:solidFill>
                <a:latin typeface="Consolas"/>
              </a:rPr>
              <a:t>=SUM(J62:J65)</a:t>
            </a:r>
            <a:r>
              <a:rPr b="0" sz="1600" i="0">
                <a:solidFill>
                  <a:srgbClr val="1A2233"/>
                </a:solidFill>
                <a:latin typeface="Calibri"/>
              </a:rPr>
              <a:t>; total liabilities </a:t>
            </a:r>
            <a:r>
              <a:rPr b="0" sz="1600" i="0">
                <a:solidFill>
                  <a:srgbClr val="0B5E82"/>
                </a:solidFill>
                <a:latin typeface="Consolas"/>
              </a:rPr>
              <a:t>=SUM(J69:J74)</a:t>
            </a:r>
            <a:r>
              <a:rPr b="0" sz="1600" i="0">
                <a:solidFill>
                  <a:srgbClr val="1A2233"/>
                </a:solidFill>
                <a:latin typeface="Calibri"/>
              </a:rPr>
              <a:t>.</a:t>
            </a:r>
          </a:p>
        </p:txBody>
      </p:sp>
      <p:sp>
        <p:nvSpPr>
          <p:cNvPr id="19" name="Oval 18"/>
          <p:cNvSpPr/>
          <p:nvPr/>
        </p:nvSpPr>
        <p:spPr>
          <a:xfrm>
            <a:off x="548640" y="41361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5</a:t>
            </a:r>
          </a:p>
        </p:txBody>
      </p:sp>
      <p:sp>
        <p:nvSpPr>
          <p:cNvPr id="20" name="TextBox 19"/>
          <p:cNvSpPr txBox="1"/>
          <p:nvPr/>
        </p:nvSpPr>
        <p:spPr>
          <a:xfrm>
            <a:off x="1078992" y="40995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Check FinStat F86 (balance sheet), F83 and F80 = 0.</a:t>
            </a:r>
          </a:p>
        </p:txBody>
      </p:sp>
      <p:sp>
        <p:nvSpPr>
          <p:cNvPr id="21" name="Oval 20"/>
          <p:cNvSpPr/>
          <p:nvPr/>
        </p:nvSpPr>
        <p:spPr>
          <a:xfrm>
            <a:off x="548640" y="47838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6</a:t>
            </a:r>
          </a:p>
        </p:txBody>
      </p:sp>
      <p:sp>
        <p:nvSpPr>
          <p:cNvPr id="22" name="TextBox 21"/>
          <p:cNvSpPr txBox="1"/>
          <p:nvPr/>
        </p:nvSpPr>
        <p:spPr>
          <a:xfrm>
            <a:off x="1078992" y="47472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Excel updates references on other sheets when you insert rows: always insert, never cut and paste rows.</a:t>
            </a:r>
          </a:p>
        </p:txBody>
      </p:sp>
      <p:sp>
        <p:nvSpPr>
          <p:cNvPr id="23" name="Rectangle 22"/>
          <p:cNvSpPr/>
          <p:nvPr/>
        </p:nvSpPr>
        <p:spPr>
          <a:xfrm>
            <a:off x="548640" y="5486400"/>
            <a:ext cx="11064240" cy="68580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486400"/>
            <a:ext cx="82296" cy="6858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486400"/>
            <a:ext cx="10835640" cy="685800"/>
          </a:xfrm>
          <a:prstGeom prst="rect">
            <a:avLst/>
          </a:prstGeom>
          <a:noFill/>
        </p:spPr>
        <p:txBody>
          <a:bodyPr wrap="square" lIns="45720" rIns="45720" tIns="27432" bIns="27432" anchor="ctr">
            <a:spAutoFit/>
          </a:bodyPr>
          <a:lstStyle/>
          <a:p>
            <a:pPr algn="l"/>
            <a:r>
              <a:rPr b="0" sz="1400" i="0">
                <a:solidFill>
                  <a:srgbClr val="1A2233"/>
                </a:solidFill>
                <a:latin typeface="Calibri"/>
              </a:rPr>
              <a:t>A SUM range grows only if you insert INSIDE it. Rows added at the edge need the range edited by hand.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7.4: Blended sponsor return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Build SHL, integrate into FinStat and Val, and report the blended IRR.</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SHL rows 9 to 27</a:t>
            </a:r>
          </a:p>
          <a:p>
            <a:pPr>
              <a:spcAft>
                <a:spcPts val="300"/>
              </a:spcAft>
            </a:pPr>
            <a:r>
              <a:rPr b="0" sz="1500" i="0">
                <a:solidFill>
                  <a:srgbClr val="1A2233"/>
                </a:solidFill>
                <a:latin typeface="Calibri"/>
              </a:rPr>
              <a:t>2.  Re-point Equity!F16, add Tax interest, extend FinStat rows 15, 44 to 46, 65, 71</a:t>
            </a:r>
          </a:p>
          <a:p>
            <a:pPr>
              <a:spcAft>
                <a:spcPts val="300"/>
              </a:spcAft>
            </a:pPr>
            <a:r>
              <a:rPr b="0" sz="1500" i="0">
                <a:solidFill>
                  <a:srgbClr val="1A2233"/>
                </a:solidFill>
                <a:latin typeface="Calibri"/>
              </a:rPr>
              <a:t>3.  Val: add loan interest and principal as inflows; the initial outflow becomes the full sponsor funding</a:t>
            </a:r>
          </a:p>
          <a:p>
            <a:pPr>
              <a:spcAft>
                <a:spcPts val="300"/>
              </a:spcAft>
            </a:pPr>
            <a:r>
              <a:rPr b="0" sz="1500" i="0">
                <a:solidFill>
                  <a:srgbClr val="1A2233"/>
                </a:solidFill>
                <a:latin typeface="Calibri"/>
              </a:rPr>
              <a:t>4.  Read Val!F51 (XIRR) and compare with the equity-only return</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45 min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7  |  Thu 22 Oct 2026  |  Project finance modelling II: debt sizing and returns</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58</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14.45 – 15.30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5: Debt service reserve account (DSRA)</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A cash cushion lenders insist 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The DSRA</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1900" i="0">
                <a:solidFill>
                  <a:srgbClr val="1A2233"/>
                </a:solidFill>
                <a:latin typeface="Calibri"/>
              </a:rPr>
              <a:t>The DSRA is a bank account that holds cash equal to the next few months of debt service. If cash flow dips, the project draws on the account instead of defaulting. It is funded from project cash after senior debt service and before the shareholder loan or dividends.</a:t>
            </a:r>
          </a:p>
        </p:txBody>
      </p:sp>
      <p:sp>
        <p:nvSpPr>
          <p:cNvPr id="13" name="Rectangle 12"/>
          <p:cNvSpPr/>
          <p:nvPr/>
        </p:nvSpPr>
        <p:spPr>
          <a:xfrm>
            <a:off x="640080" y="3108960"/>
            <a:ext cx="10881360" cy="64008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2000" i="0">
                <a:solidFill>
                  <a:srgbClr val="141B4D"/>
                </a:solidFill>
                <a:latin typeface="Consolas"/>
              </a:rPr>
              <a:t>Target_t = debt service in the next n quarters;  Funding = MIN(shortfall, cash available);  Release = excess over target</a:t>
            </a:r>
          </a:p>
        </p:txBody>
      </p:sp>
      <p:sp>
        <p:nvSpPr>
          <p:cNvPr id="14" name="TextBox 13"/>
          <p:cNvSpPr txBox="1"/>
          <p:nvPr/>
        </p:nvSpPr>
        <p:spPr>
          <a:xfrm>
            <a:off x="640080" y="388620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5" name="TextBox 14"/>
          <p:cNvSpPr txBox="1"/>
          <p:nvPr/>
        </p:nvSpPr>
        <p:spPr>
          <a:xfrm>
            <a:off x="640080" y="4160520"/>
            <a:ext cx="10881360" cy="1325879"/>
          </a:xfrm>
          <a:prstGeom prst="rect">
            <a:avLst/>
          </a:prstGeom>
          <a:noFill/>
        </p:spPr>
        <p:txBody>
          <a:bodyPr wrap="square" lIns="45720" rIns="45720" tIns="27432" bIns="27432" anchor="t">
            <a:spAutoFit/>
          </a:bodyPr>
          <a:lstStyle/>
          <a:p>
            <a:pPr algn="l"/>
            <a:r>
              <a:rPr b="0" sz="1600" i="0">
                <a:solidFill>
                  <a:srgbClr val="1A2233"/>
                </a:solidFill>
                <a:latin typeface="Calibri"/>
              </a:rPr>
              <a:t>Cover: next 2 quarters (6 months) of senior debt service (InpC!F143)</a:t>
            </a:r>
          </a:p>
          <a:p>
            <a:pPr algn="l"/>
            <a:r>
              <a:rPr b="0" sz="1600" i="0">
                <a:solidFill>
                  <a:srgbClr val="1A2233"/>
                </a:solidFill>
                <a:latin typeface="Calibri"/>
              </a:rPr>
              <a:t>Peak balance in the solved case ≈ 6,530</a:t>
            </a:r>
          </a:p>
          <a:p>
            <a:pPr algn="l"/>
            <a:r>
              <a:rPr b="0" sz="1600" i="0">
                <a:solidFill>
                  <a:srgbClr val="1A2233"/>
                </a:solidFill>
                <a:latin typeface="Calibri"/>
              </a:rPr>
              <a:t>Released as the loan matures; any remaining balance returns to shareholders</a:t>
            </a:r>
          </a:p>
        </p:txBody>
      </p:sp>
      <p:sp>
        <p:nvSpPr>
          <p:cNvPr id="16" name="Rectangle 15"/>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The DSRA delays dividends in the first years: it improves lenders' comfort at a cost to equity timing.</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DSRA block (rows 9 to 18)</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782567"/>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9</a:t>
                      </a:r>
                    </a:p>
                  </a:txBody>
                  <a:tcPr marL="64008" marR="64008" marT="27432" marB="27432" anchor="ctr">
                    <a:solidFill>
                      <a:srgbClr val="FFFFFF"/>
                    </a:solidFill>
                  </a:tcPr>
                </a:tc>
                <a:tc>
                  <a:txBody>
                    <a:bodyPr wrap="square"/>
                    <a:lstStyle/>
                    <a:p>
                      <a:r>
                        <a:rPr b="0" sz="1200" i="0">
                          <a:solidFill>
                            <a:srgbClr val="1A2233"/>
                          </a:solidFill>
                          <a:latin typeface="Calibri"/>
                        </a:rPr>
                        <a:t>DSRA cover (periods of debt service)</a:t>
                      </a:r>
                    </a:p>
                  </a:txBody>
                  <a:tcPr marL="64008" marR="64008" marT="27432" marB="27432" anchor="ctr">
                    <a:solidFill>
                      <a:srgbClr val="FFFFFF"/>
                    </a:solidFill>
                  </a:tcPr>
                </a:tc>
                <a:tc>
                  <a:txBody>
                    <a:bodyPr wrap="square"/>
                    <a:lstStyle/>
                    <a:p>
                      <a:r>
                        <a:rPr b="0" sz="1200" i="0">
                          <a:solidFill>
                            <a:srgbClr val="1A2233"/>
                          </a:solidFill>
                          <a:latin typeface="Consolas"/>
                        </a:rPr>
                        <a:t>F: =InpC!F$143</a:t>
                      </a:r>
                    </a:p>
                  </a:txBody>
                  <a:tcPr marL="64008" marR="64008" marT="27432" marB="27432" anchor="ctr">
                    <a:solidFill>
                      <a:srgbClr val="FFFFFF"/>
                    </a:solidFill>
                  </a:tcPr>
                </a:tc>
              </a:tr>
              <a:tr h="329184">
                <a:tc>
                  <a:txBody>
                    <a:bodyPr wrap="square"/>
                    <a:lstStyle/>
                    <a:p>
                      <a:r>
                        <a:rPr b="1" sz="1200" i="0">
                          <a:solidFill>
                            <a:srgbClr val="1A2233"/>
                          </a:solidFill>
                          <a:latin typeface="Calibri"/>
                        </a:rPr>
                        <a:t>10</a:t>
                      </a:r>
                    </a:p>
                  </a:txBody>
                  <a:tcPr marL="64008" marR="64008" marT="27432" marB="27432" anchor="ctr">
                    <a:solidFill>
                      <a:srgbClr val="F3F6F9"/>
                    </a:solidFill>
                  </a:tcPr>
                </a:tc>
                <a:tc>
                  <a:txBody>
                    <a:bodyPr wrap="square"/>
                    <a:lstStyle/>
                    <a:p>
                      <a:r>
                        <a:rPr b="0" sz="1200" i="0">
                          <a:solidFill>
                            <a:srgbClr val="1A2233"/>
                          </a:solidFill>
                          <a:latin typeface="Calibri"/>
                        </a:rPr>
                        <a:t>Operating period counter</a:t>
                      </a:r>
                    </a:p>
                  </a:txBody>
                  <a:tcPr marL="64008" marR="64008" marT="27432" marB="27432" anchor="ctr">
                    <a:solidFill>
                      <a:srgbClr val="F3F6F9"/>
                    </a:solidFill>
                  </a:tcPr>
                </a:tc>
                <a:tc>
                  <a:txBody>
                    <a:bodyPr wrap="square"/>
                    <a:lstStyle/>
                    <a:p>
                      <a:r>
                        <a:rPr b="0" sz="1200" i="0">
                          <a:solidFill>
                            <a:srgbClr val="1A2233"/>
                          </a:solidFill>
                          <a:latin typeface="Consolas"/>
                        </a:rPr>
                        <a:t>J: =Sculpt!J$11</a:t>
                      </a:r>
                    </a:p>
                  </a:txBody>
                  <a:tcPr marL="64008" marR="64008" marT="27432" marB="27432" anchor="ctr">
                    <a:solidFill>
                      <a:srgbClr val="F3F6F9"/>
                    </a:solidFill>
                  </a:tcPr>
                </a:tc>
              </a:tr>
              <a:tr h="329184">
                <a:tc>
                  <a:txBody>
                    <a:bodyPr wrap="square"/>
                    <a:lstStyle/>
                    <a:p>
                      <a:r>
                        <a:rPr b="1" sz="1200" i="0">
                          <a:solidFill>
                            <a:srgbClr val="1A2233"/>
                          </a:solidFill>
                          <a:latin typeface="Calibri"/>
                        </a:rPr>
                        <a:t>11</a:t>
                      </a:r>
                    </a:p>
                  </a:txBody>
                  <a:tcPr marL="64008" marR="64008" marT="27432" marB="27432" anchor="ctr">
                    <a:solidFill>
                      <a:srgbClr val="FFFFFF"/>
                    </a:solidFill>
                  </a:tcPr>
                </a:tc>
                <a:tc>
                  <a:txBody>
                    <a:bodyPr wrap="square"/>
                    <a:lstStyle/>
                    <a:p>
                      <a:r>
                        <a:rPr b="0" sz="1200" i="0">
                          <a:solidFill>
                            <a:srgbClr val="1A2233"/>
                          </a:solidFill>
                          <a:latin typeface="Calibri"/>
                        </a:rPr>
                        <a:t>Senior debt service</a:t>
                      </a:r>
                    </a:p>
                  </a:txBody>
                  <a:tcPr marL="64008" marR="64008" marT="27432" marB="27432" anchor="ctr">
                    <a:solidFill>
                      <a:srgbClr val="FFFFFF"/>
                    </a:solidFill>
                  </a:tcPr>
                </a:tc>
                <a:tc>
                  <a:txBody>
                    <a:bodyPr wrap="square"/>
                    <a:lstStyle/>
                    <a:p>
                      <a:r>
                        <a:rPr b="0" sz="1200" i="0">
                          <a:solidFill>
                            <a:srgbClr val="1A2233"/>
                          </a:solidFill>
                          <a:latin typeface="Consolas"/>
                        </a:rPr>
                        <a:t>J: =FinStat!J$94</a:t>
                      </a:r>
                    </a:p>
                  </a:txBody>
                  <a:tcPr marL="64008" marR="64008" marT="27432" marB="27432" anchor="ctr">
                    <a:solidFill>
                      <a:srgbClr val="FFFFFF"/>
                    </a:solidFill>
                  </a:tcPr>
                </a:tc>
              </a:tr>
              <a:tr h="490727">
                <a:tc>
                  <a:txBody>
                    <a:bodyPr wrap="square"/>
                    <a:lstStyle/>
                    <a:p>
                      <a:r>
                        <a:rPr b="1" sz="1200" i="0">
                          <a:solidFill>
                            <a:srgbClr val="1A2233"/>
                          </a:solidFill>
                          <a:latin typeface="Calibri"/>
                        </a:rPr>
                        <a:t>12</a:t>
                      </a:r>
                    </a:p>
                  </a:txBody>
                  <a:tcPr marL="64008" marR="64008" marT="27432" marB="27432" anchor="ctr">
                    <a:solidFill>
                      <a:srgbClr val="F3F6F9"/>
                    </a:solidFill>
                  </a:tcPr>
                </a:tc>
                <a:tc>
                  <a:txBody>
                    <a:bodyPr wrap="square"/>
                    <a:lstStyle/>
                    <a:p>
                      <a:r>
                        <a:rPr b="0" sz="1200" i="0">
                          <a:solidFill>
                            <a:srgbClr val="1A2233"/>
                          </a:solidFill>
                          <a:latin typeface="Calibri"/>
                        </a:rPr>
                        <a:t>DSRA target (next periods of debt service)</a:t>
                      </a:r>
                    </a:p>
                  </a:txBody>
                  <a:tcPr marL="64008" marR="64008" marT="27432" marB="27432" anchor="ctr">
                    <a:solidFill>
                      <a:srgbClr val="F3F6F9"/>
                    </a:solidFill>
                  </a:tcPr>
                </a:tc>
                <a:tc>
                  <a:txBody>
                    <a:bodyPr wrap="square"/>
                    <a:lstStyle/>
                    <a:p>
                      <a:r>
                        <a:rPr b="0" sz="1200" i="0">
                          <a:solidFill>
                            <a:srgbClr val="1A2233"/>
                          </a:solidFill>
                          <a:latin typeface="Consolas"/>
                        </a:rPr>
                        <a:t>J: =SUMIFS($J11:$CO11,$J10:$CO10,"&gt;"&amp;J10,$J10:$CO10,"&lt;="&amp;J10+$F$9)*(1-Time!J$58+Time!J$45)</a:t>
                      </a:r>
                    </a:p>
                  </a:txBody>
                  <a:tcPr marL="64008" marR="64008" marT="27432" marB="27432" anchor="ctr">
                    <a:solidFill>
                      <a:srgbClr val="F3F6F9"/>
                    </a:solidFill>
                  </a:tcPr>
                </a:tc>
              </a:tr>
              <a:tr h="329184">
                <a:tc>
                  <a:txBody>
                    <a:bodyPr wrap="square"/>
                    <a:lstStyle/>
                    <a:p>
                      <a:r>
                        <a:rPr b="1" sz="1200" i="0">
                          <a:solidFill>
                            <a:srgbClr val="1A2233"/>
                          </a:solidFill>
                          <a:latin typeface="Calibri"/>
                        </a:rPr>
                        <a:t>13</a:t>
                      </a:r>
                    </a:p>
                  </a:txBody>
                  <a:tcPr marL="64008" marR="64008" marT="27432" marB="27432" anchor="ctr">
                    <a:solidFill>
                      <a:srgbClr val="FFFFFF"/>
                    </a:solidFill>
                  </a:tcPr>
                </a:tc>
                <a:tc>
                  <a:txBody>
                    <a:bodyPr wrap="square"/>
                    <a:lstStyle/>
                    <a:p>
                      <a:r>
                        <a:rPr b="0" sz="1200" i="0">
                          <a:solidFill>
                            <a:srgbClr val="1A2233"/>
                          </a:solidFill>
                          <a:latin typeface="Calibri"/>
                        </a:rPr>
                        <a:t>Cash flow after senior debt service</a:t>
                      </a:r>
                    </a:p>
                  </a:txBody>
                  <a:tcPr marL="64008" marR="64008" marT="27432" marB="27432" anchor="ctr">
                    <a:solidFill>
                      <a:srgbClr val="FFFFFF"/>
                    </a:solidFill>
                  </a:tcPr>
                </a:tc>
                <a:tc>
                  <a:txBody>
                    <a:bodyPr wrap="square"/>
                    <a:lstStyle/>
                    <a:p>
                      <a:r>
                        <a:rPr b="0" sz="1200" i="0">
                          <a:solidFill>
                            <a:srgbClr val="1A2233"/>
                          </a:solidFill>
                          <a:latin typeface="Consolas"/>
                        </a:rPr>
                        <a:t>J: =FinStat!J$43</a:t>
                      </a:r>
                    </a:p>
                  </a:txBody>
                  <a:tcPr marL="64008" marR="64008" marT="27432" marB="27432" anchor="ctr">
                    <a:solidFill>
                      <a:srgbClr val="FFFFFF"/>
                    </a:solidFill>
                  </a:tcPr>
                </a:tc>
              </a:tr>
              <a:tr h="329184">
                <a:tc>
                  <a:txBody>
                    <a:bodyPr wrap="square"/>
                    <a:lstStyle/>
                    <a:p>
                      <a:r>
                        <a:rPr b="1" sz="1200" i="0">
                          <a:solidFill>
                            <a:srgbClr val="1A2233"/>
                          </a:solidFill>
                          <a:latin typeface="Calibri"/>
                        </a:rPr>
                        <a:t>14</a:t>
                      </a:r>
                    </a:p>
                  </a:txBody>
                  <a:tcPr marL="64008" marR="64008" marT="27432" marB="27432" anchor="ctr">
                    <a:solidFill>
                      <a:srgbClr val="F3F6F9"/>
                    </a:solidFill>
                  </a:tcPr>
                </a:tc>
                <a:tc>
                  <a:txBody>
                    <a:bodyPr wrap="square"/>
                    <a:lstStyle/>
                    <a:p>
                      <a:r>
                        <a:rPr b="0" sz="1200" i="0">
                          <a:solidFill>
                            <a:srgbClr val="1A2233"/>
                          </a:solidFill>
                          <a:latin typeface="Calibri"/>
                        </a:rPr>
                        <a:t>DSRA balance BEG</a:t>
                      </a:r>
                    </a:p>
                  </a:txBody>
                  <a:tcPr marL="64008" marR="64008" marT="27432" marB="27432" anchor="ctr">
                    <a:solidFill>
                      <a:srgbClr val="F3F6F9"/>
                    </a:solidFill>
                  </a:tcPr>
                </a:tc>
                <a:tc>
                  <a:txBody>
                    <a:bodyPr wrap="square"/>
                    <a:lstStyle/>
                    <a:p>
                      <a:r>
                        <a:rPr b="0" sz="1200" i="0">
                          <a:solidFill>
                            <a:srgbClr val="1A2233"/>
                          </a:solidFill>
                          <a:latin typeface="Consolas"/>
                        </a:rPr>
                        <a:t>J: =I18</a:t>
                      </a:r>
                    </a:p>
                  </a:txBody>
                  <a:tcPr marL="64008" marR="64008" marT="27432" marB="27432" anchor="ctr">
                    <a:solidFill>
                      <a:srgbClr val="F3F6F9"/>
                    </a:solidFill>
                  </a:tcPr>
                </a:tc>
              </a:tr>
              <a:tr h="329184">
                <a:tc>
                  <a:txBody>
                    <a:bodyPr wrap="square"/>
                    <a:lstStyle/>
                    <a:p>
                      <a:r>
                        <a:rPr b="1" sz="1200" i="0">
                          <a:solidFill>
                            <a:srgbClr val="1A2233"/>
                          </a:solidFill>
                          <a:latin typeface="Calibri"/>
                        </a:rPr>
                        <a:t>15</a:t>
                      </a:r>
                    </a:p>
                  </a:txBody>
                  <a:tcPr marL="64008" marR="64008" marT="27432" marB="27432" anchor="ctr">
                    <a:solidFill>
                      <a:srgbClr val="FFFFFF"/>
                    </a:solidFill>
                  </a:tcPr>
                </a:tc>
                <a:tc>
                  <a:txBody>
                    <a:bodyPr wrap="square"/>
                    <a:lstStyle/>
                    <a:p>
                      <a:r>
                        <a:rPr b="0" sz="1200" i="0">
                          <a:solidFill>
                            <a:srgbClr val="1A2233"/>
                          </a:solidFill>
                          <a:latin typeface="Calibri"/>
                        </a:rPr>
                        <a:t>Funding</a:t>
                      </a:r>
                    </a:p>
                  </a:txBody>
                  <a:tcPr marL="64008" marR="64008" marT="27432" marB="27432" anchor="ctr">
                    <a:solidFill>
                      <a:srgbClr val="FFFFFF"/>
                    </a:solidFill>
                  </a:tcPr>
                </a:tc>
                <a:tc>
                  <a:txBody>
                    <a:bodyPr wrap="square"/>
                    <a:lstStyle/>
                    <a:p>
                      <a:r>
                        <a:rPr b="0" sz="1200" i="0">
                          <a:solidFill>
                            <a:srgbClr val="1A2233"/>
                          </a:solidFill>
                          <a:latin typeface="Consolas"/>
                        </a:rPr>
                        <a:t>J: =MIN(MAX(J12-J14,0),MAX(J13,0))</a:t>
                      </a:r>
                    </a:p>
                  </a:txBody>
                  <a:tcPr marL="64008" marR="64008" marT="27432" marB="27432" anchor="ctr">
                    <a:solidFill>
                      <a:srgbClr val="FFFFFF"/>
                    </a:solidFill>
                  </a:tcPr>
                </a:tc>
              </a:tr>
              <a:tr h="329184">
                <a:tc>
                  <a:txBody>
                    <a:bodyPr wrap="square"/>
                    <a:lstStyle/>
                    <a:p>
                      <a:r>
                        <a:rPr b="1" sz="1200" i="0">
                          <a:solidFill>
                            <a:srgbClr val="1A2233"/>
                          </a:solidFill>
                          <a:latin typeface="Calibri"/>
                        </a:rPr>
                        <a:t>16</a:t>
                      </a:r>
                    </a:p>
                  </a:txBody>
                  <a:tcPr marL="64008" marR="64008" marT="27432" marB="27432" anchor="ctr">
                    <a:solidFill>
                      <a:srgbClr val="F3F6F9"/>
                    </a:solidFill>
                  </a:tcPr>
                </a:tc>
                <a:tc>
                  <a:txBody>
                    <a:bodyPr wrap="square"/>
                    <a:lstStyle/>
                    <a:p>
                      <a:r>
                        <a:rPr b="0" sz="1200" i="0">
                          <a:solidFill>
                            <a:srgbClr val="1A2233"/>
                          </a:solidFill>
                          <a:latin typeface="Calibri"/>
                        </a:rPr>
                        <a:t>Release</a:t>
                      </a:r>
                    </a:p>
                  </a:txBody>
                  <a:tcPr marL="64008" marR="64008" marT="27432" marB="27432" anchor="ctr">
                    <a:solidFill>
                      <a:srgbClr val="F3F6F9"/>
                    </a:solidFill>
                  </a:tcPr>
                </a:tc>
                <a:tc>
                  <a:txBody>
                    <a:bodyPr wrap="square"/>
                    <a:lstStyle/>
                    <a:p>
                      <a:r>
                        <a:rPr b="0" sz="1200" i="0">
                          <a:solidFill>
                            <a:srgbClr val="1A2233"/>
                          </a:solidFill>
                          <a:latin typeface="Consolas"/>
                        </a:rPr>
                        <a:t>J: =MAX(J14-J12,0)</a:t>
                      </a:r>
                    </a:p>
                  </a:txBody>
                  <a:tcPr marL="64008" marR="64008" marT="27432" marB="27432" anchor="ctr">
                    <a:solidFill>
                      <a:srgbClr val="F3F6F9"/>
                    </a:solidFill>
                  </a:tcPr>
                </a:tc>
              </a:tr>
              <a:tr h="329184">
                <a:tc>
                  <a:txBody>
                    <a:bodyPr wrap="square"/>
                    <a:lstStyle/>
                    <a:p>
                      <a:r>
                        <a:rPr b="1" sz="1200" i="0">
                          <a:solidFill>
                            <a:srgbClr val="1A2233"/>
                          </a:solidFill>
                          <a:latin typeface="Calibri"/>
                        </a:rPr>
                        <a:t>17</a:t>
                      </a:r>
                    </a:p>
                  </a:txBody>
                  <a:tcPr marL="64008" marR="64008" marT="27432" marB="27432" anchor="ctr">
                    <a:solidFill>
                      <a:srgbClr val="FFFFFF"/>
                    </a:solidFill>
                  </a:tcPr>
                </a:tc>
                <a:tc>
                  <a:txBody>
                    <a:bodyPr wrap="square"/>
                    <a:lstStyle/>
                    <a:p>
                      <a:r>
                        <a:rPr b="0" sz="1200" i="0">
                          <a:solidFill>
                            <a:srgbClr val="1A2233"/>
                          </a:solidFill>
                          <a:latin typeface="Calibri"/>
                        </a:rPr>
                        <a:t>DSRA (funding) / release</a:t>
                      </a:r>
                    </a:p>
                  </a:txBody>
                  <a:tcPr marL="64008" marR="64008" marT="27432" marB="27432" anchor="ctr">
                    <a:solidFill>
                      <a:srgbClr val="FFFFFF"/>
                    </a:solidFill>
                  </a:tcPr>
                </a:tc>
                <a:tc>
                  <a:txBody>
                    <a:bodyPr wrap="square"/>
                    <a:lstStyle/>
                    <a:p>
                      <a:r>
                        <a:rPr b="0" sz="1200" i="0">
                          <a:solidFill>
                            <a:srgbClr val="1A2233"/>
                          </a:solidFill>
                          <a:latin typeface="Consolas"/>
                        </a:rPr>
                        <a:t>J: =J16-J15</a:t>
                      </a:r>
                    </a:p>
                  </a:txBody>
                  <a:tcPr marL="64008" marR="64008" marT="27432" marB="27432" anchor="ctr">
                    <a:solidFill>
                      <a:srgbClr val="FFFFFF"/>
                    </a:solidFill>
                  </a:tcPr>
                </a:tc>
              </a:tr>
              <a:tr h="329184">
                <a:tc>
                  <a:txBody>
                    <a:bodyPr wrap="square"/>
                    <a:lstStyle/>
                    <a:p>
                      <a:r>
                        <a:rPr b="1" sz="1200" i="0">
                          <a:solidFill>
                            <a:srgbClr val="1A2233"/>
                          </a:solidFill>
                          <a:latin typeface="Calibri"/>
                        </a:rPr>
                        <a:t>18</a:t>
                      </a:r>
                    </a:p>
                  </a:txBody>
                  <a:tcPr marL="64008" marR="64008" marT="27432" marB="27432" anchor="ctr">
                    <a:solidFill>
                      <a:srgbClr val="F3F6F9"/>
                    </a:solidFill>
                  </a:tcPr>
                </a:tc>
                <a:tc>
                  <a:txBody>
                    <a:bodyPr wrap="square"/>
                    <a:lstStyle/>
                    <a:p>
                      <a:r>
                        <a:rPr b="0" sz="1200" i="0">
                          <a:solidFill>
                            <a:srgbClr val="1A2233"/>
                          </a:solidFill>
                          <a:latin typeface="Calibri"/>
                        </a:rPr>
                        <a:t>DSRA balance END</a:t>
                      </a:r>
                    </a:p>
                  </a:txBody>
                  <a:tcPr marL="64008" marR="64008" marT="27432" marB="27432" anchor="ctr">
                    <a:solidFill>
                      <a:srgbClr val="F3F6F9"/>
                    </a:solidFill>
                  </a:tcPr>
                </a:tc>
                <a:tc>
                  <a:txBody>
                    <a:bodyPr wrap="square"/>
                    <a:lstStyle/>
                    <a:p>
                      <a:r>
                        <a:rPr b="0" sz="1200" i="0">
                          <a:solidFill>
                            <a:srgbClr val="1A2233"/>
                          </a:solidFill>
                          <a:latin typeface="Consolas"/>
                        </a:rPr>
                        <a:t>J: =IF(Time!J$45=1,0,J14+J15-J16)</a:t>
                      </a:r>
                    </a:p>
                  </a:txBody>
                  <a:tcPr marL="64008" marR="64008" marT="27432" marB="27432" anchor="ctr">
                    <a:solidFill>
                      <a:srgbClr val="F3F6F9"/>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DSRA!J12: target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DSRA</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J12  (to CO12)</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DSRA target (next periods of debt service)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1300" i="0">
                <a:solidFill>
                  <a:srgbClr val="141B4D"/>
                </a:solidFill>
                <a:latin typeface="Consolas"/>
              </a:rPr>
              <a:t>=SUMIFS($J11:$CO11,$J10:$CO10,"&gt;"&amp;J10,$J10:$CO10,"&lt;="&amp;J10+$F$9)*(1-Time!J$58+Time!J$45)</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300" i="0">
                <a:solidFill>
                  <a:srgbClr val="1A2233"/>
                </a:solidFill>
                <a:latin typeface="Calibri"/>
              </a:rPr>
              <a:t>▪ Add the debt service of the next n periods: those whose counter is above this column's counter and within n periods of it</a:t>
            </a:r>
          </a:p>
          <a:p>
            <a:pPr algn="l"/>
            <a:r>
              <a:rPr b="0" sz="1300" i="0">
                <a:solidFill>
                  <a:srgbClr val="1A2233"/>
                </a:solidFill>
                <a:latin typeface="Calibri"/>
              </a:rPr>
              <a:t>▪ </a:t>
            </a:r>
            <a:r>
              <a:rPr b="0" sz="1300" i="0">
                <a:solidFill>
                  <a:srgbClr val="0B5E82"/>
                </a:solidFill>
                <a:latin typeface="Consolas"/>
              </a:rPr>
              <a:t>SUMIFS</a:t>
            </a:r>
            <a:r>
              <a:rPr b="0" sz="1300" i="0">
                <a:solidFill>
                  <a:srgbClr val="1A2233"/>
                </a:solidFill>
                <a:latin typeface="Calibri"/>
              </a:rPr>
              <a:t> with two conditions on the counter row 10; the </a:t>
            </a:r>
            <a:r>
              <a:rPr b="0" sz="1300" i="0">
                <a:solidFill>
                  <a:srgbClr val="0B5E82"/>
                </a:solidFill>
                <a:latin typeface="Consolas"/>
              </a:rPr>
              <a:t>*(1-Time!J$58+Time!J$45)</a:t>
            </a:r>
            <a:r>
              <a:rPr b="0" sz="1300" i="0">
                <a:solidFill>
                  <a:srgbClr val="1A2233"/>
                </a:solidFill>
                <a:latin typeface="Calibri"/>
              </a:rPr>
              <a:t> factor switches the target on from COD</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F9 = InpC!F$143 (2 periods)</a:t>
            </a:r>
          </a:p>
          <a:p>
            <a:pPr algn="l"/>
            <a:r>
              <a:rPr b="0" sz="1300" i="0">
                <a:solidFill>
                  <a:srgbClr val="1A2233"/>
                </a:solidFill>
                <a:latin typeface="Consolas"/>
              </a:rPr>
              <a:t>J10 = Sculpt!J$11</a:t>
            </a:r>
          </a:p>
          <a:p>
            <a:pPr algn="l"/>
            <a:r>
              <a:rPr b="0" sz="1300" i="0">
                <a:solidFill>
                  <a:srgbClr val="1A2233"/>
                </a:solidFill>
                <a:latin typeface="Consolas"/>
              </a:rPr>
              <a:t>J11 = Ratios!J$9 (debt service)</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300" i="0">
                <a:solidFill>
                  <a:srgbClr val="1A2233"/>
                </a:solidFill>
                <a:latin typeface="Consolas"/>
              </a:rPr>
              <a:t>Ctrl+G, then type</a:t>
            </a:r>
          </a:p>
          <a:p>
            <a:pPr algn="l"/>
            <a:r>
              <a:rPr b="0" sz="1300" i="0">
                <a:solidFill>
                  <a:srgbClr val="1A2233"/>
                </a:solidFill>
                <a:latin typeface="Consolas"/>
              </a:rPr>
              <a:t>J12:CO12, Enter</a:t>
            </a:r>
          </a:p>
          <a:p>
            <a:pPr algn="l"/>
            <a:r>
              <a:rPr b="0" sz="1300" i="0">
                <a:solidFill>
                  <a:srgbClr val="1A2233"/>
                </a:solidFill>
                <a:latin typeface="Consolas"/>
              </a:rPr>
              <a:t>Type the formula</a:t>
            </a:r>
          </a:p>
          <a:p>
            <a:pPr algn="l"/>
            <a:r>
              <a:rPr b="0" sz="1300" i="0">
                <a:solidFill>
                  <a:srgbClr val="1A2233"/>
                </a:solidFill>
                <a:latin typeface="Consolas"/>
              </a:rPr>
              <a:t>Ctrl+Enter fills the range</a:t>
            </a:r>
          </a:p>
          <a:p>
            <a:pPr algn="l"/>
            <a:r>
              <a:rPr b="0" sz="1300" i="0">
                <a:solidFill>
                  <a:srgbClr val="1A2233"/>
                </a:solidFill>
                <a:latin typeface="Consolas"/>
              </a:rPr>
              <a:t>F4 cycles the $ signs</a:t>
            </a:r>
          </a:p>
          <a:p>
            <a:pPr algn="l"/>
            <a:r>
              <a:rPr b="0" sz="1300" i="0">
                <a:solidFill>
                  <a:srgbClr val="1A2233"/>
                </a:solidFill>
                <a:latin typeface="Consolas"/>
              </a:rPr>
              <a:t>Sheets: Ctrl+PgUp/PgDn</a:t>
            </a:r>
          </a:p>
          <a:p>
            <a:pPr algn="l"/>
            <a:r>
              <a:rPr b="0" sz="13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300" i="0">
                <a:solidFill>
                  <a:srgbClr val="1A2233"/>
                </a:solidFill>
                <a:latin typeface="Consolas"/>
              </a:rPr>
              <a:t>Ctrl+G, then type</a:t>
            </a:r>
          </a:p>
          <a:p>
            <a:pPr algn="l"/>
            <a:r>
              <a:rPr b="0" sz="1300" i="0">
                <a:solidFill>
                  <a:srgbClr val="1A2233"/>
                </a:solidFill>
                <a:latin typeface="Consolas"/>
              </a:rPr>
              <a:t>J12:CO12, Return</a:t>
            </a:r>
          </a:p>
          <a:p>
            <a:pPr algn="l"/>
            <a:r>
              <a:rPr b="0" sz="1300" i="0">
                <a:solidFill>
                  <a:srgbClr val="1A2233"/>
                </a:solidFill>
                <a:latin typeface="Consolas"/>
              </a:rPr>
              <a:t>Type the formula</a:t>
            </a:r>
          </a:p>
          <a:p>
            <a:pPr algn="l"/>
            <a:r>
              <a:rPr b="0" sz="1300" i="0">
                <a:solidFill>
                  <a:srgbClr val="1A2233"/>
                </a:solidFill>
                <a:latin typeface="Consolas"/>
              </a:rPr>
              <a:t>Ctrl+Return fills range</a:t>
            </a:r>
          </a:p>
          <a:p>
            <a:pPr algn="l"/>
            <a:r>
              <a:rPr b="0" sz="1300" i="0">
                <a:solidFill>
                  <a:srgbClr val="1A2233"/>
                </a:solidFill>
                <a:latin typeface="Consolas"/>
              </a:rPr>
              <a:t>Cmd+T (Fn+F4): $ signs</a:t>
            </a:r>
          </a:p>
          <a:p>
            <a:pPr algn="l"/>
            <a:r>
              <a:rPr b="0" sz="1300" i="0">
                <a:solidFill>
                  <a:srgbClr val="1A2233"/>
                </a:solidFill>
                <a:latin typeface="Consolas"/>
              </a:rPr>
              <a:t>Sheets: Option+←/→</a:t>
            </a:r>
          </a:p>
          <a:p>
            <a:pPr algn="l"/>
            <a:r>
              <a:rPr b="0" sz="13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J12 → CO12</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Target at COD = 4,546.5 (the next two quarters)</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Looks forward without OFFSET (which is volatile)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DSRA!J15: funding</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DSRA</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J15  (to CO15)</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Funding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=MIN(MAX(J12-J14,0),MAX(J13,0))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Fund the shortfall (target − opening balance), limited to cash available after debt service, never negative</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J13 = FinStat!J43</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J15:CO15,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J15:CO15,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J15 → CO15</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H15 = 9,788</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The account is topped up only from spare cash</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DSRA!J16: release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DSRA</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J16  (to CO16)</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Release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=MAX(J14-J12,0)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Release any balance above the target (when the target falls as the loan matures)</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J16:CO16,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J16:CO16,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J16 → CO16</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H16 = 9,788</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Mirror of funding</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DSRA!J18: DSRA balance END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DSRA</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J18  (to CO18)</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DSRA balance END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=IF(Time!J$45=1,0,J14+J15-J16)</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Zero at COD; otherwise opening + funding − release</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300" i="0">
                <a:solidFill>
                  <a:srgbClr val="1A2233"/>
                </a:solidFill>
                <a:latin typeface="Consolas"/>
              </a:rPr>
              <a:t>Ctrl+G, then type</a:t>
            </a:r>
          </a:p>
          <a:p>
            <a:pPr algn="l"/>
            <a:r>
              <a:rPr b="0" sz="1300" i="0">
                <a:solidFill>
                  <a:srgbClr val="1A2233"/>
                </a:solidFill>
                <a:latin typeface="Consolas"/>
              </a:rPr>
              <a:t>J18:CO18, Enter</a:t>
            </a:r>
          </a:p>
          <a:p>
            <a:pPr algn="l"/>
            <a:r>
              <a:rPr b="0" sz="1300" i="0">
                <a:solidFill>
                  <a:srgbClr val="1A2233"/>
                </a:solidFill>
                <a:latin typeface="Consolas"/>
              </a:rPr>
              <a:t>Type the formula</a:t>
            </a:r>
          </a:p>
          <a:p>
            <a:pPr algn="l"/>
            <a:r>
              <a:rPr b="0" sz="1300" i="0">
                <a:solidFill>
                  <a:srgbClr val="1A2233"/>
                </a:solidFill>
                <a:latin typeface="Consolas"/>
              </a:rPr>
              <a:t>Ctrl+Enter fills the range</a:t>
            </a:r>
          </a:p>
          <a:p>
            <a:pPr algn="l"/>
            <a:r>
              <a:rPr b="0" sz="1300" i="0">
                <a:solidFill>
                  <a:srgbClr val="1A2233"/>
                </a:solidFill>
                <a:latin typeface="Consolas"/>
              </a:rPr>
              <a:t>F4 cycles the $ signs</a:t>
            </a:r>
          </a:p>
          <a:p>
            <a:pPr algn="l"/>
            <a:r>
              <a:rPr b="0" sz="1300" i="0">
                <a:solidFill>
                  <a:srgbClr val="1A2233"/>
                </a:solidFill>
                <a:latin typeface="Consolas"/>
              </a:rPr>
              <a:t>Sheets: Ctrl+PgUp/PgDn</a:t>
            </a:r>
          </a:p>
          <a:p>
            <a:pPr algn="l"/>
            <a:r>
              <a:rPr b="0" sz="13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300" i="0">
                <a:solidFill>
                  <a:srgbClr val="1A2233"/>
                </a:solidFill>
                <a:latin typeface="Consolas"/>
              </a:rPr>
              <a:t>Ctrl+G, then type</a:t>
            </a:r>
          </a:p>
          <a:p>
            <a:pPr algn="l"/>
            <a:r>
              <a:rPr b="0" sz="1300" i="0">
                <a:solidFill>
                  <a:srgbClr val="1A2233"/>
                </a:solidFill>
                <a:latin typeface="Consolas"/>
              </a:rPr>
              <a:t>J18:CO18, Return</a:t>
            </a:r>
          </a:p>
          <a:p>
            <a:pPr algn="l"/>
            <a:r>
              <a:rPr b="0" sz="1300" i="0">
                <a:solidFill>
                  <a:srgbClr val="1A2233"/>
                </a:solidFill>
                <a:latin typeface="Consolas"/>
              </a:rPr>
              <a:t>Type the formula</a:t>
            </a:r>
          </a:p>
          <a:p>
            <a:pPr algn="l"/>
            <a:r>
              <a:rPr b="0" sz="1300" i="0">
                <a:solidFill>
                  <a:srgbClr val="1A2233"/>
                </a:solidFill>
                <a:latin typeface="Consolas"/>
              </a:rPr>
              <a:t>Ctrl+Return fills range</a:t>
            </a:r>
          </a:p>
          <a:p>
            <a:pPr algn="l"/>
            <a:r>
              <a:rPr b="0" sz="1300" i="0">
                <a:solidFill>
                  <a:srgbClr val="1A2233"/>
                </a:solidFill>
                <a:latin typeface="Consolas"/>
              </a:rPr>
              <a:t>Cmd+T (Fn+F4): $ signs</a:t>
            </a:r>
          </a:p>
          <a:p>
            <a:pPr algn="l"/>
            <a:r>
              <a:rPr b="0" sz="1300" i="0">
                <a:solidFill>
                  <a:srgbClr val="1A2233"/>
                </a:solidFill>
                <a:latin typeface="Consolas"/>
              </a:rPr>
              <a:t>Sheets: Option+←/→</a:t>
            </a:r>
          </a:p>
          <a:p>
            <a:pPr algn="l"/>
            <a:r>
              <a:rPr b="0" sz="13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J18 → CO18</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Zero again after December 2031</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Balance sheet asset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DSRA</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DSRA balance versus target (US$ thousands)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Chart 10"/>
          <p:cNvGraphicFramePr>
            <a:graphicFrameLocks noGrp="1"/>
          </p:cNvGraphicFramePr>
          <p:nvPr/>
        </p:nvGraphicFramePr>
        <p:xfrm>
          <a:off x="548640" y="1508760"/>
          <a:ext cx="10881360" cy="4297680"/>
        </p:xfrm>
        <a:graphic>
          <a:graphicData uri="http://schemas.openxmlformats.org/drawingml/2006/chart">
            <c:chart xmlns:c="http://schemas.openxmlformats.org/drawingml/2006/chart" r:id="rId5"/>
          </a:graphicData>
        </a:graphic>
      </p:graphicFrame>
      <p:sp>
        <p:nvSpPr>
          <p:cNvPr id="12" name="TextBox 11"/>
          <p:cNvSpPr txBox="1"/>
          <p:nvPr/>
        </p:nvSpPr>
        <p:spPr>
          <a:xfrm>
            <a:off x="548640" y="5852159"/>
            <a:ext cx="11064240" cy="502920"/>
          </a:xfrm>
          <a:prstGeom prst="rect">
            <a:avLst/>
          </a:prstGeom>
          <a:noFill/>
        </p:spPr>
        <p:txBody>
          <a:bodyPr wrap="square" lIns="45720" rIns="45720" tIns="27432" bIns="27432" anchor="t">
            <a:spAutoFit/>
          </a:bodyPr>
          <a:lstStyle/>
          <a:p>
            <a:pPr algn="l"/>
            <a:r>
              <a:rPr b="0" sz="1300" i="1">
                <a:solidFill>
                  <a:srgbClr val="5C6B7A"/>
                </a:solidFill>
                <a:latin typeface="Calibri"/>
              </a:rPr>
              <a:t>The balance follows the target with a short build-up after COD and releases as the loan matures.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7.5: Build the DSRA and check the balance sheet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Build DSRA rows 9 to 18; link row 17 into FinStat row 44 and row 18 into the balance sheet (row 65).</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Pull debt service; target with SUMIFS</a:t>
            </a:r>
          </a:p>
          <a:p>
            <a:pPr>
              <a:spcAft>
                <a:spcPts val="300"/>
              </a:spcAft>
            </a:pPr>
            <a:r>
              <a:rPr b="0" sz="1500" i="0">
                <a:solidFill>
                  <a:srgbClr val="1A2233"/>
                </a:solidFill>
                <a:latin typeface="Calibri"/>
              </a:rPr>
              <a:t>2.  Funding, release and balance</a:t>
            </a:r>
          </a:p>
          <a:p>
            <a:pPr>
              <a:spcAft>
                <a:spcPts val="300"/>
              </a:spcAft>
            </a:pPr>
            <a:r>
              <a:rPr b="0" sz="1500" i="0">
                <a:solidFill>
                  <a:srgbClr val="1A2233"/>
                </a:solidFill>
                <a:latin typeface="Calibri"/>
              </a:rPr>
              <a:t>3.  Link to FinStat; fix SUM ranges</a:t>
            </a:r>
          </a:p>
          <a:p>
            <a:pPr>
              <a:spcAft>
                <a:spcPts val="300"/>
              </a:spcAft>
            </a:pPr>
            <a:r>
              <a:rPr b="0" sz="1500" i="0">
                <a:solidFill>
                  <a:srgbClr val="1A2233"/>
                </a:solidFill>
                <a:latin typeface="Calibri"/>
              </a:rPr>
              <a:t>4.  Confirm FinStat F86 = 0</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30 min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7  |  Thu 22 Oct 2026  |  Project finance modelling II: debt sizing and returns</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67</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15.30 – 17.00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6: Optimisation and final checks</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Choose the capital structure that maximises sponsor return within lender constraints.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OPTIMISE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400" i="0">
                <a:solidFill>
                  <a:srgbClr val="141B4D"/>
                </a:solidFill>
                <a:latin typeface="Georgia"/>
              </a:rPr>
              <a:t>Structure grid: target DSCR × tenor (Base, 75% gearing cap, 2-quarter DSRA)</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922776"/>
        </p:xfrm>
        <a:graphic>
          <a:graphicData uri="http://schemas.openxmlformats.org/drawingml/2006/table">
            <a:tbl>
              <a:tblPr firstRow="1" bandRow="1">
                <a:tableStyleId>{5C22544A-7EE6-4342-B048-85BDC9FD1C3A}</a:tableStyleId>
              </a:tblPr>
              <a:tblGrid>
                <a:gridCol w="1371600"/>
                <a:gridCol w="1097280"/>
                <a:gridCol w="1828800"/>
                <a:gridCol w="1828800"/>
                <a:gridCol w="1280160"/>
                <a:gridCol w="1828800"/>
                <a:gridCol w="1828800"/>
              </a:tblGrid>
              <a:tr h="301752">
                <a:tc>
                  <a:txBody>
                    <a:bodyPr wrap="square"/>
                    <a:lstStyle/>
                    <a:p>
                      <a:r>
                        <a:rPr b="1" sz="1100" i="0">
                          <a:solidFill>
                            <a:srgbClr val="FFFFFF"/>
                          </a:solidFill>
                          <a:latin typeface="Calibri"/>
                        </a:rPr>
                        <a:t>Target DSCR</a:t>
                      </a:r>
                    </a:p>
                  </a:txBody>
                  <a:tcPr marL="64008" marR="64008" marT="27432" marB="27432" anchor="ctr">
                    <a:solidFill>
                      <a:srgbClr val="141B4D"/>
                    </a:solidFill>
                  </a:tcPr>
                </a:tc>
                <a:tc>
                  <a:txBody>
                    <a:bodyPr wrap="square"/>
                    <a:lstStyle/>
                    <a:p>
                      <a:r>
                        <a:rPr b="1" sz="1100" i="0">
                          <a:solidFill>
                            <a:srgbClr val="FFFFFF"/>
                          </a:solidFill>
                          <a:latin typeface="Calibri"/>
                        </a:rPr>
                        <a:t>Tenor</a:t>
                      </a:r>
                    </a:p>
                  </a:txBody>
                  <a:tcPr marL="64008" marR="64008" marT="27432" marB="27432" anchor="ctr">
                    <a:solidFill>
                      <a:srgbClr val="141B4D"/>
                    </a:solidFill>
                  </a:tcPr>
                </a:tc>
                <a:tc>
                  <a:txBody>
                    <a:bodyPr wrap="square"/>
                    <a:lstStyle/>
                    <a:p>
                      <a:r>
                        <a:rPr b="1" sz="1100" i="0">
                          <a:solidFill>
                            <a:srgbClr val="FFFFFF"/>
                          </a:solidFill>
                          <a:latin typeface="Calibri"/>
                        </a:rPr>
                        <a:t>Capacity ($000s)</a:t>
                      </a:r>
                    </a:p>
                  </a:txBody>
                  <a:tcPr marL="64008" marR="64008" marT="27432" marB="27432" anchor="ctr">
                    <a:solidFill>
                      <a:srgbClr val="141B4D"/>
                    </a:solidFill>
                  </a:tcPr>
                </a:tc>
                <a:tc>
                  <a:txBody>
                    <a:bodyPr wrap="square"/>
                    <a:lstStyle/>
                    <a:p>
                      <a:r>
                        <a:rPr b="1" sz="1100" i="0">
                          <a:solidFill>
                            <a:srgbClr val="FFFFFF"/>
                          </a:solidFill>
                          <a:latin typeface="Calibri"/>
                        </a:rPr>
                        <a:t>Debt sized ($000s)</a:t>
                      </a:r>
                    </a:p>
                  </a:txBody>
                  <a:tcPr marL="64008" marR="64008" marT="27432" marB="27432" anchor="ctr">
                    <a:solidFill>
                      <a:srgbClr val="141B4D"/>
                    </a:solidFill>
                  </a:tcPr>
                </a:tc>
                <a:tc>
                  <a:txBody>
                    <a:bodyPr wrap="square"/>
                    <a:lstStyle/>
                    <a:p>
                      <a:r>
                        <a:rPr b="1" sz="1100" i="0">
                          <a:solidFill>
                            <a:srgbClr val="FFFFFF"/>
                          </a:solidFill>
                          <a:latin typeface="Calibri"/>
                        </a:rPr>
                        <a:t>Gearing</a:t>
                      </a:r>
                    </a:p>
                  </a:txBody>
                  <a:tcPr marL="64008" marR="64008" marT="27432" marB="27432" anchor="ctr">
                    <a:solidFill>
                      <a:srgbClr val="141B4D"/>
                    </a:solidFill>
                  </a:tcPr>
                </a:tc>
                <a:tc>
                  <a:txBody>
                    <a:bodyPr wrap="square"/>
                    <a:lstStyle/>
                    <a:p>
                      <a:r>
                        <a:rPr b="1" sz="1100" i="0">
                          <a:solidFill>
                            <a:srgbClr val="FFFFFF"/>
                          </a:solidFill>
                          <a:latin typeface="Calibri"/>
                        </a:rPr>
                        <a:t>Min DSCR (actual)</a:t>
                      </a:r>
                    </a:p>
                  </a:txBody>
                  <a:tcPr marL="64008" marR="64008" marT="27432" marB="27432" anchor="ctr">
                    <a:solidFill>
                      <a:srgbClr val="141B4D"/>
                    </a:solidFill>
                  </a:tcPr>
                </a:tc>
                <a:tc>
                  <a:txBody>
                    <a:bodyPr wrap="square"/>
                    <a:lstStyle/>
                    <a:p>
                      <a:r>
                        <a:rPr b="1" sz="1100" i="0">
                          <a:solidFill>
                            <a:srgbClr val="FFFFFF"/>
                          </a:solidFill>
                          <a:latin typeface="Calibri"/>
                        </a:rPr>
                        <a:t>Sponsor IRR</a:t>
                      </a:r>
                    </a:p>
                  </a:txBody>
                  <a:tcPr marL="64008" marR="64008" marT="27432" marB="27432" anchor="ctr">
                    <a:solidFill>
                      <a:srgbClr val="141B4D"/>
                    </a:solidFill>
                  </a:tcPr>
                </a:tc>
              </a:tr>
              <a:tr h="301752">
                <a:tc>
                  <a:txBody>
                    <a:bodyPr wrap="square"/>
                    <a:lstStyle/>
                    <a:p>
                      <a:r>
                        <a:rPr b="1" sz="1100" i="0">
                          <a:solidFill>
                            <a:srgbClr val="1A2233"/>
                          </a:solidFill>
                          <a:latin typeface="Calibri"/>
                        </a:rPr>
                        <a:t>1.75x</a:t>
                      </a:r>
                    </a:p>
                  </a:txBody>
                  <a:tcPr marL="64008" marR="64008" marT="27432" marB="27432" anchor="ctr">
                    <a:solidFill>
                      <a:srgbClr val="FFFFFF"/>
                    </a:solidFill>
                  </a:tcPr>
                </a:tc>
                <a:tc>
                  <a:txBody>
                    <a:bodyPr wrap="square"/>
                    <a:lstStyle/>
                    <a:p>
                      <a:r>
                        <a:rPr b="0" sz="1100" i="0">
                          <a:solidFill>
                            <a:srgbClr val="1A2233"/>
                          </a:solidFill>
                          <a:latin typeface="Calibri"/>
                        </a:rPr>
                        <a:t>8 yrs</a:t>
                      </a:r>
                    </a:p>
                  </a:txBody>
                  <a:tcPr marL="64008" marR="64008" marT="27432" marB="27432" anchor="ctr">
                    <a:solidFill>
                      <a:srgbClr val="FFFFFF"/>
                    </a:solidFill>
                  </a:tcPr>
                </a:tc>
                <a:tc>
                  <a:txBody>
                    <a:bodyPr wrap="square"/>
                    <a:lstStyle/>
                    <a:p>
                      <a:r>
                        <a:rPr b="0" sz="1100" i="0">
                          <a:solidFill>
                            <a:srgbClr val="1A2233"/>
                          </a:solidFill>
                          <a:latin typeface="Calibri"/>
                        </a:rPr>
                        <a:t>75,515</a:t>
                      </a:r>
                    </a:p>
                  </a:txBody>
                  <a:tcPr marL="64008" marR="64008" marT="27432" marB="27432" anchor="ctr">
                    <a:solidFill>
                      <a:srgbClr val="FFFFFF"/>
                    </a:solidFill>
                  </a:tcPr>
                </a:tc>
                <a:tc>
                  <a:txBody>
                    <a:bodyPr wrap="square"/>
                    <a:lstStyle/>
                    <a:p>
                      <a:r>
                        <a:rPr b="0" sz="1100" i="0">
                          <a:solidFill>
                            <a:srgbClr val="1A2233"/>
                          </a:solidFill>
                          <a:latin typeface="Calibri"/>
                        </a:rPr>
                        <a:t>75,515</a:t>
                      </a:r>
                    </a:p>
                  </a:txBody>
                  <a:tcPr marL="64008" marR="64008" marT="27432" marB="27432" anchor="ctr">
                    <a:solidFill>
                      <a:srgbClr val="FFFFFF"/>
                    </a:solidFill>
                  </a:tcPr>
                </a:tc>
                <a:tc>
                  <a:txBody>
                    <a:bodyPr wrap="square"/>
                    <a:lstStyle/>
                    <a:p>
                      <a:r>
                        <a:rPr b="0" sz="1100" i="0">
                          <a:solidFill>
                            <a:srgbClr val="1A2233"/>
                          </a:solidFill>
                          <a:latin typeface="Calibri"/>
                        </a:rPr>
                        <a:t>74.5%</a:t>
                      </a:r>
                    </a:p>
                  </a:txBody>
                  <a:tcPr marL="64008" marR="64008" marT="27432" marB="27432" anchor="ctr">
                    <a:solidFill>
                      <a:srgbClr val="FFFFFF"/>
                    </a:solidFill>
                  </a:tcPr>
                </a:tc>
                <a:tc>
                  <a:txBody>
                    <a:bodyPr wrap="square"/>
                    <a:lstStyle/>
                    <a:p>
                      <a:r>
                        <a:rPr b="0" sz="1100" i="0">
                          <a:solidFill>
                            <a:srgbClr val="1A2233"/>
                          </a:solidFill>
                          <a:latin typeface="Calibri"/>
                        </a:rPr>
                        <a:t>1.79x</a:t>
                      </a:r>
                    </a:p>
                  </a:txBody>
                  <a:tcPr marL="64008" marR="64008" marT="27432" marB="27432" anchor="ctr">
                    <a:solidFill>
                      <a:srgbClr val="FFFFFF"/>
                    </a:solidFill>
                  </a:tcPr>
                </a:tc>
                <a:tc>
                  <a:txBody>
                    <a:bodyPr wrap="square"/>
                    <a:lstStyle/>
                    <a:p>
                      <a:r>
                        <a:rPr b="0" sz="1100" i="0">
                          <a:solidFill>
                            <a:srgbClr val="1A2233"/>
                          </a:solidFill>
                          <a:latin typeface="Calibri"/>
                        </a:rPr>
                        <a:t>43.4%</a:t>
                      </a:r>
                    </a:p>
                  </a:txBody>
                  <a:tcPr marL="64008" marR="64008" marT="27432" marB="27432" anchor="ctr">
                    <a:solidFill>
                      <a:srgbClr val="FFFFFF"/>
                    </a:solidFill>
                  </a:tcPr>
                </a:tc>
              </a:tr>
              <a:tr h="301752">
                <a:tc>
                  <a:txBody>
                    <a:bodyPr wrap="square"/>
                    <a:lstStyle/>
                    <a:p>
                      <a:r>
                        <a:rPr b="1" sz="1100" i="0">
                          <a:solidFill>
                            <a:srgbClr val="1A2233"/>
                          </a:solidFill>
                          <a:latin typeface="Calibri"/>
                        </a:rPr>
                        <a:t>1.75x</a:t>
                      </a:r>
                    </a:p>
                  </a:txBody>
                  <a:tcPr marL="64008" marR="64008" marT="27432" marB="27432" anchor="ctr">
                    <a:solidFill>
                      <a:srgbClr val="F3F6F9"/>
                    </a:solidFill>
                  </a:tcPr>
                </a:tc>
                <a:tc>
                  <a:txBody>
                    <a:bodyPr wrap="square"/>
                    <a:lstStyle/>
                    <a:p>
                      <a:r>
                        <a:rPr b="0" sz="1100" i="0">
                          <a:solidFill>
                            <a:srgbClr val="1A2233"/>
                          </a:solidFill>
                          <a:latin typeface="Calibri"/>
                        </a:rPr>
                        <a:t>10 yrs</a:t>
                      </a:r>
                    </a:p>
                  </a:txBody>
                  <a:tcPr marL="64008" marR="64008" marT="27432" marB="27432" anchor="ctr">
                    <a:solidFill>
                      <a:srgbClr val="F3F6F9"/>
                    </a:solidFill>
                  </a:tcPr>
                </a:tc>
                <a:tc>
                  <a:txBody>
                    <a:bodyPr wrap="square"/>
                    <a:lstStyle/>
                    <a:p>
                      <a:r>
                        <a:rPr b="0" sz="1100" i="0">
                          <a:solidFill>
                            <a:srgbClr val="1A2233"/>
                          </a:solidFill>
                          <a:latin typeface="Calibri"/>
                        </a:rPr>
                        <a:t>92,810</a:t>
                      </a:r>
                    </a:p>
                  </a:txBody>
                  <a:tcPr marL="64008" marR="64008" marT="27432" marB="27432" anchor="ctr">
                    <a:solidFill>
                      <a:srgbClr val="F3F6F9"/>
                    </a:solidFill>
                  </a:tcPr>
                </a:tc>
                <a:tc>
                  <a:txBody>
                    <a:bodyPr wrap="square"/>
                    <a:lstStyle/>
                    <a:p>
                      <a:r>
                        <a:rPr b="0" sz="1100" i="0">
                          <a:solidFill>
                            <a:srgbClr val="1A2233"/>
                          </a:solidFill>
                          <a:latin typeface="Calibri"/>
                        </a:rPr>
                        <a:t>76,052</a:t>
                      </a:r>
                    </a:p>
                  </a:txBody>
                  <a:tcPr marL="64008" marR="64008" marT="27432" marB="27432" anchor="ctr">
                    <a:solidFill>
                      <a:srgbClr val="F3F6F9"/>
                    </a:solidFill>
                  </a:tcPr>
                </a:tc>
                <a:tc>
                  <a:txBody>
                    <a:bodyPr wrap="square"/>
                    <a:lstStyle/>
                    <a:p>
                      <a:r>
                        <a:rPr b="0" sz="1100" i="0">
                          <a:solidFill>
                            <a:srgbClr val="1A2233"/>
                          </a:solidFill>
                          <a:latin typeface="Calibri"/>
                        </a:rPr>
                        <a:t>75.0%</a:t>
                      </a:r>
                    </a:p>
                  </a:txBody>
                  <a:tcPr marL="64008" marR="64008" marT="27432" marB="27432" anchor="ctr">
                    <a:solidFill>
                      <a:srgbClr val="F3F6F9"/>
                    </a:solidFill>
                  </a:tcPr>
                </a:tc>
                <a:tc>
                  <a:txBody>
                    <a:bodyPr wrap="square"/>
                    <a:lstStyle/>
                    <a:p>
                      <a:r>
                        <a:rPr b="0" sz="1100" i="0">
                          <a:solidFill>
                            <a:srgbClr val="1A2233"/>
                          </a:solidFill>
                          <a:latin typeface="Calibri"/>
                        </a:rPr>
                        <a:t>2.18x</a:t>
                      </a:r>
                    </a:p>
                  </a:txBody>
                  <a:tcPr marL="64008" marR="64008" marT="27432" marB="27432" anchor="ctr">
                    <a:solidFill>
                      <a:srgbClr val="F3F6F9"/>
                    </a:solidFill>
                  </a:tcPr>
                </a:tc>
                <a:tc>
                  <a:txBody>
                    <a:bodyPr wrap="square"/>
                    <a:lstStyle/>
                    <a:p>
                      <a:r>
                        <a:rPr b="0" sz="1100" i="0">
                          <a:solidFill>
                            <a:srgbClr val="1A2233"/>
                          </a:solidFill>
                          <a:latin typeface="Calibri"/>
                        </a:rPr>
                        <a:t>46.9%</a:t>
                      </a:r>
                    </a:p>
                  </a:txBody>
                  <a:tcPr marL="64008" marR="64008" marT="27432" marB="27432" anchor="ctr">
                    <a:solidFill>
                      <a:srgbClr val="F3F6F9"/>
                    </a:solidFill>
                  </a:tcPr>
                </a:tc>
              </a:tr>
              <a:tr h="301752">
                <a:tc>
                  <a:txBody>
                    <a:bodyPr wrap="square"/>
                    <a:lstStyle/>
                    <a:p>
                      <a:r>
                        <a:rPr b="1" sz="1100" i="0">
                          <a:solidFill>
                            <a:srgbClr val="1A2233"/>
                          </a:solidFill>
                          <a:latin typeface="Calibri"/>
                        </a:rPr>
                        <a:t>1.75x</a:t>
                      </a:r>
                    </a:p>
                  </a:txBody>
                  <a:tcPr marL="64008" marR="64008" marT="27432" marB="27432" anchor="ctr">
                    <a:solidFill>
                      <a:srgbClr val="FFFFFF"/>
                    </a:solidFill>
                  </a:tcPr>
                </a:tc>
                <a:tc>
                  <a:txBody>
                    <a:bodyPr wrap="square"/>
                    <a:lstStyle/>
                    <a:p>
                      <a:r>
                        <a:rPr b="0" sz="1100" i="0">
                          <a:solidFill>
                            <a:srgbClr val="1A2233"/>
                          </a:solidFill>
                          <a:latin typeface="Calibri"/>
                        </a:rPr>
                        <a:t>12 yrs</a:t>
                      </a:r>
                    </a:p>
                  </a:txBody>
                  <a:tcPr marL="64008" marR="64008" marT="27432" marB="27432" anchor="ctr">
                    <a:solidFill>
                      <a:srgbClr val="FFFFFF"/>
                    </a:solidFill>
                  </a:tcPr>
                </a:tc>
                <a:tc>
                  <a:txBody>
                    <a:bodyPr wrap="square"/>
                    <a:lstStyle/>
                    <a:p>
                      <a:r>
                        <a:rPr b="0" sz="1100" i="0">
                          <a:solidFill>
                            <a:srgbClr val="1A2233"/>
                          </a:solidFill>
                          <a:latin typeface="Calibri"/>
                        </a:rPr>
                        <a:t>109,757</a:t>
                      </a:r>
                    </a:p>
                  </a:txBody>
                  <a:tcPr marL="64008" marR="64008" marT="27432" marB="27432" anchor="ctr">
                    <a:solidFill>
                      <a:srgbClr val="FFFFFF"/>
                    </a:solidFill>
                  </a:tcPr>
                </a:tc>
                <a:tc>
                  <a:txBody>
                    <a:bodyPr wrap="square"/>
                    <a:lstStyle/>
                    <a:p>
                      <a:r>
                        <a:rPr b="0" sz="1100" i="0">
                          <a:solidFill>
                            <a:srgbClr val="1A2233"/>
                          </a:solidFill>
                          <a:latin typeface="Calibri"/>
                        </a:rPr>
                        <a:t>76,052</a:t>
                      </a:r>
                    </a:p>
                  </a:txBody>
                  <a:tcPr marL="64008" marR="64008" marT="27432" marB="27432" anchor="ctr">
                    <a:solidFill>
                      <a:srgbClr val="FFFFFF"/>
                    </a:solidFill>
                  </a:tcPr>
                </a:tc>
                <a:tc>
                  <a:txBody>
                    <a:bodyPr wrap="square"/>
                    <a:lstStyle/>
                    <a:p>
                      <a:r>
                        <a:rPr b="0" sz="1100" i="0">
                          <a:solidFill>
                            <a:srgbClr val="1A2233"/>
                          </a:solidFill>
                          <a:latin typeface="Calibri"/>
                        </a:rPr>
                        <a:t>75.0%</a:t>
                      </a:r>
                    </a:p>
                  </a:txBody>
                  <a:tcPr marL="64008" marR="64008" marT="27432" marB="27432" anchor="ctr">
                    <a:solidFill>
                      <a:srgbClr val="FFFFFF"/>
                    </a:solidFill>
                  </a:tcPr>
                </a:tc>
                <a:tc>
                  <a:txBody>
                    <a:bodyPr wrap="square"/>
                    <a:lstStyle/>
                    <a:p>
                      <a:r>
                        <a:rPr b="0" sz="1100" i="0">
                          <a:solidFill>
                            <a:srgbClr val="1A2233"/>
                          </a:solidFill>
                          <a:latin typeface="Calibri"/>
                        </a:rPr>
                        <a:t>2.57x</a:t>
                      </a:r>
                    </a:p>
                  </a:txBody>
                  <a:tcPr marL="64008" marR="64008" marT="27432" marB="27432" anchor="ctr">
                    <a:solidFill>
                      <a:srgbClr val="FFFFFF"/>
                    </a:solidFill>
                  </a:tcPr>
                </a:tc>
                <a:tc>
                  <a:txBody>
                    <a:bodyPr wrap="square"/>
                    <a:lstStyle/>
                    <a:p>
                      <a:r>
                        <a:rPr b="0" sz="1100" i="0">
                          <a:solidFill>
                            <a:srgbClr val="1A2233"/>
                          </a:solidFill>
                          <a:latin typeface="Calibri"/>
                        </a:rPr>
                        <a:t>46.6%</a:t>
                      </a:r>
                    </a:p>
                  </a:txBody>
                  <a:tcPr marL="64008" marR="64008" marT="27432" marB="27432" anchor="ctr">
                    <a:solidFill>
                      <a:srgbClr val="FFFFFF"/>
                    </a:solidFill>
                  </a:tcPr>
                </a:tc>
              </a:tr>
              <a:tr h="301752">
                <a:tc>
                  <a:txBody>
                    <a:bodyPr wrap="square"/>
                    <a:lstStyle/>
                    <a:p>
                      <a:r>
                        <a:rPr b="1" sz="1100" i="0">
                          <a:solidFill>
                            <a:srgbClr val="1A2233"/>
                          </a:solidFill>
                          <a:latin typeface="Calibri"/>
                        </a:rPr>
                        <a:t>2.00x</a:t>
                      </a:r>
                    </a:p>
                  </a:txBody>
                  <a:tcPr marL="64008" marR="64008" marT="27432" marB="27432" anchor="ctr">
                    <a:solidFill>
                      <a:srgbClr val="F3F6F9"/>
                    </a:solidFill>
                  </a:tcPr>
                </a:tc>
                <a:tc>
                  <a:txBody>
                    <a:bodyPr wrap="square"/>
                    <a:lstStyle/>
                    <a:p>
                      <a:r>
                        <a:rPr b="0" sz="1100" i="0">
                          <a:solidFill>
                            <a:srgbClr val="1A2233"/>
                          </a:solidFill>
                          <a:latin typeface="Calibri"/>
                        </a:rPr>
                        <a:t>8 yrs</a:t>
                      </a:r>
                    </a:p>
                  </a:txBody>
                  <a:tcPr marL="64008" marR="64008" marT="27432" marB="27432" anchor="ctr">
                    <a:solidFill>
                      <a:srgbClr val="F3F6F9"/>
                    </a:solidFill>
                  </a:tcPr>
                </a:tc>
                <a:tc>
                  <a:txBody>
                    <a:bodyPr wrap="square"/>
                    <a:lstStyle/>
                    <a:p>
                      <a:r>
                        <a:rPr b="0" sz="1100" i="0">
                          <a:solidFill>
                            <a:srgbClr val="1A2233"/>
                          </a:solidFill>
                          <a:latin typeface="Calibri"/>
                        </a:rPr>
                        <a:t>65,994</a:t>
                      </a:r>
                    </a:p>
                  </a:txBody>
                  <a:tcPr marL="64008" marR="64008" marT="27432" marB="27432" anchor="ctr">
                    <a:solidFill>
                      <a:srgbClr val="F3F6F9"/>
                    </a:solidFill>
                  </a:tcPr>
                </a:tc>
                <a:tc>
                  <a:txBody>
                    <a:bodyPr wrap="square"/>
                    <a:lstStyle/>
                    <a:p>
                      <a:r>
                        <a:rPr b="0" sz="1100" i="0">
                          <a:solidFill>
                            <a:srgbClr val="1A2233"/>
                          </a:solidFill>
                          <a:latin typeface="Calibri"/>
                        </a:rPr>
                        <a:t>65,994</a:t>
                      </a:r>
                    </a:p>
                  </a:txBody>
                  <a:tcPr marL="64008" marR="64008" marT="27432" marB="27432" anchor="ctr">
                    <a:solidFill>
                      <a:srgbClr val="F3F6F9"/>
                    </a:solidFill>
                  </a:tcPr>
                </a:tc>
                <a:tc>
                  <a:txBody>
                    <a:bodyPr wrap="square"/>
                    <a:lstStyle/>
                    <a:p>
                      <a:r>
                        <a:rPr b="0" sz="1100" i="0">
                          <a:solidFill>
                            <a:srgbClr val="1A2233"/>
                          </a:solidFill>
                          <a:latin typeface="Calibri"/>
                        </a:rPr>
                        <a:t>65.6%</a:t>
                      </a:r>
                    </a:p>
                  </a:txBody>
                  <a:tcPr marL="64008" marR="64008" marT="27432" marB="27432" anchor="ctr">
                    <a:solidFill>
                      <a:srgbClr val="F3F6F9"/>
                    </a:solidFill>
                  </a:tcPr>
                </a:tc>
                <a:tc>
                  <a:txBody>
                    <a:bodyPr wrap="square"/>
                    <a:lstStyle/>
                    <a:p>
                      <a:r>
                        <a:rPr b="0" sz="1100" i="0">
                          <a:solidFill>
                            <a:srgbClr val="1A2233"/>
                          </a:solidFill>
                          <a:latin typeface="Calibri"/>
                        </a:rPr>
                        <a:t>2.06x</a:t>
                      </a:r>
                    </a:p>
                  </a:txBody>
                  <a:tcPr marL="64008" marR="64008" marT="27432" marB="27432" anchor="ctr">
                    <a:solidFill>
                      <a:srgbClr val="F3F6F9"/>
                    </a:solidFill>
                  </a:tcPr>
                </a:tc>
                <a:tc>
                  <a:txBody>
                    <a:bodyPr wrap="square"/>
                    <a:lstStyle/>
                    <a:p>
                      <a:r>
                        <a:rPr b="0" sz="1100" i="0">
                          <a:solidFill>
                            <a:srgbClr val="1A2233"/>
                          </a:solidFill>
                          <a:latin typeface="Calibri"/>
                        </a:rPr>
                        <a:t>38.2%</a:t>
                      </a:r>
                    </a:p>
                  </a:txBody>
                  <a:tcPr marL="64008" marR="64008" marT="27432" marB="27432" anchor="ctr">
                    <a:solidFill>
                      <a:srgbClr val="F3F6F9"/>
                    </a:solidFill>
                  </a:tcPr>
                </a:tc>
              </a:tr>
              <a:tr h="301752">
                <a:tc>
                  <a:txBody>
                    <a:bodyPr wrap="square"/>
                    <a:lstStyle/>
                    <a:p>
                      <a:r>
                        <a:rPr b="1" sz="1100" i="0">
                          <a:solidFill>
                            <a:srgbClr val="1A2233"/>
                          </a:solidFill>
                          <a:latin typeface="Calibri"/>
                        </a:rPr>
                        <a:t>2.00x</a:t>
                      </a:r>
                    </a:p>
                  </a:txBody>
                  <a:tcPr marL="64008" marR="64008" marT="27432" marB="27432" anchor="ctr">
                    <a:solidFill>
                      <a:srgbClr val="FFFFFF"/>
                    </a:solidFill>
                  </a:tcPr>
                </a:tc>
                <a:tc>
                  <a:txBody>
                    <a:bodyPr wrap="square"/>
                    <a:lstStyle/>
                    <a:p>
                      <a:r>
                        <a:rPr b="0" sz="1100" i="0">
                          <a:solidFill>
                            <a:srgbClr val="1A2233"/>
                          </a:solidFill>
                          <a:latin typeface="Calibri"/>
                        </a:rPr>
                        <a:t>10 yrs</a:t>
                      </a:r>
                    </a:p>
                  </a:txBody>
                  <a:tcPr marL="64008" marR="64008" marT="27432" marB="27432" anchor="ctr">
                    <a:solidFill>
                      <a:srgbClr val="FFFFFF"/>
                    </a:solidFill>
                  </a:tcPr>
                </a:tc>
                <a:tc>
                  <a:txBody>
                    <a:bodyPr wrap="square"/>
                    <a:lstStyle/>
                    <a:p>
                      <a:r>
                        <a:rPr b="0" sz="1100" i="0">
                          <a:solidFill>
                            <a:srgbClr val="1A2233"/>
                          </a:solidFill>
                          <a:latin typeface="Calibri"/>
                        </a:rPr>
                        <a:t>81,209</a:t>
                      </a:r>
                    </a:p>
                  </a:txBody>
                  <a:tcPr marL="64008" marR="64008" marT="27432" marB="27432" anchor="ctr">
                    <a:solidFill>
                      <a:srgbClr val="FFFFFF"/>
                    </a:solidFill>
                  </a:tcPr>
                </a:tc>
                <a:tc>
                  <a:txBody>
                    <a:bodyPr wrap="square"/>
                    <a:lstStyle/>
                    <a:p>
                      <a:r>
                        <a:rPr b="0" sz="1100" i="0">
                          <a:solidFill>
                            <a:srgbClr val="1A2233"/>
                          </a:solidFill>
                          <a:latin typeface="Calibri"/>
                        </a:rPr>
                        <a:t>76,052</a:t>
                      </a:r>
                    </a:p>
                  </a:txBody>
                  <a:tcPr marL="64008" marR="64008" marT="27432" marB="27432" anchor="ctr">
                    <a:solidFill>
                      <a:srgbClr val="FFFFFF"/>
                    </a:solidFill>
                  </a:tcPr>
                </a:tc>
                <a:tc>
                  <a:txBody>
                    <a:bodyPr wrap="square"/>
                    <a:lstStyle/>
                    <a:p>
                      <a:r>
                        <a:rPr b="0" sz="1100" i="0">
                          <a:solidFill>
                            <a:srgbClr val="1A2233"/>
                          </a:solidFill>
                          <a:latin typeface="Calibri"/>
                        </a:rPr>
                        <a:t>75.0%</a:t>
                      </a:r>
                    </a:p>
                  </a:txBody>
                  <a:tcPr marL="64008" marR="64008" marT="27432" marB="27432" anchor="ctr">
                    <a:solidFill>
                      <a:srgbClr val="FFFFFF"/>
                    </a:solidFill>
                  </a:tcPr>
                </a:tc>
                <a:tc>
                  <a:txBody>
                    <a:bodyPr wrap="square"/>
                    <a:lstStyle/>
                    <a:p>
                      <a:r>
                        <a:rPr b="0" sz="1100" i="0">
                          <a:solidFill>
                            <a:srgbClr val="1A2233"/>
                          </a:solidFill>
                          <a:latin typeface="Calibri"/>
                        </a:rPr>
                        <a:t>2.18x</a:t>
                      </a:r>
                    </a:p>
                  </a:txBody>
                  <a:tcPr marL="64008" marR="64008" marT="27432" marB="27432" anchor="ctr">
                    <a:solidFill>
                      <a:srgbClr val="FFFFFF"/>
                    </a:solidFill>
                  </a:tcPr>
                </a:tc>
                <a:tc>
                  <a:txBody>
                    <a:bodyPr wrap="square"/>
                    <a:lstStyle/>
                    <a:p>
                      <a:r>
                        <a:rPr b="0" sz="1100" i="0">
                          <a:solidFill>
                            <a:srgbClr val="1A2233"/>
                          </a:solidFill>
                          <a:latin typeface="Calibri"/>
                        </a:rPr>
                        <a:t>46.9%</a:t>
                      </a:r>
                    </a:p>
                  </a:txBody>
                  <a:tcPr marL="64008" marR="64008" marT="27432" marB="27432" anchor="ctr">
                    <a:solidFill>
                      <a:srgbClr val="FFFFFF"/>
                    </a:solidFill>
                  </a:tcPr>
                </a:tc>
              </a:tr>
              <a:tr h="301752">
                <a:tc>
                  <a:txBody>
                    <a:bodyPr wrap="square"/>
                    <a:lstStyle/>
                    <a:p>
                      <a:r>
                        <a:rPr b="1" sz="1100" i="0">
                          <a:solidFill>
                            <a:srgbClr val="1A2233"/>
                          </a:solidFill>
                          <a:latin typeface="Calibri"/>
                        </a:rPr>
                        <a:t>2.00x</a:t>
                      </a:r>
                    </a:p>
                  </a:txBody>
                  <a:tcPr marL="64008" marR="64008" marT="27432" marB="27432" anchor="ctr">
                    <a:solidFill>
                      <a:srgbClr val="F3F6F9"/>
                    </a:solidFill>
                  </a:tcPr>
                </a:tc>
                <a:tc>
                  <a:txBody>
                    <a:bodyPr wrap="square"/>
                    <a:lstStyle/>
                    <a:p>
                      <a:r>
                        <a:rPr b="0" sz="1100" i="0">
                          <a:solidFill>
                            <a:srgbClr val="1A2233"/>
                          </a:solidFill>
                          <a:latin typeface="Calibri"/>
                        </a:rPr>
                        <a:t>12 yrs</a:t>
                      </a:r>
                    </a:p>
                  </a:txBody>
                  <a:tcPr marL="64008" marR="64008" marT="27432" marB="27432" anchor="ctr">
                    <a:solidFill>
                      <a:srgbClr val="F3F6F9"/>
                    </a:solidFill>
                  </a:tcPr>
                </a:tc>
                <a:tc>
                  <a:txBody>
                    <a:bodyPr wrap="square"/>
                    <a:lstStyle/>
                    <a:p>
                      <a:r>
                        <a:rPr b="0" sz="1100" i="0">
                          <a:solidFill>
                            <a:srgbClr val="1A2233"/>
                          </a:solidFill>
                          <a:latin typeface="Calibri"/>
                        </a:rPr>
                        <a:t>96,038</a:t>
                      </a:r>
                    </a:p>
                  </a:txBody>
                  <a:tcPr marL="64008" marR="64008" marT="27432" marB="27432" anchor="ctr">
                    <a:solidFill>
                      <a:srgbClr val="F3F6F9"/>
                    </a:solidFill>
                  </a:tcPr>
                </a:tc>
                <a:tc>
                  <a:txBody>
                    <a:bodyPr wrap="square"/>
                    <a:lstStyle/>
                    <a:p>
                      <a:r>
                        <a:rPr b="0" sz="1100" i="0">
                          <a:solidFill>
                            <a:srgbClr val="1A2233"/>
                          </a:solidFill>
                          <a:latin typeface="Calibri"/>
                        </a:rPr>
                        <a:t>76,052</a:t>
                      </a:r>
                    </a:p>
                  </a:txBody>
                  <a:tcPr marL="64008" marR="64008" marT="27432" marB="27432" anchor="ctr">
                    <a:solidFill>
                      <a:srgbClr val="F3F6F9"/>
                    </a:solidFill>
                  </a:tcPr>
                </a:tc>
                <a:tc>
                  <a:txBody>
                    <a:bodyPr wrap="square"/>
                    <a:lstStyle/>
                    <a:p>
                      <a:r>
                        <a:rPr b="0" sz="1100" i="0">
                          <a:solidFill>
                            <a:srgbClr val="1A2233"/>
                          </a:solidFill>
                          <a:latin typeface="Calibri"/>
                        </a:rPr>
                        <a:t>75.0%</a:t>
                      </a:r>
                    </a:p>
                  </a:txBody>
                  <a:tcPr marL="64008" marR="64008" marT="27432" marB="27432" anchor="ctr">
                    <a:solidFill>
                      <a:srgbClr val="F3F6F9"/>
                    </a:solidFill>
                  </a:tcPr>
                </a:tc>
                <a:tc>
                  <a:txBody>
                    <a:bodyPr wrap="square"/>
                    <a:lstStyle/>
                    <a:p>
                      <a:r>
                        <a:rPr b="0" sz="1100" i="0">
                          <a:solidFill>
                            <a:srgbClr val="1A2233"/>
                          </a:solidFill>
                          <a:latin typeface="Calibri"/>
                        </a:rPr>
                        <a:t>2.57x</a:t>
                      </a:r>
                    </a:p>
                  </a:txBody>
                  <a:tcPr marL="64008" marR="64008" marT="27432" marB="27432" anchor="ctr">
                    <a:solidFill>
                      <a:srgbClr val="F3F6F9"/>
                    </a:solidFill>
                  </a:tcPr>
                </a:tc>
                <a:tc>
                  <a:txBody>
                    <a:bodyPr wrap="square"/>
                    <a:lstStyle/>
                    <a:p>
                      <a:r>
                        <a:rPr b="0" sz="1100" i="0">
                          <a:solidFill>
                            <a:srgbClr val="1A2233"/>
                          </a:solidFill>
                          <a:latin typeface="Calibri"/>
                        </a:rPr>
                        <a:t>46.6%</a:t>
                      </a:r>
                    </a:p>
                  </a:txBody>
                  <a:tcPr marL="64008" marR="64008" marT="27432" marB="27432" anchor="ctr">
                    <a:solidFill>
                      <a:srgbClr val="F3F6F9"/>
                    </a:solidFill>
                  </a:tcPr>
                </a:tc>
              </a:tr>
              <a:tr h="301752">
                <a:tc>
                  <a:txBody>
                    <a:bodyPr wrap="square"/>
                    <a:lstStyle/>
                    <a:p>
                      <a:r>
                        <a:rPr b="1" sz="1100" i="0">
                          <a:solidFill>
                            <a:srgbClr val="1A2233"/>
                          </a:solidFill>
                          <a:latin typeface="Calibri"/>
                        </a:rPr>
                        <a:t>2.25x</a:t>
                      </a:r>
                    </a:p>
                  </a:txBody>
                  <a:tcPr marL="64008" marR="64008" marT="27432" marB="27432" anchor="ctr">
                    <a:solidFill>
                      <a:srgbClr val="FFFFFF"/>
                    </a:solidFill>
                  </a:tcPr>
                </a:tc>
                <a:tc>
                  <a:txBody>
                    <a:bodyPr wrap="square"/>
                    <a:lstStyle/>
                    <a:p>
                      <a:r>
                        <a:rPr b="0" sz="1100" i="0">
                          <a:solidFill>
                            <a:srgbClr val="1A2233"/>
                          </a:solidFill>
                          <a:latin typeface="Calibri"/>
                        </a:rPr>
                        <a:t>8 yrs</a:t>
                      </a:r>
                    </a:p>
                  </a:txBody>
                  <a:tcPr marL="64008" marR="64008" marT="27432" marB="27432" anchor="ctr">
                    <a:solidFill>
                      <a:srgbClr val="FFFFFF"/>
                    </a:solidFill>
                  </a:tcPr>
                </a:tc>
                <a:tc>
                  <a:txBody>
                    <a:bodyPr wrap="square"/>
                    <a:lstStyle/>
                    <a:p>
                      <a:r>
                        <a:rPr b="0" sz="1100" i="0">
                          <a:solidFill>
                            <a:srgbClr val="1A2233"/>
                          </a:solidFill>
                          <a:latin typeface="Calibri"/>
                        </a:rPr>
                        <a:t>58,605</a:t>
                      </a:r>
                    </a:p>
                  </a:txBody>
                  <a:tcPr marL="64008" marR="64008" marT="27432" marB="27432" anchor="ctr">
                    <a:solidFill>
                      <a:srgbClr val="FFFFFF"/>
                    </a:solidFill>
                  </a:tcPr>
                </a:tc>
                <a:tc>
                  <a:txBody>
                    <a:bodyPr wrap="square"/>
                    <a:lstStyle/>
                    <a:p>
                      <a:r>
                        <a:rPr b="0" sz="1100" i="0">
                          <a:solidFill>
                            <a:srgbClr val="1A2233"/>
                          </a:solidFill>
                          <a:latin typeface="Calibri"/>
                        </a:rPr>
                        <a:t>58,605</a:t>
                      </a:r>
                    </a:p>
                  </a:txBody>
                  <a:tcPr marL="64008" marR="64008" marT="27432" marB="27432" anchor="ctr">
                    <a:solidFill>
                      <a:srgbClr val="FFFFFF"/>
                    </a:solidFill>
                  </a:tcPr>
                </a:tc>
                <a:tc>
                  <a:txBody>
                    <a:bodyPr wrap="square"/>
                    <a:lstStyle/>
                    <a:p>
                      <a:r>
                        <a:rPr b="0" sz="1100" i="0">
                          <a:solidFill>
                            <a:srgbClr val="1A2233"/>
                          </a:solidFill>
                          <a:latin typeface="Calibri"/>
                        </a:rPr>
                        <a:t>58.7%</a:t>
                      </a:r>
                    </a:p>
                  </a:txBody>
                  <a:tcPr marL="64008" marR="64008" marT="27432" marB="27432" anchor="ctr">
                    <a:solidFill>
                      <a:srgbClr val="FFFFFF"/>
                    </a:solidFill>
                  </a:tcPr>
                </a:tc>
                <a:tc>
                  <a:txBody>
                    <a:bodyPr wrap="square"/>
                    <a:lstStyle/>
                    <a:p>
                      <a:r>
                        <a:rPr b="0" sz="1100" i="0">
                          <a:solidFill>
                            <a:srgbClr val="1A2233"/>
                          </a:solidFill>
                          <a:latin typeface="Calibri"/>
                        </a:rPr>
                        <a:t>2.32x</a:t>
                      </a:r>
                    </a:p>
                  </a:txBody>
                  <a:tcPr marL="64008" marR="64008" marT="27432" marB="27432" anchor="ctr">
                    <a:solidFill>
                      <a:srgbClr val="FFFFFF"/>
                    </a:solidFill>
                  </a:tcPr>
                </a:tc>
                <a:tc>
                  <a:txBody>
                    <a:bodyPr wrap="square"/>
                    <a:lstStyle/>
                    <a:p>
                      <a:r>
                        <a:rPr b="0" sz="1100" i="0">
                          <a:solidFill>
                            <a:srgbClr val="1A2233"/>
                          </a:solidFill>
                          <a:latin typeface="Calibri"/>
                        </a:rPr>
                        <a:t>34.8%</a:t>
                      </a:r>
                    </a:p>
                  </a:txBody>
                  <a:tcPr marL="64008" marR="64008" marT="27432" marB="27432" anchor="ctr">
                    <a:solidFill>
                      <a:srgbClr val="FFFFFF"/>
                    </a:solidFill>
                  </a:tcPr>
                </a:tc>
              </a:tr>
              <a:tr h="301752">
                <a:tc>
                  <a:txBody>
                    <a:bodyPr wrap="square"/>
                    <a:lstStyle/>
                    <a:p>
                      <a:r>
                        <a:rPr b="1" sz="1100" i="0">
                          <a:solidFill>
                            <a:srgbClr val="1A2233"/>
                          </a:solidFill>
                          <a:latin typeface="Calibri"/>
                        </a:rPr>
                        <a:t>2.25x</a:t>
                      </a:r>
                    </a:p>
                  </a:txBody>
                  <a:tcPr marL="64008" marR="64008" marT="27432" marB="27432" anchor="ctr">
                    <a:solidFill>
                      <a:srgbClr val="F3F6F9"/>
                    </a:solidFill>
                  </a:tcPr>
                </a:tc>
                <a:tc>
                  <a:txBody>
                    <a:bodyPr wrap="square"/>
                    <a:lstStyle/>
                    <a:p>
                      <a:r>
                        <a:rPr b="0" sz="1100" i="0">
                          <a:solidFill>
                            <a:srgbClr val="1A2233"/>
                          </a:solidFill>
                          <a:latin typeface="Calibri"/>
                        </a:rPr>
                        <a:t>10 yrs</a:t>
                      </a:r>
                    </a:p>
                  </a:txBody>
                  <a:tcPr marL="64008" marR="64008" marT="27432" marB="27432" anchor="ctr">
                    <a:solidFill>
                      <a:srgbClr val="F3F6F9"/>
                    </a:solidFill>
                  </a:tcPr>
                </a:tc>
                <a:tc>
                  <a:txBody>
                    <a:bodyPr wrap="square"/>
                    <a:lstStyle/>
                    <a:p>
                      <a:r>
                        <a:rPr b="0" sz="1100" i="0">
                          <a:solidFill>
                            <a:srgbClr val="1A2233"/>
                          </a:solidFill>
                          <a:latin typeface="Calibri"/>
                        </a:rPr>
                        <a:t>72,154</a:t>
                      </a:r>
                    </a:p>
                  </a:txBody>
                  <a:tcPr marL="64008" marR="64008" marT="27432" marB="27432" anchor="ctr">
                    <a:solidFill>
                      <a:srgbClr val="F3F6F9"/>
                    </a:solidFill>
                  </a:tcPr>
                </a:tc>
                <a:tc>
                  <a:txBody>
                    <a:bodyPr wrap="square"/>
                    <a:lstStyle/>
                    <a:p>
                      <a:r>
                        <a:rPr b="0" sz="1100" i="0">
                          <a:solidFill>
                            <a:srgbClr val="1A2233"/>
                          </a:solidFill>
                          <a:latin typeface="Calibri"/>
                        </a:rPr>
                        <a:t>72,154</a:t>
                      </a:r>
                    </a:p>
                  </a:txBody>
                  <a:tcPr marL="64008" marR="64008" marT="27432" marB="27432" anchor="ctr">
                    <a:solidFill>
                      <a:srgbClr val="F3F6F9"/>
                    </a:solidFill>
                  </a:tcPr>
                </a:tc>
                <a:tc>
                  <a:txBody>
                    <a:bodyPr wrap="square"/>
                    <a:lstStyle/>
                    <a:p>
                      <a:r>
                        <a:rPr b="0" sz="1100" i="0">
                          <a:solidFill>
                            <a:srgbClr val="1A2233"/>
                          </a:solidFill>
                          <a:latin typeface="Calibri"/>
                        </a:rPr>
                        <a:t>71.4%</a:t>
                      </a:r>
                    </a:p>
                  </a:txBody>
                  <a:tcPr marL="64008" marR="64008" marT="27432" marB="27432" anchor="ctr">
                    <a:solidFill>
                      <a:srgbClr val="F3F6F9"/>
                    </a:solidFill>
                  </a:tcPr>
                </a:tc>
                <a:tc>
                  <a:txBody>
                    <a:bodyPr wrap="square"/>
                    <a:lstStyle/>
                    <a:p>
                      <a:r>
                        <a:rPr b="0" sz="1100" i="0">
                          <a:solidFill>
                            <a:srgbClr val="1A2233"/>
                          </a:solidFill>
                          <a:latin typeface="Calibri"/>
                        </a:rPr>
                        <a:t>2.30x</a:t>
                      </a:r>
                    </a:p>
                  </a:txBody>
                  <a:tcPr marL="64008" marR="64008" marT="27432" marB="27432" anchor="ctr">
                    <a:solidFill>
                      <a:srgbClr val="F3F6F9"/>
                    </a:solidFill>
                  </a:tcPr>
                </a:tc>
                <a:tc>
                  <a:txBody>
                    <a:bodyPr wrap="square"/>
                    <a:lstStyle/>
                    <a:p>
                      <a:r>
                        <a:rPr b="0" sz="1100" i="0">
                          <a:solidFill>
                            <a:srgbClr val="1A2233"/>
                          </a:solidFill>
                          <a:latin typeface="Calibri"/>
                        </a:rPr>
                        <a:t>43.0%</a:t>
                      </a:r>
                    </a:p>
                  </a:txBody>
                  <a:tcPr marL="64008" marR="64008" marT="27432" marB="27432" anchor="ctr">
                    <a:solidFill>
                      <a:srgbClr val="F3F6F9"/>
                    </a:solidFill>
                  </a:tcPr>
                </a:tc>
              </a:tr>
              <a:tr h="301752">
                <a:tc>
                  <a:txBody>
                    <a:bodyPr wrap="square"/>
                    <a:lstStyle/>
                    <a:p>
                      <a:r>
                        <a:rPr b="1" sz="1100" i="0">
                          <a:solidFill>
                            <a:srgbClr val="1A2233"/>
                          </a:solidFill>
                          <a:latin typeface="Calibri"/>
                        </a:rPr>
                        <a:t>2.25x</a:t>
                      </a:r>
                    </a:p>
                  </a:txBody>
                  <a:tcPr marL="64008" marR="64008" marT="27432" marB="27432" anchor="ctr">
                    <a:solidFill>
                      <a:srgbClr val="FFFFFF"/>
                    </a:solidFill>
                  </a:tcPr>
                </a:tc>
                <a:tc>
                  <a:txBody>
                    <a:bodyPr wrap="square"/>
                    <a:lstStyle/>
                    <a:p>
                      <a:r>
                        <a:rPr b="0" sz="1100" i="0">
                          <a:solidFill>
                            <a:srgbClr val="1A2233"/>
                          </a:solidFill>
                          <a:latin typeface="Calibri"/>
                        </a:rPr>
                        <a:t>12 yrs</a:t>
                      </a:r>
                    </a:p>
                  </a:txBody>
                  <a:tcPr marL="64008" marR="64008" marT="27432" marB="27432" anchor="ctr">
                    <a:solidFill>
                      <a:srgbClr val="FFFFFF"/>
                    </a:solidFill>
                  </a:tcPr>
                </a:tc>
                <a:tc>
                  <a:txBody>
                    <a:bodyPr wrap="square"/>
                    <a:lstStyle/>
                    <a:p>
                      <a:r>
                        <a:rPr b="0" sz="1100" i="0">
                          <a:solidFill>
                            <a:srgbClr val="1A2233"/>
                          </a:solidFill>
                          <a:latin typeface="Calibri"/>
                        </a:rPr>
                        <a:t>85,367</a:t>
                      </a:r>
                    </a:p>
                  </a:txBody>
                  <a:tcPr marL="64008" marR="64008" marT="27432" marB="27432" anchor="ctr">
                    <a:solidFill>
                      <a:srgbClr val="FFFFFF"/>
                    </a:solidFill>
                  </a:tcPr>
                </a:tc>
                <a:tc>
                  <a:txBody>
                    <a:bodyPr wrap="square"/>
                    <a:lstStyle/>
                    <a:p>
                      <a:r>
                        <a:rPr b="0" sz="1100" i="0">
                          <a:solidFill>
                            <a:srgbClr val="1A2233"/>
                          </a:solidFill>
                          <a:latin typeface="Calibri"/>
                        </a:rPr>
                        <a:t>76,052</a:t>
                      </a:r>
                    </a:p>
                  </a:txBody>
                  <a:tcPr marL="64008" marR="64008" marT="27432" marB="27432" anchor="ctr">
                    <a:solidFill>
                      <a:srgbClr val="FFFFFF"/>
                    </a:solidFill>
                  </a:tcPr>
                </a:tc>
                <a:tc>
                  <a:txBody>
                    <a:bodyPr wrap="square"/>
                    <a:lstStyle/>
                    <a:p>
                      <a:r>
                        <a:rPr b="0" sz="1100" i="0">
                          <a:solidFill>
                            <a:srgbClr val="1A2233"/>
                          </a:solidFill>
                          <a:latin typeface="Calibri"/>
                        </a:rPr>
                        <a:t>75.0%</a:t>
                      </a:r>
                    </a:p>
                  </a:txBody>
                  <a:tcPr marL="64008" marR="64008" marT="27432" marB="27432" anchor="ctr">
                    <a:solidFill>
                      <a:srgbClr val="FFFFFF"/>
                    </a:solidFill>
                  </a:tcPr>
                </a:tc>
                <a:tc>
                  <a:txBody>
                    <a:bodyPr wrap="square"/>
                    <a:lstStyle/>
                    <a:p>
                      <a:r>
                        <a:rPr b="0" sz="1100" i="0">
                          <a:solidFill>
                            <a:srgbClr val="1A2233"/>
                          </a:solidFill>
                          <a:latin typeface="Calibri"/>
                        </a:rPr>
                        <a:t>2.57x</a:t>
                      </a:r>
                    </a:p>
                  </a:txBody>
                  <a:tcPr marL="64008" marR="64008" marT="27432" marB="27432" anchor="ctr">
                    <a:solidFill>
                      <a:srgbClr val="FFFFFF"/>
                    </a:solidFill>
                  </a:tcPr>
                </a:tc>
                <a:tc>
                  <a:txBody>
                    <a:bodyPr wrap="square"/>
                    <a:lstStyle/>
                    <a:p>
                      <a:r>
                        <a:rPr b="0" sz="1100" i="0">
                          <a:solidFill>
                            <a:srgbClr val="1A2233"/>
                          </a:solidFill>
                          <a:latin typeface="Calibri"/>
                        </a:rPr>
                        <a:t>46.6%</a:t>
                      </a:r>
                    </a:p>
                  </a:txBody>
                  <a:tcPr marL="64008" marR="64008" marT="27432" marB="27432" anchor="ctr">
                    <a:solidFill>
                      <a:srgbClr val="FFFFFF"/>
                    </a:solidFill>
                  </a:tcPr>
                </a:tc>
              </a:tr>
              <a:tr h="301752">
                <a:tc>
                  <a:txBody>
                    <a:bodyPr wrap="square"/>
                    <a:lstStyle/>
                    <a:p>
                      <a:r>
                        <a:rPr b="1" sz="1100" i="0">
                          <a:solidFill>
                            <a:srgbClr val="1A2233"/>
                          </a:solidFill>
                          <a:latin typeface="Calibri"/>
                        </a:rPr>
                        <a:t>2.50x</a:t>
                      </a:r>
                    </a:p>
                  </a:txBody>
                  <a:tcPr marL="64008" marR="64008" marT="27432" marB="27432" anchor="ctr">
                    <a:solidFill>
                      <a:srgbClr val="F3F6F9"/>
                    </a:solidFill>
                  </a:tcPr>
                </a:tc>
                <a:tc>
                  <a:txBody>
                    <a:bodyPr wrap="square"/>
                    <a:lstStyle/>
                    <a:p>
                      <a:r>
                        <a:rPr b="0" sz="1100" i="0">
                          <a:solidFill>
                            <a:srgbClr val="1A2233"/>
                          </a:solidFill>
                          <a:latin typeface="Calibri"/>
                        </a:rPr>
                        <a:t>8 yrs</a:t>
                      </a:r>
                    </a:p>
                  </a:txBody>
                  <a:tcPr marL="64008" marR="64008" marT="27432" marB="27432" anchor="ctr">
                    <a:solidFill>
                      <a:srgbClr val="F3F6F9"/>
                    </a:solidFill>
                  </a:tcPr>
                </a:tc>
                <a:tc>
                  <a:txBody>
                    <a:bodyPr wrap="square"/>
                    <a:lstStyle/>
                    <a:p>
                      <a:r>
                        <a:rPr b="0" sz="1100" i="0">
                          <a:solidFill>
                            <a:srgbClr val="1A2233"/>
                          </a:solidFill>
                          <a:latin typeface="Calibri"/>
                        </a:rPr>
                        <a:t>52,704</a:t>
                      </a:r>
                    </a:p>
                  </a:txBody>
                  <a:tcPr marL="64008" marR="64008" marT="27432" marB="27432" anchor="ctr">
                    <a:solidFill>
                      <a:srgbClr val="F3F6F9"/>
                    </a:solidFill>
                  </a:tcPr>
                </a:tc>
                <a:tc>
                  <a:txBody>
                    <a:bodyPr wrap="square"/>
                    <a:lstStyle/>
                    <a:p>
                      <a:r>
                        <a:rPr b="0" sz="1100" i="0">
                          <a:solidFill>
                            <a:srgbClr val="1A2233"/>
                          </a:solidFill>
                          <a:latin typeface="Calibri"/>
                        </a:rPr>
                        <a:t>52,704</a:t>
                      </a:r>
                    </a:p>
                  </a:txBody>
                  <a:tcPr marL="64008" marR="64008" marT="27432" marB="27432" anchor="ctr">
                    <a:solidFill>
                      <a:srgbClr val="F3F6F9"/>
                    </a:solidFill>
                  </a:tcPr>
                </a:tc>
                <a:tc>
                  <a:txBody>
                    <a:bodyPr wrap="square"/>
                    <a:lstStyle/>
                    <a:p>
                      <a:r>
                        <a:rPr b="0" sz="1100" i="0">
                          <a:solidFill>
                            <a:srgbClr val="1A2233"/>
                          </a:solidFill>
                          <a:latin typeface="Calibri"/>
                        </a:rPr>
                        <a:t>53.0%</a:t>
                      </a:r>
                    </a:p>
                  </a:txBody>
                  <a:tcPr marL="64008" marR="64008" marT="27432" marB="27432" anchor="ctr">
                    <a:solidFill>
                      <a:srgbClr val="F3F6F9"/>
                    </a:solidFill>
                  </a:tcPr>
                </a:tc>
                <a:tc>
                  <a:txBody>
                    <a:bodyPr wrap="square"/>
                    <a:lstStyle/>
                    <a:p>
                      <a:r>
                        <a:rPr b="0" sz="1100" i="0">
                          <a:solidFill>
                            <a:srgbClr val="1A2233"/>
                          </a:solidFill>
                          <a:latin typeface="Calibri"/>
                        </a:rPr>
                        <a:t>2.59x</a:t>
                      </a:r>
                    </a:p>
                  </a:txBody>
                  <a:tcPr marL="64008" marR="64008" marT="27432" marB="27432" anchor="ctr">
                    <a:solidFill>
                      <a:srgbClr val="F3F6F9"/>
                    </a:solidFill>
                  </a:tcPr>
                </a:tc>
                <a:tc>
                  <a:txBody>
                    <a:bodyPr wrap="square"/>
                    <a:lstStyle/>
                    <a:p>
                      <a:r>
                        <a:rPr b="0" sz="1100" i="0">
                          <a:solidFill>
                            <a:srgbClr val="1A2233"/>
                          </a:solidFill>
                          <a:latin typeface="Calibri"/>
                        </a:rPr>
                        <a:t>32.5%</a:t>
                      </a:r>
                    </a:p>
                  </a:txBody>
                  <a:tcPr marL="64008" marR="64008" marT="27432" marB="27432" anchor="ctr">
                    <a:solidFill>
                      <a:srgbClr val="F3F6F9"/>
                    </a:solidFill>
                  </a:tcPr>
                </a:tc>
              </a:tr>
              <a:tr h="301752">
                <a:tc>
                  <a:txBody>
                    <a:bodyPr wrap="square"/>
                    <a:lstStyle/>
                    <a:p>
                      <a:r>
                        <a:rPr b="1" sz="1100" i="0">
                          <a:solidFill>
                            <a:srgbClr val="1A2233"/>
                          </a:solidFill>
                          <a:latin typeface="Calibri"/>
                        </a:rPr>
                        <a:t>2.50x</a:t>
                      </a:r>
                    </a:p>
                  </a:txBody>
                  <a:tcPr marL="64008" marR="64008" marT="27432" marB="27432" anchor="ctr">
                    <a:solidFill>
                      <a:srgbClr val="FFFFFF"/>
                    </a:solidFill>
                  </a:tcPr>
                </a:tc>
                <a:tc>
                  <a:txBody>
                    <a:bodyPr wrap="square"/>
                    <a:lstStyle/>
                    <a:p>
                      <a:r>
                        <a:rPr b="0" sz="1100" i="0">
                          <a:solidFill>
                            <a:srgbClr val="1A2233"/>
                          </a:solidFill>
                          <a:latin typeface="Calibri"/>
                        </a:rPr>
                        <a:t>10 yrs</a:t>
                      </a:r>
                    </a:p>
                  </a:txBody>
                  <a:tcPr marL="64008" marR="64008" marT="27432" marB="27432" anchor="ctr">
                    <a:solidFill>
                      <a:srgbClr val="FFFFFF"/>
                    </a:solidFill>
                  </a:tcPr>
                </a:tc>
                <a:tc>
                  <a:txBody>
                    <a:bodyPr wrap="square"/>
                    <a:lstStyle/>
                    <a:p>
                      <a:r>
                        <a:rPr b="0" sz="1100" i="0">
                          <a:solidFill>
                            <a:srgbClr val="1A2233"/>
                          </a:solidFill>
                          <a:latin typeface="Calibri"/>
                        </a:rPr>
                        <a:t>64,886</a:t>
                      </a:r>
                    </a:p>
                  </a:txBody>
                  <a:tcPr marL="64008" marR="64008" marT="27432" marB="27432" anchor="ctr">
                    <a:solidFill>
                      <a:srgbClr val="FFFFFF"/>
                    </a:solidFill>
                  </a:tcPr>
                </a:tc>
                <a:tc>
                  <a:txBody>
                    <a:bodyPr wrap="square"/>
                    <a:lstStyle/>
                    <a:p>
                      <a:r>
                        <a:rPr b="0" sz="1100" i="0">
                          <a:solidFill>
                            <a:srgbClr val="1A2233"/>
                          </a:solidFill>
                          <a:latin typeface="Calibri"/>
                        </a:rPr>
                        <a:t>64,886</a:t>
                      </a:r>
                    </a:p>
                  </a:txBody>
                  <a:tcPr marL="64008" marR="64008" marT="27432" marB="27432" anchor="ctr">
                    <a:solidFill>
                      <a:srgbClr val="FFFFFF"/>
                    </a:solidFill>
                  </a:tcPr>
                </a:tc>
                <a:tc>
                  <a:txBody>
                    <a:bodyPr wrap="square"/>
                    <a:lstStyle/>
                    <a:p>
                      <a:r>
                        <a:rPr b="0" sz="1100" i="0">
                          <a:solidFill>
                            <a:srgbClr val="1A2233"/>
                          </a:solidFill>
                          <a:latin typeface="Calibri"/>
                        </a:rPr>
                        <a:t>64.6%</a:t>
                      </a:r>
                    </a:p>
                  </a:txBody>
                  <a:tcPr marL="64008" marR="64008" marT="27432" marB="27432" anchor="ctr">
                    <a:solidFill>
                      <a:srgbClr val="FFFFFF"/>
                    </a:solidFill>
                  </a:tcPr>
                </a:tc>
                <a:tc>
                  <a:txBody>
                    <a:bodyPr wrap="square"/>
                    <a:lstStyle/>
                    <a:p>
                      <a:r>
                        <a:rPr b="0" sz="1100" i="0">
                          <a:solidFill>
                            <a:srgbClr val="1A2233"/>
                          </a:solidFill>
                          <a:latin typeface="Calibri"/>
                        </a:rPr>
                        <a:t>2.56x</a:t>
                      </a:r>
                    </a:p>
                  </a:txBody>
                  <a:tcPr marL="64008" marR="64008" marT="27432" marB="27432" anchor="ctr">
                    <a:solidFill>
                      <a:srgbClr val="FFFFFF"/>
                    </a:solidFill>
                  </a:tcPr>
                </a:tc>
                <a:tc>
                  <a:txBody>
                    <a:bodyPr wrap="square"/>
                    <a:lstStyle/>
                    <a:p>
                      <a:r>
                        <a:rPr b="0" sz="1100" i="0">
                          <a:solidFill>
                            <a:srgbClr val="1A2233"/>
                          </a:solidFill>
                          <a:latin typeface="Calibri"/>
                        </a:rPr>
                        <a:t>37.7%</a:t>
                      </a:r>
                    </a:p>
                  </a:txBody>
                  <a:tcPr marL="64008" marR="64008" marT="27432" marB="27432" anchor="ctr">
                    <a:solidFill>
                      <a:srgbClr val="FFFFFF"/>
                    </a:solidFill>
                  </a:tcPr>
                </a:tc>
              </a:tr>
              <a:tr h="301752">
                <a:tc>
                  <a:txBody>
                    <a:bodyPr wrap="square"/>
                    <a:lstStyle/>
                    <a:p>
                      <a:r>
                        <a:rPr b="1" sz="1100" i="0">
                          <a:solidFill>
                            <a:srgbClr val="1A2233"/>
                          </a:solidFill>
                          <a:latin typeface="Calibri"/>
                        </a:rPr>
                        <a:t>2.50x</a:t>
                      </a:r>
                    </a:p>
                  </a:txBody>
                  <a:tcPr marL="64008" marR="64008" marT="27432" marB="27432" anchor="ctr">
                    <a:solidFill>
                      <a:srgbClr val="F3F6F9"/>
                    </a:solidFill>
                  </a:tcPr>
                </a:tc>
                <a:tc>
                  <a:txBody>
                    <a:bodyPr wrap="square"/>
                    <a:lstStyle/>
                    <a:p>
                      <a:r>
                        <a:rPr b="0" sz="1100" i="0">
                          <a:solidFill>
                            <a:srgbClr val="1A2233"/>
                          </a:solidFill>
                          <a:latin typeface="Calibri"/>
                        </a:rPr>
                        <a:t>12 yrs</a:t>
                      </a:r>
                    </a:p>
                  </a:txBody>
                  <a:tcPr marL="64008" marR="64008" marT="27432" marB="27432" anchor="ctr">
                    <a:solidFill>
                      <a:srgbClr val="F3F6F9"/>
                    </a:solidFill>
                  </a:tcPr>
                </a:tc>
                <a:tc>
                  <a:txBody>
                    <a:bodyPr wrap="square"/>
                    <a:lstStyle/>
                    <a:p>
                      <a:r>
                        <a:rPr b="0" sz="1100" i="0">
                          <a:solidFill>
                            <a:srgbClr val="1A2233"/>
                          </a:solidFill>
                          <a:latin typeface="Calibri"/>
                        </a:rPr>
                        <a:t>76,830</a:t>
                      </a:r>
                    </a:p>
                  </a:txBody>
                  <a:tcPr marL="64008" marR="64008" marT="27432" marB="27432" anchor="ctr">
                    <a:solidFill>
                      <a:srgbClr val="F3F6F9"/>
                    </a:solidFill>
                  </a:tcPr>
                </a:tc>
                <a:tc>
                  <a:txBody>
                    <a:bodyPr wrap="square"/>
                    <a:lstStyle/>
                    <a:p>
                      <a:r>
                        <a:rPr b="0" sz="1100" i="0">
                          <a:solidFill>
                            <a:srgbClr val="1A2233"/>
                          </a:solidFill>
                          <a:latin typeface="Calibri"/>
                        </a:rPr>
                        <a:t>76,052</a:t>
                      </a:r>
                    </a:p>
                  </a:txBody>
                  <a:tcPr marL="64008" marR="64008" marT="27432" marB="27432" anchor="ctr">
                    <a:solidFill>
                      <a:srgbClr val="F3F6F9"/>
                    </a:solidFill>
                  </a:tcPr>
                </a:tc>
                <a:tc>
                  <a:txBody>
                    <a:bodyPr wrap="square"/>
                    <a:lstStyle/>
                    <a:p>
                      <a:r>
                        <a:rPr b="0" sz="1100" i="0">
                          <a:solidFill>
                            <a:srgbClr val="1A2233"/>
                          </a:solidFill>
                          <a:latin typeface="Calibri"/>
                        </a:rPr>
                        <a:t>75.0%</a:t>
                      </a:r>
                    </a:p>
                  </a:txBody>
                  <a:tcPr marL="64008" marR="64008" marT="27432" marB="27432" anchor="ctr">
                    <a:solidFill>
                      <a:srgbClr val="F3F6F9"/>
                    </a:solidFill>
                  </a:tcPr>
                </a:tc>
                <a:tc>
                  <a:txBody>
                    <a:bodyPr wrap="square"/>
                    <a:lstStyle/>
                    <a:p>
                      <a:r>
                        <a:rPr b="0" sz="1100" i="0">
                          <a:solidFill>
                            <a:srgbClr val="1A2233"/>
                          </a:solidFill>
                          <a:latin typeface="Calibri"/>
                        </a:rPr>
                        <a:t>2.57x</a:t>
                      </a:r>
                    </a:p>
                  </a:txBody>
                  <a:tcPr marL="64008" marR="64008" marT="27432" marB="27432" anchor="ctr">
                    <a:solidFill>
                      <a:srgbClr val="F3F6F9"/>
                    </a:solidFill>
                  </a:tcPr>
                </a:tc>
                <a:tc>
                  <a:txBody>
                    <a:bodyPr wrap="square"/>
                    <a:lstStyle/>
                    <a:p>
                      <a:r>
                        <a:rPr b="0" sz="1100" i="0">
                          <a:solidFill>
                            <a:srgbClr val="1A2233"/>
                          </a:solidFill>
                          <a:latin typeface="Calibri"/>
                        </a:rPr>
                        <a:t>46.6%</a:t>
                      </a:r>
                    </a:p>
                  </a:txBody>
                  <a:tcPr marL="64008" marR="64008" marT="27432" marB="27432" anchor="ctr">
                    <a:solidFill>
                      <a:srgbClr val="F3F6F9"/>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OPTIMISE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Reading the grid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4754880"/>
          </a:xfrm>
          <a:prstGeom prst="rect">
            <a:avLst/>
          </a:prstGeom>
          <a:noFill/>
        </p:spPr>
        <p:txBody>
          <a:bodyPr wrap="square">
            <a:spAutoFit/>
          </a:bodyPr>
          <a:lstStyle/>
          <a:p>
            <a:pPr>
              <a:spcAft>
                <a:spcPts val="700"/>
              </a:spcAft>
            </a:pPr>
            <a:r>
              <a:rPr b="0" sz="2000" i="0">
                <a:solidFill>
                  <a:srgbClr val="1A2233"/>
                </a:solidFill>
                <a:latin typeface="Calibri"/>
              </a:rPr>
              <a:t>▪ Lower target DSCR or longer tenor → more debt capacity → more leverage → higher sponsor IRR</a:t>
            </a:r>
          </a:p>
          <a:p>
            <a:pPr>
              <a:spcAft>
                <a:spcPts val="700"/>
              </a:spcAft>
            </a:pPr>
            <a:r>
              <a:rPr b="0" sz="2000" i="0">
                <a:solidFill>
                  <a:srgbClr val="1A2233"/>
                </a:solidFill>
                <a:latin typeface="Calibri"/>
              </a:rPr>
              <a:t>▪ Once the </a:t>
            </a:r>
            <a:r>
              <a:rPr b="1" sz="2000" i="0">
                <a:solidFill>
                  <a:srgbClr val="1A2233"/>
                </a:solidFill>
                <a:latin typeface="Calibri"/>
              </a:rPr>
              <a:t>gearing cap</a:t>
            </a:r>
            <a:r>
              <a:rPr b="0" sz="2000" i="0">
                <a:solidFill>
                  <a:srgbClr val="1A2233"/>
                </a:solidFill>
                <a:latin typeface="Calibri"/>
              </a:rPr>
              <a:t> binds (75% of cost) a lower DSCR target no longer adds debt: IRR is flat across those rows</a:t>
            </a:r>
          </a:p>
          <a:p>
            <a:pPr>
              <a:spcAft>
                <a:spcPts val="700"/>
              </a:spcAft>
            </a:pPr>
            <a:r>
              <a:rPr b="0" sz="2000" i="0">
                <a:solidFill>
                  <a:srgbClr val="1A2233"/>
                </a:solidFill>
                <a:latin typeface="Calibri"/>
              </a:rPr>
              <a:t>▪ The lender's view: minimum actual DSCR stays above the target because actual CFADS includes the interest tax shield</a:t>
            </a:r>
          </a:p>
          <a:p>
            <a:pPr>
              <a:spcAft>
                <a:spcPts val="700"/>
              </a:spcAft>
            </a:pPr>
            <a:r>
              <a:rPr b="0" sz="2000" i="0">
                <a:solidFill>
                  <a:srgbClr val="1A2233"/>
                </a:solidFill>
                <a:latin typeface="Calibri"/>
              </a:rPr>
              <a:t>▪ Choose the structure that is </a:t>
            </a:r>
            <a:r>
              <a:rPr b="1" sz="2000" i="0">
                <a:solidFill>
                  <a:srgbClr val="1A2233"/>
                </a:solidFill>
                <a:latin typeface="Calibri"/>
              </a:rPr>
              <a:t>bankable first</a:t>
            </a:r>
            <a:r>
              <a:rPr b="0" sz="2000" i="0">
                <a:solidFill>
                  <a:srgbClr val="1A2233"/>
                </a:solidFill>
                <a:latin typeface="Calibri"/>
              </a:rPr>
              <a:t>, then maximises return: the target DSCR and tenor are agreed in the term sheet, not optimised by the sponsor alone</a:t>
            </a:r>
          </a:p>
        </p:txBody>
      </p:sp>
      <p:sp>
        <p:nvSpPr>
          <p:cNvPr id="12" name="Rectangle 11"/>
          <p:cNvSpPr/>
          <p:nvPr/>
        </p:nvSpPr>
        <p:spPr>
          <a:xfrm>
            <a:off x="640080" y="5029200"/>
            <a:ext cx="10881360" cy="82296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5029200"/>
            <a:ext cx="82296" cy="82296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029200"/>
            <a:ext cx="10652760" cy="822960"/>
          </a:xfrm>
          <a:prstGeom prst="rect">
            <a:avLst/>
          </a:prstGeom>
          <a:noFill/>
        </p:spPr>
        <p:txBody>
          <a:bodyPr wrap="square" lIns="45720" rIns="45720" tIns="27432" bIns="27432" anchor="ctr">
            <a:spAutoFit/>
          </a:bodyPr>
          <a:lstStyle/>
          <a:p>
            <a:pPr algn="l"/>
            <a:r>
              <a:rPr b="0" sz="1400" i="0">
                <a:solidFill>
                  <a:srgbClr val="1A2233"/>
                </a:solidFill>
                <a:latin typeface="Calibri"/>
              </a:rPr>
              <a:t>Your answer to a credit committee: 'We propose X because it meets the lender's DSCR, LLCR and gearing tests and returns Y% to sponsors.'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DATA TABLE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Optimise with a two-way data table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8640" y="15453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1</a:t>
            </a:r>
          </a:p>
        </p:txBody>
      </p:sp>
      <p:sp>
        <p:nvSpPr>
          <p:cNvPr id="12" name="TextBox 11"/>
          <p:cNvSpPr txBox="1"/>
          <p:nvPr/>
        </p:nvSpPr>
        <p:spPr>
          <a:xfrm>
            <a:off x="1078992" y="15087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Place the table on </a:t>
            </a:r>
            <a:r>
              <a:rPr b="1" sz="1600" i="0">
                <a:solidFill>
                  <a:srgbClr val="1A2233"/>
                </a:solidFill>
                <a:latin typeface="Calibri"/>
              </a:rPr>
              <a:t>InpC</a:t>
            </a:r>
            <a:r>
              <a:rPr b="0" sz="1600" i="0">
                <a:solidFill>
                  <a:srgbClr val="1A2233"/>
                </a:solidFill>
                <a:latin typeface="Calibri"/>
              </a:rPr>
              <a:t> (Data Tables need their input cells on the same sheet).</a:t>
            </a:r>
          </a:p>
        </p:txBody>
      </p:sp>
      <p:sp>
        <p:nvSpPr>
          <p:cNvPr id="13" name="Oval 12"/>
          <p:cNvSpPr/>
          <p:nvPr/>
        </p:nvSpPr>
        <p:spPr>
          <a:xfrm>
            <a:off x="548640" y="21930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2</a:t>
            </a:r>
          </a:p>
        </p:txBody>
      </p:sp>
      <p:sp>
        <p:nvSpPr>
          <p:cNvPr id="14" name="TextBox 13"/>
          <p:cNvSpPr txBox="1"/>
          <p:nvPr/>
        </p:nvSpPr>
        <p:spPr>
          <a:xfrm>
            <a:off x="1078992" y="21564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Top-left cell: </a:t>
            </a:r>
            <a:r>
              <a:rPr b="0" sz="1600" i="0">
                <a:solidFill>
                  <a:srgbClr val="0B5E82"/>
                </a:solidFill>
                <a:latin typeface="Consolas"/>
              </a:rPr>
              <a:t>=Val!F51</a:t>
            </a:r>
            <a:r>
              <a:rPr b="0" sz="1600" i="0">
                <a:solidFill>
                  <a:srgbClr val="1A2233"/>
                </a:solidFill>
                <a:latin typeface="Calibri"/>
              </a:rPr>
              <a:t> (blended IRR). Row across: target DSCR values; column down: tenors (quarters).</a:t>
            </a:r>
          </a:p>
        </p:txBody>
      </p:sp>
      <p:sp>
        <p:nvSpPr>
          <p:cNvPr id="15" name="Oval 14"/>
          <p:cNvSpPr/>
          <p:nvPr/>
        </p:nvSpPr>
        <p:spPr>
          <a:xfrm>
            <a:off x="548640" y="28407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3</a:t>
            </a:r>
          </a:p>
        </p:txBody>
      </p:sp>
      <p:sp>
        <p:nvSpPr>
          <p:cNvPr id="16" name="TextBox 15"/>
          <p:cNvSpPr txBox="1"/>
          <p:nvPr/>
        </p:nvSpPr>
        <p:spPr>
          <a:xfrm>
            <a:off x="1078992" y="28041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Select the block and open Data Table: </a:t>
            </a:r>
            <a:r>
              <a:rPr b="0" sz="1600" i="0">
                <a:solidFill>
                  <a:srgbClr val="0B5E82"/>
                </a:solidFill>
                <a:latin typeface="Consolas"/>
              </a:rPr>
              <a:t>Alt+A, W, T</a:t>
            </a:r>
            <a:r>
              <a:rPr b="0" sz="1600" i="0">
                <a:solidFill>
                  <a:srgbClr val="1A2233"/>
                </a:solidFill>
                <a:latin typeface="Calibri"/>
              </a:rPr>
              <a:t> / Data ▸ What-If Analysis ▸ Data Table (Mac).</a:t>
            </a:r>
          </a:p>
        </p:txBody>
      </p:sp>
      <p:sp>
        <p:nvSpPr>
          <p:cNvPr id="17" name="Oval 16"/>
          <p:cNvSpPr/>
          <p:nvPr/>
        </p:nvSpPr>
        <p:spPr>
          <a:xfrm>
            <a:off x="548640" y="34884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4</a:t>
            </a:r>
          </a:p>
        </p:txBody>
      </p:sp>
      <p:sp>
        <p:nvSpPr>
          <p:cNvPr id="18" name="TextBox 17"/>
          <p:cNvSpPr txBox="1"/>
          <p:nvPr/>
        </p:nvSpPr>
        <p:spPr>
          <a:xfrm>
            <a:off x="1078992" y="34518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Row input cell </a:t>
            </a:r>
            <a:r>
              <a:rPr b="0" sz="1600" i="0">
                <a:solidFill>
                  <a:srgbClr val="0B5E82"/>
                </a:solidFill>
                <a:latin typeface="Consolas"/>
              </a:rPr>
              <a:t>InpC!L140</a:t>
            </a:r>
            <a:r>
              <a:rPr b="0" sz="1600" i="0">
                <a:solidFill>
                  <a:srgbClr val="1A2233"/>
                </a:solidFill>
                <a:latin typeface="Calibri"/>
              </a:rPr>
              <a:t> (target DSCR); column input cell </a:t>
            </a:r>
            <a:r>
              <a:rPr b="0" sz="1600" i="0">
                <a:solidFill>
                  <a:srgbClr val="0B5E82"/>
                </a:solidFill>
                <a:latin typeface="Consolas"/>
              </a:rPr>
              <a:t>InpC!L139</a:t>
            </a:r>
            <a:r>
              <a:rPr b="0" sz="1600" i="0">
                <a:solidFill>
                  <a:srgbClr val="1A2233"/>
                </a:solidFill>
                <a:latin typeface="Calibri"/>
              </a:rPr>
              <a:t> (tenor).</a:t>
            </a:r>
          </a:p>
        </p:txBody>
      </p:sp>
      <p:sp>
        <p:nvSpPr>
          <p:cNvPr id="19" name="Oval 18"/>
          <p:cNvSpPr/>
          <p:nvPr/>
        </p:nvSpPr>
        <p:spPr>
          <a:xfrm>
            <a:off x="548640" y="41361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5</a:t>
            </a:r>
          </a:p>
        </p:txBody>
      </p:sp>
      <p:sp>
        <p:nvSpPr>
          <p:cNvPr id="20" name="TextBox 19"/>
          <p:cNvSpPr txBox="1"/>
          <p:nvPr/>
        </p:nvSpPr>
        <p:spPr>
          <a:xfrm>
            <a:off x="1078992" y="40995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Because debt drawn must match debt sized, run Goal Seek on Sculpt!F32 for the preferred case after reading the table.</a:t>
            </a:r>
          </a:p>
        </p:txBody>
      </p:sp>
      <p:sp>
        <p:nvSpPr>
          <p:cNvPr id="21" name="Oval 20"/>
          <p:cNvSpPr/>
          <p:nvPr/>
        </p:nvSpPr>
        <p:spPr>
          <a:xfrm>
            <a:off x="548640" y="47838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6</a:t>
            </a:r>
          </a:p>
        </p:txBody>
      </p:sp>
      <p:sp>
        <p:nvSpPr>
          <p:cNvPr id="22" name="TextBox 21"/>
          <p:cNvSpPr txBox="1"/>
          <p:nvPr/>
        </p:nvSpPr>
        <p:spPr>
          <a:xfrm>
            <a:off x="1078992" y="47472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Set Excel to 'Automatic except for data tables' while building: Formulas ▸ Calculation Options.</a:t>
            </a:r>
          </a:p>
        </p:txBody>
      </p:sp>
      <p:sp>
        <p:nvSpPr>
          <p:cNvPr id="23" name="Rectangle 22"/>
          <p:cNvSpPr/>
          <p:nvPr/>
        </p:nvSpPr>
        <p:spPr>
          <a:xfrm>
            <a:off x="548640" y="5486400"/>
            <a:ext cx="11064240" cy="68580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486400"/>
            <a:ext cx="82296" cy="68580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486400"/>
            <a:ext cx="10835640" cy="685800"/>
          </a:xfrm>
          <a:prstGeom prst="rect">
            <a:avLst/>
          </a:prstGeom>
          <a:noFill/>
        </p:spPr>
        <p:txBody>
          <a:bodyPr wrap="square" lIns="45720" rIns="45720" tIns="27432" bIns="27432" anchor="ctr">
            <a:spAutoFit/>
          </a:bodyPr>
          <a:lstStyle/>
          <a:p>
            <a:pPr algn="l"/>
            <a:r>
              <a:rPr b="0" sz="1400" i="0">
                <a:solidFill>
                  <a:srgbClr val="1A2233"/>
                </a:solidFill>
                <a:latin typeface="Calibri"/>
              </a:rPr>
              <a:t>The table shows IRR before re-solving gearing; use it to shortlist, then Goal Seek to confirm.</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7.6: Optimise and defend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Find the structure with the highest sponsor IRR that keeps the actual minimum DSCR at or above 2.0x, DSRA at 6 months and gearing at or below 75%.</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Try target DSCR 2.0x and 2.25x with tenors 10 and 12 years</a:t>
            </a:r>
          </a:p>
          <a:p>
            <a:pPr>
              <a:spcAft>
                <a:spcPts val="300"/>
              </a:spcAft>
            </a:pPr>
            <a:r>
              <a:rPr b="0" sz="1500" i="0">
                <a:solidFill>
                  <a:srgbClr val="1A2233"/>
                </a:solidFill>
                <a:latin typeface="Calibri"/>
              </a:rPr>
              <a:t>2.  Goal Seek F32 each time</a:t>
            </a:r>
          </a:p>
          <a:p>
            <a:pPr>
              <a:spcAft>
                <a:spcPts val="300"/>
              </a:spcAft>
            </a:pPr>
            <a:r>
              <a:rPr b="0" sz="1500" i="0">
                <a:solidFill>
                  <a:srgbClr val="1A2233"/>
                </a:solidFill>
                <a:latin typeface="Calibri"/>
              </a:rPr>
              <a:t>3.  Record min DSCR (Ratios!F13), LLCR (F22), gearing (Constr!F53/F52), sponsor IRR (Val!F51)</a:t>
            </a:r>
          </a:p>
          <a:p>
            <a:pPr>
              <a:spcAft>
                <a:spcPts val="300"/>
              </a:spcAft>
            </a:pPr>
            <a:r>
              <a:rPr b="0" sz="1500" i="0">
                <a:solidFill>
                  <a:srgbClr val="1A2233"/>
                </a:solidFill>
                <a:latin typeface="Calibri"/>
              </a:rPr>
              <a:t>4.  Write a three-sentence recommendation</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30 min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SIGN-OFF</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Final integrity checks before you sign off a model</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621024"/>
        </p:xfrm>
        <a:graphic>
          <a:graphicData uri="http://schemas.openxmlformats.org/drawingml/2006/table">
            <a:tbl>
              <a:tblPr firstRow="1" bandRow="1">
                <a:tableStyleId>{5C22544A-7EE6-4342-B048-85BDC9FD1C3A}</a:tableStyleId>
              </a:tblPr>
              <a:tblGrid>
                <a:gridCol w="640080"/>
                <a:gridCol w="3840480"/>
                <a:gridCol w="4206240"/>
                <a:gridCol w="2377440"/>
              </a:tblGrid>
              <a:tr h="329184">
                <a:tc>
                  <a:txBody>
                    <a:bodyPr wrap="square"/>
                    <a:lstStyle/>
                    <a:p>
                      <a:r>
                        <a:rPr b="1" sz="1200" i="0">
                          <a:solidFill>
                            <a:srgbClr val="FFFFFF"/>
                          </a:solidFill>
                          <a:latin typeface="Calibri"/>
                        </a:rPr>
                        <a:t>#</a:t>
                      </a:r>
                    </a:p>
                  </a:txBody>
                  <a:tcPr marL="64008" marR="64008" marT="27432" marB="27432" anchor="ctr">
                    <a:solidFill>
                      <a:srgbClr val="141B4D"/>
                    </a:solidFill>
                  </a:tcPr>
                </a:tc>
                <a:tc>
                  <a:txBody>
                    <a:bodyPr wrap="square"/>
                    <a:lstStyle/>
                    <a:p>
                      <a:r>
                        <a:rPr b="1" sz="1200" i="0">
                          <a:solidFill>
                            <a:srgbClr val="FFFFFF"/>
                          </a:solidFill>
                          <a:latin typeface="Calibri"/>
                        </a:rPr>
                        <a:t>Check</a:t>
                      </a:r>
                    </a:p>
                  </a:txBody>
                  <a:tcPr marL="64008" marR="64008" marT="27432" marB="27432" anchor="ctr">
                    <a:solidFill>
                      <a:srgbClr val="141B4D"/>
                    </a:solidFill>
                  </a:tcPr>
                </a:tc>
                <a:tc>
                  <a:txBody>
                    <a:bodyPr wrap="square"/>
                    <a:lstStyle/>
                    <a:p>
                      <a:r>
                        <a:rPr b="1" sz="1200" i="0">
                          <a:solidFill>
                            <a:srgbClr val="FFFFFF"/>
                          </a:solidFill>
                          <a:latin typeface="Calibri"/>
                        </a:rPr>
                        <a:t>Where</a:t>
                      </a:r>
                    </a:p>
                  </a:txBody>
                  <a:tcPr marL="64008" marR="64008" marT="27432" marB="27432" anchor="ctr">
                    <a:solidFill>
                      <a:srgbClr val="141B4D"/>
                    </a:solidFill>
                  </a:tcPr>
                </a:tc>
                <a:tc>
                  <a:txBody>
                    <a:bodyPr wrap="square"/>
                    <a:lstStyle/>
                    <a:p>
                      <a:r>
                        <a:rPr b="1" sz="1200" i="0">
                          <a:solidFill>
                            <a:srgbClr val="FFFFFF"/>
                          </a:solidFill>
                          <a:latin typeface="Calibri"/>
                        </a:rPr>
                        <a:t>Expected</a:t>
                      </a:r>
                    </a:p>
                  </a:txBody>
                  <a:tcPr marL="64008" marR="64008" marT="27432" marB="27432" anchor="ctr">
                    <a:solidFill>
                      <a:srgbClr val="141B4D"/>
                    </a:solidFill>
                  </a:tcPr>
                </a:tc>
              </a:tr>
              <a:tr h="329184">
                <a:tc>
                  <a:txBody>
                    <a:bodyPr wrap="square"/>
                    <a:lstStyle/>
                    <a:p>
                      <a:r>
                        <a:rPr b="1" sz="1200" i="0">
                          <a:solidFill>
                            <a:srgbClr val="1A2233"/>
                          </a:solidFill>
                          <a:latin typeface="Calibri"/>
                        </a:rPr>
                        <a:t>1</a:t>
                      </a:r>
                    </a:p>
                  </a:txBody>
                  <a:tcPr marL="64008" marR="64008" marT="27432" marB="27432" anchor="ctr">
                    <a:solidFill>
                      <a:srgbClr val="FFFFFF"/>
                    </a:solidFill>
                  </a:tcPr>
                </a:tc>
                <a:tc>
                  <a:txBody>
                    <a:bodyPr wrap="square"/>
                    <a:lstStyle/>
                    <a:p>
                      <a:r>
                        <a:rPr b="0" sz="1200" i="0">
                          <a:solidFill>
                            <a:srgbClr val="1A2233"/>
                          </a:solidFill>
                          <a:latin typeface="Calibri"/>
                        </a:rPr>
                        <a:t>Timeline checks</a:t>
                      </a:r>
                    </a:p>
                  </a:txBody>
                  <a:tcPr marL="64008" marR="64008" marT="27432" marB="27432" anchor="ctr">
                    <a:solidFill>
                      <a:srgbClr val="FFFFFF"/>
                    </a:solidFill>
                  </a:tcPr>
                </a:tc>
                <a:tc>
                  <a:txBody>
                    <a:bodyPr wrap="square"/>
                    <a:lstStyle/>
                    <a:p>
                      <a:r>
                        <a:rPr b="0" sz="1200" i="0">
                          <a:solidFill>
                            <a:srgbClr val="1A2233"/>
                          </a:solidFill>
                          <a:latin typeface="Calibri"/>
                        </a:rPr>
                        <a:t>Time!F120</a:t>
                      </a:r>
                    </a:p>
                  </a:txBody>
                  <a:tcPr marL="64008" marR="64008" marT="27432" marB="27432" anchor="ctr">
                    <a:solidFill>
                      <a:srgbClr val="FFFFFF"/>
                    </a:solidFill>
                  </a:tcPr>
                </a:tc>
                <a:tc>
                  <a:txBody>
                    <a:bodyPr wrap="square"/>
                    <a:lstStyle/>
                    <a:p>
                      <a:r>
                        <a:rPr b="0" sz="1200" i="0">
                          <a:solidFill>
                            <a:srgbClr val="1A2233"/>
                          </a:solidFill>
                          <a:latin typeface="Calibri"/>
                        </a:rPr>
                        <a:t>0</a:t>
                      </a:r>
                    </a:p>
                  </a:txBody>
                  <a:tcPr marL="64008" marR="64008" marT="27432" marB="27432" anchor="ctr">
                    <a:solidFill>
                      <a:srgbClr val="FFFFFF"/>
                    </a:solidFill>
                  </a:tcPr>
                </a:tc>
              </a:tr>
              <a:tr h="329184">
                <a:tc>
                  <a:txBody>
                    <a:bodyPr wrap="square"/>
                    <a:lstStyle/>
                    <a:p>
                      <a:r>
                        <a:rPr b="1" sz="1200" i="0">
                          <a:solidFill>
                            <a:srgbClr val="1A2233"/>
                          </a:solidFill>
                          <a:latin typeface="Calibri"/>
                        </a:rPr>
                        <a:t>2</a:t>
                      </a:r>
                    </a:p>
                  </a:txBody>
                  <a:tcPr marL="64008" marR="64008" marT="27432" marB="27432" anchor="ctr">
                    <a:solidFill>
                      <a:srgbClr val="F3F6F9"/>
                    </a:solidFill>
                  </a:tcPr>
                </a:tc>
                <a:tc>
                  <a:txBody>
                    <a:bodyPr wrap="square"/>
                    <a:lstStyle/>
                    <a:p>
                      <a:r>
                        <a:rPr b="0" sz="1200" i="0">
                          <a:solidFill>
                            <a:srgbClr val="1A2233"/>
                          </a:solidFill>
                          <a:latin typeface="Calibri"/>
                        </a:rPr>
                        <a:t>Sources = uses</a:t>
                      </a:r>
                    </a:p>
                  </a:txBody>
                  <a:tcPr marL="64008" marR="64008" marT="27432" marB="27432" anchor="ctr">
                    <a:solidFill>
                      <a:srgbClr val="F3F6F9"/>
                    </a:solidFill>
                  </a:tcPr>
                </a:tc>
                <a:tc>
                  <a:txBody>
                    <a:bodyPr wrap="square"/>
                    <a:lstStyle/>
                    <a:p>
                      <a:r>
                        <a:rPr b="0" sz="1200" i="0">
                          <a:solidFill>
                            <a:srgbClr val="1A2233"/>
                          </a:solidFill>
                          <a:latin typeface="Calibri"/>
                        </a:rPr>
                        <a:t>Constr!H48; F55</a:t>
                      </a:r>
                    </a:p>
                  </a:txBody>
                  <a:tcPr marL="64008" marR="64008" marT="27432" marB="27432" anchor="ctr">
                    <a:solidFill>
                      <a:srgbClr val="F3F6F9"/>
                    </a:solidFill>
                  </a:tcPr>
                </a:tc>
                <a:tc>
                  <a:txBody>
                    <a:bodyPr wrap="square"/>
                    <a:lstStyle/>
                    <a:p>
                      <a:r>
                        <a:rPr b="0" sz="1200" i="0">
                          <a:solidFill>
                            <a:srgbClr val="1A2233"/>
                          </a:solidFill>
                          <a:latin typeface="Calibri"/>
                        </a:rPr>
                        <a:t>0; 0</a:t>
                      </a:r>
                    </a:p>
                  </a:txBody>
                  <a:tcPr marL="64008" marR="64008" marT="27432" marB="27432" anchor="ctr">
                    <a:solidFill>
                      <a:srgbClr val="F3F6F9"/>
                    </a:solidFill>
                  </a:tcPr>
                </a:tc>
              </a:tr>
              <a:tr h="329184">
                <a:tc>
                  <a:txBody>
                    <a:bodyPr wrap="square"/>
                    <a:lstStyle/>
                    <a:p>
                      <a:r>
                        <a:rPr b="1" sz="1200" i="0">
                          <a:solidFill>
                            <a:srgbClr val="1A2233"/>
                          </a:solidFill>
                          <a:latin typeface="Calibri"/>
                        </a:rPr>
                        <a:t>3</a:t>
                      </a:r>
                    </a:p>
                  </a:txBody>
                  <a:tcPr marL="64008" marR="64008" marT="27432" marB="27432" anchor="ctr">
                    <a:solidFill>
                      <a:srgbClr val="FFFFFF"/>
                    </a:solidFill>
                  </a:tcPr>
                </a:tc>
                <a:tc>
                  <a:txBody>
                    <a:bodyPr wrap="square"/>
                    <a:lstStyle/>
                    <a:p>
                      <a:r>
                        <a:rPr b="0" sz="1200" i="0">
                          <a:solidFill>
                            <a:srgbClr val="1A2233"/>
                          </a:solidFill>
                          <a:latin typeface="Calibri"/>
                        </a:rPr>
                        <a:t>Income statement check</a:t>
                      </a:r>
                    </a:p>
                  </a:txBody>
                  <a:tcPr marL="64008" marR="64008" marT="27432" marB="27432" anchor="ctr">
                    <a:solidFill>
                      <a:srgbClr val="FFFFFF"/>
                    </a:solidFill>
                  </a:tcPr>
                </a:tc>
                <a:tc>
                  <a:txBody>
                    <a:bodyPr wrap="square"/>
                    <a:lstStyle/>
                    <a:p>
                      <a:r>
                        <a:rPr b="0" sz="1200" i="0">
                          <a:solidFill>
                            <a:srgbClr val="1A2233"/>
                          </a:solidFill>
                          <a:latin typeface="Calibri"/>
                        </a:rPr>
                        <a:t>FinStat!F80</a:t>
                      </a:r>
                    </a:p>
                  </a:txBody>
                  <a:tcPr marL="64008" marR="64008" marT="27432" marB="27432" anchor="ctr">
                    <a:solidFill>
                      <a:srgbClr val="FFFFFF"/>
                    </a:solidFill>
                  </a:tcPr>
                </a:tc>
                <a:tc>
                  <a:txBody>
                    <a:bodyPr wrap="square"/>
                    <a:lstStyle/>
                    <a:p>
                      <a:r>
                        <a:rPr b="0" sz="1200" i="0">
                          <a:solidFill>
                            <a:srgbClr val="1A2233"/>
                          </a:solidFill>
                          <a:latin typeface="Calibri"/>
                        </a:rPr>
                        <a:t>0</a:t>
                      </a:r>
                    </a:p>
                  </a:txBody>
                  <a:tcPr marL="64008" marR="64008" marT="27432" marB="27432" anchor="ctr">
                    <a:solidFill>
                      <a:srgbClr val="FFFFFF"/>
                    </a:solidFill>
                  </a:tcPr>
                </a:tc>
              </a:tr>
              <a:tr h="329184">
                <a:tc>
                  <a:txBody>
                    <a:bodyPr wrap="square"/>
                    <a:lstStyle/>
                    <a:p>
                      <a:r>
                        <a:rPr b="1" sz="1200" i="0">
                          <a:solidFill>
                            <a:srgbClr val="1A2233"/>
                          </a:solidFill>
                          <a:latin typeface="Calibri"/>
                        </a:rPr>
                        <a:t>4</a:t>
                      </a:r>
                    </a:p>
                  </a:txBody>
                  <a:tcPr marL="64008" marR="64008" marT="27432" marB="27432" anchor="ctr">
                    <a:solidFill>
                      <a:srgbClr val="F3F6F9"/>
                    </a:solidFill>
                  </a:tcPr>
                </a:tc>
                <a:tc>
                  <a:txBody>
                    <a:bodyPr wrap="square"/>
                    <a:lstStyle/>
                    <a:p>
                      <a:r>
                        <a:rPr b="0" sz="1200" i="0">
                          <a:solidFill>
                            <a:srgbClr val="1A2233"/>
                          </a:solidFill>
                          <a:latin typeface="Calibri"/>
                        </a:rPr>
                        <a:t>Cash flow check</a:t>
                      </a:r>
                    </a:p>
                  </a:txBody>
                  <a:tcPr marL="64008" marR="64008" marT="27432" marB="27432" anchor="ctr">
                    <a:solidFill>
                      <a:srgbClr val="F3F6F9"/>
                    </a:solidFill>
                  </a:tcPr>
                </a:tc>
                <a:tc>
                  <a:txBody>
                    <a:bodyPr wrap="square"/>
                    <a:lstStyle/>
                    <a:p>
                      <a:r>
                        <a:rPr b="0" sz="1200" i="0">
                          <a:solidFill>
                            <a:srgbClr val="1A2233"/>
                          </a:solidFill>
                          <a:latin typeface="Calibri"/>
                        </a:rPr>
                        <a:t>FinStat!F83</a:t>
                      </a:r>
                    </a:p>
                  </a:txBody>
                  <a:tcPr marL="64008" marR="64008" marT="27432" marB="27432" anchor="ctr">
                    <a:solidFill>
                      <a:srgbClr val="F3F6F9"/>
                    </a:solidFill>
                  </a:tcPr>
                </a:tc>
                <a:tc>
                  <a:txBody>
                    <a:bodyPr wrap="square"/>
                    <a:lstStyle/>
                    <a:p>
                      <a:r>
                        <a:rPr b="0" sz="1200" i="0">
                          <a:solidFill>
                            <a:srgbClr val="1A2233"/>
                          </a:solidFill>
                          <a:latin typeface="Calibri"/>
                        </a:rPr>
                        <a:t>0</a:t>
                      </a:r>
                    </a:p>
                  </a:txBody>
                  <a:tcPr marL="64008" marR="64008" marT="27432" marB="27432" anchor="ctr">
                    <a:solidFill>
                      <a:srgbClr val="F3F6F9"/>
                    </a:solidFill>
                  </a:tcPr>
                </a:tc>
              </a:tr>
              <a:tr h="329184">
                <a:tc>
                  <a:txBody>
                    <a:bodyPr wrap="square"/>
                    <a:lstStyle/>
                    <a:p>
                      <a:r>
                        <a:rPr b="1" sz="1200" i="0">
                          <a:solidFill>
                            <a:srgbClr val="1A2233"/>
                          </a:solidFill>
                          <a:latin typeface="Calibri"/>
                        </a:rPr>
                        <a:t>5</a:t>
                      </a:r>
                    </a:p>
                  </a:txBody>
                  <a:tcPr marL="64008" marR="64008" marT="27432" marB="27432" anchor="ctr">
                    <a:solidFill>
                      <a:srgbClr val="FFFFFF"/>
                    </a:solidFill>
                  </a:tcPr>
                </a:tc>
                <a:tc>
                  <a:txBody>
                    <a:bodyPr wrap="square"/>
                    <a:lstStyle/>
                    <a:p>
                      <a:r>
                        <a:rPr b="0" sz="1200" i="0">
                          <a:solidFill>
                            <a:srgbClr val="1A2233"/>
                          </a:solidFill>
                          <a:latin typeface="Calibri"/>
                        </a:rPr>
                        <a:t>Balance sheet check</a:t>
                      </a:r>
                    </a:p>
                  </a:txBody>
                  <a:tcPr marL="64008" marR="64008" marT="27432" marB="27432" anchor="ctr">
                    <a:solidFill>
                      <a:srgbClr val="FFFFFF"/>
                    </a:solidFill>
                  </a:tcPr>
                </a:tc>
                <a:tc>
                  <a:txBody>
                    <a:bodyPr wrap="square"/>
                    <a:lstStyle/>
                    <a:p>
                      <a:r>
                        <a:rPr b="0" sz="1200" i="0">
                          <a:solidFill>
                            <a:srgbClr val="1A2233"/>
                          </a:solidFill>
                          <a:latin typeface="Calibri"/>
                        </a:rPr>
                        <a:t>FinStat!F86</a:t>
                      </a:r>
                    </a:p>
                  </a:txBody>
                  <a:tcPr marL="64008" marR="64008" marT="27432" marB="27432" anchor="ctr">
                    <a:solidFill>
                      <a:srgbClr val="FFFFFF"/>
                    </a:solidFill>
                  </a:tcPr>
                </a:tc>
                <a:tc>
                  <a:txBody>
                    <a:bodyPr wrap="square"/>
                    <a:lstStyle/>
                    <a:p>
                      <a:r>
                        <a:rPr b="0" sz="1200" i="0">
                          <a:solidFill>
                            <a:srgbClr val="1A2233"/>
                          </a:solidFill>
                          <a:latin typeface="Calibri"/>
                        </a:rPr>
                        <a:t>0</a:t>
                      </a:r>
                    </a:p>
                  </a:txBody>
                  <a:tcPr marL="64008" marR="64008" marT="27432" marB="27432" anchor="ctr">
                    <a:solidFill>
                      <a:srgbClr val="FFFFFF"/>
                    </a:solidFill>
                  </a:tcPr>
                </a:tc>
              </a:tr>
              <a:tr h="329184">
                <a:tc>
                  <a:txBody>
                    <a:bodyPr wrap="square"/>
                    <a:lstStyle/>
                    <a:p>
                      <a:r>
                        <a:rPr b="1" sz="1200" i="0">
                          <a:solidFill>
                            <a:srgbClr val="1A2233"/>
                          </a:solidFill>
                          <a:latin typeface="Calibri"/>
                        </a:rPr>
                        <a:t>6</a:t>
                      </a:r>
                    </a:p>
                  </a:txBody>
                  <a:tcPr marL="64008" marR="64008" marT="27432" marB="27432" anchor="ctr">
                    <a:solidFill>
                      <a:srgbClr val="F3F6F9"/>
                    </a:solidFill>
                  </a:tcPr>
                </a:tc>
                <a:tc>
                  <a:txBody>
                    <a:bodyPr wrap="square"/>
                    <a:lstStyle/>
                    <a:p>
                      <a:r>
                        <a:rPr b="0" sz="1200" i="0">
                          <a:solidFill>
                            <a:srgbClr val="1A2233"/>
                          </a:solidFill>
                          <a:latin typeface="Calibri"/>
                        </a:rPr>
                        <a:t>Debt fully repaid</a:t>
                      </a:r>
                    </a:p>
                  </a:txBody>
                  <a:tcPr marL="64008" marR="64008" marT="27432" marB="27432" anchor="ctr">
                    <a:solidFill>
                      <a:srgbClr val="F3F6F9"/>
                    </a:solidFill>
                  </a:tcPr>
                </a:tc>
                <a:tc>
                  <a:txBody>
                    <a:bodyPr wrap="square"/>
                    <a:lstStyle/>
                    <a:p>
                      <a:r>
                        <a:rPr b="0" sz="1200" i="0">
                          <a:solidFill>
                            <a:srgbClr val="1A2233"/>
                          </a:solidFill>
                          <a:latin typeface="Calibri"/>
                        </a:rPr>
                        <a:t>Debt balance at Dec 2031</a:t>
                      </a:r>
                    </a:p>
                  </a:txBody>
                  <a:tcPr marL="64008" marR="64008" marT="27432" marB="27432" anchor="ctr">
                    <a:solidFill>
                      <a:srgbClr val="F3F6F9"/>
                    </a:solidFill>
                  </a:tcPr>
                </a:tc>
                <a:tc>
                  <a:txBody>
                    <a:bodyPr wrap="square"/>
                    <a:lstStyle/>
                    <a:p>
                      <a:r>
                        <a:rPr b="0" sz="1200" i="0">
                          <a:solidFill>
                            <a:srgbClr val="1A2233"/>
                          </a:solidFill>
                          <a:latin typeface="Calibri"/>
                        </a:rPr>
                        <a:t>0</a:t>
                      </a:r>
                    </a:p>
                  </a:txBody>
                  <a:tcPr marL="64008" marR="64008" marT="27432" marB="27432" anchor="ctr">
                    <a:solidFill>
                      <a:srgbClr val="F3F6F9"/>
                    </a:solidFill>
                  </a:tcPr>
                </a:tc>
              </a:tr>
              <a:tr h="329184">
                <a:tc>
                  <a:txBody>
                    <a:bodyPr wrap="square"/>
                    <a:lstStyle/>
                    <a:p>
                      <a:r>
                        <a:rPr b="1" sz="1200" i="0">
                          <a:solidFill>
                            <a:srgbClr val="1A2233"/>
                          </a:solidFill>
                          <a:latin typeface="Calibri"/>
                        </a:rPr>
                        <a:t>7</a:t>
                      </a:r>
                    </a:p>
                  </a:txBody>
                  <a:tcPr marL="64008" marR="64008" marT="27432" marB="27432" anchor="ctr">
                    <a:solidFill>
                      <a:srgbClr val="FFFFFF"/>
                    </a:solidFill>
                  </a:tcPr>
                </a:tc>
                <a:tc>
                  <a:txBody>
                    <a:bodyPr wrap="square"/>
                    <a:lstStyle/>
                    <a:p>
                      <a:r>
                        <a:rPr b="0" sz="1200" i="0">
                          <a:solidFill>
                            <a:srgbClr val="1A2233"/>
                          </a:solidFill>
                          <a:latin typeface="Calibri"/>
                        </a:rPr>
                        <a:t>Shareholder loan repaid</a:t>
                      </a:r>
                    </a:p>
                  </a:txBody>
                  <a:tcPr marL="64008" marR="64008" marT="27432" marB="27432" anchor="ctr">
                    <a:solidFill>
                      <a:srgbClr val="FFFFFF"/>
                    </a:solidFill>
                  </a:tcPr>
                </a:tc>
                <a:tc>
                  <a:txBody>
                    <a:bodyPr wrap="square"/>
                    <a:lstStyle/>
                    <a:p>
                      <a:r>
                        <a:rPr b="0" sz="1200" i="0">
                          <a:solidFill>
                            <a:srgbClr val="1A2233"/>
                          </a:solidFill>
                          <a:latin typeface="Calibri"/>
                        </a:rPr>
                        <a:t>SHL!J24 at end</a:t>
                      </a:r>
                    </a:p>
                  </a:txBody>
                  <a:tcPr marL="64008" marR="64008" marT="27432" marB="27432" anchor="ctr">
                    <a:solidFill>
                      <a:srgbClr val="FFFFFF"/>
                    </a:solidFill>
                  </a:tcPr>
                </a:tc>
                <a:tc>
                  <a:txBody>
                    <a:bodyPr wrap="square"/>
                    <a:lstStyle/>
                    <a:p>
                      <a:r>
                        <a:rPr b="0" sz="1200" i="0">
                          <a:solidFill>
                            <a:srgbClr val="1A2233"/>
                          </a:solidFill>
                          <a:latin typeface="Calibri"/>
                        </a:rPr>
                        <a:t>0</a:t>
                      </a:r>
                    </a:p>
                  </a:txBody>
                  <a:tcPr marL="64008" marR="64008" marT="27432" marB="27432" anchor="ctr">
                    <a:solidFill>
                      <a:srgbClr val="FFFFFF"/>
                    </a:solidFill>
                  </a:tcPr>
                </a:tc>
              </a:tr>
              <a:tr h="329184">
                <a:tc>
                  <a:txBody>
                    <a:bodyPr wrap="square"/>
                    <a:lstStyle/>
                    <a:p>
                      <a:r>
                        <a:rPr b="1" sz="1200" i="0">
                          <a:solidFill>
                            <a:srgbClr val="1A2233"/>
                          </a:solidFill>
                          <a:latin typeface="Calibri"/>
                        </a:rPr>
                        <a:t>8</a:t>
                      </a:r>
                    </a:p>
                  </a:txBody>
                  <a:tcPr marL="64008" marR="64008" marT="27432" marB="27432" anchor="ctr">
                    <a:solidFill>
                      <a:srgbClr val="F3F6F9"/>
                    </a:solidFill>
                  </a:tcPr>
                </a:tc>
                <a:tc>
                  <a:txBody>
                    <a:bodyPr wrap="square"/>
                    <a:lstStyle/>
                    <a:p>
                      <a:r>
                        <a:rPr b="0" sz="1200" i="0">
                          <a:solidFill>
                            <a:srgbClr val="1A2233"/>
                          </a:solidFill>
                          <a:latin typeface="Calibri"/>
                        </a:rPr>
                        <a:t>Deferred tax unwinds</a:t>
                      </a:r>
                    </a:p>
                  </a:txBody>
                  <a:tcPr marL="64008" marR="64008" marT="27432" marB="27432" anchor="ctr">
                    <a:solidFill>
                      <a:srgbClr val="F3F6F9"/>
                    </a:solidFill>
                  </a:tcPr>
                </a:tc>
                <a:tc>
                  <a:txBody>
                    <a:bodyPr wrap="square"/>
                    <a:lstStyle/>
                    <a:p>
                      <a:r>
                        <a:rPr b="0" sz="1200" i="0">
                          <a:solidFill>
                            <a:srgbClr val="1A2233"/>
                          </a:solidFill>
                          <a:latin typeface="Calibri"/>
                        </a:rPr>
                        <a:t>FinStat row 72, last column</a:t>
                      </a:r>
                    </a:p>
                  </a:txBody>
                  <a:tcPr marL="64008" marR="64008" marT="27432" marB="27432" anchor="ctr">
                    <a:solidFill>
                      <a:srgbClr val="F3F6F9"/>
                    </a:solidFill>
                  </a:tcPr>
                </a:tc>
                <a:tc>
                  <a:txBody>
                    <a:bodyPr wrap="square"/>
                    <a:lstStyle/>
                    <a:p>
                      <a:r>
                        <a:rPr b="0" sz="1200" i="0">
                          <a:solidFill>
                            <a:srgbClr val="1A2233"/>
                          </a:solidFill>
                          <a:latin typeface="Calibri"/>
                        </a:rPr>
                        <a:t>0</a:t>
                      </a:r>
                    </a:p>
                  </a:txBody>
                  <a:tcPr marL="64008" marR="64008" marT="27432" marB="27432" anchor="ctr">
                    <a:solidFill>
                      <a:srgbClr val="F3F6F9"/>
                    </a:solidFill>
                  </a:tcPr>
                </a:tc>
              </a:tr>
              <a:tr h="329184">
                <a:tc>
                  <a:txBody>
                    <a:bodyPr wrap="square"/>
                    <a:lstStyle/>
                    <a:p>
                      <a:r>
                        <a:rPr b="1" sz="1200" i="0">
                          <a:solidFill>
                            <a:srgbClr val="1A2233"/>
                          </a:solidFill>
                          <a:latin typeface="Calibri"/>
                        </a:rPr>
                        <a:t>9</a:t>
                      </a:r>
                    </a:p>
                  </a:txBody>
                  <a:tcPr marL="64008" marR="64008" marT="27432" marB="27432" anchor="ctr">
                    <a:solidFill>
                      <a:srgbClr val="FFFFFF"/>
                    </a:solidFill>
                  </a:tcPr>
                </a:tc>
                <a:tc>
                  <a:txBody>
                    <a:bodyPr wrap="square"/>
                    <a:lstStyle/>
                    <a:p>
                      <a:r>
                        <a:rPr b="0" sz="1200" i="0">
                          <a:solidFill>
                            <a:srgbClr val="1A2233"/>
                          </a:solidFill>
                          <a:latin typeface="Calibri"/>
                        </a:rPr>
                        <a:t>Debt drawn = debt sized</a:t>
                      </a:r>
                    </a:p>
                  </a:txBody>
                  <a:tcPr marL="64008" marR="64008" marT="27432" marB="27432" anchor="ctr">
                    <a:solidFill>
                      <a:srgbClr val="FFFFFF"/>
                    </a:solidFill>
                  </a:tcPr>
                </a:tc>
                <a:tc>
                  <a:txBody>
                    <a:bodyPr wrap="square"/>
                    <a:lstStyle/>
                    <a:p>
                      <a:r>
                        <a:rPr b="0" sz="1200" i="0">
                          <a:solidFill>
                            <a:srgbClr val="1A2233"/>
                          </a:solidFill>
                          <a:latin typeface="Calibri"/>
                        </a:rPr>
                        <a:t>Sculpt!F32</a:t>
                      </a:r>
                    </a:p>
                  </a:txBody>
                  <a:tcPr marL="64008" marR="64008" marT="27432" marB="27432" anchor="ctr">
                    <a:solidFill>
                      <a:srgbClr val="FFFFFF"/>
                    </a:solidFill>
                  </a:tcPr>
                </a:tc>
                <a:tc>
                  <a:txBody>
                    <a:bodyPr wrap="square"/>
                    <a:lstStyle/>
                    <a:p>
                      <a:r>
                        <a:rPr b="0" sz="1200" i="0">
                          <a:solidFill>
                            <a:srgbClr val="1A2233"/>
                          </a:solidFill>
                          <a:latin typeface="Calibri"/>
                        </a:rPr>
                        <a:t>0</a:t>
                      </a:r>
                    </a:p>
                  </a:txBody>
                  <a:tcPr marL="64008" marR="64008" marT="27432" marB="27432" anchor="ctr">
                    <a:solidFill>
                      <a:srgbClr val="FFFFFF"/>
                    </a:solidFill>
                  </a:tcPr>
                </a:tc>
              </a:tr>
              <a:tr h="329184">
                <a:tc>
                  <a:txBody>
                    <a:bodyPr wrap="square"/>
                    <a:lstStyle/>
                    <a:p>
                      <a:r>
                        <a:rPr b="1" sz="1200" i="0">
                          <a:solidFill>
                            <a:srgbClr val="1A2233"/>
                          </a:solidFill>
                          <a:latin typeface="Calibri"/>
                        </a:rPr>
                        <a:t>10</a:t>
                      </a:r>
                    </a:p>
                  </a:txBody>
                  <a:tcPr marL="64008" marR="64008" marT="27432" marB="27432" anchor="ctr">
                    <a:solidFill>
                      <a:srgbClr val="F3F6F9"/>
                    </a:solidFill>
                  </a:tcPr>
                </a:tc>
                <a:tc>
                  <a:txBody>
                    <a:bodyPr wrap="square"/>
                    <a:lstStyle/>
                    <a:p>
                      <a:r>
                        <a:rPr b="0" sz="1200" i="0">
                          <a:solidFill>
                            <a:srgbClr val="1A2233"/>
                          </a:solidFill>
                          <a:latin typeface="Calibri"/>
                        </a:rPr>
                        <a:t>Minimum DSCR ≥ covenant</a:t>
                      </a:r>
                    </a:p>
                  </a:txBody>
                  <a:tcPr marL="64008" marR="64008" marT="27432" marB="27432" anchor="ctr">
                    <a:solidFill>
                      <a:srgbClr val="F3F6F9"/>
                    </a:solidFill>
                  </a:tcPr>
                </a:tc>
                <a:tc>
                  <a:txBody>
                    <a:bodyPr wrap="square"/>
                    <a:lstStyle/>
                    <a:p>
                      <a:r>
                        <a:rPr b="0" sz="1200" i="0">
                          <a:solidFill>
                            <a:srgbClr val="1A2233"/>
                          </a:solidFill>
                          <a:latin typeface="Calibri"/>
                        </a:rPr>
                        <a:t>Ratios!F13</a:t>
                      </a:r>
                    </a:p>
                  </a:txBody>
                  <a:tcPr marL="64008" marR="64008" marT="27432" marB="27432" anchor="ctr">
                    <a:solidFill>
                      <a:srgbClr val="F3F6F9"/>
                    </a:solidFill>
                  </a:tcPr>
                </a:tc>
                <a:tc>
                  <a:txBody>
                    <a:bodyPr wrap="square"/>
                    <a:lstStyle/>
                    <a:p>
                      <a:r>
                        <a:rPr b="0" sz="1200" i="0">
                          <a:solidFill>
                            <a:srgbClr val="1A2233"/>
                          </a:solidFill>
                          <a:latin typeface="Calibri"/>
                        </a:rPr>
                        <a:t>≥ 2.30x</a:t>
                      </a:r>
                    </a:p>
                  </a:txBody>
                  <a:tcPr marL="64008" marR="64008" marT="27432" marB="27432" anchor="ctr">
                    <a:solidFill>
                      <a:srgbClr val="F3F6F9"/>
                    </a:solidFill>
                  </a:tcPr>
                </a:tc>
              </a:tr>
            </a:tbl>
          </a:graphicData>
        </a:graphic>
      </p:graphicFrame>
      <p:sp>
        <p:nvSpPr>
          <p:cNvPr id="12" name="Rectangle 11"/>
          <p:cNvSpPr/>
          <p:nvPr/>
        </p:nvSpPr>
        <p:spPr>
          <a:xfrm>
            <a:off x="548640" y="5312664"/>
            <a:ext cx="11064240" cy="64008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5312664"/>
            <a:ext cx="82296" cy="64008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312664"/>
            <a:ext cx="10835640" cy="640080"/>
          </a:xfrm>
          <a:prstGeom prst="rect">
            <a:avLst/>
          </a:prstGeom>
          <a:noFill/>
        </p:spPr>
        <p:txBody>
          <a:bodyPr wrap="square" lIns="45720" rIns="45720" tIns="27432" bIns="27432" anchor="ctr">
            <a:spAutoFit/>
          </a:bodyPr>
          <a:lstStyle/>
          <a:p>
            <a:pPr algn="l"/>
            <a:r>
              <a:rPr b="0" sz="1400" i="0">
                <a:solidFill>
                  <a:srgbClr val="1A2233"/>
                </a:solidFill>
                <a:latin typeface="Calibri"/>
              </a:rPr>
              <a:t>The Cover sheet shows ALL CHECKS PASSED when checks 1 to 5 are zero.</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CHECKPOINTS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Day 7 end-state checkpoints (solved Base case)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291840"/>
        </p:xfrm>
        <a:graphic>
          <a:graphicData uri="http://schemas.openxmlformats.org/drawingml/2006/table">
            <a:tbl>
              <a:tblPr firstRow="1" bandRow="1">
                <a:tableStyleId>{5C22544A-7EE6-4342-B048-85BDC9FD1C3A}</a:tableStyleId>
              </a:tblPr>
              <a:tblGrid>
                <a:gridCol w="2743200"/>
                <a:gridCol w="5303520"/>
                <a:gridCol w="3017520"/>
              </a:tblGrid>
              <a:tr h="329184">
                <a:tc>
                  <a:txBody>
                    <a:bodyPr wrap="square"/>
                    <a:lstStyle/>
                    <a:p>
                      <a:r>
                        <a:rPr b="1" sz="1300" i="0">
                          <a:solidFill>
                            <a:srgbClr val="FFFFFF"/>
                          </a:solidFill>
                          <a:latin typeface="Calibri"/>
                        </a:rPr>
                        <a:t>Cell</a:t>
                      </a:r>
                    </a:p>
                  </a:txBody>
                  <a:tcPr marL="64008" marR="64008" marT="27432" marB="27432" anchor="ctr">
                    <a:solidFill>
                      <a:srgbClr val="141B4D"/>
                    </a:solidFill>
                  </a:tcPr>
                </a:tc>
                <a:tc>
                  <a:txBody>
                    <a:bodyPr wrap="square"/>
                    <a:lstStyle/>
                    <a:p>
                      <a:r>
                        <a:rPr b="1" sz="1300" i="0">
                          <a:solidFill>
                            <a:srgbClr val="FFFFFF"/>
                          </a:solidFill>
                          <a:latin typeface="Calibri"/>
                        </a:rPr>
                        <a:t>Item</a:t>
                      </a:r>
                    </a:p>
                  </a:txBody>
                  <a:tcPr marL="64008" marR="64008" marT="27432" marB="27432" anchor="ctr">
                    <a:solidFill>
                      <a:srgbClr val="141B4D"/>
                    </a:solidFill>
                  </a:tcPr>
                </a:tc>
                <a:tc>
                  <a:txBody>
                    <a:bodyPr wrap="square"/>
                    <a:lstStyle/>
                    <a:p>
                      <a:r>
                        <a:rPr b="1" sz="1300" i="0">
                          <a:solidFill>
                            <a:srgbClr val="FFFFFF"/>
                          </a:solidFill>
                          <a:latin typeface="Calibri"/>
                        </a:rPr>
                        <a:t>Value</a:t>
                      </a:r>
                    </a:p>
                  </a:txBody>
                  <a:tcPr marL="64008" marR="64008" marT="27432" marB="27432" anchor="ctr">
                    <a:solidFill>
                      <a:srgbClr val="141B4D"/>
                    </a:solidFill>
                  </a:tcPr>
                </a:tc>
              </a:tr>
              <a:tr h="329184">
                <a:tc>
                  <a:txBody>
                    <a:bodyPr wrap="square"/>
                    <a:lstStyle/>
                    <a:p>
                      <a:r>
                        <a:rPr b="1" sz="1300" i="0">
                          <a:solidFill>
                            <a:srgbClr val="1A2233"/>
                          </a:solidFill>
                          <a:latin typeface="Calibri"/>
                        </a:rPr>
                        <a:t>Constr!F52</a:t>
                      </a:r>
                    </a:p>
                  </a:txBody>
                  <a:tcPr marL="64008" marR="64008" marT="27432" marB="27432" anchor="ctr">
                    <a:solidFill>
                      <a:srgbClr val="FFFFFF"/>
                    </a:solidFill>
                  </a:tcPr>
                </a:tc>
                <a:tc>
                  <a:txBody>
                    <a:bodyPr wrap="square"/>
                    <a:lstStyle/>
                    <a:p>
                      <a:r>
                        <a:rPr b="0" sz="1300" i="0">
                          <a:solidFill>
                            <a:srgbClr val="1A2233"/>
                          </a:solidFill>
                          <a:latin typeface="Calibri"/>
                        </a:rPr>
                        <a:t>Project cost ($000s)</a:t>
                      </a:r>
                    </a:p>
                  </a:txBody>
                  <a:tcPr marL="64008" marR="64008" marT="27432" marB="27432" anchor="ctr">
                    <a:solidFill>
                      <a:srgbClr val="FFFFFF"/>
                    </a:solidFill>
                  </a:tcPr>
                </a:tc>
                <a:tc>
                  <a:txBody>
                    <a:bodyPr wrap="square"/>
                    <a:lstStyle/>
                    <a:p>
                      <a:r>
                        <a:rPr b="0" sz="1300" i="0">
                          <a:solidFill>
                            <a:srgbClr val="1A2233"/>
                          </a:solidFill>
                          <a:latin typeface="Calibri"/>
                        </a:rPr>
                        <a:t>101,067.8</a:t>
                      </a:r>
                    </a:p>
                  </a:txBody>
                  <a:tcPr marL="64008" marR="64008" marT="27432" marB="27432" anchor="ctr">
                    <a:solidFill>
                      <a:srgbClr val="FFFFFF"/>
                    </a:solidFill>
                  </a:tcPr>
                </a:tc>
              </a:tr>
              <a:tr h="329184">
                <a:tc>
                  <a:txBody>
                    <a:bodyPr wrap="square"/>
                    <a:lstStyle/>
                    <a:p>
                      <a:r>
                        <a:rPr b="1" sz="1300" i="0">
                          <a:solidFill>
                            <a:srgbClr val="1A2233"/>
                          </a:solidFill>
                          <a:latin typeface="Calibri"/>
                        </a:rPr>
                        <a:t>Constr!F53</a:t>
                      </a:r>
                    </a:p>
                  </a:txBody>
                  <a:tcPr marL="64008" marR="64008" marT="27432" marB="27432" anchor="ctr">
                    <a:solidFill>
                      <a:srgbClr val="F3F6F9"/>
                    </a:solidFill>
                  </a:tcPr>
                </a:tc>
                <a:tc>
                  <a:txBody>
                    <a:bodyPr wrap="square"/>
                    <a:lstStyle/>
                    <a:p>
                      <a:r>
                        <a:rPr b="0" sz="1300" i="0">
                          <a:solidFill>
                            <a:srgbClr val="1A2233"/>
                          </a:solidFill>
                          <a:latin typeface="Calibri"/>
                        </a:rPr>
                        <a:t>Senior debt ($000s)</a:t>
                      </a:r>
                    </a:p>
                  </a:txBody>
                  <a:tcPr marL="64008" marR="64008" marT="27432" marB="27432" anchor="ctr">
                    <a:solidFill>
                      <a:srgbClr val="F3F6F9"/>
                    </a:solidFill>
                  </a:tcPr>
                </a:tc>
                <a:tc>
                  <a:txBody>
                    <a:bodyPr wrap="square"/>
                    <a:lstStyle/>
                    <a:p>
                      <a:r>
                        <a:rPr b="0" sz="1300" i="0">
                          <a:solidFill>
                            <a:srgbClr val="1A2233"/>
                          </a:solidFill>
                          <a:latin typeface="Calibri"/>
                        </a:rPr>
                        <a:t>72,154.2</a:t>
                      </a:r>
                    </a:p>
                  </a:txBody>
                  <a:tcPr marL="64008" marR="64008" marT="27432" marB="27432" anchor="ctr">
                    <a:solidFill>
                      <a:srgbClr val="F3F6F9"/>
                    </a:solidFill>
                  </a:tcPr>
                </a:tc>
              </a:tr>
              <a:tr h="329184">
                <a:tc>
                  <a:txBody>
                    <a:bodyPr wrap="square"/>
                    <a:lstStyle/>
                    <a:p>
                      <a:r>
                        <a:rPr b="1" sz="1300" i="0">
                          <a:solidFill>
                            <a:srgbClr val="1A2233"/>
                          </a:solidFill>
                          <a:latin typeface="Calibri"/>
                        </a:rPr>
                        <a:t>Sculpt!F26</a:t>
                      </a:r>
                    </a:p>
                  </a:txBody>
                  <a:tcPr marL="64008" marR="64008" marT="27432" marB="27432" anchor="ctr">
                    <a:solidFill>
                      <a:srgbClr val="FFFFFF"/>
                    </a:solidFill>
                  </a:tcPr>
                </a:tc>
                <a:tc>
                  <a:txBody>
                    <a:bodyPr wrap="square"/>
                    <a:lstStyle/>
                    <a:p>
                      <a:r>
                        <a:rPr b="0" sz="1300" i="0">
                          <a:solidFill>
                            <a:srgbClr val="1A2233"/>
                          </a:solidFill>
                          <a:latin typeface="Calibri"/>
                        </a:rPr>
                        <a:t>Debt capacity ($000s)</a:t>
                      </a:r>
                    </a:p>
                  </a:txBody>
                  <a:tcPr marL="64008" marR="64008" marT="27432" marB="27432" anchor="ctr">
                    <a:solidFill>
                      <a:srgbClr val="FFFFFF"/>
                    </a:solidFill>
                  </a:tcPr>
                </a:tc>
                <a:tc>
                  <a:txBody>
                    <a:bodyPr wrap="square"/>
                    <a:lstStyle/>
                    <a:p>
                      <a:r>
                        <a:rPr b="0" sz="1300" i="0">
                          <a:solidFill>
                            <a:srgbClr val="1A2233"/>
                          </a:solidFill>
                          <a:latin typeface="Calibri"/>
                        </a:rPr>
                        <a:t>72,154.2</a:t>
                      </a:r>
                    </a:p>
                  </a:txBody>
                  <a:tcPr marL="64008" marR="64008" marT="27432" marB="27432" anchor="ctr">
                    <a:solidFill>
                      <a:srgbClr val="FFFFFF"/>
                    </a:solidFill>
                  </a:tcPr>
                </a:tc>
              </a:tr>
              <a:tr h="329184">
                <a:tc>
                  <a:txBody>
                    <a:bodyPr wrap="square"/>
                    <a:lstStyle/>
                    <a:p>
                      <a:r>
                        <a:rPr b="1" sz="1300" i="0">
                          <a:solidFill>
                            <a:srgbClr val="1A2233"/>
                          </a:solidFill>
                          <a:latin typeface="Calibri"/>
                        </a:rPr>
                        <a:t>Ratios!F13</a:t>
                      </a:r>
                    </a:p>
                  </a:txBody>
                  <a:tcPr marL="64008" marR="64008" marT="27432" marB="27432" anchor="ctr">
                    <a:solidFill>
                      <a:srgbClr val="F3F6F9"/>
                    </a:solidFill>
                  </a:tcPr>
                </a:tc>
                <a:tc>
                  <a:txBody>
                    <a:bodyPr wrap="square"/>
                    <a:lstStyle/>
                    <a:p>
                      <a:r>
                        <a:rPr b="0" sz="1300" i="0">
                          <a:solidFill>
                            <a:srgbClr val="1A2233"/>
                          </a:solidFill>
                          <a:latin typeface="Calibri"/>
                        </a:rPr>
                        <a:t>Minimum DSCR</a:t>
                      </a:r>
                    </a:p>
                  </a:txBody>
                  <a:tcPr marL="64008" marR="64008" marT="27432" marB="27432" anchor="ctr">
                    <a:solidFill>
                      <a:srgbClr val="F3F6F9"/>
                    </a:solidFill>
                  </a:tcPr>
                </a:tc>
                <a:tc>
                  <a:txBody>
                    <a:bodyPr wrap="square"/>
                    <a:lstStyle/>
                    <a:p>
                      <a:r>
                        <a:rPr b="0" sz="1300" i="0">
                          <a:solidFill>
                            <a:srgbClr val="1A2233"/>
                          </a:solidFill>
                          <a:latin typeface="Calibri"/>
                        </a:rPr>
                        <a:t>2.30x</a:t>
                      </a:r>
                    </a:p>
                  </a:txBody>
                  <a:tcPr marL="64008" marR="64008" marT="27432" marB="27432" anchor="ctr">
                    <a:solidFill>
                      <a:srgbClr val="F3F6F9"/>
                    </a:solidFill>
                  </a:tcPr>
                </a:tc>
              </a:tr>
              <a:tr h="329184">
                <a:tc>
                  <a:txBody>
                    <a:bodyPr wrap="square"/>
                    <a:lstStyle/>
                    <a:p>
                      <a:r>
                        <a:rPr b="1" sz="1300" i="0">
                          <a:solidFill>
                            <a:srgbClr val="1A2233"/>
                          </a:solidFill>
                          <a:latin typeface="Calibri"/>
                        </a:rPr>
                        <a:t>Ratios!F22</a:t>
                      </a:r>
                    </a:p>
                  </a:txBody>
                  <a:tcPr marL="64008" marR="64008" marT="27432" marB="27432" anchor="ctr">
                    <a:solidFill>
                      <a:srgbClr val="FFFFFF"/>
                    </a:solidFill>
                  </a:tcPr>
                </a:tc>
                <a:tc>
                  <a:txBody>
                    <a:bodyPr wrap="square"/>
                    <a:lstStyle/>
                    <a:p>
                      <a:r>
                        <a:rPr b="0" sz="1300" i="0">
                          <a:solidFill>
                            <a:srgbClr val="1A2233"/>
                          </a:solidFill>
                          <a:latin typeface="Calibri"/>
                        </a:rPr>
                        <a:t>LLCR at COD</a:t>
                      </a:r>
                    </a:p>
                  </a:txBody>
                  <a:tcPr marL="64008" marR="64008" marT="27432" marB="27432" anchor="ctr">
                    <a:solidFill>
                      <a:srgbClr val="FFFFFF"/>
                    </a:solidFill>
                  </a:tcPr>
                </a:tc>
                <a:tc>
                  <a:txBody>
                    <a:bodyPr wrap="square"/>
                    <a:lstStyle/>
                    <a:p>
                      <a:r>
                        <a:rPr b="0" sz="1300" i="0">
                          <a:solidFill>
                            <a:srgbClr val="1A2233"/>
                          </a:solidFill>
                          <a:latin typeface="Calibri"/>
                        </a:rPr>
                        <a:t>2.40x</a:t>
                      </a:r>
                    </a:p>
                  </a:txBody>
                  <a:tcPr marL="64008" marR="64008" marT="27432" marB="27432" anchor="ctr">
                    <a:solidFill>
                      <a:srgbClr val="FFFFFF"/>
                    </a:solidFill>
                  </a:tcPr>
                </a:tc>
              </a:tr>
              <a:tr h="329184">
                <a:tc>
                  <a:txBody>
                    <a:bodyPr wrap="square"/>
                    <a:lstStyle/>
                    <a:p>
                      <a:r>
                        <a:rPr b="1" sz="1300" i="0">
                          <a:solidFill>
                            <a:srgbClr val="1A2233"/>
                          </a:solidFill>
                          <a:latin typeface="Calibri"/>
                        </a:rPr>
                        <a:t>Ratios!F28</a:t>
                      </a:r>
                    </a:p>
                  </a:txBody>
                  <a:tcPr marL="64008" marR="64008" marT="27432" marB="27432" anchor="ctr">
                    <a:solidFill>
                      <a:srgbClr val="F3F6F9"/>
                    </a:solidFill>
                  </a:tcPr>
                </a:tc>
                <a:tc>
                  <a:txBody>
                    <a:bodyPr wrap="square"/>
                    <a:lstStyle/>
                    <a:p>
                      <a:r>
                        <a:rPr b="0" sz="1300" i="0">
                          <a:solidFill>
                            <a:srgbClr val="1A2233"/>
                          </a:solidFill>
                          <a:latin typeface="Calibri"/>
                        </a:rPr>
                        <a:t>PLCR at COD</a:t>
                      </a:r>
                    </a:p>
                  </a:txBody>
                  <a:tcPr marL="64008" marR="64008" marT="27432" marB="27432" anchor="ctr">
                    <a:solidFill>
                      <a:srgbClr val="F3F6F9"/>
                    </a:solidFill>
                  </a:tcPr>
                </a:tc>
                <a:tc>
                  <a:txBody>
                    <a:bodyPr wrap="square"/>
                    <a:lstStyle/>
                    <a:p>
                      <a:r>
                        <a:rPr b="0" sz="1300" i="0">
                          <a:solidFill>
                            <a:srgbClr val="1A2233"/>
                          </a:solidFill>
                          <a:latin typeface="Calibri"/>
                        </a:rPr>
                        <a:t>4.19x</a:t>
                      </a:r>
                    </a:p>
                  </a:txBody>
                  <a:tcPr marL="64008" marR="64008" marT="27432" marB="27432" anchor="ctr">
                    <a:solidFill>
                      <a:srgbClr val="F3F6F9"/>
                    </a:solidFill>
                  </a:tcPr>
                </a:tc>
              </a:tr>
              <a:tr h="329184">
                <a:tc>
                  <a:txBody>
                    <a:bodyPr wrap="square"/>
                    <a:lstStyle/>
                    <a:p>
                      <a:r>
                        <a:rPr b="1" sz="1300" i="0">
                          <a:solidFill>
                            <a:srgbClr val="1A2233"/>
                          </a:solidFill>
                          <a:latin typeface="Calibri"/>
                        </a:rPr>
                        <a:t>SHL!F13</a:t>
                      </a:r>
                    </a:p>
                  </a:txBody>
                  <a:tcPr marL="64008" marR="64008" marT="27432" marB="27432" anchor="ctr">
                    <a:solidFill>
                      <a:srgbClr val="FFFFFF"/>
                    </a:solidFill>
                  </a:tcPr>
                </a:tc>
                <a:tc>
                  <a:txBody>
                    <a:bodyPr wrap="square"/>
                    <a:lstStyle/>
                    <a:p>
                      <a:r>
                        <a:rPr b="0" sz="1300" i="0">
                          <a:solidFill>
                            <a:srgbClr val="1A2233"/>
                          </a:solidFill>
                          <a:latin typeface="Calibri"/>
                        </a:rPr>
                        <a:t>Shareholder loan ($000s)</a:t>
                      </a:r>
                    </a:p>
                  </a:txBody>
                  <a:tcPr marL="64008" marR="64008" marT="27432" marB="27432" anchor="ctr">
                    <a:solidFill>
                      <a:srgbClr val="FFFFFF"/>
                    </a:solidFill>
                  </a:tcPr>
                </a:tc>
                <a:tc>
                  <a:txBody>
                    <a:bodyPr wrap="square"/>
                    <a:lstStyle/>
                    <a:p>
                      <a:r>
                        <a:rPr b="0" sz="1300" i="0">
                          <a:solidFill>
                            <a:srgbClr val="1A2233"/>
                          </a:solidFill>
                          <a:latin typeface="Calibri"/>
                        </a:rPr>
                        <a:t>17,348.1</a:t>
                      </a:r>
                    </a:p>
                  </a:txBody>
                  <a:tcPr marL="64008" marR="64008" marT="27432" marB="27432" anchor="ctr">
                    <a:solidFill>
                      <a:srgbClr val="FFFFFF"/>
                    </a:solidFill>
                  </a:tcPr>
                </a:tc>
              </a:tr>
              <a:tr h="329184">
                <a:tc>
                  <a:txBody>
                    <a:bodyPr wrap="square"/>
                    <a:lstStyle/>
                    <a:p>
                      <a:r>
                        <a:rPr b="1" sz="1300" i="0">
                          <a:solidFill>
                            <a:srgbClr val="1A2233"/>
                          </a:solidFill>
                          <a:latin typeface="Calibri"/>
                        </a:rPr>
                        <a:t>Val!F51</a:t>
                      </a:r>
                    </a:p>
                  </a:txBody>
                  <a:tcPr marL="64008" marR="64008" marT="27432" marB="27432" anchor="ctr">
                    <a:solidFill>
                      <a:srgbClr val="F3F6F9"/>
                    </a:solidFill>
                  </a:tcPr>
                </a:tc>
                <a:tc>
                  <a:txBody>
                    <a:bodyPr wrap="square"/>
                    <a:lstStyle/>
                    <a:p>
                      <a:r>
                        <a:rPr b="0" sz="1300" i="0">
                          <a:solidFill>
                            <a:srgbClr val="1A2233"/>
                          </a:solidFill>
                          <a:latin typeface="Calibri"/>
                        </a:rPr>
                        <a:t>Blended sponsor XIRR</a:t>
                      </a:r>
                    </a:p>
                  </a:txBody>
                  <a:tcPr marL="64008" marR="64008" marT="27432" marB="27432" anchor="ctr">
                    <a:solidFill>
                      <a:srgbClr val="F3F6F9"/>
                    </a:solidFill>
                  </a:tcPr>
                </a:tc>
                <a:tc>
                  <a:txBody>
                    <a:bodyPr wrap="square"/>
                    <a:lstStyle/>
                    <a:p>
                      <a:r>
                        <a:rPr b="0" sz="1300" i="0">
                          <a:solidFill>
                            <a:srgbClr val="1A2233"/>
                          </a:solidFill>
                          <a:latin typeface="Calibri"/>
                        </a:rPr>
                        <a:t>43.03%</a:t>
                      </a:r>
                    </a:p>
                  </a:txBody>
                  <a:tcPr marL="64008" marR="64008" marT="27432" marB="27432" anchor="ctr">
                    <a:solidFill>
                      <a:srgbClr val="F3F6F9"/>
                    </a:solidFill>
                  </a:tcPr>
                </a:tc>
              </a:tr>
              <a:tr h="329184">
                <a:tc>
                  <a:txBody>
                    <a:bodyPr wrap="square"/>
                    <a:lstStyle/>
                    <a:p>
                      <a:r>
                        <a:rPr b="1" sz="1300" i="0">
                          <a:solidFill>
                            <a:srgbClr val="1A2233"/>
                          </a:solidFill>
                          <a:latin typeface="Calibri"/>
                        </a:rPr>
                        <a:t>Dividends H51 ($000s)</a:t>
                      </a:r>
                    </a:p>
                  </a:txBody>
                  <a:tcPr marL="64008" marR="64008" marT="27432" marB="27432" anchor="ctr">
                    <a:solidFill>
                      <a:srgbClr val="FFFFFF"/>
                    </a:solidFill>
                  </a:tcPr>
                </a:tc>
                <a:tc>
                  <a:txBody>
                    <a:bodyPr wrap="square"/>
                    <a:lstStyle/>
                    <a:p>
                      <a:r>
                        <a:rPr b="0" sz="1300" i="0">
                          <a:solidFill>
                            <a:srgbClr val="1A2233"/>
                          </a:solidFill>
                          <a:latin typeface="Calibri"/>
                        </a:rPr>
                        <a:t>20-year dividends</a:t>
                      </a:r>
                    </a:p>
                  </a:txBody>
                  <a:tcPr marL="64008" marR="64008" marT="27432" marB="27432" anchor="ctr">
                    <a:solidFill>
                      <a:srgbClr val="FFFFFF"/>
                    </a:solidFill>
                  </a:tcPr>
                </a:tc>
                <a:tc>
                  <a:txBody>
                    <a:bodyPr wrap="square"/>
                    <a:lstStyle/>
                    <a:p>
                      <a:r>
                        <a:rPr b="0" sz="1300" i="0">
                          <a:solidFill>
                            <a:srgbClr val="1A2233"/>
                          </a:solidFill>
                          <a:latin typeface="Calibri"/>
                        </a:rPr>
                        <a:t>442,554</a:t>
                      </a:r>
                    </a:p>
                  </a:txBody>
                  <a:tcPr marL="64008" marR="64008" marT="27432" marB="27432" anchor="ctr">
                    <a:solidFill>
                      <a:srgbClr val="FFFFFF"/>
                    </a:solidFill>
                  </a:tcPr>
                </a:tc>
              </a:tr>
            </a:tbl>
          </a:graphicData>
        </a:graphic>
      </p:graphicFrame>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 YOUR UNDERSTANDING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A project has CFADS of 90 in a quarter and debt service of 60. What is the DSCR?</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1.50x</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0.67x</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1.00x</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30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 YOUR UNDERSTANDING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Why do we size debt on CFADS with tax computed BEFORE the interest deduction?</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It avoids a circular reference (debt → interest → tax → CFADS → debt) and is conservative</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Because interest is not tax deductible</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Because Excel cannot calculate tax</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It makes DSCR lower than 1</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Thu 22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RECAP</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What you can now do</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4754880"/>
          </a:xfrm>
          <a:prstGeom prst="rect">
            <a:avLst/>
          </a:prstGeom>
          <a:noFill/>
        </p:spPr>
        <p:txBody>
          <a:bodyPr wrap="square">
            <a:spAutoFit/>
          </a:bodyPr>
          <a:lstStyle/>
          <a:p>
            <a:pPr>
              <a:spcAft>
                <a:spcPts val="700"/>
              </a:spcAft>
            </a:pPr>
            <a:r>
              <a:rPr b="0" sz="2000" i="0">
                <a:solidFill>
                  <a:srgbClr val="1A2233"/>
                </a:solidFill>
                <a:latin typeface="Calibri"/>
              </a:rPr>
              <a:t>▪ Build a PF model from construction to returns: timeline, uses and sources, IDC, opening balances</a:t>
            </a:r>
          </a:p>
          <a:p>
            <a:pPr>
              <a:spcAft>
                <a:spcPts val="700"/>
              </a:spcAft>
            </a:pPr>
            <a:r>
              <a:rPr b="0" sz="2000" i="0">
                <a:solidFill>
                  <a:srgbClr val="1A2233"/>
                </a:solidFill>
                <a:latin typeface="Calibri"/>
              </a:rPr>
              <a:t>▪ Size and sculpt debt; test DSCR, LLCR and PLCR</a:t>
            </a:r>
          </a:p>
          <a:p>
            <a:pPr>
              <a:spcAft>
                <a:spcPts val="700"/>
              </a:spcAft>
            </a:pPr>
            <a:r>
              <a:rPr b="0" sz="2000" i="0">
                <a:solidFill>
                  <a:srgbClr val="1A2233"/>
                </a:solidFill>
                <a:latin typeface="Calibri"/>
              </a:rPr>
              <a:t>▪ Add DSRA and shareholder loan and integrate them into three balanced statements</a:t>
            </a:r>
          </a:p>
          <a:p>
            <a:pPr>
              <a:spcAft>
                <a:spcPts val="700"/>
              </a:spcAft>
            </a:pPr>
            <a:r>
              <a:rPr b="0" sz="2000" i="0">
                <a:solidFill>
                  <a:srgbClr val="1A2233"/>
                </a:solidFill>
                <a:latin typeface="Calibri"/>
              </a:rPr>
              <a:t>▪ Use Goal Seek and data tables to optimise and defend a capital structure</a:t>
            </a:r>
          </a:p>
          <a:p>
            <a:pPr>
              <a:spcAft>
                <a:spcPts val="700"/>
              </a:spcAft>
            </a:pPr>
            <a:r>
              <a:rPr b="0" sz="2000" i="0">
                <a:solidFill>
                  <a:srgbClr val="1A2233"/>
                </a:solidFill>
                <a:latin typeface="Calibri"/>
              </a:rPr>
              <a:t>▪ Run a sign-off checklist</a:t>
            </a:r>
          </a:p>
        </p:txBody>
      </p:sp>
      <p:sp>
        <p:nvSpPr>
          <p:cNvPr id="12" name="Rectangle 11"/>
          <p:cNvSpPr/>
          <p:nvPr/>
        </p:nvSpPr>
        <p:spPr>
          <a:xfrm>
            <a:off x="640080" y="4846320"/>
            <a:ext cx="10881360" cy="82296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846320"/>
            <a:ext cx="82296" cy="82296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846320"/>
            <a:ext cx="10652760" cy="822960"/>
          </a:xfrm>
          <a:prstGeom prst="rect">
            <a:avLst/>
          </a:prstGeom>
          <a:noFill/>
        </p:spPr>
        <p:txBody>
          <a:bodyPr wrap="square" lIns="45720" rIns="45720" tIns="27432" bIns="27432" anchor="ctr">
            <a:spAutoFit/>
          </a:bodyPr>
          <a:lstStyle/>
          <a:p>
            <a:pPr algn="l"/>
            <a:r>
              <a:rPr b="0" sz="1400" i="0">
                <a:solidFill>
                  <a:srgbClr val="1A2233"/>
                </a:solidFill>
                <a:latin typeface="Calibri"/>
              </a:rPr>
              <a:t>Capstone: within two weeks, extend your model with your own assumptions (fare, tenor, DSCR, gearing) and submit with a one-page recommendation.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7  |  Thu 22 Oct 2026  |  Project finance modelling II: debt sizing and returns</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77</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15544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QUESTIONS AND FOLLOW-UP</a:t>
            </a:r>
          </a:p>
        </p:txBody>
      </p:sp>
      <p:sp>
        <p:nvSpPr>
          <p:cNvPr id="10" name="TextBox 9"/>
          <p:cNvSpPr txBox="1"/>
          <p:nvPr/>
        </p:nvSpPr>
        <p:spPr>
          <a:xfrm>
            <a:off x="731520" y="1965960"/>
            <a:ext cx="10058400" cy="914400"/>
          </a:xfrm>
          <a:prstGeom prst="rect">
            <a:avLst/>
          </a:prstGeom>
          <a:noFill/>
        </p:spPr>
        <p:txBody>
          <a:bodyPr wrap="square" lIns="45720" rIns="45720" tIns="27432" bIns="27432" anchor="t">
            <a:spAutoFit/>
          </a:bodyPr>
          <a:lstStyle/>
          <a:p>
            <a:pPr algn="l"/>
            <a:r>
              <a:rPr b="1" sz="4400" i="0">
                <a:solidFill>
                  <a:srgbClr val="FFFFFF"/>
                </a:solidFill>
                <a:latin typeface="Georgia"/>
              </a:rPr>
              <a:t>Thank you</a:t>
            </a:r>
          </a:p>
        </p:txBody>
      </p:sp>
      <p:sp>
        <p:nvSpPr>
          <p:cNvPr id="11" name="TextBox 10"/>
          <p:cNvSpPr txBox="1"/>
          <p:nvPr/>
        </p:nvSpPr>
        <p:spPr>
          <a:xfrm>
            <a:off x="731520" y="3200400"/>
            <a:ext cx="8686800" cy="2194560"/>
          </a:xfrm>
          <a:prstGeom prst="rect">
            <a:avLst/>
          </a:prstGeom>
          <a:noFill/>
        </p:spPr>
        <p:txBody>
          <a:bodyPr wrap="square" lIns="45720" rIns="45720" tIns="27432" bIns="27432" anchor="t">
            <a:spAutoFit/>
          </a:bodyPr>
          <a:lstStyle/>
          <a:p>
            <a:pPr algn="l"/>
            <a:r>
              <a:rPr b="1" sz="2000" i="0">
                <a:solidFill>
                  <a:srgbClr val="D8DEF5"/>
                </a:solidFill>
                <a:latin typeface="Calibri"/>
              </a:rPr>
              <a:t>Prof Bongo Adi</a:t>
            </a:r>
          </a:p>
          <a:p>
            <a:pPr algn="l"/>
            <a:r>
              <a:rPr b="0" sz="2000" i="0">
                <a:solidFill>
                  <a:srgbClr val="D8DEF5"/>
                </a:solidFill>
                <a:latin typeface="Calibri"/>
              </a:rPr>
              <a:t>Lagos Business School, Pan-Atlantic University</a:t>
            </a:r>
          </a:p>
          <a:p>
            <a:pPr algn="l"/>
            <a:r>
              <a:rPr b="0" sz="2000" i="0">
                <a:solidFill>
                  <a:srgbClr val="D8DEF5"/>
                </a:solidFill>
                <a:latin typeface="Calibri"/>
              </a:rPr>
              <a:t>Phone / WhatsApp:  +234 706 164 8699</a:t>
            </a:r>
          </a:p>
          <a:p>
            <a:pPr algn="l"/>
            <a:r>
              <a:rPr b="0" sz="2000" i="0">
                <a:solidFill>
                  <a:srgbClr val="D8DEF5"/>
                </a:solidFill>
                <a:latin typeface="Calibri"/>
              </a:rPr>
              <a:t>Email:  badi@lbs.edu.ng</a:t>
            </a:r>
          </a:p>
          <a:p>
            <a:pPr algn="l"/>
            <a:r>
              <a:rPr b="0" sz="2000" i="0">
                <a:solidFill>
                  <a:srgbClr val="D8DEF5"/>
                </a:solidFill>
                <a:latin typeface="Calibri"/>
              </a:rPr>
              <a:t>Fulbright email:  bongo.adi@fulbrightmail.org</a:t>
            </a:r>
          </a:p>
        </p:txBody>
      </p:sp>
      <p:pic>
        <p:nvPicPr>
          <p:cNvPr id="12" name="Picture 11" descr="mipf_hex.png"/>
          <p:cNvPicPr>
            <a:picLocks noChangeAspect="1"/>
          </p:cNvPicPr>
          <p:nvPr/>
        </p:nvPicPr>
        <p:blipFill>
          <a:blip r:embed="rId5"/>
          <a:stretch>
            <a:fillRect/>
          </a:stretch>
        </p:blipFill>
        <p:spPr>
          <a:xfrm>
            <a:off x="9418320" y="1828800"/>
            <a:ext cx="2103120" cy="2103120"/>
          </a:xfrm>
          <a:prstGeom prst="rect">
            <a:avLst/>
          </a:prstGeom>
        </p:spPr>
      </p:pic>
      <p:pic>
        <p:nvPicPr>
          <p:cNvPr id="13" name="Picture 12" descr="bongo_ai_hex_dark_256.png"/>
          <p:cNvPicPr>
            <a:picLocks noChangeAspect="1"/>
          </p:cNvPicPr>
          <p:nvPr/>
        </p:nvPicPr>
        <p:blipFill>
          <a:blip r:embed="rId4"/>
          <a:stretch>
            <a:fillRect/>
          </a:stretch>
        </p:blipFill>
        <p:spPr>
          <a:xfrm>
            <a:off x="9692640" y="4114800"/>
            <a:ext cx="1554480" cy="1554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MIPF_Day7_Sizing_Returns_Deck (participant edition)</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