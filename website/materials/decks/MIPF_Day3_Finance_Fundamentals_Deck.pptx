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Equity IRR %</c:v>
                </c:pt>
              </c:strCache>
            </c:strRef>
          </c:tx>
          <c:spPr>
            <a:solidFill>
              <a:srgbClr val="141B4D"/>
            </a:solidFill>
          </c:spPr>
          <c:cat>
            <c:strRef>
              <c:f>Sheet1!$A$2:$A$5</c:f>
              <c:strCache>
                <c:ptCount val="4"/>
                <c:pt idx="0">
                  <c:v>0%</c:v>
                </c:pt>
                <c:pt idx="1">
                  <c:v>50%</c:v>
                </c:pt>
                <c:pt idx="2">
                  <c:v>70%</c:v>
                </c:pt>
                <c:pt idx="3">
                  <c:v>80%</c:v>
                </c:pt>
              </c:strCache>
            </c:strRef>
          </c:cat>
          <c:val>
            <c:numRef>
              <c:f>Sheet1!$B$2:$B$5</c:f>
              <c:numCache>
                <c:formatCode>General</c:formatCode>
                <c:ptCount val="4"/>
                <c:pt idx="0">
                  <c:v>9.6</c:v>
                </c:pt>
                <c:pt idx="1">
                  <c:v>12.1</c:v>
                </c:pt>
                <c:pt idx="2">
                  <c:v>15.2</c:v>
                </c:pt>
                <c:pt idx="3">
                  <c:v>19.0</c:v>
                </c:pt>
              </c:numCache>
            </c:numRef>
          </c:val>
        </c:ser>
        <c:ser>
          <c:idx val="1"/>
          <c:order val="1"/>
          <c:tx>
            <c:strRef>
              <c:f>Sheet1!$C$1</c:f>
              <c:strCache>
                <c:ptCount val="1"/>
                <c:pt idx="0">
                  <c:v>DSCR x (scaled ×10)</c:v>
                </c:pt>
              </c:strCache>
            </c:strRef>
          </c:tx>
          <c:spPr>
            <a:solidFill>
              <a:srgbClr val="D99A2B"/>
            </a:solidFill>
          </c:spPr>
          <c:cat>
            <c:strRef>
              <c:f>Sheet1!$A$2:$A$5</c:f>
              <c:strCache>
                <c:ptCount val="4"/>
                <c:pt idx="0">
                  <c:v>0%</c:v>
                </c:pt>
                <c:pt idx="1">
                  <c:v>50%</c:v>
                </c:pt>
                <c:pt idx="2">
                  <c:v>70%</c:v>
                </c:pt>
                <c:pt idx="3">
                  <c:v>80%</c:v>
                </c:pt>
              </c:strCache>
            </c:strRef>
          </c:cat>
          <c:val>
            <c:numRef>
              <c:f>Sheet1!$C$2:$C$5</c:f>
              <c:numCache>
                <c:formatCode>General</c:formatCode>
                <c:ptCount val="4"/>
                <c:pt idx="0">
                  <c:v>0</c:v>
                </c:pt>
                <c:pt idx="1">
                  <c:v>22.5</c:v>
                </c:pt>
                <c:pt idx="2">
                  <c:v>16.1</c:v>
                </c:pt>
                <c:pt idx="3">
                  <c:v>14.0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7EE"/>
              </a:solidFill>
            </a:ln>
          </c:spPr>
        </c:majorGridlines>
        <c:title>
          <c:tx>
            <c:rich>
              <a:bodyPr/>
              <a:lstStyle/>
              <a:p>
                <a:r>
                  <a:rPr sz="1100"/>
                  <a:t>% / x×10</a:t>
                </a:r>
              </a:p>
            </c:rich>
          </c:tx>
          <c:layout/>
          <c:overlay val="0"/>
        </c:title>
        <c:numFmt formatCode="0.0" sourceLinked="0"/>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Annuity</c:v>
                </c:pt>
              </c:strCache>
            </c:strRef>
          </c:tx>
          <c:spPr>
            <a:ln w="31750">
              <a:solidFill>
                <a:srgbClr val="141B4D"/>
              </a:solidFill>
            </a:ln>
          </c:spPr>
          <c:marker>
            <c:symbol val="none"/>
          </c:marker>
          <c:cat>
            <c:strRef>
              <c:f>Sheet1!$A$2:$A$6</c:f>
              <c:strCache>
                <c:ptCount val="5"/>
                <c:pt idx="0">
                  <c:v>Y1</c:v>
                </c:pt>
                <c:pt idx="1">
                  <c:v>Y2</c:v>
                </c:pt>
                <c:pt idx="2">
                  <c:v>Y3</c:v>
                </c:pt>
                <c:pt idx="3">
                  <c:v>Y4</c:v>
                </c:pt>
                <c:pt idx="4">
                  <c:v>Y5</c:v>
                </c:pt>
              </c:strCache>
            </c:strRef>
          </c:cat>
          <c:val>
            <c:numRef>
              <c:f>Sheet1!$B$2:$B$6</c:f>
              <c:numCache>
                <c:formatCode>General</c:formatCode>
                <c:ptCount val="5"/>
                <c:pt idx="0">
                  <c:v>263.8</c:v>
                </c:pt>
                <c:pt idx="1">
                  <c:v>263.8</c:v>
                </c:pt>
                <c:pt idx="2">
                  <c:v>263.8</c:v>
                </c:pt>
                <c:pt idx="3">
                  <c:v>263.8</c:v>
                </c:pt>
                <c:pt idx="4">
                  <c:v>263.8</c:v>
                </c:pt>
              </c:numCache>
            </c:numRef>
          </c:val>
          <c:smooth val="0"/>
        </c:ser>
        <c:ser>
          <c:idx val="1"/>
          <c:order val="1"/>
          <c:tx>
            <c:strRef>
              <c:f>Sheet1!$C$1</c:f>
              <c:strCache>
                <c:ptCount val="1"/>
                <c:pt idx="0">
                  <c:v>Straight line</c:v>
                </c:pt>
              </c:strCache>
            </c:strRef>
          </c:tx>
          <c:spPr>
            <a:ln w="31750">
              <a:solidFill>
                <a:srgbClr val="D99A2B"/>
              </a:solidFill>
            </a:ln>
          </c:spPr>
          <c:marker>
            <c:symbol val="none"/>
          </c:marker>
          <c:cat>
            <c:strRef>
              <c:f>Sheet1!$A$2:$A$6</c:f>
              <c:strCache>
                <c:ptCount val="5"/>
                <c:pt idx="0">
                  <c:v>Y1</c:v>
                </c:pt>
                <c:pt idx="1">
                  <c:v>Y2</c:v>
                </c:pt>
                <c:pt idx="2">
                  <c:v>Y3</c:v>
                </c:pt>
                <c:pt idx="3">
                  <c:v>Y4</c:v>
                </c:pt>
                <c:pt idx="4">
                  <c:v>Y5</c:v>
                </c:pt>
              </c:strCache>
            </c:strRef>
          </c:cat>
          <c:val>
            <c:numRef>
              <c:f>Sheet1!$C$2:$C$6</c:f>
              <c:numCache>
                <c:formatCode>General</c:formatCode>
                <c:ptCount val="5"/>
                <c:pt idx="0">
                  <c:v>300.0</c:v>
                </c:pt>
                <c:pt idx="1">
                  <c:v>280.0</c:v>
                </c:pt>
                <c:pt idx="2">
                  <c:v>260.0</c:v>
                </c:pt>
                <c:pt idx="3">
                  <c:v>240.0</c:v>
                </c:pt>
                <c:pt idx="4">
                  <c:v>220.0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Debt service</a:t>
                </a:r>
              </a:p>
            </c:rich>
          </c:tx>
          <c:layout/>
          <c:overlay val="0"/>
        </c:title>
        <c:numFmt formatCode="#,##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2.xml"/><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ounded Rectangle 1"/>
          <p:cNvSpPr/>
          <p:nvPr/>
        </p:nvSpPr>
        <p:spPr>
          <a:xfrm>
            <a:off x="457200" y="411480"/>
            <a:ext cx="32004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566928" y="502920"/>
            <a:ext cx="2516682" cy="868680"/>
          </a:xfrm>
          <a:prstGeom prst="rect">
            <a:avLst/>
          </a:prstGeom>
        </p:spPr>
      </p:pic>
      <p:pic>
        <p:nvPicPr>
          <p:cNvPr id="4" name="Picture 3" descr="mipf_hex.png"/>
          <p:cNvPicPr>
            <a:picLocks noChangeAspect="1"/>
          </p:cNvPicPr>
          <p:nvPr/>
        </p:nvPicPr>
        <p:blipFill>
          <a:blip r:embed="rId3"/>
          <a:stretch>
            <a:fillRect/>
          </a:stretch>
        </p:blipFill>
        <p:spPr>
          <a:xfrm>
            <a:off x="9144000" y="457200"/>
            <a:ext cx="2377440" cy="2377440"/>
          </a:xfrm>
          <a:prstGeom prst="rect">
            <a:avLst/>
          </a:prstGeom>
        </p:spPr>
      </p:pic>
      <p:pic>
        <p:nvPicPr>
          <p:cNvPr id="5" name="Picture 4" descr="bongo_ai_hex_dark_256.png"/>
          <p:cNvPicPr>
            <a:picLocks noChangeAspect="1"/>
          </p:cNvPicPr>
          <p:nvPr/>
        </p:nvPicPr>
        <p:blipFill>
          <a:blip r:embed="rId4"/>
          <a:stretch>
            <a:fillRect/>
          </a:stretch>
        </p:blipFill>
        <p:spPr>
          <a:xfrm>
            <a:off x="10607040" y="5074920"/>
            <a:ext cx="1188720" cy="1188720"/>
          </a:xfrm>
          <a:prstGeom prst="rect">
            <a:avLst/>
          </a:prstGeom>
        </p:spPr>
      </p:pic>
      <p:sp>
        <p:nvSpPr>
          <p:cNvPr id="6" name="TextBox 5"/>
          <p:cNvSpPr txBox="1"/>
          <p:nvPr/>
        </p:nvSpPr>
        <p:spPr>
          <a:xfrm>
            <a:off x="9144000" y="6035040"/>
            <a:ext cx="1463040" cy="274320"/>
          </a:xfrm>
          <a:prstGeom prst="rect">
            <a:avLst/>
          </a:prstGeom>
          <a:noFill/>
        </p:spPr>
        <p:txBody>
          <a:bodyPr wrap="square" lIns="45720" rIns="45720" tIns="27432" bIns="27432" anchor="t">
            <a:spAutoFit/>
          </a:bodyPr>
          <a:lstStyle/>
          <a:p>
            <a:pPr algn="r"/>
            <a:r>
              <a:rPr b="0" sz="1100" i="0">
                <a:solidFill>
                  <a:srgbClr val="C9D3F5"/>
                </a:solidFill>
                <a:latin typeface="Calibri"/>
              </a:rPr>
              <a:t>bongo.ai  ·  MIPF</a:t>
            </a:r>
          </a:p>
        </p:txBody>
      </p:sp>
      <p:sp>
        <p:nvSpPr>
          <p:cNvPr id="7" name="TextBox 6"/>
          <p:cNvSpPr txBox="1"/>
          <p:nvPr/>
        </p:nvSpPr>
        <p:spPr>
          <a:xfrm>
            <a:off x="548640" y="2331720"/>
            <a:ext cx="8412480" cy="365760"/>
          </a:xfrm>
          <a:prstGeom prst="rect">
            <a:avLst/>
          </a:prstGeom>
          <a:noFill/>
        </p:spPr>
        <p:txBody>
          <a:bodyPr wrap="square" lIns="45720" rIns="45720" tIns="27432" bIns="27432" anchor="t">
            <a:spAutoFit/>
          </a:bodyPr>
          <a:lstStyle/>
          <a:p>
            <a:pPr algn="l"/>
            <a:r>
              <a:rPr b="1" sz="1400" i="0">
                <a:solidFill>
                  <a:srgbClr val="D99A2B"/>
                </a:solidFill>
                <a:latin typeface="Calibri"/>
              </a:rPr>
              <a:t>MASTERING INFRASTRUCTURE AND PROJECT FINANCE BOOT CAMP</a:t>
            </a:r>
          </a:p>
        </p:txBody>
      </p:sp>
      <p:sp>
        <p:nvSpPr>
          <p:cNvPr id="8" name="TextBox 7"/>
          <p:cNvSpPr txBox="1"/>
          <p:nvPr/>
        </p:nvSpPr>
        <p:spPr>
          <a:xfrm>
            <a:off x="548640" y="2743200"/>
            <a:ext cx="8595360" cy="1737360"/>
          </a:xfrm>
          <a:prstGeom prst="rect">
            <a:avLst/>
          </a:prstGeom>
          <a:noFill/>
        </p:spPr>
        <p:txBody>
          <a:bodyPr wrap="square" lIns="45720" rIns="45720" tIns="27432" bIns="27432" anchor="t">
            <a:spAutoFit/>
          </a:bodyPr>
          <a:lstStyle/>
          <a:p>
            <a:pPr algn="l"/>
            <a:r>
              <a:rPr b="1" sz="3400" i="0">
                <a:solidFill>
                  <a:srgbClr val="FFFFFF"/>
                </a:solidFill>
                <a:latin typeface="Georgia"/>
              </a:rPr>
              <a:t>Finance Fundamentals of Project and Infrastructure Finance</a:t>
            </a:r>
          </a:p>
        </p:txBody>
      </p:sp>
      <p:sp>
        <p:nvSpPr>
          <p:cNvPr id="9" name="TextBox 8"/>
          <p:cNvSpPr txBox="1"/>
          <p:nvPr/>
        </p:nvSpPr>
        <p:spPr>
          <a:xfrm>
            <a:off x="548640" y="4526280"/>
            <a:ext cx="8595360" cy="822960"/>
          </a:xfrm>
          <a:prstGeom prst="rect">
            <a:avLst/>
          </a:prstGeom>
          <a:noFill/>
        </p:spPr>
        <p:txBody>
          <a:bodyPr wrap="square" lIns="45720" rIns="45720" tIns="27432" bIns="27432" anchor="t">
            <a:spAutoFit/>
          </a:bodyPr>
          <a:lstStyle/>
          <a:p>
            <a:pPr algn="l"/>
            <a:r>
              <a:rPr b="0" sz="1800" i="0">
                <a:solidFill>
                  <a:srgbClr val="D8DEF5"/>
                </a:solidFill>
                <a:latin typeface="Calibri"/>
              </a:rPr>
              <a:t>Bankability, contracts, capital structure, term loans, syndication, risk allocation and a first look at the financial model</a:t>
            </a:r>
          </a:p>
        </p:txBody>
      </p:sp>
      <p:sp>
        <p:nvSpPr>
          <p:cNvPr id="10" name="TextBox 9"/>
          <p:cNvSpPr txBox="1"/>
          <p:nvPr/>
        </p:nvSpPr>
        <p:spPr>
          <a:xfrm>
            <a:off x="548640" y="5669280"/>
            <a:ext cx="8595360" cy="457200"/>
          </a:xfrm>
          <a:prstGeom prst="rect">
            <a:avLst/>
          </a:prstGeom>
          <a:noFill/>
        </p:spPr>
        <p:txBody>
          <a:bodyPr wrap="square" lIns="45720" rIns="45720" tIns="27432" bIns="27432" anchor="t">
            <a:spAutoFit/>
          </a:bodyPr>
          <a:lstStyle/>
          <a:p>
            <a:pPr algn="l"/>
            <a:r>
              <a:rPr b="1" sz="1500" i="0">
                <a:solidFill>
                  <a:srgbClr val="FFFFFF"/>
                </a:solidFill>
                <a:latin typeface="Calibri"/>
              </a:rPr>
              <a:t>Friday 16th October 2026  |  Facilitator: Promise Godbold</a:t>
            </a:r>
          </a:p>
        </p:txBody>
      </p:sp>
      <p:sp>
        <p:nvSpPr>
          <p:cNvPr id="11" name="TextBox 10"/>
          <p:cNvSpPr txBox="1"/>
          <p:nvPr/>
        </p:nvSpPr>
        <p:spPr>
          <a:xfrm>
            <a:off x="548640" y="6053328"/>
            <a:ext cx="10058400" cy="274320"/>
          </a:xfrm>
          <a:prstGeom prst="rect">
            <a:avLst/>
          </a:prstGeom>
          <a:noFill/>
        </p:spPr>
        <p:txBody>
          <a:bodyPr wrap="square" lIns="45720" rIns="45720" tIns="27432" bIns="27432" anchor="t">
            <a:spAutoFit/>
          </a:bodyPr>
          <a:lstStyle/>
          <a:p>
            <a:pPr algn="l"/>
            <a:r>
              <a:rPr b="0" sz="1100" i="0">
                <a:solidFill>
                  <a:srgbClr val="C9D3F5"/>
                </a:solidFill>
                <a:latin typeface="Calibri"/>
              </a:rPr>
              <a:t>Prof Bongo Adi  |  +234 706 164 8699  |  badi@lbs.edu.ng  |  bongo.adi@fulbrightmail.org</a:t>
            </a:r>
          </a:p>
        </p:txBody>
      </p:sp>
      <p:sp>
        <p:nvSpPr>
          <p:cNvPr id="12" name="Rectangle 11"/>
          <p:cNvSpPr/>
          <p:nvPr/>
        </p:nvSpPr>
        <p:spPr>
          <a:xfrm>
            <a:off x="548640" y="5532120"/>
            <a:ext cx="219456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83080"/>
            <a:ext cx="8229600" cy="320040"/>
          </a:xfrm>
          <a:prstGeom prst="rect">
            <a:avLst/>
          </a:prstGeom>
          <a:noFill/>
        </p:spPr>
        <p:txBody>
          <a:bodyPr wrap="none">
            <a:spAutoFit/>
          </a:bodyPr>
          <a:lstStyle/>
          <a:p>
            <a:r>
              <a:rPr sz="1200" b="1">
                <a:solidFill>
                  <a:srgbClr val="D99A2B"/>
                </a:solidFill>
                <a:latin typeface="Calibri"/>
              </a:rPr>
              <a:t>PARTICIPANT EDITION  ·  exercise answers and facilitator notes are withheld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PLAN FOR THE DAY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Today's timetable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352796"/>
        </p:xfrm>
        <a:graphic>
          <a:graphicData uri="http://schemas.openxmlformats.org/drawingml/2006/table">
            <a:tbl>
              <a:tblPr firstRow="1" bandRow="1">
                <a:tableStyleId>{5C22544A-7EE6-4342-B048-85BDC9FD1C3A}</a:tableStyleId>
              </a:tblPr>
              <a:tblGrid>
                <a:gridCol w="1828800"/>
                <a:gridCol w="4754880"/>
                <a:gridCol w="4480560"/>
              </a:tblGrid>
              <a:tr h="347472">
                <a:tc>
                  <a:txBody>
                    <a:bodyPr wrap="square"/>
                    <a:lstStyle/>
                    <a:p>
                      <a:r>
                        <a:rPr b="1" sz="1200" i="0">
                          <a:solidFill>
                            <a:srgbClr val="FFFFFF"/>
                          </a:solidFill>
                          <a:latin typeface="Calibri"/>
                        </a:rPr>
                        <a:t>Time</a:t>
                      </a:r>
                    </a:p>
                  </a:txBody>
                  <a:tcPr marL="64008" marR="64008" marT="27432" marB="27432" anchor="ctr">
                    <a:solidFill>
                      <a:srgbClr val="141B4D"/>
                    </a:solidFill>
                  </a:tcPr>
                </a:tc>
                <a:tc>
                  <a:txBody>
                    <a:bodyPr wrap="square"/>
                    <a:lstStyle/>
                    <a:p>
                      <a:r>
                        <a:rPr b="1" sz="1200" i="0">
                          <a:solidFill>
                            <a:srgbClr val="FFFFFF"/>
                          </a:solidFill>
                          <a:latin typeface="Calibri"/>
                        </a:rPr>
                        <a:t>Session</a:t>
                      </a:r>
                    </a:p>
                  </a:txBody>
                  <a:tcPr marL="64008" marR="64008" marT="27432" marB="27432" anchor="ctr">
                    <a:solidFill>
                      <a:srgbClr val="141B4D"/>
                    </a:solidFill>
                  </a:tcPr>
                </a:tc>
                <a:tc>
                  <a:txBody>
                    <a:bodyPr wrap="square"/>
                    <a:lstStyle/>
                    <a:p>
                      <a:r>
                        <a:rPr b="1" sz="1200" i="0">
                          <a:solidFill>
                            <a:srgbClr val="FFFFFF"/>
                          </a:solidFill>
                          <a:latin typeface="Calibri"/>
                        </a:rPr>
                        <a:t>What participants do</a:t>
                      </a:r>
                    </a:p>
                  </a:txBody>
                  <a:tcPr marL="64008" marR="64008" marT="27432" marB="27432" anchor="ctr">
                    <a:solidFill>
                      <a:srgbClr val="141B4D"/>
                    </a:solidFill>
                  </a:tcPr>
                </a:tc>
              </a:tr>
              <a:tr h="490727">
                <a:tc>
                  <a:txBody>
                    <a:bodyPr wrap="square"/>
                    <a:lstStyle/>
                    <a:p>
                      <a:r>
                        <a:rPr b="1" sz="1200" i="0">
                          <a:solidFill>
                            <a:srgbClr val="1A2233"/>
                          </a:solidFill>
                          <a:latin typeface="Calibri"/>
                        </a:rPr>
                        <a:t>09.00 – 10.30</a:t>
                      </a:r>
                    </a:p>
                  </a:txBody>
                  <a:tcPr marL="64008" marR="64008" marT="27432" marB="27432" anchor="ctr">
                    <a:solidFill>
                      <a:srgbClr val="FFFFFF"/>
                    </a:solidFill>
                  </a:tcPr>
                </a:tc>
                <a:tc>
                  <a:txBody>
                    <a:bodyPr wrap="square"/>
                    <a:lstStyle/>
                    <a:p>
                      <a:r>
                        <a:rPr b="0" sz="1200" i="0">
                          <a:solidFill>
                            <a:srgbClr val="1A2233"/>
                          </a:solidFill>
                          <a:latin typeface="Calibri"/>
                        </a:rPr>
                        <a:t>Introduction to project finance: project contracts and bankability</a:t>
                      </a:r>
                    </a:p>
                  </a:txBody>
                  <a:tcPr marL="64008" marR="64008" marT="27432" marB="27432" anchor="ctr">
                    <a:solidFill>
                      <a:srgbClr val="FFFFFF"/>
                    </a:solidFill>
                  </a:tcPr>
                </a:tc>
                <a:tc>
                  <a:txBody>
                    <a:bodyPr wrap="square"/>
                    <a:lstStyle/>
                    <a:p>
                      <a:r>
                        <a:rPr b="0" sz="1200" i="0">
                          <a:solidFill>
                            <a:srgbClr val="1A2233"/>
                          </a:solidFill>
                          <a:latin typeface="Calibri"/>
                        </a:rPr>
                        <a:t>Test a project against a bankability checklist (Exercise 3.1)</a:t>
                      </a:r>
                    </a:p>
                  </a:txBody>
                  <a:tcPr marL="64008" marR="64008" marT="27432" marB="27432" anchor="ctr">
                    <a:solidFill>
                      <a:srgbClr val="FFFFFF"/>
                    </a:solidFill>
                  </a:tcPr>
                </a:tc>
              </a:tr>
              <a:tr h="347472">
                <a:tc>
                  <a:txBody>
                    <a:bodyPr wrap="square"/>
                    <a:lstStyle/>
                    <a:p>
                      <a:r>
                        <a:rPr b="1" sz="1200" i="0">
                          <a:solidFill>
                            <a:srgbClr val="1A2233"/>
                          </a:solidFill>
                          <a:latin typeface="Calibri"/>
                        </a:rPr>
                        <a:t>10.30 – 11.00</a:t>
                      </a:r>
                    </a:p>
                  </a:txBody>
                  <a:tcPr marL="64008" marR="64008" marT="27432" marB="27432" anchor="ctr">
                    <a:solidFill>
                      <a:srgbClr val="F3F6F9"/>
                    </a:solidFill>
                  </a:tcPr>
                </a:tc>
                <a:tc>
                  <a:txBody>
                    <a:bodyPr wrap="square"/>
                    <a:lstStyle/>
                    <a:p>
                      <a:r>
                        <a:rPr b="0" sz="1200" i="0">
                          <a:solidFill>
                            <a:srgbClr val="1A2233"/>
                          </a:solidFill>
                          <a:latin typeface="Calibri"/>
                        </a:rPr>
                        <a:t>Project capital structure</a:t>
                      </a:r>
                    </a:p>
                  </a:txBody>
                  <a:tcPr marL="64008" marR="64008" marT="27432" marB="27432" anchor="ctr">
                    <a:solidFill>
                      <a:srgbClr val="F3F6F9"/>
                    </a:solidFill>
                  </a:tcPr>
                </a:tc>
                <a:tc>
                  <a:txBody>
                    <a:bodyPr wrap="square"/>
                    <a:lstStyle/>
                    <a:p>
                      <a:r>
                        <a:rPr b="0" sz="1200" i="0">
                          <a:solidFill>
                            <a:srgbClr val="1A2233"/>
                          </a:solidFill>
                          <a:latin typeface="Calibri"/>
                        </a:rPr>
                        <a:t>Leverage example (Exercise 3.2)</a:t>
                      </a:r>
                    </a:p>
                  </a:txBody>
                  <a:tcPr marL="64008" marR="64008" marT="27432" marB="27432" anchor="ctr">
                    <a:solidFill>
                      <a:srgbClr val="F3F6F9"/>
                    </a:solidFill>
                  </a:tcPr>
                </a:tc>
              </a:tr>
              <a:tr h="347472">
                <a:tc>
                  <a:txBody>
                    <a:bodyPr wrap="square"/>
                    <a:lstStyle/>
                    <a:p>
                      <a:r>
                        <a:rPr b="1" sz="1200" i="0">
                          <a:solidFill>
                            <a:srgbClr val="1A2233"/>
                          </a:solidFill>
                          <a:latin typeface="Calibri"/>
                        </a:rPr>
                        <a:t>11.00 – 11.30</a:t>
                      </a:r>
                    </a:p>
                  </a:txBody>
                  <a:tcPr marL="64008" marR="64008" marT="27432" marB="27432" anchor="ctr">
                    <a:solidFill>
                      <a:srgbClr val="FFFFFF"/>
                    </a:solidFill>
                  </a:tcPr>
                </a:tc>
                <a:tc>
                  <a:txBody>
                    <a:bodyPr wrap="square"/>
                    <a:lstStyle/>
                    <a:p>
                      <a:r>
                        <a:rPr b="0" sz="1200" i="0">
                          <a:solidFill>
                            <a:srgbClr val="1A2233"/>
                          </a:solidFill>
                          <a:latin typeface="Calibri"/>
                        </a:rPr>
                        <a:t>Coffee break</a:t>
                      </a:r>
                    </a:p>
                  </a:txBody>
                  <a:tcPr marL="64008" marR="64008" marT="27432" marB="27432" anchor="ctr">
                    <a:solidFill>
                      <a:srgbClr val="FFFFFF"/>
                    </a:solidFill>
                  </a:tcPr>
                </a:tc>
                <a:tc>
                  <a:txBody>
                    <a:bodyPr wrap="square"/>
                    <a:lstStyle/>
                    <a:p/>
                  </a:txBody>
                  <a:tcPr marL="64008" marR="64008" marT="27432" marB="27432" anchor="ctr">
                    <a:solidFill>
                      <a:srgbClr val="FFFFFF"/>
                    </a:solidFill>
                  </a:tcPr>
                </a:tc>
              </a:tr>
              <a:tr h="490727">
                <a:tc>
                  <a:txBody>
                    <a:bodyPr wrap="square"/>
                    <a:lstStyle/>
                    <a:p>
                      <a:r>
                        <a:rPr b="1" sz="1200" i="0">
                          <a:solidFill>
                            <a:srgbClr val="1A2233"/>
                          </a:solidFill>
                          <a:latin typeface="Calibri"/>
                        </a:rPr>
                        <a:t>11.30 – 14.00</a:t>
                      </a:r>
                    </a:p>
                  </a:txBody>
                  <a:tcPr marL="64008" marR="64008" marT="27432" marB="27432" anchor="ctr">
                    <a:solidFill>
                      <a:srgbClr val="F3F6F9"/>
                    </a:solidFill>
                  </a:tcPr>
                </a:tc>
                <a:tc>
                  <a:txBody>
                    <a:bodyPr wrap="square"/>
                    <a:lstStyle/>
                    <a:p>
                      <a:r>
                        <a:rPr b="0" sz="1200" i="0">
                          <a:solidFill>
                            <a:srgbClr val="1A2233"/>
                          </a:solidFill>
                          <a:latin typeface="Calibri"/>
                        </a:rPr>
                        <a:t>Project finance term loans; syndication in project finance</a:t>
                      </a:r>
                    </a:p>
                  </a:txBody>
                  <a:tcPr marL="64008" marR="64008" marT="27432" marB="27432" anchor="ctr">
                    <a:solidFill>
                      <a:srgbClr val="F3F6F9"/>
                    </a:solidFill>
                  </a:tcPr>
                </a:tc>
                <a:tc>
                  <a:txBody>
                    <a:bodyPr wrap="square"/>
                    <a:lstStyle/>
                    <a:p>
                      <a:r>
                        <a:rPr b="0" sz="1200" i="0">
                          <a:solidFill>
                            <a:srgbClr val="1A2233"/>
                          </a:solidFill>
                          <a:latin typeface="Calibri"/>
                        </a:rPr>
                        <a:t>Build annuity, straight-line and sculpted schedules (Exercise 3.3); syndication walk-through</a:t>
                      </a:r>
                    </a:p>
                  </a:txBody>
                  <a:tcPr marL="64008" marR="64008" marT="27432" marB="27432" anchor="ctr">
                    <a:solidFill>
                      <a:srgbClr val="F3F6F9"/>
                    </a:solidFill>
                  </a:tcPr>
                </a:tc>
              </a:tr>
              <a:tr h="347472">
                <a:tc>
                  <a:txBody>
                    <a:bodyPr wrap="square"/>
                    <a:lstStyle/>
                    <a:p>
                      <a:r>
                        <a:rPr b="1" sz="1200" i="0">
                          <a:solidFill>
                            <a:srgbClr val="1A2233"/>
                          </a:solidFill>
                          <a:latin typeface="Calibri"/>
                        </a:rPr>
                        <a:t>14.00 – 14.45</a:t>
                      </a:r>
                    </a:p>
                  </a:txBody>
                  <a:tcPr marL="64008" marR="64008" marT="27432" marB="27432" anchor="ctr">
                    <a:solidFill>
                      <a:srgbClr val="FFFFFF"/>
                    </a:solidFill>
                  </a:tcPr>
                </a:tc>
                <a:tc>
                  <a:txBody>
                    <a:bodyPr wrap="square"/>
                    <a:lstStyle/>
                    <a:p>
                      <a:r>
                        <a:rPr b="0" sz="1200" i="0">
                          <a:solidFill>
                            <a:srgbClr val="1A2233"/>
                          </a:solidFill>
                          <a:latin typeface="Calibri"/>
                        </a:rPr>
                        <a:t>Lunch break</a:t>
                      </a:r>
                    </a:p>
                  </a:txBody>
                  <a:tcPr marL="64008" marR="64008" marT="27432" marB="27432" anchor="ctr">
                    <a:solidFill>
                      <a:srgbClr val="FFFFFF"/>
                    </a:solidFill>
                  </a:tcPr>
                </a:tc>
                <a:tc>
                  <a:txBody>
                    <a:bodyPr wrap="square"/>
                    <a:lstStyle/>
                    <a:p/>
                  </a:txBody>
                  <a:tcPr marL="64008" marR="64008" marT="27432" marB="27432" anchor="ctr">
                    <a:solidFill>
                      <a:srgbClr val="FFFFFF"/>
                    </a:solidFill>
                  </a:tcPr>
                </a:tc>
              </a:tr>
              <a:tr h="490727">
                <a:tc>
                  <a:txBody>
                    <a:bodyPr wrap="square"/>
                    <a:lstStyle/>
                    <a:p>
                      <a:r>
                        <a:rPr b="1" sz="1200" i="0">
                          <a:solidFill>
                            <a:srgbClr val="1A2233"/>
                          </a:solidFill>
                          <a:latin typeface="Calibri"/>
                        </a:rPr>
                        <a:t>14.45 – 16.30</a:t>
                      </a:r>
                    </a:p>
                  </a:txBody>
                  <a:tcPr marL="64008" marR="64008" marT="27432" marB="27432" anchor="ctr">
                    <a:solidFill>
                      <a:srgbClr val="F3F6F9"/>
                    </a:solidFill>
                  </a:tcPr>
                </a:tc>
                <a:tc>
                  <a:txBody>
                    <a:bodyPr wrap="square"/>
                    <a:lstStyle/>
                    <a:p>
                      <a:r>
                        <a:rPr b="0" sz="1200" i="0">
                          <a:solidFill>
                            <a:srgbClr val="1A2233"/>
                          </a:solidFill>
                          <a:latin typeface="Calibri"/>
                        </a:rPr>
                        <a:t>Risk allocation; general risks and mitigants; project finance risks</a:t>
                      </a:r>
                    </a:p>
                  </a:txBody>
                  <a:tcPr marL="64008" marR="64008" marT="27432" marB="27432" anchor="ctr">
                    <a:solidFill>
                      <a:srgbClr val="F3F6F9"/>
                    </a:solidFill>
                  </a:tcPr>
                </a:tc>
                <a:tc>
                  <a:txBody>
                    <a:bodyPr wrap="square"/>
                    <a:lstStyle/>
                    <a:p>
                      <a:r>
                        <a:rPr b="0" sz="1200" i="0">
                          <a:solidFill>
                            <a:srgbClr val="1A2233"/>
                          </a:solidFill>
                          <a:latin typeface="Calibri"/>
                        </a:rPr>
                        <a:t>Risk matrix; link risks to model inputs (Exercise 3.4)</a:t>
                      </a:r>
                    </a:p>
                  </a:txBody>
                  <a:tcPr marL="64008" marR="64008" marT="27432" marB="27432" anchor="ctr">
                    <a:solidFill>
                      <a:srgbClr val="F3F6F9"/>
                    </a:solidFill>
                  </a:tcPr>
                </a:tc>
              </a:tr>
              <a:tr h="490727">
                <a:tc>
                  <a:txBody>
                    <a:bodyPr wrap="square"/>
                    <a:lstStyle/>
                    <a:p>
                      <a:r>
                        <a:rPr b="1" sz="1200" i="0">
                          <a:solidFill>
                            <a:srgbClr val="1A2233"/>
                          </a:solidFill>
                          <a:latin typeface="Calibri"/>
                        </a:rPr>
                        <a:t>16.30 – 17.00</a:t>
                      </a:r>
                    </a:p>
                  </a:txBody>
                  <a:tcPr marL="64008" marR="64008" marT="27432" marB="27432" anchor="ctr">
                    <a:solidFill>
                      <a:srgbClr val="FFFFFF"/>
                    </a:solidFill>
                  </a:tcPr>
                </a:tc>
                <a:tc>
                  <a:txBody>
                    <a:bodyPr wrap="square"/>
                    <a:lstStyle/>
                    <a:p>
                      <a:r>
                        <a:rPr b="0" sz="1200" i="0">
                          <a:solidFill>
                            <a:srgbClr val="1A2233"/>
                          </a:solidFill>
                          <a:latin typeface="Calibri"/>
                        </a:rPr>
                        <a:t>Financial modelling in PF: preview of the TrainStat model</a:t>
                      </a:r>
                    </a:p>
                  </a:txBody>
                  <a:tcPr marL="64008" marR="64008" marT="27432" marB="27432" anchor="ctr">
                    <a:solidFill>
                      <a:srgbClr val="FFFFFF"/>
                    </a:solidFill>
                  </a:tcPr>
                </a:tc>
                <a:tc>
                  <a:txBody>
                    <a:bodyPr wrap="square"/>
                    <a:lstStyle/>
                    <a:p>
                      <a:r>
                        <a:rPr b="0" sz="1200" i="0">
                          <a:solidFill>
                            <a:srgbClr val="1A2233"/>
                          </a:solidFill>
                          <a:latin typeface="Calibri"/>
                        </a:rPr>
                        <a:t>Set up Excel; tour the workbook</a:t>
                      </a:r>
                    </a:p>
                  </a:txBody>
                  <a:tcPr marL="64008" marR="64008" marT="27432" marB="27432"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OUTCOMES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Learning outcomes for Day 3</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Define bankability and test a project against a checklist</a:t>
            </a:r>
          </a:p>
          <a:p>
            <a:pPr>
              <a:spcAft>
                <a:spcPts val="700"/>
              </a:spcAft>
            </a:pPr>
            <a:r>
              <a:rPr b="0" sz="2000" i="0">
                <a:solidFill>
                  <a:srgbClr val="1A2233"/>
                </a:solidFill>
                <a:latin typeface="Calibri"/>
              </a:rPr>
              <a:t>▪ Explain how each project contract supports lenders and what makes it 'bankable'</a:t>
            </a:r>
          </a:p>
          <a:p>
            <a:pPr>
              <a:spcAft>
                <a:spcPts val="700"/>
              </a:spcAft>
            </a:pPr>
            <a:r>
              <a:rPr b="0" sz="2000" i="0">
                <a:solidFill>
                  <a:srgbClr val="1A2233"/>
                </a:solidFill>
                <a:latin typeface="Calibri"/>
              </a:rPr>
              <a:t>▪ Calculate the effect of leverage on equity returns and explain the limits</a:t>
            </a:r>
          </a:p>
          <a:p>
            <a:pPr>
              <a:spcAft>
                <a:spcPts val="700"/>
              </a:spcAft>
            </a:pPr>
            <a:r>
              <a:rPr b="0" sz="2000" i="0">
                <a:solidFill>
                  <a:srgbClr val="1A2233"/>
                </a:solidFill>
                <a:latin typeface="Calibri"/>
              </a:rPr>
              <a:t>▪ Describe a term loan: tenor, grace, repayment profile, interest, fees and covenants; calculate annuity, straight-line and sculpted schedules</a:t>
            </a:r>
          </a:p>
          <a:p>
            <a:pPr>
              <a:spcAft>
                <a:spcPts val="700"/>
              </a:spcAft>
            </a:pPr>
            <a:r>
              <a:rPr b="0" sz="2000" i="0">
                <a:solidFill>
                  <a:srgbClr val="1A2233"/>
                </a:solidFill>
                <a:latin typeface="Calibri"/>
              </a:rPr>
              <a:t>▪ Explain how a syndicated loan is arranged and who does what</a:t>
            </a:r>
          </a:p>
          <a:p>
            <a:pPr>
              <a:spcAft>
                <a:spcPts val="700"/>
              </a:spcAft>
            </a:pPr>
            <a:r>
              <a:rPr b="0" sz="2000" i="0">
                <a:solidFill>
                  <a:srgbClr val="1A2233"/>
                </a:solidFill>
                <a:latin typeface="Calibri"/>
              </a:rPr>
              <a:t>▪ Build a risk matrix and link each risk to model inputs</a:t>
            </a:r>
          </a:p>
          <a:p>
            <a:pPr>
              <a:spcAft>
                <a:spcPts val="700"/>
              </a:spcAft>
            </a:pPr>
            <a:r>
              <a:rPr b="0" sz="2000" i="0">
                <a:solidFill>
                  <a:srgbClr val="1A2233"/>
                </a:solidFill>
                <a:latin typeface="Calibri"/>
              </a:rPr>
              <a:t>▪ Navigate the TrainStat workbook at a high level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09.00 – 10.30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1: Project contracts and bankability</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What makes lenders say yes.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Bankability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A project is bankable if lenders are willing to lend to it on acceptable terms. They will do so if they believe the project will generate predictable cash flow, that the main risks are allocated to those best able to bear them, and that they are protected if things go wrong.</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Predictable revenue (contracted, not speculative)</a:t>
            </a:r>
          </a:p>
          <a:p>
            <a:pPr algn="l"/>
            <a:r>
              <a:rPr b="0" sz="1600" i="0">
                <a:solidFill>
                  <a:srgbClr val="1A2233"/>
                </a:solidFill>
                <a:latin typeface="Calibri"/>
              </a:rPr>
              <a:t>Credible construction plan (fixed price, fixed date)</a:t>
            </a:r>
          </a:p>
          <a:p>
            <a:pPr algn="l"/>
            <a:r>
              <a:rPr b="0" sz="1600" i="0">
                <a:solidFill>
                  <a:srgbClr val="1A2233"/>
                </a:solidFill>
                <a:latin typeface="Calibri"/>
              </a:rPr>
              <a:t>Credit-worthy counterparties</a:t>
            </a:r>
          </a:p>
          <a:p>
            <a:pPr algn="l"/>
            <a:r>
              <a:rPr b="0" sz="1600" i="0">
                <a:solidFill>
                  <a:srgbClr val="1A2233"/>
                </a:solidFill>
                <a:latin typeface="Calibri"/>
              </a:rPr>
              <a:t>Adequate equity and sponsors with track records</a:t>
            </a:r>
          </a:p>
          <a:p>
            <a:pPr algn="l"/>
            <a:r>
              <a:rPr b="0" sz="1600" i="0">
                <a:solidFill>
                  <a:srgbClr val="1A2233"/>
                </a:solidFill>
                <a:latin typeface="Calibri"/>
              </a:rPr>
              <a:t>Security and legal protections (Day 2)</a:t>
            </a:r>
          </a:p>
          <a:p>
            <a:pPr algn="l"/>
            <a:r>
              <a:rPr b="0" sz="1600" i="0">
                <a:solidFill>
                  <a:srgbClr val="1A2233"/>
                </a:solidFill>
                <a:latin typeface="Calibri"/>
              </a:rPr>
              <a:t>Reasonable cover ratios (DSCR, LLCR)</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Bankability is not the same as being a good project: a good project with the wrong contracts is not financeable.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CHECKLIST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bankability checklist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74720"/>
        </p:xfrm>
        <a:graphic>
          <a:graphicData uri="http://schemas.openxmlformats.org/drawingml/2006/table">
            <a:tbl>
              <a:tblPr firstRow="1" bandRow="1">
                <a:tableStyleId>{5C22544A-7EE6-4342-B048-85BDC9FD1C3A}</a:tableStyleId>
              </a:tblPr>
              <a:tblGrid>
                <a:gridCol w="2286000"/>
                <a:gridCol w="4572000"/>
                <a:gridCol w="4206240"/>
              </a:tblGrid>
              <a:tr h="347472">
                <a:tc>
                  <a:txBody>
                    <a:bodyPr wrap="square"/>
                    <a:lstStyle/>
                    <a:p>
                      <a:r>
                        <a:rPr b="1" sz="1100" i="0">
                          <a:solidFill>
                            <a:srgbClr val="FFFFFF"/>
                          </a:solidFill>
                          <a:latin typeface="Calibri"/>
                        </a:rPr>
                        <a:t>Test</a:t>
                      </a:r>
                    </a:p>
                  </a:txBody>
                  <a:tcPr marL="64008" marR="64008" marT="27432" marB="27432" anchor="ctr">
                    <a:solidFill>
                      <a:srgbClr val="141B4D"/>
                    </a:solidFill>
                  </a:tcPr>
                </a:tc>
                <a:tc>
                  <a:txBody>
                    <a:bodyPr wrap="square"/>
                    <a:lstStyle/>
                    <a:p>
                      <a:r>
                        <a:rPr b="1" sz="1100" i="0">
                          <a:solidFill>
                            <a:srgbClr val="FFFFFF"/>
                          </a:solidFill>
                          <a:latin typeface="Calibri"/>
                        </a:rPr>
                        <a:t>Question</a:t>
                      </a:r>
                    </a:p>
                  </a:txBody>
                  <a:tcPr marL="64008" marR="64008" marT="27432" marB="27432" anchor="ctr">
                    <a:solidFill>
                      <a:srgbClr val="141B4D"/>
                    </a:solidFill>
                  </a:tcPr>
                </a:tc>
                <a:tc>
                  <a:txBody>
                    <a:bodyPr wrap="square"/>
                    <a:lstStyle/>
                    <a:p>
                      <a:r>
                        <a:rPr b="1" sz="1100" i="0">
                          <a:solidFill>
                            <a:srgbClr val="FFFFFF"/>
                          </a:solidFill>
                          <a:latin typeface="Calibri"/>
                        </a:rPr>
                        <a:t>Evidence</a:t>
                      </a:r>
                    </a:p>
                  </a:txBody>
                  <a:tcPr marL="64008" marR="64008" marT="27432" marB="27432" anchor="ctr">
                    <a:solidFill>
                      <a:srgbClr val="141B4D"/>
                    </a:solidFill>
                  </a:tcPr>
                </a:tc>
              </a:tr>
              <a:tr h="347472">
                <a:tc>
                  <a:txBody>
                    <a:bodyPr wrap="square"/>
                    <a:lstStyle/>
                    <a:p>
                      <a:r>
                        <a:rPr b="1" sz="1100" i="0">
                          <a:solidFill>
                            <a:srgbClr val="1A2233"/>
                          </a:solidFill>
                          <a:latin typeface="Calibri"/>
                        </a:rPr>
                        <a:t>Demand / revenue</a:t>
                      </a:r>
                    </a:p>
                  </a:txBody>
                  <a:tcPr marL="64008" marR="64008" marT="27432" marB="27432" anchor="ctr">
                    <a:solidFill>
                      <a:srgbClr val="FFFFFF"/>
                    </a:solidFill>
                  </a:tcPr>
                </a:tc>
                <a:tc>
                  <a:txBody>
                    <a:bodyPr wrap="square"/>
                    <a:lstStyle/>
                    <a:p>
                      <a:r>
                        <a:rPr b="0" sz="1100" i="0">
                          <a:solidFill>
                            <a:srgbClr val="1A2233"/>
                          </a:solidFill>
                          <a:latin typeface="Calibri"/>
                        </a:rPr>
                        <a:t>Is the revenue contracted or well evidenced?</a:t>
                      </a:r>
                    </a:p>
                  </a:txBody>
                  <a:tcPr marL="64008" marR="64008" marT="27432" marB="27432" anchor="ctr">
                    <a:solidFill>
                      <a:srgbClr val="FFFFFF"/>
                    </a:solidFill>
                  </a:tcPr>
                </a:tc>
                <a:tc>
                  <a:txBody>
                    <a:bodyPr wrap="square"/>
                    <a:lstStyle/>
                    <a:p>
                      <a:r>
                        <a:rPr b="0" sz="1100" i="0">
                          <a:solidFill>
                            <a:srgbClr val="1A2233"/>
                          </a:solidFill>
                          <a:latin typeface="Calibri"/>
                        </a:rPr>
                        <a:t>Offtake contract; traffic study; tariff approval</a:t>
                      </a:r>
                    </a:p>
                  </a:txBody>
                  <a:tcPr marL="64008" marR="64008" marT="27432" marB="27432" anchor="ctr">
                    <a:solidFill>
                      <a:srgbClr val="FFFFFF"/>
                    </a:solidFill>
                  </a:tcPr>
                </a:tc>
              </a:tr>
              <a:tr h="347472">
                <a:tc>
                  <a:txBody>
                    <a:bodyPr wrap="square"/>
                    <a:lstStyle/>
                    <a:p>
                      <a:r>
                        <a:rPr b="1" sz="1100" i="0">
                          <a:solidFill>
                            <a:srgbClr val="1A2233"/>
                          </a:solidFill>
                          <a:latin typeface="Calibri"/>
                        </a:rPr>
                        <a:t>Price</a:t>
                      </a:r>
                    </a:p>
                  </a:txBody>
                  <a:tcPr marL="64008" marR="64008" marT="27432" marB="27432" anchor="ctr">
                    <a:solidFill>
                      <a:srgbClr val="F3F6F9"/>
                    </a:solidFill>
                  </a:tcPr>
                </a:tc>
                <a:tc>
                  <a:txBody>
                    <a:bodyPr wrap="square"/>
                    <a:lstStyle/>
                    <a:p>
                      <a:r>
                        <a:rPr b="0" sz="1100" i="0">
                          <a:solidFill>
                            <a:srgbClr val="1A2233"/>
                          </a:solidFill>
                          <a:latin typeface="Calibri"/>
                        </a:rPr>
                        <a:t>Does the tariff cover costs, debt service and a return?</a:t>
                      </a:r>
                    </a:p>
                  </a:txBody>
                  <a:tcPr marL="64008" marR="64008" marT="27432" marB="27432" anchor="ctr">
                    <a:solidFill>
                      <a:srgbClr val="F3F6F9"/>
                    </a:solidFill>
                  </a:tcPr>
                </a:tc>
                <a:tc>
                  <a:txBody>
                    <a:bodyPr wrap="square"/>
                    <a:lstStyle/>
                    <a:p>
                      <a:r>
                        <a:rPr b="0" sz="1100" i="0">
                          <a:solidFill>
                            <a:srgbClr val="1A2233"/>
                          </a:solidFill>
                          <a:latin typeface="Calibri"/>
                        </a:rPr>
                        <a:t>Financial model; regulator approval</a:t>
                      </a:r>
                    </a:p>
                  </a:txBody>
                  <a:tcPr marL="64008" marR="64008" marT="27432" marB="27432" anchor="ctr">
                    <a:solidFill>
                      <a:srgbClr val="F3F6F9"/>
                    </a:solidFill>
                  </a:tcPr>
                </a:tc>
              </a:tr>
              <a:tr h="347472">
                <a:tc>
                  <a:txBody>
                    <a:bodyPr wrap="square"/>
                    <a:lstStyle/>
                    <a:p>
                      <a:r>
                        <a:rPr b="1" sz="1100" i="0">
                          <a:solidFill>
                            <a:srgbClr val="1A2233"/>
                          </a:solidFill>
                          <a:latin typeface="Calibri"/>
                        </a:rPr>
                        <a:t>Counterparty</a:t>
                      </a:r>
                    </a:p>
                  </a:txBody>
                  <a:tcPr marL="64008" marR="64008" marT="27432" marB="27432" anchor="ctr">
                    <a:solidFill>
                      <a:srgbClr val="FFFFFF"/>
                    </a:solidFill>
                  </a:tcPr>
                </a:tc>
                <a:tc>
                  <a:txBody>
                    <a:bodyPr wrap="square"/>
                    <a:lstStyle/>
                    <a:p>
                      <a:r>
                        <a:rPr b="0" sz="1100" i="0">
                          <a:solidFill>
                            <a:srgbClr val="1A2233"/>
                          </a:solidFill>
                          <a:latin typeface="Calibri"/>
                        </a:rPr>
                        <a:t>Can the offtaker pay?</a:t>
                      </a:r>
                    </a:p>
                  </a:txBody>
                  <a:tcPr marL="64008" marR="64008" marT="27432" marB="27432" anchor="ctr">
                    <a:solidFill>
                      <a:srgbClr val="FFFFFF"/>
                    </a:solidFill>
                  </a:tcPr>
                </a:tc>
                <a:tc>
                  <a:txBody>
                    <a:bodyPr wrap="square"/>
                    <a:lstStyle/>
                    <a:p>
                      <a:r>
                        <a:rPr b="0" sz="1100" i="0">
                          <a:solidFill>
                            <a:srgbClr val="1A2233"/>
                          </a:solidFill>
                          <a:latin typeface="Calibri"/>
                        </a:rPr>
                        <a:t>Credit rating; guarantee; letter of credit; escrow</a:t>
                      </a:r>
                    </a:p>
                  </a:txBody>
                  <a:tcPr marL="64008" marR="64008" marT="27432" marB="27432" anchor="ctr">
                    <a:solidFill>
                      <a:srgbClr val="FFFFFF"/>
                    </a:solidFill>
                  </a:tcPr>
                </a:tc>
              </a:tr>
              <a:tr h="347472">
                <a:tc>
                  <a:txBody>
                    <a:bodyPr wrap="square"/>
                    <a:lstStyle/>
                    <a:p>
                      <a:r>
                        <a:rPr b="1" sz="1100" i="0">
                          <a:solidFill>
                            <a:srgbClr val="1A2233"/>
                          </a:solidFill>
                          <a:latin typeface="Calibri"/>
                        </a:rPr>
                        <a:t>Construction</a:t>
                      </a:r>
                    </a:p>
                  </a:txBody>
                  <a:tcPr marL="64008" marR="64008" marT="27432" marB="27432" anchor="ctr">
                    <a:solidFill>
                      <a:srgbClr val="F3F6F9"/>
                    </a:solidFill>
                  </a:tcPr>
                </a:tc>
                <a:tc>
                  <a:txBody>
                    <a:bodyPr wrap="square"/>
                    <a:lstStyle/>
                    <a:p>
                      <a:r>
                        <a:rPr b="0" sz="1100" i="0">
                          <a:solidFill>
                            <a:srgbClr val="1A2233"/>
                          </a:solidFill>
                          <a:latin typeface="Calibri"/>
                        </a:rPr>
                        <a:t>Fixed price, fixed date, credible contractor?</a:t>
                      </a:r>
                    </a:p>
                  </a:txBody>
                  <a:tcPr marL="64008" marR="64008" marT="27432" marB="27432" anchor="ctr">
                    <a:solidFill>
                      <a:srgbClr val="F3F6F9"/>
                    </a:solidFill>
                  </a:tcPr>
                </a:tc>
                <a:tc>
                  <a:txBody>
                    <a:bodyPr wrap="square"/>
                    <a:lstStyle/>
                    <a:p>
                      <a:r>
                        <a:rPr b="0" sz="1100" i="0">
                          <a:solidFill>
                            <a:srgbClr val="1A2233"/>
                          </a:solidFill>
                          <a:latin typeface="Calibri"/>
                        </a:rPr>
                        <a:t>EPC contract; performance bond; liquidated damages</a:t>
                      </a:r>
                    </a:p>
                  </a:txBody>
                  <a:tcPr marL="64008" marR="64008" marT="27432" marB="27432" anchor="ctr">
                    <a:solidFill>
                      <a:srgbClr val="F3F6F9"/>
                    </a:solidFill>
                  </a:tcPr>
                </a:tc>
              </a:tr>
              <a:tr h="347472">
                <a:tc>
                  <a:txBody>
                    <a:bodyPr wrap="square"/>
                    <a:lstStyle/>
                    <a:p>
                      <a:r>
                        <a:rPr b="1" sz="1100" i="0">
                          <a:solidFill>
                            <a:srgbClr val="1A2233"/>
                          </a:solidFill>
                          <a:latin typeface="Calibri"/>
                        </a:rPr>
                        <a:t>Operations</a:t>
                      </a:r>
                    </a:p>
                  </a:txBody>
                  <a:tcPr marL="64008" marR="64008" marT="27432" marB="27432" anchor="ctr">
                    <a:solidFill>
                      <a:srgbClr val="FFFFFF"/>
                    </a:solidFill>
                  </a:tcPr>
                </a:tc>
                <a:tc>
                  <a:txBody>
                    <a:bodyPr wrap="square"/>
                    <a:lstStyle/>
                    <a:p>
                      <a:r>
                        <a:rPr b="0" sz="1100" i="0">
                          <a:solidFill>
                            <a:srgbClr val="1A2233"/>
                          </a:solidFill>
                          <a:latin typeface="Calibri"/>
                        </a:rPr>
                        <a:t>Experienced operator; maintenance plan?</a:t>
                      </a:r>
                    </a:p>
                  </a:txBody>
                  <a:tcPr marL="64008" marR="64008" marT="27432" marB="27432" anchor="ctr">
                    <a:solidFill>
                      <a:srgbClr val="FFFFFF"/>
                    </a:solidFill>
                  </a:tcPr>
                </a:tc>
                <a:tc>
                  <a:txBody>
                    <a:bodyPr wrap="square"/>
                    <a:lstStyle/>
                    <a:p>
                      <a:r>
                        <a:rPr b="0" sz="1100" i="0">
                          <a:solidFill>
                            <a:srgbClr val="1A2233"/>
                          </a:solidFill>
                          <a:latin typeface="Calibri"/>
                        </a:rPr>
                        <a:t>O&amp;M agreement; track record</a:t>
                      </a:r>
                    </a:p>
                  </a:txBody>
                  <a:tcPr marL="64008" marR="64008" marT="27432" marB="27432" anchor="ctr">
                    <a:solidFill>
                      <a:srgbClr val="FFFFFF"/>
                    </a:solidFill>
                  </a:tcPr>
                </a:tc>
              </a:tr>
              <a:tr h="347472">
                <a:tc>
                  <a:txBody>
                    <a:bodyPr wrap="square"/>
                    <a:lstStyle/>
                    <a:p>
                      <a:r>
                        <a:rPr b="1" sz="1100" i="0">
                          <a:solidFill>
                            <a:srgbClr val="1A2233"/>
                          </a:solidFill>
                          <a:latin typeface="Calibri"/>
                        </a:rPr>
                        <a:t>Inputs</a:t>
                      </a:r>
                    </a:p>
                  </a:txBody>
                  <a:tcPr marL="64008" marR="64008" marT="27432" marB="27432" anchor="ctr">
                    <a:solidFill>
                      <a:srgbClr val="F3F6F9"/>
                    </a:solidFill>
                  </a:tcPr>
                </a:tc>
                <a:tc>
                  <a:txBody>
                    <a:bodyPr wrap="square"/>
                    <a:lstStyle/>
                    <a:p>
                      <a:r>
                        <a:rPr b="0" sz="1100" i="0">
                          <a:solidFill>
                            <a:srgbClr val="1A2233"/>
                          </a:solidFill>
                          <a:latin typeface="Calibri"/>
                        </a:rPr>
                        <a:t>Secure supply at stable price?</a:t>
                      </a:r>
                    </a:p>
                  </a:txBody>
                  <a:tcPr marL="64008" marR="64008" marT="27432" marB="27432" anchor="ctr">
                    <a:solidFill>
                      <a:srgbClr val="F3F6F9"/>
                    </a:solidFill>
                  </a:tcPr>
                </a:tc>
                <a:tc>
                  <a:txBody>
                    <a:bodyPr wrap="square"/>
                    <a:lstStyle/>
                    <a:p>
                      <a:r>
                        <a:rPr b="0" sz="1100" i="0">
                          <a:solidFill>
                            <a:srgbClr val="1A2233"/>
                          </a:solidFill>
                          <a:latin typeface="Calibri"/>
                        </a:rPr>
                        <a:t>Supply agreement</a:t>
                      </a:r>
                    </a:p>
                  </a:txBody>
                  <a:tcPr marL="64008" marR="64008" marT="27432" marB="27432" anchor="ctr">
                    <a:solidFill>
                      <a:srgbClr val="F3F6F9"/>
                    </a:solidFill>
                  </a:tcPr>
                </a:tc>
              </a:tr>
              <a:tr h="347472">
                <a:tc>
                  <a:txBody>
                    <a:bodyPr wrap="square"/>
                    <a:lstStyle/>
                    <a:p>
                      <a:r>
                        <a:rPr b="1" sz="1100" i="0">
                          <a:solidFill>
                            <a:srgbClr val="1A2233"/>
                          </a:solidFill>
                          <a:latin typeface="Calibri"/>
                        </a:rPr>
                        <a:t>Sponsors and equity</a:t>
                      </a:r>
                    </a:p>
                  </a:txBody>
                  <a:tcPr marL="64008" marR="64008" marT="27432" marB="27432" anchor="ctr">
                    <a:solidFill>
                      <a:srgbClr val="FFFFFF"/>
                    </a:solidFill>
                  </a:tcPr>
                </a:tc>
                <a:tc>
                  <a:txBody>
                    <a:bodyPr wrap="square"/>
                    <a:lstStyle/>
                    <a:p>
                      <a:r>
                        <a:rPr b="0" sz="1100" i="0">
                          <a:solidFill>
                            <a:srgbClr val="1A2233"/>
                          </a:solidFill>
                          <a:latin typeface="Calibri"/>
                        </a:rPr>
                        <a:t>Skin in the game?</a:t>
                      </a:r>
                    </a:p>
                  </a:txBody>
                  <a:tcPr marL="64008" marR="64008" marT="27432" marB="27432" anchor="ctr">
                    <a:solidFill>
                      <a:srgbClr val="FFFFFF"/>
                    </a:solidFill>
                  </a:tcPr>
                </a:tc>
                <a:tc>
                  <a:txBody>
                    <a:bodyPr wrap="square"/>
                    <a:lstStyle/>
                    <a:p>
                      <a:r>
                        <a:rPr b="0" sz="1100" i="0">
                          <a:solidFill>
                            <a:srgbClr val="1A2233"/>
                          </a:solidFill>
                          <a:latin typeface="Calibri"/>
                        </a:rPr>
                        <a:t>Equity commitment; completion guarantee</a:t>
                      </a:r>
                    </a:p>
                  </a:txBody>
                  <a:tcPr marL="64008" marR="64008" marT="27432" marB="27432" anchor="ctr">
                    <a:solidFill>
                      <a:srgbClr val="FFFFFF"/>
                    </a:solidFill>
                  </a:tcPr>
                </a:tc>
              </a:tr>
              <a:tr h="347472">
                <a:tc>
                  <a:txBody>
                    <a:bodyPr wrap="square"/>
                    <a:lstStyle/>
                    <a:p>
                      <a:r>
                        <a:rPr b="1" sz="1100" i="0">
                          <a:solidFill>
                            <a:srgbClr val="1A2233"/>
                          </a:solidFill>
                          <a:latin typeface="Calibri"/>
                        </a:rPr>
                        <a:t>Legal and permits</a:t>
                      </a:r>
                    </a:p>
                  </a:txBody>
                  <a:tcPr marL="64008" marR="64008" marT="27432" marB="27432" anchor="ctr">
                    <a:solidFill>
                      <a:srgbClr val="F3F6F9"/>
                    </a:solidFill>
                  </a:tcPr>
                </a:tc>
                <a:tc>
                  <a:txBody>
                    <a:bodyPr wrap="square"/>
                    <a:lstStyle/>
                    <a:p>
                      <a:r>
                        <a:rPr b="0" sz="1100" i="0">
                          <a:solidFill>
                            <a:srgbClr val="1A2233"/>
                          </a:solidFill>
                          <a:latin typeface="Calibri"/>
                        </a:rPr>
                        <a:t>Rights, licences and enforceability?</a:t>
                      </a:r>
                    </a:p>
                  </a:txBody>
                  <a:tcPr marL="64008" marR="64008" marT="27432" marB="27432" anchor="ctr">
                    <a:solidFill>
                      <a:srgbClr val="F3F6F9"/>
                    </a:solidFill>
                  </a:tcPr>
                </a:tc>
                <a:tc>
                  <a:txBody>
                    <a:bodyPr wrap="square"/>
                    <a:lstStyle/>
                    <a:p>
                      <a:r>
                        <a:rPr b="0" sz="1100" i="0">
                          <a:solidFill>
                            <a:srgbClr val="1A2233"/>
                          </a:solidFill>
                          <a:latin typeface="Calibri"/>
                        </a:rPr>
                        <a:t>Legal due diligence (Day 2)</a:t>
                      </a:r>
                    </a:p>
                  </a:txBody>
                  <a:tcPr marL="64008" marR="64008" marT="27432" marB="27432" anchor="ctr">
                    <a:solidFill>
                      <a:srgbClr val="F3F6F9"/>
                    </a:solidFill>
                  </a:tcPr>
                </a:tc>
              </a:tr>
              <a:tr h="347472">
                <a:tc>
                  <a:txBody>
                    <a:bodyPr wrap="square"/>
                    <a:lstStyle/>
                    <a:p>
                      <a:r>
                        <a:rPr b="1" sz="1100" i="0">
                          <a:solidFill>
                            <a:srgbClr val="1A2233"/>
                          </a:solidFill>
                          <a:latin typeface="Calibri"/>
                        </a:rPr>
                        <a:t>Financial</a:t>
                      </a:r>
                    </a:p>
                  </a:txBody>
                  <a:tcPr marL="64008" marR="64008" marT="27432" marB="27432" anchor="ctr">
                    <a:solidFill>
                      <a:srgbClr val="FFFFFF"/>
                    </a:solidFill>
                  </a:tcPr>
                </a:tc>
                <a:tc>
                  <a:txBody>
                    <a:bodyPr wrap="square"/>
                    <a:lstStyle/>
                    <a:p>
                      <a:r>
                        <a:rPr b="0" sz="1100" i="0">
                          <a:solidFill>
                            <a:srgbClr val="1A2233"/>
                          </a:solidFill>
                          <a:latin typeface="Calibri"/>
                        </a:rPr>
                        <a:t>Do the numbers meet lender tests?</a:t>
                      </a:r>
                    </a:p>
                  </a:txBody>
                  <a:tcPr marL="64008" marR="64008" marT="27432" marB="27432" anchor="ctr">
                    <a:solidFill>
                      <a:srgbClr val="FFFFFF"/>
                    </a:solidFill>
                  </a:tcPr>
                </a:tc>
                <a:tc>
                  <a:txBody>
                    <a:bodyPr wrap="square"/>
                    <a:lstStyle/>
                    <a:p>
                      <a:r>
                        <a:rPr b="0" sz="1100" i="0">
                          <a:solidFill>
                            <a:srgbClr val="1A2233"/>
                          </a:solidFill>
                          <a:latin typeface="Calibri"/>
                        </a:rPr>
                        <a:t>DSCR, LLCR, gearing</a:t>
                      </a:r>
                    </a:p>
                  </a:txBody>
                  <a:tcPr marL="64008" marR="64008"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REVENUE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Revenue contract types and what they mean for lenders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06370"/>
        </p:xfrm>
        <a:graphic>
          <a:graphicData uri="http://schemas.openxmlformats.org/drawingml/2006/table">
            <a:tbl>
              <a:tblPr firstRow="1" bandRow="1">
                <a:tableStyleId>{5C22544A-7EE6-4342-B048-85BDC9FD1C3A}</a:tableStyleId>
              </a:tblPr>
              <a:tblGrid>
                <a:gridCol w="2651760"/>
                <a:gridCol w="4023360"/>
                <a:gridCol w="2286000"/>
                <a:gridCol w="2103120"/>
              </a:tblGrid>
              <a:tr h="411480">
                <a:tc>
                  <a:txBody>
                    <a:bodyPr wrap="square"/>
                    <a:lstStyle/>
                    <a:p>
                      <a:r>
                        <a:rPr b="1" sz="1100" i="0">
                          <a:solidFill>
                            <a:srgbClr val="FFFFFF"/>
                          </a:solidFill>
                          <a:latin typeface="Calibri"/>
                        </a:rPr>
                        <a:t>Type</a:t>
                      </a:r>
                    </a:p>
                  </a:txBody>
                  <a:tcPr marL="64008" marR="64008" marT="27432" marB="27432" anchor="ctr">
                    <a:solidFill>
                      <a:srgbClr val="141B4D"/>
                    </a:solidFill>
                  </a:tcPr>
                </a:tc>
                <a:tc>
                  <a:txBody>
                    <a:bodyPr wrap="square"/>
                    <a:lstStyle/>
                    <a:p>
                      <a:r>
                        <a:rPr b="1" sz="1100" i="0">
                          <a:solidFill>
                            <a:srgbClr val="FFFFFF"/>
                          </a:solidFill>
                          <a:latin typeface="Calibri"/>
                        </a:rPr>
                        <a:t>How revenue works</a:t>
                      </a:r>
                    </a:p>
                  </a:txBody>
                  <a:tcPr marL="64008" marR="64008" marT="27432" marB="27432" anchor="ctr">
                    <a:solidFill>
                      <a:srgbClr val="141B4D"/>
                    </a:solidFill>
                  </a:tcPr>
                </a:tc>
                <a:tc>
                  <a:txBody>
                    <a:bodyPr wrap="square"/>
                    <a:lstStyle/>
                    <a:p>
                      <a:r>
                        <a:rPr b="1" sz="1100" i="0">
                          <a:solidFill>
                            <a:srgbClr val="FFFFFF"/>
                          </a:solidFill>
                          <a:latin typeface="Calibri"/>
                        </a:rPr>
                        <a:t>Who bears demand risk</a:t>
                      </a:r>
                    </a:p>
                  </a:txBody>
                  <a:tcPr marL="64008" marR="64008" marT="27432" marB="27432" anchor="ctr">
                    <a:solidFill>
                      <a:srgbClr val="141B4D"/>
                    </a:solidFill>
                  </a:tcPr>
                </a:tc>
                <a:tc>
                  <a:txBody>
                    <a:bodyPr wrap="square"/>
                    <a:lstStyle/>
                    <a:p>
                      <a:r>
                        <a:rPr b="1" sz="1100" i="0">
                          <a:solidFill>
                            <a:srgbClr val="FFFFFF"/>
                          </a:solidFill>
                          <a:latin typeface="Calibri"/>
                        </a:rPr>
                        <a:t>Lender comfort</a:t>
                      </a:r>
                    </a:p>
                  </a:txBody>
                  <a:tcPr marL="64008" marR="64008" marT="27432" marB="27432" anchor="ctr">
                    <a:solidFill>
                      <a:srgbClr val="141B4D"/>
                    </a:solidFill>
                  </a:tcPr>
                </a:tc>
              </a:tr>
              <a:tr h="458978">
                <a:tc>
                  <a:txBody>
                    <a:bodyPr wrap="square"/>
                    <a:lstStyle/>
                    <a:p>
                      <a:r>
                        <a:rPr b="1" sz="1100" i="0">
                          <a:solidFill>
                            <a:srgbClr val="1A2233"/>
                          </a:solidFill>
                          <a:latin typeface="Calibri"/>
                        </a:rPr>
                        <a:t>Take-or-pay offtake</a:t>
                      </a:r>
                    </a:p>
                  </a:txBody>
                  <a:tcPr marL="64008" marR="64008" marT="27432" marB="27432" anchor="ctr">
                    <a:solidFill>
                      <a:srgbClr val="FFFFFF"/>
                    </a:solidFill>
                  </a:tcPr>
                </a:tc>
                <a:tc>
                  <a:txBody>
                    <a:bodyPr wrap="square"/>
                    <a:lstStyle/>
                    <a:p>
                      <a:r>
                        <a:rPr b="0" sz="1100" i="0">
                          <a:solidFill>
                            <a:srgbClr val="1A2233"/>
                          </a:solidFill>
                          <a:latin typeface="Calibri"/>
                        </a:rPr>
                        <a:t>Offtaker pays for capacity or a minimum quantity whether or not it takes the output</a:t>
                      </a:r>
                    </a:p>
                  </a:txBody>
                  <a:tcPr marL="64008" marR="64008" marT="27432" marB="27432" anchor="ctr">
                    <a:solidFill>
                      <a:srgbClr val="FFFFFF"/>
                    </a:solidFill>
                  </a:tcPr>
                </a:tc>
                <a:tc>
                  <a:txBody>
                    <a:bodyPr wrap="square"/>
                    <a:lstStyle/>
                    <a:p>
                      <a:r>
                        <a:rPr b="0" sz="1100" i="0">
                          <a:solidFill>
                            <a:srgbClr val="1A2233"/>
                          </a:solidFill>
                          <a:latin typeface="Calibri"/>
                        </a:rPr>
                        <a:t>Offtaker</a:t>
                      </a:r>
                    </a:p>
                  </a:txBody>
                  <a:tcPr marL="64008" marR="64008" marT="27432" marB="27432" anchor="ctr">
                    <a:solidFill>
                      <a:srgbClr val="FFFFFF"/>
                    </a:solidFill>
                  </a:tcPr>
                </a:tc>
                <a:tc>
                  <a:txBody>
                    <a:bodyPr wrap="square"/>
                    <a:lstStyle/>
                    <a:p>
                      <a:r>
                        <a:rPr b="0" sz="1100" i="0">
                          <a:solidFill>
                            <a:srgbClr val="1A2233"/>
                          </a:solidFill>
                          <a:latin typeface="Calibri"/>
                        </a:rPr>
                        <a:t>High</a:t>
                      </a:r>
                    </a:p>
                  </a:txBody>
                  <a:tcPr marL="64008" marR="64008" marT="27432" marB="27432" anchor="ctr">
                    <a:solidFill>
                      <a:srgbClr val="FFFFFF"/>
                    </a:solidFill>
                  </a:tcPr>
                </a:tc>
              </a:tr>
              <a:tr h="458978">
                <a:tc>
                  <a:txBody>
                    <a:bodyPr wrap="square"/>
                    <a:lstStyle/>
                    <a:p>
                      <a:r>
                        <a:rPr b="1" sz="1100" i="0">
                          <a:solidFill>
                            <a:srgbClr val="1A2233"/>
                          </a:solidFill>
                          <a:latin typeface="Calibri"/>
                        </a:rPr>
                        <a:t>Availability payment (PPP)</a:t>
                      </a:r>
                    </a:p>
                  </a:txBody>
                  <a:tcPr marL="64008" marR="64008" marT="27432" marB="27432" anchor="ctr">
                    <a:solidFill>
                      <a:srgbClr val="F3F6F9"/>
                    </a:solidFill>
                  </a:tcPr>
                </a:tc>
                <a:tc>
                  <a:txBody>
                    <a:bodyPr wrap="square"/>
                    <a:lstStyle/>
                    <a:p>
                      <a:r>
                        <a:rPr b="0" sz="1100" i="0">
                          <a:solidFill>
                            <a:srgbClr val="1A2233"/>
                          </a:solidFill>
                          <a:latin typeface="Calibri"/>
                        </a:rPr>
                        <a:t>Government pays when the asset is available to a standard</a:t>
                      </a:r>
                    </a:p>
                  </a:txBody>
                  <a:tcPr marL="64008" marR="64008" marT="27432" marB="27432" anchor="ctr">
                    <a:solidFill>
                      <a:srgbClr val="F3F6F9"/>
                    </a:solidFill>
                  </a:tcPr>
                </a:tc>
                <a:tc>
                  <a:txBody>
                    <a:bodyPr wrap="square"/>
                    <a:lstStyle/>
                    <a:p>
                      <a:r>
                        <a:rPr b="0" sz="1100" i="0">
                          <a:solidFill>
                            <a:srgbClr val="1A2233"/>
                          </a:solidFill>
                          <a:latin typeface="Calibri"/>
                        </a:rPr>
                        <a:t>Government</a:t>
                      </a:r>
                    </a:p>
                  </a:txBody>
                  <a:tcPr marL="64008" marR="64008" marT="27432" marB="27432" anchor="ctr">
                    <a:solidFill>
                      <a:srgbClr val="F3F6F9"/>
                    </a:solidFill>
                  </a:tcPr>
                </a:tc>
                <a:tc>
                  <a:txBody>
                    <a:bodyPr wrap="square"/>
                    <a:lstStyle/>
                    <a:p>
                      <a:r>
                        <a:rPr b="0" sz="1100" i="0">
                          <a:solidFill>
                            <a:srgbClr val="1A2233"/>
                          </a:solidFill>
                          <a:latin typeface="Calibri"/>
                        </a:rPr>
                        <a:t>High</a:t>
                      </a:r>
                    </a:p>
                  </a:txBody>
                  <a:tcPr marL="64008" marR="64008" marT="27432" marB="27432" anchor="ctr">
                    <a:solidFill>
                      <a:srgbClr val="F3F6F9"/>
                    </a:solidFill>
                  </a:tcPr>
                </a:tc>
              </a:tr>
              <a:tr h="458978">
                <a:tc>
                  <a:txBody>
                    <a:bodyPr wrap="square"/>
                    <a:lstStyle/>
                    <a:p>
                      <a:r>
                        <a:rPr b="1" sz="1100" i="0">
                          <a:solidFill>
                            <a:srgbClr val="1A2233"/>
                          </a:solidFill>
                          <a:latin typeface="Calibri"/>
                        </a:rPr>
                        <a:t>Shadow toll / minimum revenue guarantee</a:t>
                      </a:r>
                    </a:p>
                  </a:txBody>
                  <a:tcPr marL="64008" marR="64008" marT="27432" marB="27432" anchor="ctr">
                    <a:solidFill>
                      <a:srgbClr val="FFFFFF"/>
                    </a:solidFill>
                  </a:tcPr>
                </a:tc>
                <a:tc>
                  <a:txBody>
                    <a:bodyPr wrap="square"/>
                    <a:lstStyle/>
                    <a:p>
                      <a:r>
                        <a:rPr b="0" sz="1100" i="0">
                          <a:solidFill>
                            <a:srgbClr val="1A2233"/>
                          </a:solidFill>
                          <a:latin typeface="Calibri"/>
                        </a:rPr>
                        <a:t>Government tops up if usage is low</a:t>
                      </a:r>
                    </a:p>
                  </a:txBody>
                  <a:tcPr marL="64008" marR="64008" marT="27432" marB="27432" anchor="ctr">
                    <a:solidFill>
                      <a:srgbClr val="FFFFFF"/>
                    </a:solidFill>
                  </a:tcPr>
                </a:tc>
                <a:tc>
                  <a:txBody>
                    <a:bodyPr wrap="square"/>
                    <a:lstStyle/>
                    <a:p>
                      <a:r>
                        <a:rPr b="0" sz="1100" i="0">
                          <a:solidFill>
                            <a:srgbClr val="1A2233"/>
                          </a:solidFill>
                          <a:latin typeface="Calibri"/>
                        </a:rPr>
                        <a:t>Shared</a:t>
                      </a:r>
                    </a:p>
                  </a:txBody>
                  <a:tcPr marL="64008" marR="64008" marT="27432" marB="27432" anchor="ctr">
                    <a:solidFill>
                      <a:srgbClr val="FFFFFF"/>
                    </a:solidFill>
                  </a:tcPr>
                </a:tc>
                <a:tc>
                  <a:txBody>
                    <a:bodyPr wrap="square"/>
                    <a:lstStyle/>
                    <a:p>
                      <a:r>
                        <a:rPr b="0" sz="1100" i="0">
                          <a:solidFill>
                            <a:srgbClr val="1A2233"/>
                          </a:solidFill>
                          <a:latin typeface="Calibri"/>
                        </a:rPr>
                        <a:t>Medium to high</a:t>
                      </a:r>
                    </a:p>
                  </a:txBody>
                  <a:tcPr marL="64008" marR="64008" marT="27432" marB="27432" anchor="ctr">
                    <a:solidFill>
                      <a:srgbClr val="FFFFFF"/>
                    </a:solidFill>
                  </a:tcPr>
                </a:tc>
              </a:tr>
              <a:tr h="458978">
                <a:tc>
                  <a:txBody>
                    <a:bodyPr wrap="square"/>
                    <a:lstStyle/>
                    <a:p>
                      <a:r>
                        <a:rPr b="1" sz="1100" i="0">
                          <a:solidFill>
                            <a:srgbClr val="1A2233"/>
                          </a:solidFill>
                          <a:latin typeface="Calibri"/>
                        </a:rPr>
                        <a:t>Demand-based (toll roads, rail fares)</a:t>
                      </a:r>
                    </a:p>
                  </a:txBody>
                  <a:tcPr marL="64008" marR="64008" marT="27432" marB="27432" anchor="ctr">
                    <a:solidFill>
                      <a:srgbClr val="F3F6F9"/>
                    </a:solidFill>
                  </a:tcPr>
                </a:tc>
                <a:tc>
                  <a:txBody>
                    <a:bodyPr wrap="square"/>
                    <a:lstStyle/>
                    <a:p>
                      <a:r>
                        <a:rPr b="0" sz="1100" i="0">
                          <a:solidFill>
                            <a:srgbClr val="1A2233"/>
                          </a:solidFill>
                          <a:latin typeface="Calibri"/>
                        </a:rPr>
                        <a:t>Revenue depends on actual users</a:t>
                      </a:r>
                    </a:p>
                  </a:txBody>
                  <a:tcPr marL="64008" marR="64008" marT="27432" marB="27432" anchor="ctr">
                    <a:solidFill>
                      <a:srgbClr val="F3F6F9"/>
                    </a:solidFill>
                  </a:tcPr>
                </a:tc>
                <a:tc>
                  <a:txBody>
                    <a:bodyPr wrap="square"/>
                    <a:lstStyle/>
                    <a:p>
                      <a:r>
                        <a:rPr b="0" sz="1100" i="0">
                          <a:solidFill>
                            <a:srgbClr val="1A2233"/>
                          </a:solidFill>
                          <a:latin typeface="Calibri"/>
                        </a:rPr>
                        <a:t>Project company (sponsors, lenders)</a:t>
                      </a:r>
                    </a:p>
                  </a:txBody>
                  <a:tcPr marL="64008" marR="64008" marT="27432" marB="27432" anchor="ctr">
                    <a:solidFill>
                      <a:srgbClr val="F3F6F9"/>
                    </a:solidFill>
                  </a:tcPr>
                </a:tc>
                <a:tc>
                  <a:txBody>
                    <a:bodyPr wrap="square"/>
                    <a:lstStyle/>
                    <a:p>
                      <a:r>
                        <a:rPr b="0" sz="1100" i="0">
                          <a:solidFill>
                            <a:srgbClr val="1A2233"/>
                          </a:solidFill>
                          <a:latin typeface="Calibri"/>
                        </a:rPr>
                        <a:t>Lower; needs larger cover ratios</a:t>
                      </a:r>
                    </a:p>
                  </a:txBody>
                  <a:tcPr marL="64008" marR="64008" marT="27432" marB="27432" anchor="ctr">
                    <a:solidFill>
                      <a:srgbClr val="F3F6F9"/>
                    </a:solidFill>
                  </a:tcPr>
                </a:tc>
              </a:tr>
              <a:tr h="458978">
                <a:tc>
                  <a:txBody>
                    <a:bodyPr wrap="square"/>
                    <a:lstStyle/>
                    <a:p>
                      <a:r>
                        <a:rPr b="1" sz="1100" i="0">
                          <a:solidFill>
                            <a:srgbClr val="1A2233"/>
                          </a:solidFill>
                          <a:latin typeface="Calibri"/>
                        </a:rPr>
                        <a:t>Merchant</a:t>
                      </a:r>
                    </a:p>
                  </a:txBody>
                  <a:tcPr marL="64008" marR="64008" marT="27432" marB="27432" anchor="ctr">
                    <a:solidFill>
                      <a:srgbClr val="FFFFFF"/>
                    </a:solidFill>
                  </a:tcPr>
                </a:tc>
                <a:tc>
                  <a:txBody>
                    <a:bodyPr wrap="square"/>
                    <a:lstStyle/>
                    <a:p>
                      <a:r>
                        <a:rPr b="0" sz="1100" i="0">
                          <a:solidFill>
                            <a:srgbClr val="1A2233"/>
                          </a:solidFill>
                          <a:latin typeface="Calibri"/>
                        </a:rPr>
                        <a:t>Sell at market prices</a:t>
                      </a:r>
                    </a:p>
                  </a:txBody>
                  <a:tcPr marL="64008" marR="64008" marT="27432" marB="27432" anchor="ctr">
                    <a:solidFill>
                      <a:srgbClr val="FFFFFF"/>
                    </a:solidFill>
                  </a:tcPr>
                </a:tc>
                <a:tc>
                  <a:txBody>
                    <a:bodyPr wrap="square"/>
                    <a:lstStyle/>
                    <a:p>
                      <a:r>
                        <a:rPr b="0" sz="1100" i="0">
                          <a:solidFill>
                            <a:srgbClr val="1A2233"/>
                          </a:solidFill>
                          <a:latin typeface="Calibri"/>
                        </a:rPr>
                        <a:t>Project company</a:t>
                      </a:r>
                    </a:p>
                  </a:txBody>
                  <a:tcPr marL="64008" marR="64008" marT="27432" marB="27432" anchor="ctr">
                    <a:solidFill>
                      <a:srgbClr val="FFFFFF"/>
                    </a:solidFill>
                  </a:tcPr>
                </a:tc>
                <a:tc>
                  <a:txBody>
                    <a:bodyPr wrap="square"/>
                    <a:lstStyle/>
                    <a:p>
                      <a:r>
                        <a:rPr b="0" sz="1100" i="0">
                          <a:solidFill>
                            <a:srgbClr val="1A2233"/>
                          </a:solidFill>
                          <a:latin typeface="Calibri"/>
                        </a:rPr>
                        <a:t>Lowest; rarely project-financed alone</a:t>
                      </a:r>
                    </a:p>
                  </a:txBody>
                  <a:tcPr marL="64008" marR="64008" marT="27432" marB="27432" anchor="ctr">
                    <a:solidFill>
                      <a:srgbClr val="FFFFFF"/>
                    </a:solidFill>
                  </a:tcPr>
                </a:tc>
              </a:tr>
            </a:tbl>
          </a:graphicData>
        </a:graphic>
      </p:graphicFrame>
      <p:sp>
        <p:nvSpPr>
          <p:cNvPr id="12" name="Rectangle 11"/>
          <p:cNvSpPr/>
          <p:nvPr/>
        </p:nvSpPr>
        <p:spPr>
          <a:xfrm>
            <a:off x="548640" y="4754880"/>
            <a:ext cx="11064240" cy="82296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754880"/>
            <a:ext cx="82296" cy="8229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75488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TrainStat is a demand-based project (fares × passengers): lenders will want higher cover ratios and stress tests. Sahel Sun is take-or-pay.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PPP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Value for money and affordability: two tests for public projects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57857"/>
        </p:xfrm>
        <a:graphic>
          <a:graphicData uri="http://schemas.openxmlformats.org/drawingml/2006/table">
            <a:tbl>
              <a:tblPr firstRow="1" bandRow="1">
                <a:tableStyleId>{5C22544A-7EE6-4342-B048-85BDC9FD1C3A}</a:tableStyleId>
              </a:tblPr>
              <a:tblGrid>
                <a:gridCol w="2377440"/>
                <a:gridCol w="3931920"/>
                <a:gridCol w="4754880"/>
              </a:tblGrid>
              <a:tr h="384048">
                <a:tc>
                  <a:txBody>
                    <a:bodyPr wrap="square"/>
                    <a:lstStyle/>
                    <a:p>
                      <a:r>
                        <a:rPr b="1" sz="1300" i="0">
                          <a:solidFill>
                            <a:srgbClr val="FFFFFF"/>
                          </a:solidFill>
                          <a:latin typeface="Calibri"/>
                        </a:rPr>
                        <a:t>Test</a:t>
                      </a:r>
                    </a:p>
                  </a:txBody>
                  <a:tcPr marL="64008" marR="64008" marT="27432" marB="27432" anchor="ctr">
                    <a:solidFill>
                      <a:srgbClr val="141B4D"/>
                    </a:solidFill>
                  </a:tcPr>
                </a:tc>
                <a:tc>
                  <a:txBody>
                    <a:bodyPr wrap="square"/>
                    <a:lstStyle/>
                    <a:p>
                      <a:r>
                        <a:rPr b="1" sz="1300" i="0">
                          <a:solidFill>
                            <a:srgbClr val="FFFFFF"/>
                          </a:solidFill>
                          <a:latin typeface="Calibri"/>
                        </a:rPr>
                        <a:t>Question</a:t>
                      </a:r>
                    </a:p>
                  </a:txBody>
                  <a:tcPr marL="64008" marR="64008" marT="27432" marB="27432" anchor="ctr">
                    <a:solidFill>
                      <a:srgbClr val="141B4D"/>
                    </a:solidFill>
                  </a:tcPr>
                </a:tc>
                <a:tc>
                  <a:txBody>
                    <a:bodyPr wrap="square"/>
                    <a:lstStyle/>
                    <a:p>
                      <a:r>
                        <a:rPr b="1" sz="1300" i="0">
                          <a:solidFill>
                            <a:srgbClr val="FFFFFF"/>
                          </a:solidFill>
                          <a:latin typeface="Calibri"/>
                        </a:rPr>
                        <a:t>How it is done</a:t>
                      </a:r>
                    </a:p>
                  </a:txBody>
                  <a:tcPr marL="64008" marR="64008" marT="27432" marB="27432" anchor="ctr">
                    <a:solidFill>
                      <a:srgbClr val="141B4D"/>
                    </a:solidFill>
                  </a:tcPr>
                </a:tc>
              </a:tr>
              <a:tr h="728853">
                <a:tc>
                  <a:txBody>
                    <a:bodyPr wrap="square"/>
                    <a:lstStyle/>
                    <a:p>
                      <a:r>
                        <a:rPr b="1" sz="1300" i="0">
                          <a:solidFill>
                            <a:srgbClr val="1A2233"/>
                          </a:solidFill>
                          <a:latin typeface="Calibri"/>
                        </a:rPr>
                        <a:t>Value for money (VfM)</a:t>
                      </a:r>
                    </a:p>
                  </a:txBody>
                  <a:tcPr marL="64008" marR="64008" marT="27432" marB="27432" anchor="ctr">
                    <a:solidFill>
                      <a:srgbClr val="FFFFFF"/>
                    </a:solidFill>
                  </a:tcPr>
                </a:tc>
                <a:tc>
                  <a:txBody>
                    <a:bodyPr wrap="square"/>
                    <a:lstStyle/>
                    <a:p>
                      <a:r>
                        <a:rPr b="0" sz="1300" i="0">
                          <a:solidFill>
                            <a:srgbClr val="1A2233"/>
                          </a:solidFill>
                          <a:latin typeface="Calibri"/>
                        </a:rPr>
                        <a:t>Is the PPP better than traditional public procurement over the life of the project?</a:t>
                      </a:r>
                    </a:p>
                  </a:txBody>
                  <a:tcPr marL="64008" marR="64008" marT="27432" marB="27432" anchor="ctr">
                    <a:solidFill>
                      <a:srgbClr val="FFFFFF"/>
                    </a:solidFill>
                  </a:tcPr>
                </a:tc>
                <a:tc>
                  <a:txBody>
                    <a:bodyPr wrap="square"/>
                    <a:lstStyle/>
                    <a:p>
                      <a:r>
                        <a:rPr b="0" sz="1300" i="0">
                          <a:solidFill>
                            <a:srgbClr val="1A2233"/>
                          </a:solidFill>
                          <a:latin typeface="Calibri"/>
                        </a:rPr>
                        <a:t>Compare the present value of the PPP payments (plus retained risk) with the public sector comparator (PSC)</a:t>
                      </a:r>
                    </a:p>
                  </a:txBody>
                  <a:tcPr marL="64008" marR="64008" marT="27432" marB="27432" anchor="ctr">
                    <a:solidFill>
                      <a:srgbClr val="FFFFFF"/>
                    </a:solidFill>
                  </a:tcPr>
                </a:tc>
              </a:tr>
              <a:tr h="522478">
                <a:tc>
                  <a:txBody>
                    <a:bodyPr wrap="square"/>
                    <a:lstStyle/>
                    <a:p>
                      <a:r>
                        <a:rPr b="1" sz="1300" i="0">
                          <a:solidFill>
                            <a:srgbClr val="1A2233"/>
                          </a:solidFill>
                          <a:latin typeface="Calibri"/>
                        </a:rPr>
                        <a:t>Affordability</a:t>
                      </a:r>
                    </a:p>
                  </a:txBody>
                  <a:tcPr marL="64008" marR="64008" marT="27432" marB="27432" anchor="ctr">
                    <a:solidFill>
                      <a:srgbClr val="F3F6F9"/>
                    </a:solidFill>
                  </a:tcPr>
                </a:tc>
                <a:tc>
                  <a:txBody>
                    <a:bodyPr wrap="square"/>
                    <a:lstStyle/>
                    <a:p>
                      <a:r>
                        <a:rPr b="0" sz="1300" i="0">
                          <a:solidFill>
                            <a:srgbClr val="1A2233"/>
                          </a:solidFill>
                          <a:latin typeface="Calibri"/>
                        </a:rPr>
                        <a:t>Can the government pay for it from its budget or user fees?</a:t>
                      </a:r>
                    </a:p>
                  </a:txBody>
                  <a:tcPr marL="64008" marR="64008" marT="27432" marB="27432" anchor="ctr">
                    <a:solidFill>
                      <a:srgbClr val="F3F6F9"/>
                    </a:solidFill>
                  </a:tcPr>
                </a:tc>
                <a:tc>
                  <a:txBody>
                    <a:bodyPr wrap="square"/>
                    <a:lstStyle/>
                    <a:p>
                      <a:r>
                        <a:rPr b="0" sz="1300" i="0">
                          <a:solidFill>
                            <a:srgbClr val="1A2233"/>
                          </a:solidFill>
                          <a:latin typeface="Calibri"/>
                        </a:rPr>
                        <a:t>Annual payments as a share of revenue; fiscal commitments and contingent liabilities</a:t>
                      </a:r>
                    </a:p>
                  </a:txBody>
                  <a:tcPr marL="64008" marR="64008" marT="27432" marB="27432" anchor="ctr">
                    <a:solidFill>
                      <a:srgbClr val="F3F6F9"/>
                    </a:solidFill>
                  </a:tcPr>
                </a:tc>
              </a:tr>
              <a:tr h="522478">
                <a:tc>
                  <a:txBody>
                    <a:bodyPr wrap="square"/>
                    <a:lstStyle/>
                    <a:p>
                      <a:r>
                        <a:rPr b="1" sz="1300" i="0">
                          <a:solidFill>
                            <a:srgbClr val="1A2233"/>
                          </a:solidFill>
                          <a:latin typeface="Calibri"/>
                        </a:rPr>
                        <a:t>Bankability</a:t>
                      </a:r>
                    </a:p>
                  </a:txBody>
                  <a:tcPr marL="64008" marR="64008" marT="27432" marB="27432" anchor="ctr">
                    <a:solidFill>
                      <a:srgbClr val="FFFFFF"/>
                    </a:solidFill>
                  </a:tcPr>
                </a:tc>
                <a:tc>
                  <a:txBody>
                    <a:bodyPr wrap="square"/>
                    <a:lstStyle/>
                    <a:p>
                      <a:r>
                        <a:rPr b="0" sz="1300" i="0">
                          <a:solidFill>
                            <a:srgbClr val="1A2233"/>
                          </a:solidFill>
                          <a:latin typeface="Calibri"/>
                        </a:rPr>
                        <a:t>Will private lenders finance it on the proposed terms?</a:t>
                      </a:r>
                    </a:p>
                  </a:txBody>
                  <a:tcPr marL="64008" marR="64008" marT="27432" marB="27432" anchor="ctr">
                    <a:solidFill>
                      <a:srgbClr val="FFFFFF"/>
                    </a:solidFill>
                  </a:tcPr>
                </a:tc>
                <a:tc>
                  <a:txBody>
                    <a:bodyPr wrap="square"/>
                    <a:lstStyle/>
                    <a:p>
                      <a:r>
                        <a:rPr b="0" sz="1300" i="0">
                          <a:solidFill>
                            <a:srgbClr val="1A2233"/>
                          </a:solidFill>
                          <a:latin typeface="Calibri"/>
                        </a:rPr>
                        <a:t>Market sounding and financial model</a:t>
                      </a:r>
                    </a:p>
                  </a:txBody>
                  <a:tcPr marL="64008" marR="64008" marT="27432" marB="27432" anchor="ctr">
                    <a:solidFill>
                      <a:srgbClr val="FFFFFF"/>
                    </a:solidFill>
                  </a:tcPr>
                </a:tc>
              </a:tr>
            </a:tbl>
          </a:graphicData>
        </a:graphic>
      </p:graphicFrame>
      <p:sp>
        <p:nvSpPr>
          <p:cNvPr id="12" name="Rectangle 11"/>
          <p:cNvSpPr/>
          <p:nvPr/>
        </p:nvSpPr>
        <p:spPr>
          <a:xfrm>
            <a:off x="548640" y="3849496"/>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9496"/>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49496"/>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PPP Reference Guide (World Bank) sets out the VfM approach; see the reading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Value for money by hand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A government compares building the road itself (PSC) with paying a private company to build and operate it (PPP). Both are expressed as the present value of all costs, including risks the government keeps.</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VfM = PV(PSC) − PV(PPP)</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PSC: capital cost 800 + operating cost PV 120 + retained risk allowance 80 = 1,000</a:t>
            </a:r>
          </a:p>
          <a:p>
            <a:pPr algn="l"/>
            <a:r>
              <a:rPr b="0" sz="1600" i="0">
                <a:solidFill>
                  <a:srgbClr val="1A2233"/>
                </a:solidFill>
                <a:latin typeface="Calibri"/>
              </a:rPr>
              <a:t>PPP: payments PV 880 + retained risk allowance 60 = 940</a:t>
            </a:r>
          </a:p>
          <a:p>
            <a:pPr algn="l"/>
            <a:r>
              <a:rPr b="0" sz="1600" i="0">
                <a:solidFill>
                  <a:srgbClr val="1A2233"/>
                </a:solidFill>
                <a:latin typeface="Calibri"/>
              </a:rPr>
              <a:t>VfM = PSC − PPP = 60 (6.0% of PSC)</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 positive VfM supports proceeding with the PPP. The result is very sensitive to the discount rate and risk allowances.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3.1: Test a project against the checklist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Score the TrainStat project (Day 4) against the nine tests: green, amber or red, with one fix for each non-green.</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Use the case summary in the Day 4 deck</a:t>
            </a:r>
          </a:p>
          <a:p>
            <a:pPr>
              <a:spcAft>
                <a:spcPts val="300"/>
              </a:spcAft>
            </a:pPr>
            <a:r>
              <a:rPr b="0" sz="1500" i="0">
                <a:solidFill>
                  <a:srgbClr val="1A2233"/>
                </a:solidFill>
                <a:latin typeface="Calibri"/>
              </a:rPr>
              <a:t>2.  Revenue: demand-based fare revenue → amber</a:t>
            </a:r>
          </a:p>
          <a:p>
            <a:pPr>
              <a:spcAft>
                <a:spcPts val="300"/>
              </a:spcAft>
            </a:pPr>
            <a:r>
              <a:rPr b="0" sz="1500" i="0">
                <a:solidFill>
                  <a:srgbClr val="1A2233"/>
                </a:solidFill>
                <a:latin typeface="Calibri"/>
              </a:rPr>
              <a:t>3.  Counterparty: passengers, no single offtaker → n/a: ask what replaces it</a:t>
            </a:r>
          </a:p>
          <a:p>
            <a:pPr>
              <a:spcAft>
                <a:spcPts val="300"/>
              </a:spcAft>
            </a:pPr>
            <a:r>
              <a:rPr b="0" sz="1500" i="0">
                <a:solidFill>
                  <a:srgbClr val="1A2233"/>
                </a:solidFill>
                <a:latin typeface="Calibri"/>
              </a:rPr>
              <a:t>4.  Write fixes: e.g. minimum revenue guarantee, higher equity</a:t>
            </a:r>
          </a:p>
          <a:p>
            <a:pPr>
              <a:spcAft>
                <a:spcPts val="300"/>
              </a:spcAft>
            </a:pPr>
            <a:r>
              <a:rPr b="0" sz="1500" i="0">
                <a:solidFill>
                  <a:srgbClr val="1A2233"/>
                </a:solidFill>
                <a:latin typeface="Calibri"/>
              </a:rPr>
              <a:t>5.  Agree a one-sentence verdict</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11</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10.30 – 11.00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2: Project capital structure</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Debt, mezzanine, equity: how much of each?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CAPITAL STACK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layers of the capital structure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856229"/>
        </p:xfrm>
        <a:graphic>
          <a:graphicData uri="http://schemas.openxmlformats.org/drawingml/2006/table">
            <a:tbl>
              <a:tblPr firstRow="1" bandRow="1">
                <a:tableStyleId>{5C22544A-7EE6-4342-B048-85BDC9FD1C3A}</a:tableStyleId>
              </a:tblPr>
              <a:tblGrid>
                <a:gridCol w="2286000"/>
                <a:gridCol w="3200400"/>
                <a:gridCol w="1371600"/>
                <a:gridCol w="2926080"/>
                <a:gridCol w="1280160"/>
              </a:tblGrid>
              <a:tr h="384048">
                <a:tc>
                  <a:txBody>
                    <a:bodyPr wrap="square"/>
                    <a:lstStyle/>
                    <a:p>
                      <a:r>
                        <a:rPr b="1" sz="1200" i="0">
                          <a:solidFill>
                            <a:srgbClr val="FFFFFF"/>
                          </a:solidFill>
                          <a:latin typeface="Calibri"/>
                        </a:rPr>
                        <a:t>Layer</a:t>
                      </a:r>
                    </a:p>
                  </a:txBody>
                  <a:tcPr marL="64008" marR="64008" marT="27432" marB="27432" anchor="ctr">
                    <a:solidFill>
                      <a:srgbClr val="141B4D"/>
                    </a:solidFill>
                  </a:tcPr>
                </a:tc>
                <a:tc>
                  <a:txBody>
                    <a:bodyPr wrap="square"/>
                    <a:lstStyle/>
                    <a:p>
                      <a:r>
                        <a:rPr b="1" sz="1200" i="0">
                          <a:solidFill>
                            <a:srgbClr val="FFFFFF"/>
                          </a:solidFill>
                          <a:latin typeface="Calibri"/>
                        </a:rPr>
                        <a:t>Who provides it</a:t>
                      </a:r>
                    </a:p>
                  </a:txBody>
                  <a:tcPr marL="64008" marR="64008" marT="27432" marB="27432" anchor="ctr">
                    <a:solidFill>
                      <a:srgbClr val="141B4D"/>
                    </a:solidFill>
                  </a:tcPr>
                </a:tc>
                <a:tc>
                  <a:txBody>
                    <a:bodyPr wrap="square"/>
                    <a:lstStyle/>
                    <a:p>
                      <a:r>
                        <a:rPr b="1" sz="1200" i="0">
                          <a:solidFill>
                            <a:srgbClr val="FFFFFF"/>
                          </a:solidFill>
                          <a:latin typeface="Calibri"/>
                        </a:rPr>
                        <a:t>Repaid</a:t>
                      </a:r>
                    </a:p>
                  </a:txBody>
                  <a:tcPr marL="64008" marR="64008" marT="27432" marB="27432" anchor="ctr">
                    <a:solidFill>
                      <a:srgbClr val="141B4D"/>
                    </a:solidFill>
                  </a:tcPr>
                </a:tc>
                <a:tc>
                  <a:txBody>
                    <a:bodyPr wrap="square"/>
                    <a:lstStyle/>
                    <a:p>
                      <a:r>
                        <a:rPr b="1" sz="1200" i="0">
                          <a:solidFill>
                            <a:srgbClr val="FFFFFF"/>
                          </a:solidFill>
                          <a:latin typeface="Calibri"/>
                        </a:rPr>
                        <a:t>Risk and return</a:t>
                      </a:r>
                    </a:p>
                  </a:txBody>
                  <a:tcPr marL="64008" marR="64008" marT="27432" marB="27432" anchor="ctr">
                    <a:solidFill>
                      <a:srgbClr val="141B4D"/>
                    </a:solidFill>
                  </a:tcPr>
                </a:tc>
                <a:tc>
                  <a:txBody>
                    <a:bodyPr wrap="square"/>
                    <a:lstStyle/>
                    <a:p>
                      <a:r>
                        <a:rPr b="1" sz="1200" i="0">
                          <a:solidFill>
                            <a:srgbClr val="FFFFFF"/>
                          </a:solidFill>
                          <a:latin typeface="Calibri"/>
                        </a:rPr>
                        <a:t>Typical share</a:t>
                      </a:r>
                    </a:p>
                  </a:txBody>
                  <a:tcPr marL="64008" marR="64008" marT="27432" marB="27432" anchor="ctr">
                    <a:solidFill>
                      <a:srgbClr val="141B4D"/>
                    </a:solidFill>
                  </a:tcPr>
                </a:tc>
              </a:tr>
              <a:tr h="490727">
                <a:tc>
                  <a:txBody>
                    <a:bodyPr wrap="square"/>
                    <a:lstStyle/>
                    <a:p>
                      <a:r>
                        <a:rPr b="1" sz="1200" i="0">
                          <a:solidFill>
                            <a:srgbClr val="1A2233"/>
                          </a:solidFill>
                          <a:latin typeface="Calibri"/>
                        </a:rPr>
                        <a:t>Senior debt</a:t>
                      </a:r>
                    </a:p>
                  </a:txBody>
                  <a:tcPr marL="64008" marR="64008" marT="27432" marB="27432" anchor="ctr">
                    <a:solidFill>
                      <a:srgbClr val="FFFFFF"/>
                    </a:solidFill>
                  </a:tcPr>
                </a:tc>
                <a:tc>
                  <a:txBody>
                    <a:bodyPr wrap="square"/>
                    <a:lstStyle/>
                    <a:p>
                      <a:r>
                        <a:rPr b="0" sz="1200" i="0">
                          <a:solidFill>
                            <a:srgbClr val="1A2233"/>
                          </a:solidFill>
                          <a:latin typeface="Calibri"/>
                        </a:rPr>
                        <a:t>Banks, DFIs, bond investors</a:t>
                      </a:r>
                    </a:p>
                  </a:txBody>
                  <a:tcPr marL="64008" marR="64008" marT="27432" marB="27432" anchor="ctr">
                    <a:solidFill>
                      <a:srgbClr val="FFFFFF"/>
                    </a:solidFill>
                  </a:tcPr>
                </a:tc>
                <a:tc>
                  <a:txBody>
                    <a:bodyPr wrap="square"/>
                    <a:lstStyle/>
                    <a:p>
                      <a:r>
                        <a:rPr b="0" sz="1200" i="0">
                          <a:solidFill>
                            <a:srgbClr val="1A2233"/>
                          </a:solidFill>
                          <a:latin typeface="Calibri"/>
                        </a:rPr>
                        <a:t>First</a:t>
                      </a:r>
                    </a:p>
                  </a:txBody>
                  <a:tcPr marL="64008" marR="64008" marT="27432" marB="27432" anchor="ctr">
                    <a:solidFill>
                      <a:srgbClr val="FFFFFF"/>
                    </a:solidFill>
                  </a:tcPr>
                </a:tc>
                <a:tc>
                  <a:txBody>
                    <a:bodyPr wrap="square"/>
                    <a:lstStyle/>
                    <a:p>
                      <a:r>
                        <a:rPr b="0" sz="1200" i="0">
                          <a:solidFill>
                            <a:srgbClr val="1A2233"/>
                          </a:solidFill>
                          <a:latin typeface="Calibri"/>
                        </a:rPr>
                        <a:t>Lowest risk, lowest return (interest margin)</a:t>
                      </a:r>
                    </a:p>
                  </a:txBody>
                  <a:tcPr marL="64008" marR="64008" marT="27432" marB="27432" anchor="ctr">
                    <a:solidFill>
                      <a:srgbClr val="FFFFFF"/>
                    </a:solidFill>
                  </a:tcPr>
                </a:tc>
                <a:tc>
                  <a:txBody>
                    <a:bodyPr wrap="square"/>
                    <a:lstStyle/>
                    <a:p>
                      <a:r>
                        <a:rPr b="0" sz="1200" i="0">
                          <a:solidFill>
                            <a:srgbClr val="1A2233"/>
                          </a:solidFill>
                          <a:latin typeface="Calibri"/>
                        </a:rPr>
                        <a:t>60 to 80%</a:t>
                      </a:r>
                    </a:p>
                  </a:txBody>
                  <a:tcPr marL="64008" marR="64008" marT="27432" marB="27432" anchor="ctr">
                    <a:solidFill>
                      <a:srgbClr val="FFFFFF"/>
                    </a:solidFill>
                  </a:tcPr>
                </a:tc>
              </a:tr>
              <a:tr h="490727">
                <a:tc>
                  <a:txBody>
                    <a:bodyPr wrap="square"/>
                    <a:lstStyle/>
                    <a:p>
                      <a:r>
                        <a:rPr b="1" sz="1200" i="0">
                          <a:solidFill>
                            <a:srgbClr val="1A2233"/>
                          </a:solidFill>
                          <a:latin typeface="Calibri"/>
                        </a:rPr>
                        <a:t>Mezzanine / subordinated debt</a:t>
                      </a:r>
                    </a:p>
                  </a:txBody>
                  <a:tcPr marL="64008" marR="64008" marT="27432" marB="27432" anchor="ctr">
                    <a:solidFill>
                      <a:srgbClr val="F3F6F9"/>
                    </a:solidFill>
                  </a:tcPr>
                </a:tc>
                <a:tc>
                  <a:txBody>
                    <a:bodyPr wrap="square"/>
                    <a:lstStyle/>
                    <a:p>
                      <a:r>
                        <a:rPr b="0" sz="1200" i="0">
                          <a:solidFill>
                            <a:srgbClr val="1A2233"/>
                          </a:solidFill>
                          <a:latin typeface="Calibri"/>
                        </a:rPr>
                        <a:t>Specialist funds, DFIs, sometimes sponsors (shareholder loan)</a:t>
                      </a:r>
                    </a:p>
                  </a:txBody>
                  <a:tcPr marL="64008" marR="64008" marT="27432" marB="27432" anchor="ctr">
                    <a:solidFill>
                      <a:srgbClr val="F3F6F9"/>
                    </a:solidFill>
                  </a:tcPr>
                </a:tc>
                <a:tc>
                  <a:txBody>
                    <a:bodyPr wrap="square"/>
                    <a:lstStyle/>
                    <a:p>
                      <a:r>
                        <a:rPr b="0" sz="1200" i="0">
                          <a:solidFill>
                            <a:srgbClr val="1A2233"/>
                          </a:solidFill>
                          <a:latin typeface="Calibri"/>
                        </a:rPr>
                        <a:t>After senior</a:t>
                      </a:r>
                    </a:p>
                  </a:txBody>
                  <a:tcPr marL="64008" marR="64008" marT="27432" marB="27432" anchor="ctr">
                    <a:solidFill>
                      <a:srgbClr val="F3F6F9"/>
                    </a:solidFill>
                  </a:tcPr>
                </a:tc>
                <a:tc>
                  <a:txBody>
                    <a:bodyPr wrap="square"/>
                    <a:lstStyle/>
                    <a:p>
                      <a:r>
                        <a:rPr b="0" sz="1200" i="0">
                          <a:solidFill>
                            <a:srgbClr val="1A2233"/>
                          </a:solidFill>
                          <a:latin typeface="Calibri"/>
                        </a:rPr>
                        <a:t>Medium</a:t>
                      </a:r>
                    </a:p>
                  </a:txBody>
                  <a:tcPr marL="64008" marR="64008" marT="27432" marB="27432" anchor="ctr">
                    <a:solidFill>
                      <a:srgbClr val="F3F6F9"/>
                    </a:solidFill>
                  </a:tcPr>
                </a:tc>
                <a:tc>
                  <a:txBody>
                    <a:bodyPr wrap="square"/>
                    <a:lstStyle/>
                    <a:p>
                      <a:r>
                        <a:rPr b="0" sz="1200" i="0">
                          <a:solidFill>
                            <a:srgbClr val="1A2233"/>
                          </a:solidFill>
                          <a:latin typeface="Calibri"/>
                        </a:rPr>
                        <a:t>0 to 15%</a:t>
                      </a:r>
                    </a:p>
                  </a:txBody>
                  <a:tcPr marL="64008" marR="64008" marT="27432" marB="27432" anchor="ctr">
                    <a:solidFill>
                      <a:srgbClr val="F3F6F9"/>
                    </a:solidFill>
                  </a:tcPr>
                </a:tc>
              </a:tr>
              <a:tr h="490727">
                <a:tc>
                  <a:txBody>
                    <a:bodyPr wrap="square"/>
                    <a:lstStyle/>
                    <a:p>
                      <a:r>
                        <a:rPr b="1" sz="1200" i="0">
                          <a:solidFill>
                            <a:srgbClr val="1A2233"/>
                          </a:solidFill>
                          <a:latin typeface="Calibri"/>
                        </a:rPr>
                        <a:t>Equity</a:t>
                      </a:r>
                    </a:p>
                  </a:txBody>
                  <a:tcPr marL="64008" marR="64008" marT="27432" marB="27432" anchor="ctr">
                    <a:solidFill>
                      <a:srgbClr val="FFFFFF"/>
                    </a:solidFill>
                  </a:tcPr>
                </a:tc>
                <a:tc>
                  <a:txBody>
                    <a:bodyPr wrap="square"/>
                    <a:lstStyle/>
                    <a:p>
                      <a:r>
                        <a:rPr b="0" sz="1200" i="0">
                          <a:solidFill>
                            <a:srgbClr val="1A2233"/>
                          </a:solidFill>
                          <a:latin typeface="Calibri"/>
                        </a:rPr>
                        <a:t>Sponsors, investors</a:t>
                      </a:r>
                    </a:p>
                  </a:txBody>
                  <a:tcPr marL="64008" marR="64008" marT="27432" marB="27432" anchor="ctr">
                    <a:solidFill>
                      <a:srgbClr val="FFFFFF"/>
                    </a:solidFill>
                  </a:tcPr>
                </a:tc>
                <a:tc>
                  <a:txBody>
                    <a:bodyPr wrap="square"/>
                    <a:lstStyle/>
                    <a:p>
                      <a:r>
                        <a:rPr b="0" sz="1200" i="0">
                          <a:solidFill>
                            <a:srgbClr val="1A2233"/>
                          </a:solidFill>
                          <a:latin typeface="Calibri"/>
                        </a:rPr>
                        <a:t>Last</a:t>
                      </a:r>
                    </a:p>
                  </a:txBody>
                  <a:tcPr marL="64008" marR="64008" marT="27432" marB="27432" anchor="ctr">
                    <a:solidFill>
                      <a:srgbClr val="FFFFFF"/>
                    </a:solidFill>
                  </a:tcPr>
                </a:tc>
                <a:tc>
                  <a:txBody>
                    <a:bodyPr wrap="square"/>
                    <a:lstStyle/>
                    <a:p>
                      <a:r>
                        <a:rPr b="0" sz="1200" i="0">
                          <a:solidFill>
                            <a:srgbClr val="1A2233"/>
                          </a:solidFill>
                          <a:latin typeface="Calibri"/>
                        </a:rPr>
                        <a:t>Highest risk, highest required return</a:t>
                      </a:r>
                    </a:p>
                  </a:txBody>
                  <a:tcPr marL="64008" marR="64008" marT="27432" marB="27432" anchor="ctr">
                    <a:solidFill>
                      <a:srgbClr val="FFFFFF"/>
                    </a:solidFill>
                  </a:tcPr>
                </a:tc>
                <a:tc>
                  <a:txBody>
                    <a:bodyPr wrap="square"/>
                    <a:lstStyle/>
                    <a:p>
                      <a:r>
                        <a:rPr b="0" sz="1200" i="0">
                          <a:solidFill>
                            <a:srgbClr val="1A2233"/>
                          </a:solidFill>
                          <a:latin typeface="Calibri"/>
                        </a:rPr>
                        <a:t>20 to 40%</a:t>
                      </a:r>
                    </a:p>
                  </a:txBody>
                  <a:tcPr marL="64008" marR="64008" marT="27432" marB="27432" anchor="ctr">
                    <a:solidFill>
                      <a:srgbClr val="FFFFFF"/>
                    </a:solidFill>
                  </a:tcPr>
                </a:tc>
              </a:tr>
            </a:tbl>
          </a:graphicData>
        </a:graphic>
      </p:graphicFrame>
      <p:sp>
        <p:nvSpPr>
          <p:cNvPr id="12" name="Rectangle 11"/>
          <p:cNvSpPr/>
          <p:nvPr/>
        </p:nvSpPr>
        <p:spPr>
          <a:xfrm>
            <a:off x="548640" y="3749039"/>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49039"/>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749039"/>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Ranges are indicative for infrastructure and vary by sector and country. Lenders set the maximum gearing in the term sheet.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Leverage lifts equity returns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If the project earns more than the cost of debt, borrowing increases the return to shareholders. The project below costs 100 and produces 16 a year for 10 years (project IRR 9.6%). Debt costs 7% and is repaid in 10 equal annual instalments (annuity).</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No debt: equity IRR = 9.6%</a:t>
            </a:r>
          </a:p>
          <a:p>
            <a:pPr algn="l"/>
            <a:r>
              <a:rPr b="0" sz="1600" i="0">
                <a:solidFill>
                  <a:srgbClr val="1A2233"/>
                </a:solidFill>
                <a:latin typeface="Calibri"/>
              </a:rPr>
              <a:t>50% debt: payment 7.12 a year; equity IRR = 12.1%; DSCR = 2.25x</a:t>
            </a:r>
          </a:p>
          <a:p>
            <a:pPr algn="l"/>
            <a:r>
              <a:rPr b="0" sz="1600" i="0">
                <a:solidFill>
                  <a:srgbClr val="1A2233"/>
                </a:solidFill>
                <a:latin typeface="Calibri"/>
              </a:rPr>
              <a:t>70% debt: payment 9.97; equity IRR = 15.2%; DSCR = 1.61x</a:t>
            </a:r>
          </a:p>
          <a:p>
            <a:pPr algn="l"/>
            <a:r>
              <a:rPr b="0" sz="1600" i="0">
                <a:solidFill>
                  <a:srgbClr val="1A2233"/>
                </a:solidFill>
                <a:latin typeface="Calibri"/>
              </a:rPr>
              <a:t>80% debt: payment 11.39; equity IRR = 19.0%; DSCR = 1.40x</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More debt → higher equity IRR but thinner cover: at 80% the DSCR is below 1.2x, leaving little margin for shocks.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LEVERAGE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Equity IRR rises with gearing, DSCR falls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Illustrative: the DSCR series is multiplied by 10 for display (e.g. 12 = 1.2x). Lenders cap gearing to keep DSCR above their minimum.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Cost of capital (WACC)</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The weighted average cost of capital blends the cost of debt (after tax) and the cost of equity by their shares of funding. It is the return the project as a whole must earn.</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WACC = D/(D+E) × Kd × (1 − t) + E/(D+E) × Ke</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Debt 70% at 7% pre-tax, tax rate 30% → after-tax cost 4.9%</a:t>
            </a:r>
          </a:p>
          <a:p>
            <a:pPr algn="l"/>
            <a:r>
              <a:rPr b="0" sz="1600" i="0">
                <a:solidFill>
                  <a:srgbClr val="1A2233"/>
                </a:solidFill>
                <a:latin typeface="Calibri"/>
              </a:rPr>
              <a:t>Equity 30% at a required return of 20%</a:t>
            </a:r>
          </a:p>
          <a:p>
            <a:pPr algn="l"/>
            <a:r>
              <a:rPr b="0" sz="1600" i="0">
                <a:solidFill>
                  <a:srgbClr val="1A2233"/>
                </a:solidFill>
                <a:latin typeface="Calibri"/>
              </a:rPr>
              <a:t>WACC = 70% × 4.9% + 30% × 20% = 9.43%</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Adding cheaper debt lowers WACC only up to the point where risk makes both debt and equity more expensive.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3.2: Leverage in Excel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Using Exercises.xlsx (or a blank sheet) reproduce the leverage table for gearing of 0%, 50%, 70% and 80%.</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Cost 100, annual cash flow 16, 10 years</a:t>
            </a:r>
          </a:p>
          <a:p>
            <a:pPr>
              <a:spcAft>
                <a:spcPts val="300"/>
              </a:spcAft>
            </a:pPr>
            <a:r>
              <a:rPr b="0" sz="1500" i="0">
                <a:solidFill>
                  <a:srgbClr val="1A2233"/>
                </a:solidFill>
                <a:latin typeface="Calibri"/>
              </a:rPr>
              <a:t>2.  Annuity payment: </a:t>
            </a:r>
            <a:r>
              <a:rPr b="0" sz="1500" i="0">
                <a:solidFill>
                  <a:srgbClr val="0B5E82"/>
                </a:solidFill>
                <a:latin typeface="Consolas"/>
              </a:rPr>
              <a:t>=PMT(7%,10,-debt)</a:t>
            </a:r>
          </a:p>
          <a:p>
            <a:pPr>
              <a:spcAft>
                <a:spcPts val="300"/>
              </a:spcAft>
            </a:pPr>
            <a:r>
              <a:rPr b="0" sz="1500" i="0">
                <a:solidFill>
                  <a:srgbClr val="1A2233"/>
                </a:solidFill>
                <a:latin typeface="Calibri"/>
              </a:rPr>
              <a:t>3.  Equity cash flows: −equity in year 0; cash flow − payment in years 1 to 10</a:t>
            </a:r>
          </a:p>
          <a:p>
            <a:pPr>
              <a:spcAft>
                <a:spcPts val="300"/>
              </a:spcAft>
            </a:pPr>
            <a:r>
              <a:rPr b="0" sz="1500" i="0">
                <a:solidFill>
                  <a:srgbClr val="1A2233"/>
                </a:solidFill>
                <a:latin typeface="Calibri"/>
              </a:rPr>
              <a:t>4.  Equity IRR: </a:t>
            </a:r>
            <a:r>
              <a:rPr b="0" sz="1500" i="0">
                <a:solidFill>
                  <a:srgbClr val="0B5E82"/>
                </a:solidFill>
                <a:latin typeface="Consolas"/>
              </a:rPr>
              <a:t>=IRR(range)</a:t>
            </a:r>
            <a:r>
              <a:rPr b="0" sz="1500" i="0">
                <a:solidFill>
                  <a:srgbClr val="1A2233"/>
                </a:solidFill>
                <a:latin typeface="Calibri"/>
              </a:rPr>
              <a:t>; DSCR: cash flow ÷ payment</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11.30 – 12.30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3: Project finance term loans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Anatomy of the loan, repayment shapes and cost.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TERM SHEET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A term loan: the main terms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621024"/>
        </p:xfrm>
        <a:graphic>
          <a:graphicData uri="http://schemas.openxmlformats.org/drawingml/2006/table">
            <a:tbl>
              <a:tblPr firstRow="1" bandRow="1">
                <a:tableStyleId>{5C22544A-7EE6-4342-B048-85BDC9FD1C3A}</a:tableStyleId>
              </a:tblPr>
              <a:tblGrid>
                <a:gridCol w="2560320"/>
                <a:gridCol w="4663440"/>
                <a:gridCol w="3840480"/>
              </a:tblGrid>
              <a:tr h="329184">
                <a:tc>
                  <a:txBody>
                    <a:bodyPr wrap="square"/>
                    <a:lstStyle/>
                    <a:p>
                      <a:r>
                        <a:rPr b="1" sz="1100" i="0">
                          <a:solidFill>
                            <a:srgbClr val="FFFFFF"/>
                          </a:solidFill>
                          <a:latin typeface="Calibri"/>
                        </a:rPr>
                        <a:t>Term</a:t>
                      </a:r>
                    </a:p>
                  </a:txBody>
                  <a:tcPr marL="64008" marR="64008" marT="27432" marB="27432" anchor="ctr">
                    <a:solidFill>
                      <a:srgbClr val="141B4D"/>
                    </a:solidFill>
                  </a:tcPr>
                </a:tc>
                <a:tc>
                  <a:txBody>
                    <a:bodyPr wrap="square"/>
                    <a:lstStyle/>
                    <a:p>
                      <a:r>
                        <a:rPr b="1" sz="1100" i="0">
                          <a:solidFill>
                            <a:srgbClr val="FFFFFF"/>
                          </a:solidFill>
                          <a:latin typeface="Calibri"/>
                        </a:rPr>
                        <a:t>Meaning</a:t>
                      </a:r>
                    </a:p>
                  </a:txBody>
                  <a:tcPr marL="64008" marR="64008" marT="27432" marB="27432" anchor="ctr">
                    <a:solidFill>
                      <a:srgbClr val="141B4D"/>
                    </a:solidFill>
                  </a:tcPr>
                </a:tc>
                <a:tc>
                  <a:txBody>
                    <a:bodyPr wrap="square"/>
                    <a:lstStyle/>
                    <a:p>
                      <a:r>
                        <a:rPr b="1" sz="1100" i="0">
                          <a:solidFill>
                            <a:srgbClr val="FFFFFF"/>
                          </a:solidFill>
                          <a:latin typeface="Calibri"/>
                        </a:rPr>
                        <a:t>Example</a:t>
                      </a:r>
                    </a:p>
                  </a:txBody>
                  <a:tcPr marL="64008" marR="64008" marT="27432" marB="27432" anchor="ctr">
                    <a:solidFill>
                      <a:srgbClr val="141B4D"/>
                    </a:solidFill>
                  </a:tcPr>
                </a:tc>
              </a:tr>
              <a:tr h="329184">
                <a:tc>
                  <a:txBody>
                    <a:bodyPr wrap="square"/>
                    <a:lstStyle/>
                    <a:p>
                      <a:r>
                        <a:rPr b="1" sz="1100" i="0">
                          <a:solidFill>
                            <a:srgbClr val="1A2233"/>
                          </a:solidFill>
                          <a:latin typeface="Calibri"/>
                        </a:rPr>
                        <a:t>Facility amount</a:t>
                      </a:r>
                    </a:p>
                  </a:txBody>
                  <a:tcPr marL="64008" marR="64008" marT="27432" marB="27432" anchor="ctr">
                    <a:solidFill>
                      <a:srgbClr val="FFFFFF"/>
                    </a:solidFill>
                  </a:tcPr>
                </a:tc>
                <a:tc>
                  <a:txBody>
                    <a:bodyPr wrap="square"/>
                    <a:lstStyle/>
                    <a:p>
                      <a:r>
                        <a:rPr b="0" sz="1100" i="0">
                          <a:solidFill>
                            <a:srgbClr val="1A2233"/>
                          </a:solidFill>
                          <a:latin typeface="Calibri"/>
                        </a:rPr>
                        <a:t>How much can be borrowed</a:t>
                      </a:r>
                    </a:p>
                  </a:txBody>
                  <a:tcPr marL="64008" marR="64008" marT="27432" marB="27432" anchor="ctr">
                    <a:solidFill>
                      <a:srgbClr val="FFFFFF"/>
                    </a:solidFill>
                  </a:tcPr>
                </a:tc>
                <a:tc>
                  <a:txBody>
                    <a:bodyPr wrap="square"/>
                    <a:lstStyle/>
                    <a:p>
                      <a:r>
                        <a:rPr b="0" sz="1100" i="0">
                          <a:solidFill>
                            <a:srgbClr val="1A2233"/>
                          </a:solidFill>
                          <a:latin typeface="Calibri"/>
                        </a:rPr>
                        <a:t>US$72.4m</a:t>
                      </a:r>
                    </a:p>
                  </a:txBody>
                  <a:tcPr marL="64008" marR="64008" marT="27432" marB="27432" anchor="ctr">
                    <a:solidFill>
                      <a:srgbClr val="FFFFFF"/>
                    </a:solidFill>
                  </a:tcPr>
                </a:tc>
              </a:tr>
              <a:tr h="329184">
                <a:tc>
                  <a:txBody>
                    <a:bodyPr wrap="square"/>
                    <a:lstStyle/>
                    <a:p>
                      <a:r>
                        <a:rPr b="1" sz="1100" i="0">
                          <a:solidFill>
                            <a:srgbClr val="1A2233"/>
                          </a:solidFill>
                          <a:latin typeface="Calibri"/>
                        </a:rPr>
                        <a:t>Availability period</a:t>
                      </a:r>
                    </a:p>
                  </a:txBody>
                  <a:tcPr marL="64008" marR="64008" marT="27432" marB="27432" anchor="ctr">
                    <a:solidFill>
                      <a:srgbClr val="F3F6F9"/>
                    </a:solidFill>
                  </a:tcPr>
                </a:tc>
                <a:tc>
                  <a:txBody>
                    <a:bodyPr wrap="square"/>
                    <a:lstStyle/>
                    <a:p>
                      <a:r>
                        <a:rPr b="0" sz="1100" i="0">
                          <a:solidFill>
                            <a:srgbClr val="1A2233"/>
                          </a:solidFill>
                          <a:latin typeface="Calibri"/>
                        </a:rPr>
                        <a:t>When money can be drawn (construction)</a:t>
                      </a:r>
                    </a:p>
                  </a:txBody>
                  <a:tcPr marL="64008" marR="64008" marT="27432" marB="27432" anchor="ctr">
                    <a:solidFill>
                      <a:srgbClr val="F3F6F9"/>
                    </a:solidFill>
                  </a:tcPr>
                </a:tc>
                <a:tc>
                  <a:txBody>
                    <a:bodyPr wrap="square"/>
                    <a:lstStyle/>
                    <a:p>
                      <a:r>
                        <a:rPr b="0" sz="1100" i="0">
                          <a:solidFill>
                            <a:srgbClr val="1A2233"/>
                          </a:solidFill>
                          <a:latin typeface="Calibri"/>
                        </a:rPr>
                        <a:t>8 quarters</a:t>
                      </a:r>
                    </a:p>
                  </a:txBody>
                  <a:tcPr marL="64008" marR="64008" marT="27432" marB="27432" anchor="ctr">
                    <a:solidFill>
                      <a:srgbClr val="F3F6F9"/>
                    </a:solidFill>
                  </a:tcPr>
                </a:tc>
              </a:tr>
              <a:tr h="329184">
                <a:tc>
                  <a:txBody>
                    <a:bodyPr wrap="square"/>
                    <a:lstStyle/>
                    <a:p>
                      <a:r>
                        <a:rPr b="1" sz="1100" i="0">
                          <a:solidFill>
                            <a:srgbClr val="1A2233"/>
                          </a:solidFill>
                          <a:latin typeface="Calibri"/>
                        </a:rPr>
                        <a:t>Grace period</a:t>
                      </a:r>
                    </a:p>
                  </a:txBody>
                  <a:tcPr marL="64008" marR="64008" marT="27432" marB="27432" anchor="ctr">
                    <a:solidFill>
                      <a:srgbClr val="FFFFFF"/>
                    </a:solidFill>
                  </a:tcPr>
                </a:tc>
                <a:tc>
                  <a:txBody>
                    <a:bodyPr wrap="square"/>
                    <a:lstStyle/>
                    <a:p>
                      <a:r>
                        <a:rPr b="0" sz="1100" i="0">
                          <a:solidFill>
                            <a:srgbClr val="1A2233"/>
                          </a:solidFill>
                          <a:latin typeface="Calibri"/>
                        </a:rPr>
                        <a:t>Time before principal repayments start</a:t>
                      </a:r>
                    </a:p>
                  </a:txBody>
                  <a:tcPr marL="64008" marR="64008" marT="27432" marB="27432" anchor="ctr">
                    <a:solidFill>
                      <a:srgbClr val="FFFFFF"/>
                    </a:solidFill>
                  </a:tcPr>
                </a:tc>
                <a:tc>
                  <a:txBody>
                    <a:bodyPr wrap="square"/>
                    <a:lstStyle/>
                    <a:p>
                      <a:r>
                        <a:rPr b="0" sz="1100" i="0">
                          <a:solidFill>
                            <a:srgbClr val="1A2233"/>
                          </a:solidFill>
                          <a:latin typeface="Calibri"/>
                        </a:rPr>
                        <a:t>Repayments begin the quarter after COD</a:t>
                      </a:r>
                    </a:p>
                  </a:txBody>
                  <a:tcPr marL="64008" marR="64008" marT="27432" marB="27432" anchor="ctr">
                    <a:solidFill>
                      <a:srgbClr val="FFFFFF"/>
                    </a:solidFill>
                  </a:tcPr>
                </a:tc>
              </a:tr>
              <a:tr h="329184">
                <a:tc>
                  <a:txBody>
                    <a:bodyPr wrap="square"/>
                    <a:lstStyle/>
                    <a:p>
                      <a:r>
                        <a:rPr b="1" sz="1100" i="0">
                          <a:solidFill>
                            <a:srgbClr val="1A2233"/>
                          </a:solidFill>
                          <a:latin typeface="Calibri"/>
                        </a:rPr>
                        <a:t>Tenor</a:t>
                      </a:r>
                    </a:p>
                  </a:txBody>
                  <a:tcPr marL="64008" marR="64008" marT="27432" marB="27432" anchor="ctr">
                    <a:solidFill>
                      <a:srgbClr val="F3F6F9"/>
                    </a:solidFill>
                  </a:tcPr>
                </a:tc>
                <a:tc>
                  <a:txBody>
                    <a:bodyPr wrap="square"/>
                    <a:lstStyle/>
                    <a:p>
                      <a:r>
                        <a:rPr b="0" sz="1100" i="0">
                          <a:solidFill>
                            <a:srgbClr val="1A2233"/>
                          </a:solidFill>
                          <a:latin typeface="Calibri"/>
                        </a:rPr>
                        <a:t>Total life of the loan</a:t>
                      </a:r>
                    </a:p>
                  </a:txBody>
                  <a:tcPr marL="64008" marR="64008" marT="27432" marB="27432" anchor="ctr">
                    <a:solidFill>
                      <a:srgbClr val="F3F6F9"/>
                    </a:solidFill>
                  </a:tcPr>
                </a:tc>
                <a:tc>
                  <a:txBody>
                    <a:bodyPr wrap="square"/>
                    <a:lstStyle/>
                    <a:p>
                      <a:r>
                        <a:rPr b="0" sz="1100" i="0">
                          <a:solidFill>
                            <a:srgbClr val="1A2233"/>
                          </a:solidFill>
                          <a:latin typeface="Calibri"/>
                        </a:rPr>
                        <a:t>10 years from COD</a:t>
                      </a:r>
                    </a:p>
                  </a:txBody>
                  <a:tcPr marL="64008" marR="64008" marT="27432" marB="27432" anchor="ctr">
                    <a:solidFill>
                      <a:srgbClr val="F3F6F9"/>
                    </a:solidFill>
                  </a:tcPr>
                </a:tc>
              </a:tr>
              <a:tr h="329184">
                <a:tc>
                  <a:txBody>
                    <a:bodyPr wrap="square"/>
                    <a:lstStyle/>
                    <a:p>
                      <a:r>
                        <a:rPr b="1" sz="1100" i="0">
                          <a:solidFill>
                            <a:srgbClr val="1A2233"/>
                          </a:solidFill>
                          <a:latin typeface="Calibri"/>
                        </a:rPr>
                        <a:t>Repayment profile</a:t>
                      </a:r>
                    </a:p>
                  </a:txBody>
                  <a:tcPr marL="64008" marR="64008" marT="27432" marB="27432" anchor="ctr">
                    <a:solidFill>
                      <a:srgbClr val="FFFFFF"/>
                    </a:solidFill>
                  </a:tcPr>
                </a:tc>
                <a:tc>
                  <a:txBody>
                    <a:bodyPr wrap="square"/>
                    <a:lstStyle/>
                    <a:p>
                      <a:r>
                        <a:rPr b="0" sz="1100" i="0">
                          <a:solidFill>
                            <a:srgbClr val="1A2233"/>
                          </a:solidFill>
                          <a:latin typeface="Calibri"/>
                        </a:rPr>
                        <a:t>Shape of principal repayments</a:t>
                      </a:r>
                    </a:p>
                  </a:txBody>
                  <a:tcPr marL="64008" marR="64008" marT="27432" marB="27432" anchor="ctr">
                    <a:solidFill>
                      <a:srgbClr val="FFFFFF"/>
                    </a:solidFill>
                  </a:tcPr>
                </a:tc>
                <a:tc>
                  <a:txBody>
                    <a:bodyPr wrap="square"/>
                    <a:lstStyle/>
                    <a:p>
                      <a:r>
                        <a:rPr b="0" sz="1100" i="0">
                          <a:solidFill>
                            <a:srgbClr val="1A2233"/>
                          </a:solidFill>
                          <a:latin typeface="Calibri"/>
                        </a:rPr>
                        <a:t>Sculpted to 2.25x DSCR</a:t>
                      </a:r>
                    </a:p>
                  </a:txBody>
                  <a:tcPr marL="64008" marR="64008" marT="27432" marB="27432" anchor="ctr">
                    <a:solidFill>
                      <a:srgbClr val="FFFFFF"/>
                    </a:solidFill>
                  </a:tcPr>
                </a:tc>
              </a:tr>
              <a:tr h="329184">
                <a:tc>
                  <a:txBody>
                    <a:bodyPr wrap="square"/>
                    <a:lstStyle/>
                    <a:p>
                      <a:r>
                        <a:rPr b="1" sz="1100" i="0">
                          <a:solidFill>
                            <a:srgbClr val="1A2233"/>
                          </a:solidFill>
                          <a:latin typeface="Calibri"/>
                        </a:rPr>
                        <a:t>Interest</a:t>
                      </a:r>
                    </a:p>
                  </a:txBody>
                  <a:tcPr marL="64008" marR="64008" marT="27432" marB="27432" anchor="ctr">
                    <a:solidFill>
                      <a:srgbClr val="F3F6F9"/>
                    </a:solidFill>
                  </a:tcPr>
                </a:tc>
                <a:tc>
                  <a:txBody>
                    <a:bodyPr wrap="square"/>
                    <a:lstStyle/>
                    <a:p>
                      <a:r>
                        <a:rPr b="0" sz="1100" i="0">
                          <a:solidFill>
                            <a:srgbClr val="1A2233"/>
                          </a:solidFill>
                          <a:latin typeface="Calibri"/>
                        </a:rPr>
                        <a:t>Base rate + margin; fixed or floating</a:t>
                      </a:r>
                    </a:p>
                  </a:txBody>
                  <a:tcPr marL="64008" marR="64008" marT="27432" marB="27432" anchor="ctr">
                    <a:solidFill>
                      <a:srgbClr val="F3F6F9"/>
                    </a:solidFill>
                  </a:tcPr>
                </a:tc>
                <a:tc>
                  <a:txBody>
                    <a:bodyPr wrap="square"/>
                    <a:lstStyle/>
                    <a:p>
                      <a:r>
                        <a:rPr b="0" sz="1100" i="0">
                          <a:solidFill>
                            <a:srgbClr val="1A2233"/>
                          </a:solidFill>
                          <a:latin typeface="Calibri"/>
                        </a:rPr>
                        <a:t>All-in 6.5% (model)</a:t>
                      </a:r>
                    </a:p>
                  </a:txBody>
                  <a:tcPr marL="64008" marR="64008" marT="27432" marB="27432" anchor="ctr">
                    <a:solidFill>
                      <a:srgbClr val="F3F6F9"/>
                    </a:solidFill>
                  </a:tcPr>
                </a:tc>
              </a:tr>
              <a:tr h="329184">
                <a:tc>
                  <a:txBody>
                    <a:bodyPr wrap="square"/>
                    <a:lstStyle/>
                    <a:p>
                      <a:r>
                        <a:rPr b="1" sz="1100" i="0">
                          <a:solidFill>
                            <a:srgbClr val="1A2233"/>
                          </a:solidFill>
                          <a:latin typeface="Calibri"/>
                        </a:rPr>
                        <a:t>Day count</a:t>
                      </a:r>
                    </a:p>
                  </a:txBody>
                  <a:tcPr marL="64008" marR="64008" marT="27432" marB="27432" anchor="ctr">
                    <a:solidFill>
                      <a:srgbClr val="FFFFFF"/>
                    </a:solidFill>
                  </a:tcPr>
                </a:tc>
                <a:tc>
                  <a:txBody>
                    <a:bodyPr wrap="square"/>
                    <a:lstStyle/>
                    <a:p>
                      <a:r>
                        <a:rPr b="0" sz="1100" i="0">
                          <a:solidFill>
                            <a:srgbClr val="1A2233"/>
                          </a:solidFill>
                          <a:latin typeface="Calibri"/>
                        </a:rPr>
                        <a:t>How interest accrues</a:t>
                      </a:r>
                    </a:p>
                  </a:txBody>
                  <a:tcPr marL="64008" marR="64008" marT="27432" marB="27432" anchor="ctr">
                    <a:solidFill>
                      <a:srgbClr val="FFFFFF"/>
                    </a:solidFill>
                  </a:tcPr>
                </a:tc>
                <a:tc>
                  <a:txBody>
                    <a:bodyPr wrap="square"/>
                    <a:lstStyle/>
                    <a:p>
                      <a:r>
                        <a:rPr b="0" sz="1100" i="0">
                          <a:solidFill>
                            <a:srgbClr val="1A2233"/>
                          </a:solidFill>
                          <a:latin typeface="Calibri"/>
                        </a:rPr>
                        <a:t>Actual/360</a:t>
                      </a:r>
                    </a:p>
                  </a:txBody>
                  <a:tcPr marL="64008" marR="64008" marT="27432" marB="27432" anchor="ctr">
                    <a:solidFill>
                      <a:srgbClr val="FFFFFF"/>
                    </a:solidFill>
                  </a:tcPr>
                </a:tc>
              </a:tr>
              <a:tr h="329184">
                <a:tc>
                  <a:txBody>
                    <a:bodyPr wrap="square"/>
                    <a:lstStyle/>
                    <a:p>
                      <a:r>
                        <a:rPr b="1" sz="1100" i="0">
                          <a:solidFill>
                            <a:srgbClr val="1A2233"/>
                          </a:solidFill>
                          <a:latin typeface="Calibri"/>
                        </a:rPr>
                        <a:t>Fees</a:t>
                      </a:r>
                    </a:p>
                  </a:txBody>
                  <a:tcPr marL="64008" marR="64008" marT="27432" marB="27432" anchor="ctr">
                    <a:solidFill>
                      <a:srgbClr val="F3F6F9"/>
                    </a:solidFill>
                  </a:tcPr>
                </a:tc>
                <a:tc>
                  <a:txBody>
                    <a:bodyPr wrap="square"/>
                    <a:lstStyle/>
                    <a:p>
                      <a:r>
                        <a:rPr b="0" sz="1100" i="0">
                          <a:solidFill>
                            <a:srgbClr val="1A2233"/>
                          </a:solidFill>
                          <a:latin typeface="Calibri"/>
                        </a:rPr>
                        <a:t>Upfront, commitment, agency</a:t>
                      </a:r>
                    </a:p>
                  </a:txBody>
                  <a:tcPr marL="64008" marR="64008" marT="27432" marB="27432" anchor="ctr">
                    <a:solidFill>
                      <a:srgbClr val="F3F6F9"/>
                    </a:solidFill>
                  </a:tcPr>
                </a:tc>
                <a:tc>
                  <a:txBody>
                    <a:bodyPr wrap="square"/>
                    <a:lstStyle/>
                    <a:p>
                      <a:r>
                        <a:rPr b="0" sz="1100" i="0">
                          <a:solidFill>
                            <a:srgbClr val="1A2233"/>
                          </a:solidFill>
                          <a:latin typeface="Calibri"/>
                        </a:rPr>
                        <a:t>2.0% upfront; 0.75% commitment</a:t>
                      </a:r>
                    </a:p>
                  </a:txBody>
                  <a:tcPr marL="64008" marR="64008" marT="27432" marB="27432" anchor="ctr">
                    <a:solidFill>
                      <a:srgbClr val="F3F6F9"/>
                    </a:solidFill>
                  </a:tcPr>
                </a:tc>
              </a:tr>
              <a:tr h="329184">
                <a:tc>
                  <a:txBody>
                    <a:bodyPr wrap="square"/>
                    <a:lstStyle/>
                    <a:p>
                      <a:r>
                        <a:rPr b="1" sz="1100" i="0">
                          <a:solidFill>
                            <a:srgbClr val="1A2233"/>
                          </a:solidFill>
                          <a:latin typeface="Calibri"/>
                        </a:rPr>
                        <a:t>Prepayment</a:t>
                      </a:r>
                    </a:p>
                  </a:txBody>
                  <a:tcPr marL="64008" marR="64008" marT="27432" marB="27432" anchor="ctr">
                    <a:solidFill>
                      <a:srgbClr val="FFFFFF"/>
                    </a:solidFill>
                  </a:tcPr>
                </a:tc>
                <a:tc>
                  <a:txBody>
                    <a:bodyPr wrap="square"/>
                    <a:lstStyle/>
                    <a:p>
                      <a:r>
                        <a:rPr b="0" sz="1100" i="0">
                          <a:solidFill>
                            <a:srgbClr val="1A2233"/>
                          </a:solidFill>
                          <a:latin typeface="Calibri"/>
                        </a:rPr>
                        <a:t>Early repayment rules and fees</a:t>
                      </a:r>
                    </a:p>
                  </a:txBody>
                  <a:tcPr marL="64008" marR="64008" marT="27432" marB="27432" anchor="ctr">
                    <a:solidFill>
                      <a:srgbClr val="FFFFFF"/>
                    </a:solidFill>
                  </a:tcPr>
                </a:tc>
                <a:tc>
                  <a:txBody>
                    <a:bodyPr wrap="square"/>
                    <a:lstStyle/>
                    <a:p>
                      <a:r>
                        <a:rPr b="0" sz="1100" i="0">
                          <a:solidFill>
                            <a:srgbClr val="1A2233"/>
                          </a:solidFill>
                          <a:latin typeface="Calibri"/>
                        </a:rPr>
                        <a:t>Mandatory from cash sweep or insurance proceeds</a:t>
                      </a:r>
                    </a:p>
                  </a:txBody>
                  <a:tcPr marL="64008" marR="64008" marT="27432" marB="27432" anchor="ctr">
                    <a:solidFill>
                      <a:srgbClr val="FFFFFF"/>
                    </a:solidFill>
                  </a:tcPr>
                </a:tc>
              </a:tr>
              <a:tr h="329184">
                <a:tc>
                  <a:txBody>
                    <a:bodyPr wrap="square"/>
                    <a:lstStyle/>
                    <a:p>
                      <a:r>
                        <a:rPr b="1" sz="1100" i="0">
                          <a:solidFill>
                            <a:srgbClr val="1A2233"/>
                          </a:solidFill>
                          <a:latin typeface="Calibri"/>
                        </a:rPr>
                        <a:t>Covenants and security</a:t>
                      </a:r>
                    </a:p>
                  </a:txBody>
                  <a:tcPr marL="64008" marR="64008" marT="27432" marB="27432" anchor="ctr">
                    <a:solidFill>
                      <a:srgbClr val="F3F6F9"/>
                    </a:solidFill>
                  </a:tcPr>
                </a:tc>
                <a:tc>
                  <a:txBody>
                    <a:bodyPr wrap="square"/>
                    <a:lstStyle/>
                    <a:p>
                      <a:r>
                        <a:rPr b="0" sz="1100" i="0">
                          <a:solidFill>
                            <a:srgbClr val="1A2233"/>
                          </a:solidFill>
                          <a:latin typeface="Calibri"/>
                        </a:rPr>
                        <a:t>Day 2 topics</a:t>
                      </a:r>
                    </a:p>
                  </a:txBody>
                  <a:tcPr marL="64008" marR="64008" marT="27432" marB="27432" anchor="ctr">
                    <a:solidFill>
                      <a:srgbClr val="F3F6F9"/>
                    </a:solidFill>
                  </a:tcPr>
                </a:tc>
                <a:tc>
                  <a:txBody>
                    <a:bodyPr wrap="square"/>
                    <a:lstStyle/>
                    <a:p>
                      <a:r>
                        <a:rPr b="0" sz="1100" i="0">
                          <a:solidFill>
                            <a:srgbClr val="1A2233"/>
                          </a:solidFill>
                          <a:latin typeface="Calibri"/>
                        </a:rPr>
                        <a:t>DSCR ≥ 1.20x; share pledge</a:t>
                      </a:r>
                    </a:p>
                  </a:txBody>
                  <a:tcPr marL="64008" marR="64008" marT="27432" marB="27432" anchor="ctr">
                    <a:solidFill>
                      <a:srgbClr val="F3F6F9"/>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REPAYMENT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Three repayment shapes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53054"/>
        </p:xfrm>
        <a:graphic>
          <a:graphicData uri="http://schemas.openxmlformats.org/drawingml/2006/table">
            <a:tbl>
              <a:tblPr firstRow="1" bandRow="1">
                <a:tableStyleId>{5C22544A-7EE6-4342-B048-85BDC9FD1C3A}</a:tableStyleId>
              </a:tblPr>
              <a:tblGrid>
                <a:gridCol w="2011680"/>
                <a:gridCol w="4206240"/>
                <a:gridCol w="2377440"/>
                <a:gridCol w="2468880"/>
              </a:tblGrid>
              <a:tr h="457200">
                <a:tc>
                  <a:txBody>
                    <a:bodyPr wrap="square"/>
                    <a:lstStyle/>
                    <a:p>
                      <a:r>
                        <a:rPr b="1" sz="1200" i="0">
                          <a:solidFill>
                            <a:srgbClr val="FFFFFF"/>
                          </a:solidFill>
                          <a:latin typeface="Calibri"/>
                        </a:rPr>
                        <a:t>Shape</a:t>
                      </a:r>
                    </a:p>
                  </a:txBody>
                  <a:tcPr marL="64008" marR="64008" marT="27432" marB="27432" anchor="ctr">
                    <a:solidFill>
                      <a:srgbClr val="141B4D"/>
                    </a:solidFill>
                  </a:tcPr>
                </a:tc>
                <a:tc>
                  <a:txBody>
                    <a:bodyPr wrap="square"/>
                    <a:lstStyle/>
                    <a:p>
                      <a:r>
                        <a:rPr b="1" sz="1200" i="0">
                          <a:solidFill>
                            <a:srgbClr val="FFFFFF"/>
                          </a:solidFill>
                          <a:latin typeface="Calibri"/>
                        </a:rPr>
                        <a:t>How principal is repaid</a:t>
                      </a:r>
                    </a:p>
                  </a:txBody>
                  <a:tcPr marL="64008" marR="64008" marT="27432" marB="27432" anchor="ctr">
                    <a:solidFill>
                      <a:srgbClr val="141B4D"/>
                    </a:solidFill>
                  </a:tcPr>
                </a:tc>
                <a:tc>
                  <a:txBody>
                    <a:bodyPr wrap="square"/>
                    <a:lstStyle/>
                    <a:p>
                      <a:r>
                        <a:rPr b="1" sz="1200" i="0">
                          <a:solidFill>
                            <a:srgbClr val="FFFFFF"/>
                          </a:solidFill>
                          <a:latin typeface="Calibri"/>
                        </a:rPr>
                        <a:t>Debt service</a:t>
                      </a:r>
                    </a:p>
                  </a:txBody>
                  <a:tcPr marL="64008" marR="64008" marT="27432" marB="27432" anchor="ctr">
                    <a:solidFill>
                      <a:srgbClr val="141B4D"/>
                    </a:solidFill>
                  </a:tcPr>
                </a:tc>
                <a:tc>
                  <a:txBody>
                    <a:bodyPr wrap="square"/>
                    <a:lstStyle/>
                    <a:p>
                      <a:r>
                        <a:rPr b="1" sz="1200" i="0">
                          <a:solidFill>
                            <a:srgbClr val="FFFFFF"/>
                          </a:solidFill>
                          <a:latin typeface="Calibri"/>
                        </a:rPr>
                        <a:t>When used</a:t>
                      </a:r>
                    </a:p>
                  </a:txBody>
                  <a:tcPr marL="64008" marR="64008" marT="27432" marB="27432" anchor="ctr">
                    <a:solidFill>
                      <a:srgbClr val="141B4D"/>
                    </a:solidFill>
                  </a:tcPr>
                </a:tc>
              </a:tr>
              <a:tr h="457200">
                <a:tc>
                  <a:txBody>
                    <a:bodyPr wrap="square"/>
                    <a:lstStyle/>
                    <a:p>
                      <a:r>
                        <a:rPr b="1" sz="1200" i="0">
                          <a:solidFill>
                            <a:srgbClr val="1A2233"/>
                          </a:solidFill>
                          <a:latin typeface="Calibri"/>
                        </a:rPr>
                        <a:t>Bullet</a:t>
                      </a:r>
                    </a:p>
                  </a:txBody>
                  <a:tcPr marL="64008" marR="64008" marT="27432" marB="27432" anchor="ctr">
                    <a:solidFill>
                      <a:srgbClr val="FFFFFF"/>
                    </a:solidFill>
                  </a:tcPr>
                </a:tc>
                <a:tc>
                  <a:txBody>
                    <a:bodyPr wrap="square"/>
                    <a:lstStyle/>
                    <a:p>
                      <a:r>
                        <a:rPr b="0" sz="1200" i="0">
                          <a:solidFill>
                            <a:srgbClr val="1A2233"/>
                          </a:solidFill>
                          <a:latin typeface="Calibri"/>
                        </a:rPr>
                        <a:t>All at maturity (usually refinanced)</a:t>
                      </a:r>
                    </a:p>
                  </a:txBody>
                  <a:tcPr marL="64008" marR="64008" marT="27432" marB="27432" anchor="ctr">
                    <a:solidFill>
                      <a:srgbClr val="FFFFFF"/>
                    </a:solidFill>
                  </a:tcPr>
                </a:tc>
                <a:tc>
                  <a:txBody>
                    <a:bodyPr wrap="square"/>
                    <a:lstStyle/>
                    <a:p>
                      <a:r>
                        <a:rPr b="0" sz="1200" i="0">
                          <a:solidFill>
                            <a:srgbClr val="1A2233"/>
                          </a:solidFill>
                          <a:latin typeface="Calibri"/>
                        </a:rPr>
                        <a:t>Interest only, then a lump</a:t>
                      </a:r>
                    </a:p>
                  </a:txBody>
                  <a:tcPr marL="64008" marR="64008" marT="27432" marB="27432" anchor="ctr">
                    <a:solidFill>
                      <a:srgbClr val="FFFFFF"/>
                    </a:solidFill>
                  </a:tcPr>
                </a:tc>
                <a:tc>
                  <a:txBody>
                    <a:bodyPr wrap="square"/>
                    <a:lstStyle/>
                    <a:p>
                      <a:r>
                        <a:rPr b="0" sz="1200" i="0">
                          <a:solidFill>
                            <a:srgbClr val="1A2233"/>
                          </a:solidFill>
                          <a:latin typeface="Calibri"/>
                        </a:rPr>
                        <a:t>Short loans, bonds</a:t>
                      </a:r>
                    </a:p>
                  </a:txBody>
                  <a:tcPr marL="64008" marR="64008" marT="27432" marB="27432" anchor="ctr">
                    <a:solidFill>
                      <a:srgbClr val="FFFFFF"/>
                    </a:solidFill>
                  </a:tcPr>
                </a:tc>
              </a:tr>
              <a:tr h="490727">
                <a:tc>
                  <a:txBody>
                    <a:bodyPr wrap="square"/>
                    <a:lstStyle/>
                    <a:p>
                      <a:r>
                        <a:rPr b="1" sz="1200" i="0">
                          <a:solidFill>
                            <a:srgbClr val="1A2233"/>
                          </a:solidFill>
                          <a:latin typeface="Calibri"/>
                        </a:rPr>
                        <a:t>Annuity (level payment)</a:t>
                      </a:r>
                    </a:p>
                  </a:txBody>
                  <a:tcPr marL="64008" marR="64008" marT="27432" marB="27432" anchor="ctr">
                    <a:solidFill>
                      <a:srgbClr val="F3F6F9"/>
                    </a:solidFill>
                  </a:tcPr>
                </a:tc>
                <a:tc>
                  <a:txBody>
                    <a:bodyPr wrap="square"/>
                    <a:lstStyle/>
                    <a:p>
                      <a:r>
                        <a:rPr b="0" sz="1200" i="0">
                          <a:solidFill>
                            <a:srgbClr val="1A2233"/>
                          </a:solidFill>
                          <a:latin typeface="Calibri"/>
                        </a:rPr>
                        <a:t>Constant total payment; principal grows as interest shrinks</a:t>
                      </a:r>
                    </a:p>
                  </a:txBody>
                  <a:tcPr marL="64008" marR="64008" marT="27432" marB="27432" anchor="ctr">
                    <a:solidFill>
                      <a:srgbClr val="F3F6F9"/>
                    </a:solidFill>
                  </a:tcPr>
                </a:tc>
                <a:tc>
                  <a:txBody>
                    <a:bodyPr wrap="square"/>
                    <a:lstStyle/>
                    <a:p>
                      <a:r>
                        <a:rPr b="0" sz="1200" i="0">
                          <a:solidFill>
                            <a:srgbClr val="1A2233"/>
                          </a:solidFill>
                          <a:latin typeface="Calibri"/>
                        </a:rPr>
                        <a:t>Equal each period</a:t>
                      </a:r>
                    </a:p>
                  </a:txBody>
                  <a:tcPr marL="64008" marR="64008" marT="27432" marB="27432" anchor="ctr">
                    <a:solidFill>
                      <a:srgbClr val="F3F6F9"/>
                    </a:solidFill>
                  </a:tcPr>
                </a:tc>
                <a:tc>
                  <a:txBody>
                    <a:bodyPr wrap="square"/>
                    <a:lstStyle/>
                    <a:p>
                      <a:r>
                        <a:rPr b="0" sz="1200" i="0">
                          <a:solidFill>
                            <a:srgbClr val="1A2233"/>
                          </a:solidFill>
                          <a:latin typeface="Calibri"/>
                        </a:rPr>
                        <a:t>Stable cash flows</a:t>
                      </a:r>
                    </a:p>
                  </a:txBody>
                  <a:tcPr marL="64008" marR="64008" marT="27432" marB="27432" anchor="ctr">
                    <a:solidFill>
                      <a:srgbClr val="F3F6F9"/>
                    </a:solidFill>
                  </a:tcPr>
                </a:tc>
              </a:tr>
              <a:tr h="457200">
                <a:tc>
                  <a:txBody>
                    <a:bodyPr wrap="square"/>
                    <a:lstStyle/>
                    <a:p>
                      <a:r>
                        <a:rPr b="1" sz="1200" i="0">
                          <a:solidFill>
                            <a:srgbClr val="1A2233"/>
                          </a:solidFill>
                          <a:latin typeface="Calibri"/>
                        </a:rPr>
                        <a:t>Straight line</a:t>
                      </a:r>
                    </a:p>
                  </a:txBody>
                  <a:tcPr marL="64008" marR="64008" marT="27432" marB="27432" anchor="ctr">
                    <a:solidFill>
                      <a:srgbClr val="FFFFFF"/>
                    </a:solidFill>
                  </a:tcPr>
                </a:tc>
                <a:tc>
                  <a:txBody>
                    <a:bodyPr wrap="square"/>
                    <a:lstStyle/>
                    <a:p>
                      <a:r>
                        <a:rPr b="0" sz="1200" i="0">
                          <a:solidFill>
                            <a:srgbClr val="1A2233"/>
                          </a:solidFill>
                          <a:latin typeface="Calibri"/>
                        </a:rPr>
                        <a:t>Equal principal each period</a:t>
                      </a:r>
                    </a:p>
                  </a:txBody>
                  <a:tcPr marL="64008" marR="64008" marT="27432" marB="27432" anchor="ctr">
                    <a:solidFill>
                      <a:srgbClr val="FFFFFF"/>
                    </a:solidFill>
                  </a:tcPr>
                </a:tc>
                <a:tc>
                  <a:txBody>
                    <a:bodyPr wrap="square"/>
                    <a:lstStyle/>
                    <a:p>
                      <a:r>
                        <a:rPr b="0" sz="1200" i="0">
                          <a:solidFill>
                            <a:srgbClr val="1A2233"/>
                          </a:solidFill>
                          <a:latin typeface="Calibri"/>
                        </a:rPr>
                        <a:t>High first, falling</a:t>
                      </a:r>
                    </a:p>
                  </a:txBody>
                  <a:tcPr marL="64008" marR="64008" marT="27432" marB="27432" anchor="ctr">
                    <a:solidFill>
                      <a:srgbClr val="FFFFFF"/>
                    </a:solidFill>
                  </a:tcPr>
                </a:tc>
                <a:tc>
                  <a:txBody>
                    <a:bodyPr wrap="square"/>
                    <a:lstStyle/>
                    <a:p>
                      <a:r>
                        <a:rPr b="0" sz="1200" i="0">
                          <a:solidFill>
                            <a:srgbClr val="1A2233"/>
                          </a:solidFill>
                          <a:latin typeface="Calibri"/>
                        </a:rPr>
                        <a:t>Strong early cash flows</a:t>
                      </a:r>
                    </a:p>
                  </a:txBody>
                  <a:tcPr marL="64008" marR="64008" marT="27432" marB="27432" anchor="ctr">
                    <a:solidFill>
                      <a:srgbClr val="FFFFFF"/>
                    </a:solidFill>
                  </a:tcPr>
                </a:tc>
              </a:tr>
              <a:tr h="490727">
                <a:tc>
                  <a:txBody>
                    <a:bodyPr wrap="square"/>
                    <a:lstStyle/>
                    <a:p>
                      <a:r>
                        <a:rPr b="1" sz="1200" i="0">
                          <a:solidFill>
                            <a:srgbClr val="1A2233"/>
                          </a:solidFill>
                          <a:latin typeface="Calibri"/>
                        </a:rPr>
                        <a:t>Sculpted</a:t>
                      </a:r>
                    </a:p>
                  </a:txBody>
                  <a:tcPr marL="64008" marR="64008" marT="27432" marB="27432" anchor="ctr">
                    <a:solidFill>
                      <a:srgbClr val="F3F6F9"/>
                    </a:solidFill>
                  </a:tcPr>
                </a:tc>
                <a:tc>
                  <a:txBody>
                    <a:bodyPr wrap="square"/>
                    <a:lstStyle/>
                    <a:p>
                      <a:r>
                        <a:rPr b="0" sz="1200" i="0">
                          <a:solidFill>
                            <a:srgbClr val="1A2233"/>
                          </a:solidFill>
                          <a:latin typeface="Calibri"/>
                        </a:rPr>
                        <a:t>Principal set so debt service tracks cash flow (constant DSCR)</a:t>
                      </a:r>
                    </a:p>
                  </a:txBody>
                  <a:tcPr marL="64008" marR="64008" marT="27432" marB="27432" anchor="ctr">
                    <a:solidFill>
                      <a:srgbClr val="F3F6F9"/>
                    </a:solidFill>
                  </a:tcPr>
                </a:tc>
                <a:tc>
                  <a:txBody>
                    <a:bodyPr wrap="square"/>
                    <a:lstStyle/>
                    <a:p>
                      <a:r>
                        <a:rPr b="0" sz="1200" i="0">
                          <a:solidFill>
                            <a:srgbClr val="1A2233"/>
                          </a:solidFill>
                          <a:latin typeface="Calibri"/>
                        </a:rPr>
                        <a:t>Follows cash flow</a:t>
                      </a:r>
                    </a:p>
                  </a:txBody>
                  <a:tcPr marL="64008" marR="64008" marT="27432" marB="27432" anchor="ctr">
                    <a:solidFill>
                      <a:srgbClr val="F3F6F9"/>
                    </a:solidFill>
                  </a:tcPr>
                </a:tc>
                <a:tc>
                  <a:txBody>
                    <a:bodyPr wrap="square"/>
                    <a:lstStyle/>
                    <a:p>
                      <a:r>
                        <a:rPr b="0" sz="1200" i="0">
                          <a:solidFill>
                            <a:srgbClr val="1A2233"/>
                          </a:solidFill>
                          <a:latin typeface="Calibri"/>
                        </a:rPr>
                        <a:t>Variable cash flows: most project finance</a:t>
                      </a:r>
                    </a:p>
                  </a:txBody>
                  <a:tcPr marL="64008" marR="64008" marT="27432" marB="27432" anchor="ctr">
                    <a:solidFill>
                      <a:srgbClr val="F3F6F9"/>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Worked example: loan of 1,000, 10%, 5 years: annuity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1097280"/>
                <a:gridCol w="2011680"/>
                <a:gridCol w="2011680"/>
                <a:gridCol w="2011680"/>
                <a:gridCol w="2011680"/>
                <a:gridCol w="1920240"/>
              </a:tblGrid>
              <a:tr h="384048">
                <a:tc>
                  <a:txBody>
                    <a:bodyPr wrap="square"/>
                    <a:lstStyle/>
                    <a:p>
                      <a:r>
                        <a:rPr b="1" sz="1300" i="0">
                          <a:solidFill>
                            <a:srgbClr val="FFFFFF"/>
                          </a:solidFill>
                          <a:latin typeface="Calibri"/>
                        </a:rPr>
                        <a:t>Year</a:t>
                      </a:r>
                    </a:p>
                  </a:txBody>
                  <a:tcPr marL="64008" marR="64008" marT="27432" marB="27432" anchor="ctr">
                    <a:solidFill>
                      <a:srgbClr val="141B4D"/>
                    </a:solidFill>
                  </a:tcPr>
                </a:tc>
                <a:tc>
                  <a:txBody>
                    <a:bodyPr wrap="square"/>
                    <a:lstStyle/>
                    <a:p>
                      <a:r>
                        <a:rPr b="1" sz="1300" i="0">
                          <a:solidFill>
                            <a:srgbClr val="FFFFFF"/>
                          </a:solidFill>
                          <a:latin typeface="Calibri"/>
                        </a:rPr>
                        <a:t>Opening</a:t>
                      </a:r>
                    </a:p>
                  </a:txBody>
                  <a:tcPr marL="64008" marR="64008" marT="27432" marB="27432" anchor="ctr">
                    <a:solidFill>
                      <a:srgbClr val="141B4D"/>
                    </a:solidFill>
                  </a:tcPr>
                </a:tc>
                <a:tc>
                  <a:txBody>
                    <a:bodyPr wrap="square"/>
                    <a:lstStyle/>
                    <a:p>
                      <a:r>
                        <a:rPr b="1" sz="1300" i="0">
                          <a:solidFill>
                            <a:srgbClr val="FFFFFF"/>
                          </a:solidFill>
                          <a:latin typeface="Calibri"/>
                        </a:rPr>
                        <a:t>Interest</a:t>
                      </a:r>
                    </a:p>
                  </a:txBody>
                  <a:tcPr marL="64008" marR="64008" marT="27432" marB="27432" anchor="ctr">
                    <a:solidFill>
                      <a:srgbClr val="141B4D"/>
                    </a:solidFill>
                  </a:tcPr>
                </a:tc>
                <a:tc>
                  <a:txBody>
                    <a:bodyPr wrap="square"/>
                    <a:lstStyle/>
                    <a:p>
                      <a:r>
                        <a:rPr b="1" sz="1300" i="0">
                          <a:solidFill>
                            <a:srgbClr val="FFFFFF"/>
                          </a:solidFill>
                          <a:latin typeface="Calibri"/>
                        </a:rPr>
                        <a:t>Principal</a:t>
                      </a:r>
                    </a:p>
                  </a:txBody>
                  <a:tcPr marL="64008" marR="64008" marT="27432" marB="27432" anchor="ctr">
                    <a:solidFill>
                      <a:srgbClr val="141B4D"/>
                    </a:solidFill>
                  </a:tcPr>
                </a:tc>
                <a:tc>
                  <a:txBody>
                    <a:bodyPr wrap="square"/>
                    <a:lstStyle/>
                    <a:p>
                      <a:r>
                        <a:rPr b="1" sz="1300" i="0">
                          <a:solidFill>
                            <a:srgbClr val="FFFFFF"/>
                          </a:solidFill>
                          <a:latin typeface="Calibri"/>
                        </a:rPr>
                        <a:t>Payment</a:t>
                      </a:r>
                    </a:p>
                  </a:txBody>
                  <a:tcPr marL="64008" marR="64008" marT="27432" marB="27432" anchor="ctr">
                    <a:solidFill>
                      <a:srgbClr val="141B4D"/>
                    </a:solidFill>
                  </a:tcPr>
                </a:tc>
                <a:tc>
                  <a:txBody>
                    <a:bodyPr wrap="square"/>
                    <a:lstStyle/>
                    <a:p>
                      <a:r>
                        <a:rPr b="1" sz="1300" i="0">
                          <a:solidFill>
                            <a:srgbClr val="FFFFFF"/>
                          </a:solidFill>
                          <a:latin typeface="Calibri"/>
                        </a:rPr>
                        <a:t>Closing</a:t>
                      </a:r>
                    </a:p>
                  </a:txBody>
                  <a:tcPr marL="64008" marR="64008" marT="27432" marB="27432" anchor="ctr">
                    <a:solidFill>
                      <a:srgbClr val="141B4D"/>
                    </a:solidFill>
                  </a:tcPr>
                </a:tc>
              </a:tr>
              <a:tr h="384048">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1,000.0</a:t>
                      </a:r>
                    </a:p>
                  </a:txBody>
                  <a:tcPr marL="64008" marR="64008" marT="27432" marB="27432" anchor="ctr">
                    <a:solidFill>
                      <a:srgbClr val="FFFFFF"/>
                    </a:solidFill>
                  </a:tcPr>
                </a:tc>
                <a:tc>
                  <a:txBody>
                    <a:bodyPr wrap="square"/>
                    <a:lstStyle/>
                    <a:p>
                      <a:r>
                        <a:rPr b="0" sz="1300" i="0">
                          <a:solidFill>
                            <a:srgbClr val="1A2233"/>
                          </a:solidFill>
                          <a:latin typeface="Calibri"/>
                        </a:rPr>
                        <a:t>100.0</a:t>
                      </a:r>
                    </a:p>
                  </a:txBody>
                  <a:tcPr marL="64008" marR="64008" marT="27432" marB="27432" anchor="ctr">
                    <a:solidFill>
                      <a:srgbClr val="FFFFFF"/>
                    </a:solidFill>
                  </a:tcPr>
                </a:tc>
                <a:tc>
                  <a:txBody>
                    <a:bodyPr wrap="square"/>
                    <a:lstStyle/>
                    <a:p>
                      <a:r>
                        <a:rPr b="0" sz="1300" i="0">
                          <a:solidFill>
                            <a:srgbClr val="1A2233"/>
                          </a:solidFill>
                          <a:latin typeface="Calibri"/>
                        </a:rPr>
                        <a:t>163.8</a:t>
                      </a:r>
                    </a:p>
                  </a:txBody>
                  <a:tcPr marL="64008" marR="64008" marT="27432" marB="27432" anchor="ctr">
                    <a:solidFill>
                      <a:srgbClr val="FFFFFF"/>
                    </a:solidFill>
                  </a:tcPr>
                </a:tc>
                <a:tc>
                  <a:txBody>
                    <a:bodyPr wrap="square"/>
                    <a:lstStyle/>
                    <a:p>
                      <a:r>
                        <a:rPr b="0" sz="1300" i="0">
                          <a:solidFill>
                            <a:srgbClr val="1A2233"/>
                          </a:solidFill>
                          <a:latin typeface="Calibri"/>
                        </a:rPr>
                        <a:t>263.8</a:t>
                      </a:r>
                    </a:p>
                  </a:txBody>
                  <a:tcPr marL="64008" marR="64008" marT="27432" marB="27432" anchor="ctr">
                    <a:solidFill>
                      <a:srgbClr val="FFFFFF"/>
                    </a:solidFill>
                  </a:tcPr>
                </a:tc>
                <a:tc>
                  <a:txBody>
                    <a:bodyPr wrap="square"/>
                    <a:lstStyle/>
                    <a:p>
                      <a:r>
                        <a:rPr b="0" sz="1300" i="0">
                          <a:solidFill>
                            <a:srgbClr val="1A2233"/>
                          </a:solidFill>
                          <a:latin typeface="Calibri"/>
                        </a:rPr>
                        <a:t>836.2</a:t>
                      </a:r>
                    </a:p>
                  </a:txBody>
                  <a:tcPr marL="64008" marR="64008" marT="27432" marB="27432" anchor="ctr">
                    <a:solidFill>
                      <a:srgbClr val="FFFFFF"/>
                    </a:solidFill>
                  </a:tcPr>
                </a:tc>
              </a:tr>
              <a:tr h="384048">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836.2</a:t>
                      </a:r>
                    </a:p>
                  </a:txBody>
                  <a:tcPr marL="64008" marR="64008" marT="27432" marB="27432" anchor="ctr">
                    <a:solidFill>
                      <a:srgbClr val="F3F6F9"/>
                    </a:solidFill>
                  </a:tcPr>
                </a:tc>
                <a:tc>
                  <a:txBody>
                    <a:bodyPr wrap="square"/>
                    <a:lstStyle/>
                    <a:p>
                      <a:r>
                        <a:rPr b="0" sz="1300" i="0">
                          <a:solidFill>
                            <a:srgbClr val="1A2233"/>
                          </a:solidFill>
                          <a:latin typeface="Calibri"/>
                        </a:rPr>
                        <a:t>83.6</a:t>
                      </a:r>
                    </a:p>
                  </a:txBody>
                  <a:tcPr marL="64008" marR="64008" marT="27432" marB="27432" anchor="ctr">
                    <a:solidFill>
                      <a:srgbClr val="F3F6F9"/>
                    </a:solidFill>
                  </a:tcPr>
                </a:tc>
                <a:tc>
                  <a:txBody>
                    <a:bodyPr wrap="square"/>
                    <a:lstStyle/>
                    <a:p>
                      <a:r>
                        <a:rPr b="0" sz="1300" i="0">
                          <a:solidFill>
                            <a:srgbClr val="1A2233"/>
                          </a:solidFill>
                          <a:latin typeface="Calibri"/>
                        </a:rPr>
                        <a:t>180.2</a:t>
                      </a:r>
                    </a:p>
                  </a:txBody>
                  <a:tcPr marL="64008" marR="64008" marT="27432" marB="27432" anchor="ctr">
                    <a:solidFill>
                      <a:srgbClr val="F3F6F9"/>
                    </a:solidFill>
                  </a:tcPr>
                </a:tc>
                <a:tc>
                  <a:txBody>
                    <a:bodyPr wrap="square"/>
                    <a:lstStyle/>
                    <a:p>
                      <a:r>
                        <a:rPr b="0" sz="1300" i="0">
                          <a:solidFill>
                            <a:srgbClr val="1A2233"/>
                          </a:solidFill>
                          <a:latin typeface="Calibri"/>
                        </a:rPr>
                        <a:t>263.8</a:t>
                      </a:r>
                    </a:p>
                  </a:txBody>
                  <a:tcPr marL="64008" marR="64008" marT="27432" marB="27432" anchor="ctr">
                    <a:solidFill>
                      <a:srgbClr val="F3F6F9"/>
                    </a:solidFill>
                  </a:tcPr>
                </a:tc>
                <a:tc>
                  <a:txBody>
                    <a:bodyPr wrap="square"/>
                    <a:lstStyle/>
                    <a:p>
                      <a:r>
                        <a:rPr b="0" sz="1300" i="0">
                          <a:solidFill>
                            <a:srgbClr val="1A2233"/>
                          </a:solidFill>
                          <a:latin typeface="Calibri"/>
                        </a:rPr>
                        <a:t>656.0</a:t>
                      </a:r>
                    </a:p>
                  </a:txBody>
                  <a:tcPr marL="64008" marR="64008" marT="27432" marB="27432" anchor="ctr">
                    <a:solidFill>
                      <a:srgbClr val="F3F6F9"/>
                    </a:solidFill>
                  </a:tcPr>
                </a:tc>
              </a:tr>
              <a:tr h="384048">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656.0</a:t>
                      </a:r>
                    </a:p>
                  </a:txBody>
                  <a:tcPr marL="64008" marR="64008" marT="27432" marB="27432" anchor="ctr">
                    <a:solidFill>
                      <a:srgbClr val="FFFFFF"/>
                    </a:solidFill>
                  </a:tcPr>
                </a:tc>
                <a:tc>
                  <a:txBody>
                    <a:bodyPr wrap="square"/>
                    <a:lstStyle/>
                    <a:p>
                      <a:r>
                        <a:rPr b="0" sz="1300" i="0">
                          <a:solidFill>
                            <a:srgbClr val="1A2233"/>
                          </a:solidFill>
                          <a:latin typeface="Calibri"/>
                        </a:rPr>
                        <a:t>65.6</a:t>
                      </a:r>
                    </a:p>
                  </a:txBody>
                  <a:tcPr marL="64008" marR="64008" marT="27432" marB="27432" anchor="ctr">
                    <a:solidFill>
                      <a:srgbClr val="FFFFFF"/>
                    </a:solidFill>
                  </a:tcPr>
                </a:tc>
                <a:tc>
                  <a:txBody>
                    <a:bodyPr wrap="square"/>
                    <a:lstStyle/>
                    <a:p>
                      <a:r>
                        <a:rPr b="0" sz="1300" i="0">
                          <a:solidFill>
                            <a:srgbClr val="1A2233"/>
                          </a:solidFill>
                          <a:latin typeface="Calibri"/>
                        </a:rPr>
                        <a:t>198.2</a:t>
                      </a:r>
                    </a:p>
                  </a:txBody>
                  <a:tcPr marL="64008" marR="64008" marT="27432" marB="27432" anchor="ctr">
                    <a:solidFill>
                      <a:srgbClr val="FFFFFF"/>
                    </a:solidFill>
                  </a:tcPr>
                </a:tc>
                <a:tc>
                  <a:txBody>
                    <a:bodyPr wrap="square"/>
                    <a:lstStyle/>
                    <a:p>
                      <a:r>
                        <a:rPr b="0" sz="1300" i="0">
                          <a:solidFill>
                            <a:srgbClr val="1A2233"/>
                          </a:solidFill>
                          <a:latin typeface="Calibri"/>
                        </a:rPr>
                        <a:t>263.8</a:t>
                      </a:r>
                    </a:p>
                  </a:txBody>
                  <a:tcPr marL="64008" marR="64008" marT="27432" marB="27432" anchor="ctr">
                    <a:solidFill>
                      <a:srgbClr val="FFFFFF"/>
                    </a:solidFill>
                  </a:tcPr>
                </a:tc>
                <a:tc>
                  <a:txBody>
                    <a:bodyPr wrap="square"/>
                    <a:lstStyle/>
                    <a:p>
                      <a:r>
                        <a:rPr b="0" sz="1300" i="0">
                          <a:solidFill>
                            <a:srgbClr val="1A2233"/>
                          </a:solidFill>
                          <a:latin typeface="Calibri"/>
                        </a:rPr>
                        <a:t>457.8</a:t>
                      </a:r>
                    </a:p>
                  </a:txBody>
                  <a:tcPr marL="64008" marR="64008" marT="27432" marB="27432" anchor="ctr">
                    <a:solidFill>
                      <a:srgbClr val="FFFFFF"/>
                    </a:solidFill>
                  </a:tcPr>
                </a:tc>
              </a:tr>
              <a:tr h="384048">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457.8</a:t>
                      </a:r>
                    </a:p>
                  </a:txBody>
                  <a:tcPr marL="64008" marR="64008" marT="27432" marB="27432" anchor="ctr">
                    <a:solidFill>
                      <a:srgbClr val="F3F6F9"/>
                    </a:solidFill>
                  </a:tcPr>
                </a:tc>
                <a:tc>
                  <a:txBody>
                    <a:bodyPr wrap="square"/>
                    <a:lstStyle/>
                    <a:p>
                      <a:r>
                        <a:rPr b="0" sz="1300" i="0">
                          <a:solidFill>
                            <a:srgbClr val="1A2233"/>
                          </a:solidFill>
                          <a:latin typeface="Calibri"/>
                        </a:rPr>
                        <a:t>45.8</a:t>
                      </a:r>
                    </a:p>
                  </a:txBody>
                  <a:tcPr marL="64008" marR="64008" marT="27432" marB="27432" anchor="ctr">
                    <a:solidFill>
                      <a:srgbClr val="F3F6F9"/>
                    </a:solidFill>
                  </a:tcPr>
                </a:tc>
                <a:tc>
                  <a:txBody>
                    <a:bodyPr wrap="square"/>
                    <a:lstStyle/>
                    <a:p>
                      <a:r>
                        <a:rPr b="0" sz="1300" i="0">
                          <a:solidFill>
                            <a:srgbClr val="1A2233"/>
                          </a:solidFill>
                          <a:latin typeface="Calibri"/>
                        </a:rPr>
                        <a:t>218.0</a:t>
                      </a:r>
                    </a:p>
                  </a:txBody>
                  <a:tcPr marL="64008" marR="64008" marT="27432" marB="27432" anchor="ctr">
                    <a:solidFill>
                      <a:srgbClr val="F3F6F9"/>
                    </a:solidFill>
                  </a:tcPr>
                </a:tc>
                <a:tc>
                  <a:txBody>
                    <a:bodyPr wrap="square"/>
                    <a:lstStyle/>
                    <a:p>
                      <a:r>
                        <a:rPr b="0" sz="1300" i="0">
                          <a:solidFill>
                            <a:srgbClr val="1A2233"/>
                          </a:solidFill>
                          <a:latin typeface="Calibri"/>
                        </a:rPr>
                        <a:t>263.8</a:t>
                      </a:r>
                    </a:p>
                  </a:txBody>
                  <a:tcPr marL="64008" marR="64008" marT="27432" marB="27432" anchor="ctr">
                    <a:solidFill>
                      <a:srgbClr val="F3F6F9"/>
                    </a:solidFill>
                  </a:tcPr>
                </a:tc>
                <a:tc>
                  <a:txBody>
                    <a:bodyPr wrap="square"/>
                    <a:lstStyle/>
                    <a:p>
                      <a:r>
                        <a:rPr b="0" sz="1300" i="0">
                          <a:solidFill>
                            <a:srgbClr val="1A2233"/>
                          </a:solidFill>
                          <a:latin typeface="Calibri"/>
                        </a:rPr>
                        <a:t>239.8</a:t>
                      </a:r>
                    </a:p>
                  </a:txBody>
                  <a:tcPr marL="64008" marR="64008" marT="27432" marB="27432" anchor="ctr">
                    <a:solidFill>
                      <a:srgbClr val="F3F6F9"/>
                    </a:solidFill>
                  </a:tcPr>
                </a:tc>
              </a:tr>
              <a:tr h="384048">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239.8</a:t>
                      </a:r>
                    </a:p>
                  </a:txBody>
                  <a:tcPr marL="64008" marR="64008" marT="27432" marB="27432" anchor="ctr">
                    <a:solidFill>
                      <a:srgbClr val="FFFFFF"/>
                    </a:solidFill>
                  </a:tcPr>
                </a:tc>
                <a:tc>
                  <a:txBody>
                    <a:bodyPr wrap="square"/>
                    <a:lstStyle/>
                    <a:p>
                      <a:r>
                        <a:rPr b="0" sz="1300" i="0">
                          <a:solidFill>
                            <a:srgbClr val="1A2233"/>
                          </a:solidFill>
                          <a:latin typeface="Calibri"/>
                        </a:rPr>
                        <a:t>24.0</a:t>
                      </a:r>
                    </a:p>
                  </a:txBody>
                  <a:tcPr marL="64008" marR="64008" marT="27432" marB="27432" anchor="ctr">
                    <a:solidFill>
                      <a:srgbClr val="FFFFFF"/>
                    </a:solidFill>
                  </a:tcPr>
                </a:tc>
                <a:tc>
                  <a:txBody>
                    <a:bodyPr wrap="square"/>
                    <a:lstStyle/>
                    <a:p>
                      <a:r>
                        <a:rPr b="0" sz="1300" i="0">
                          <a:solidFill>
                            <a:srgbClr val="1A2233"/>
                          </a:solidFill>
                          <a:latin typeface="Calibri"/>
                        </a:rPr>
                        <a:t>239.8</a:t>
                      </a:r>
                    </a:p>
                  </a:txBody>
                  <a:tcPr marL="64008" marR="64008" marT="27432" marB="27432" anchor="ctr">
                    <a:solidFill>
                      <a:srgbClr val="FFFFFF"/>
                    </a:solidFill>
                  </a:tcPr>
                </a:tc>
                <a:tc>
                  <a:txBody>
                    <a:bodyPr wrap="square"/>
                    <a:lstStyle/>
                    <a:p>
                      <a:r>
                        <a:rPr b="0" sz="1300" i="0">
                          <a:solidFill>
                            <a:srgbClr val="1A2233"/>
                          </a:solidFill>
                          <a:latin typeface="Calibri"/>
                        </a:rPr>
                        <a:t>263.8</a:t>
                      </a:r>
                    </a:p>
                  </a:txBody>
                  <a:tcPr marL="64008" marR="64008" marT="27432" marB="27432" anchor="ctr">
                    <a:solidFill>
                      <a:srgbClr val="FFFFFF"/>
                    </a:solidFill>
                  </a:tcPr>
                </a:tc>
                <a:tc>
                  <a:txBody>
                    <a:bodyPr wrap="square"/>
                    <a:lstStyle/>
                    <a:p>
                      <a:r>
                        <a:rPr b="0" sz="1300" i="0">
                          <a:solidFill>
                            <a:srgbClr val="1A2233"/>
                          </a:solidFill>
                          <a:latin typeface="Calibri"/>
                        </a:rPr>
                        <a:t>0.0</a:t>
                      </a:r>
                    </a:p>
                  </a:txBody>
                  <a:tcPr marL="64008" marR="64008" marT="27432" marB="27432" anchor="ctr">
                    <a:solidFill>
                      <a:srgbClr val="FFFFFF"/>
                    </a:solidFill>
                  </a:tcPr>
                </a:tc>
              </a:tr>
            </a:tbl>
          </a:graphicData>
        </a:graphic>
      </p:graphicFrame>
      <p:sp>
        <p:nvSpPr>
          <p:cNvPr id="12" name="Rectangle 11"/>
          <p:cNvSpPr/>
          <p:nvPr/>
        </p:nvSpPr>
        <p:spPr>
          <a:xfrm>
            <a:off x="548640" y="4206240"/>
            <a:ext cx="11064240" cy="73152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06240"/>
            <a:ext cx="82296" cy="73152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0624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Annuity payment = PMT(10%, 5, −1000) = 263.80. Total interest = 319.0.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Same loan: straight-line principal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1097280"/>
                <a:gridCol w="2011680"/>
                <a:gridCol w="2011680"/>
                <a:gridCol w="2011680"/>
                <a:gridCol w="2011680"/>
                <a:gridCol w="1920240"/>
              </a:tblGrid>
              <a:tr h="384048">
                <a:tc>
                  <a:txBody>
                    <a:bodyPr wrap="square"/>
                    <a:lstStyle/>
                    <a:p>
                      <a:r>
                        <a:rPr b="1" sz="1300" i="0">
                          <a:solidFill>
                            <a:srgbClr val="FFFFFF"/>
                          </a:solidFill>
                          <a:latin typeface="Calibri"/>
                        </a:rPr>
                        <a:t>Year</a:t>
                      </a:r>
                    </a:p>
                  </a:txBody>
                  <a:tcPr marL="64008" marR="64008" marT="27432" marB="27432" anchor="ctr">
                    <a:solidFill>
                      <a:srgbClr val="141B4D"/>
                    </a:solidFill>
                  </a:tcPr>
                </a:tc>
                <a:tc>
                  <a:txBody>
                    <a:bodyPr wrap="square"/>
                    <a:lstStyle/>
                    <a:p>
                      <a:r>
                        <a:rPr b="1" sz="1300" i="0">
                          <a:solidFill>
                            <a:srgbClr val="FFFFFF"/>
                          </a:solidFill>
                          <a:latin typeface="Calibri"/>
                        </a:rPr>
                        <a:t>Opening</a:t>
                      </a:r>
                    </a:p>
                  </a:txBody>
                  <a:tcPr marL="64008" marR="64008" marT="27432" marB="27432" anchor="ctr">
                    <a:solidFill>
                      <a:srgbClr val="141B4D"/>
                    </a:solidFill>
                  </a:tcPr>
                </a:tc>
                <a:tc>
                  <a:txBody>
                    <a:bodyPr wrap="square"/>
                    <a:lstStyle/>
                    <a:p>
                      <a:r>
                        <a:rPr b="1" sz="1300" i="0">
                          <a:solidFill>
                            <a:srgbClr val="FFFFFF"/>
                          </a:solidFill>
                          <a:latin typeface="Calibri"/>
                        </a:rPr>
                        <a:t>Interest</a:t>
                      </a:r>
                    </a:p>
                  </a:txBody>
                  <a:tcPr marL="64008" marR="64008" marT="27432" marB="27432" anchor="ctr">
                    <a:solidFill>
                      <a:srgbClr val="141B4D"/>
                    </a:solidFill>
                  </a:tcPr>
                </a:tc>
                <a:tc>
                  <a:txBody>
                    <a:bodyPr wrap="square"/>
                    <a:lstStyle/>
                    <a:p>
                      <a:r>
                        <a:rPr b="1" sz="1300" i="0">
                          <a:solidFill>
                            <a:srgbClr val="FFFFFF"/>
                          </a:solidFill>
                          <a:latin typeface="Calibri"/>
                        </a:rPr>
                        <a:t>Principal</a:t>
                      </a:r>
                    </a:p>
                  </a:txBody>
                  <a:tcPr marL="64008" marR="64008" marT="27432" marB="27432" anchor="ctr">
                    <a:solidFill>
                      <a:srgbClr val="141B4D"/>
                    </a:solidFill>
                  </a:tcPr>
                </a:tc>
                <a:tc>
                  <a:txBody>
                    <a:bodyPr wrap="square"/>
                    <a:lstStyle/>
                    <a:p>
                      <a:r>
                        <a:rPr b="1" sz="1300" i="0">
                          <a:solidFill>
                            <a:srgbClr val="FFFFFF"/>
                          </a:solidFill>
                          <a:latin typeface="Calibri"/>
                        </a:rPr>
                        <a:t>Payment</a:t>
                      </a:r>
                    </a:p>
                  </a:txBody>
                  <a:tcPr marL="64008" marR="64008" marT="27432" marB="27432" anchor="ctr">
                    <a:solidFill>
                      <a:srgbClr val="141B4D"/>
                    </a:solidFill>
                  </a:tcPr>
                </a:tc>
                <a:tc>
                  <a:txBody>
                    <a:bodyPr wrap="square"/>
                    <a:lstStyle/>
                    <a:p>
                      <a:r>
                        <a:rPr b="1" sz="1300" i="0">
                          <a:solidFill>
                            <a:srgbClr val="FFFFFF"/>
                          </a:solidFill>
                          <a:latin typeface="Calibri"/>
                        </a:rPr>
                        <a:t>Closing</a:t>
                      </a:r>
                    </a:p>
                  </a:txBody>
                  <a:tcPr marL="64008" marR="64008" marT="27432" marB="27432" anchor="ctr">
                    <a:solidFill>
                      <a:srgbClr val="141B4D"/>
                    </a:solidFill>
                  </a:tcPr>
                </a:tc>
              </a:tr>
              <a:tr h="384048">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1,000.0</a:t>
                      </a:r>
                    </a:p>
                  </a:txBody>
                  <a:tcPr marL="64008" marR="64008" marT="27432" marB="27432" anchor="ctr">
                    <a:solidFill>
                      <a:srgbClr val="FFFFFF"/>
                    </a:solidFill>
                  </a:tcPr>
                </a:tc>
                <a:tc>
                  <a:txBody>
                    <a:bodyPr wrap="square"/>
                    <a:lstStyle/>
                    <a:p>
                      <a:r>
                        <a:rPr b="0" sz="1300" i="0">
                          <a:solidFill>
                            <a:srgbClr val="1A2233"/>
                          </a:solidFill>
                          <a:latin typeface="Calibri"/>
                        </a:rPr>
                        <a:t>100.0</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300.0</a:t>
                      </a:r>
                    </a:p>
                  </a:txBody>
                  <a:tcPr marL="64008" marR="64008" marT="27432" marB="27432" anchor="ctr">
                    <a:solidFill>
                      <a:srgbClr val="FFFFFF"/>
                    </a:solidFill>
                  </a:tcPr>
                </a:tc>
                <a:tc>
                  <a:txBody>
                    <a:bodyPr wrap="square"/>
                    <a:lstStyle/>
                    <a:p>
                      <a:r>
                        <a:rPr b="0" sz="1300" i="0">
                          <a:solidFill>
                            <a:srgbClr val="1A2233"/>
                          </a:solidFill>
                          <a:latin typeface="Calibri"/>
                        </a:rPr>
                        <a:t>800.0</a:t>
                      </a:r>
                    </a:p>
                  </a:txBody>
                  <a:tcPr marL="64008" marR="64008" marT="27432" marB="27432" anchor="ctr">
                    <a:solidFill>
                      <a:srgbClr val="FFFFFF"/>
                    </a:solidFill>
                  </a:tcPr>
                </a:tc>
              </a:tr>
              <a:tr h="384048">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800.0</a:t>
                      </a:r>
                    </a:p>
                  </a:txBody>
                  <a:tcPr marL="64008" marR="64008" marT="27432" marB="27432" anchor="ctr">
                    <a:solidFill>
                      <a:srgbClr val="F3F6F9"/>
                    </a:solidFill>
                  </a:tcPr>
                </a:tc>
                <a:tc>
                  <a:txBody>
                    <a:bodyPr wrap="square"/>
                    <a:lstStyle/>
                    <a:p>
                      <a:r>
                        <a:rPr b="0" sz="1300" i="0">
                          <a:solidFill>
                            <a:srgbClr val="1A2233"/>
                          </a:solidFill>
                          <a:latin typeface="Calibri"/>
                        </a:rPr>
                        <a:t>80.0</a:t>
                      </a:r>
                    </a:p>
                  </a:txBody>
                  <a:tcPr marL="64008" marR="64008" marT="27432" marB="27432" anchor="ctr">
                    <a:solidFill>
                      <a:srgbClr val="F3F6F9"/>
                    </a:solidFill>
                  </a:tcPr>
                </a:tc>
                <a:tc>
                  <a:txBody>
                    <a:bodyPr wrap="square"/>
                    <a:lstStyle/>
                    <a:p>
                      <a:r>
                        <a:rPr b="0" sz="1300" i="0">
                          <a:solidFill>
                            <a:srgbClr val="1A2233"/>
                          </a:solidFill>
                          <a:latin typeface="Calibri"/>
                        </a:rPr>
                        <a:t>200.0</a:t>
                      </a:r>
                    </a:p>
                  </a:txBody>
                  <a:tcPr marL="64008" marR="64008" marT="27432" marB="27432" anchor="ctr">
                    <a:solidFill>
                      <a:srgbClr val="F3F6F9"/>
                    </a:solidFill>
                  </a:tcPr>
                </a:tc>
                <a:tc>
                  <a:txBody>
                    <a:bodyPr wrap="square"/>
                    <a:lstStyle/>
                    <a:p>
                      <a:r>
                        <a:rPr b="0" sz="1300" i="0">
                          <a:solidFill>
                            <a:srgbClr val="1A2233"/>
                          </a:solidFill>
                          <a:latin typeface="Calibri"/>
                        </a:rPr>
                        <a:t>280.0</a:t>
                      </a:r>
                    </a:p>
                  </a:txBody>
                  <a:tcPr marL="64008" marR="64008" marT="27432" marB="27432" anchor="ctr">
                    <a:solidFill>
                      <a:srgbClr val="F3F6F9"/>
                    </a:solidFill>
                  </a:tcPr>
                </a:tc>
                <a:tc>
                  <a:txBody>
                    <a:bodyPr wrap="square"/>
                    <a:lstStyle/>
                    <a:p>
                      <a:r>
                        <a:rPr b="0" sz="1300" i="0">
                          <a:solidFill>
                            <a:srgbClr val="1A2233"/>
                          </a:solidFill>
                          <a:latin typeface="Calibri"/>
                        </a:rPr>
                        <a:t>600.0</a:t>
                      </a:r>
                    </a:p>
                  </a:txBody>
                  <a:tcPr marL="64008" marR="64008" marT="27432" marB="27432" anchor="ctr">
                    <a:solidFill>
                      <a:srgbClr val="F3F6F9"/>
                    </a:solidFill>
                  </a:tcPr>
                </a:tc>
              </a:tr>
              <a:tr h="384048">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600.0</a:t>
                      </a:r>
                    </a:p>
                  </a:txBody>
                  <a:tcPr marL="64008" marR="64008" marT="27432" marB="27432" anchor="ctr">
                    <a:solidFill>
                      <a:srgbClr val="FFFFFF"/>
                    </a:solidFill>
                  </a:tcPr>
                </a:tc>
                <a:tc>
                  <a:txBody>
                    <a:bodyPr wrap="square"/>
                    <a:lstStyle/>
                    <a:p>
                      <a:r>
                        <a:rPr b="0" sz="1300" i="0">
                          <a:solidFill>
                            <a:srgbClr val="1A2233"/>
                          </a:solidFill>
                          <a:latin typeface="Calibri"/>
                        </a:rPr>
                        <a:t>60.0</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260.0</a:t>
                      </a:r>
                    </a:p>
                  </a:txBody>
                  <a:tcPr marL="64008" marR="64008" marT="27432" marB="27432" anchor="ctr">
                    <a:solidFill>
                      <a:srgbClr val="FFFFFF"/>
                    </a:solidFill>
                  </a:tcPr>
                </a:tc>
                <a:tc>
                  <a:txBody>
                    <a:bodyPr wrap="square"/>
                    <a:lstStyle/>
                    <a:p>
                      <a:r>
                        <a:rPr b="0" sz="1300" i="0">
                          <a:solidFill>
                            <a:srgbClr val="1A2233"/>
                          </a:solidFill>
                          <a:latin typeface="Calibri"/>
                        </a:rPr>
                        <a:t>400.0</a:t>
                      </a:r>
                    </a:p>
                  </a:txBody>
                  <a:tcPr marL="64008" marR="64008" marT="27432" marB="27432" anchor="ctr">
                    <a:solidFill>
                      <a:srgbClr val="FFFFFF"/>
                    </a:solidFill>
                  </a:tcPr>
                </a:tc>
              </a:tr>
              <a:tr h="384048">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400.0</a:t>
                      </a:r>
                    </a:p>
                  </a:txBody>
                  <a:tcPr marL="64008" marR="64008" marT="27432" marB="27432" anchor="ctr">
                    <a:solidFill>
                      <a:srgbClr val="F3F6F9"/>
                    </a:solidFill>
                  </a:tcPr>
                </a:tc>
                <a:tc>
                  <a:txBody>
                    <a:bodyPr wrap="square"/>
                    <a:lstStyle/>
                    <a:p>
                      <a:r>
                        <a:rPr b="0" sz="1300" i="0">
                          <a:solidFill>
                            <a:srgbClr val="1A2233"/>
                          </a:solidFill>
                          <a:latin typeface="Calibri"/>
                        </a:rPr>
                        <a:t>40.0</a:t>
                      </a:r>
                    </a:p>
                  </a:txBody>
                  <a:tcPr marL="64008" marR="64008" marT="27432" marB="27432" anchor="ctr">
                    <a:solidFill>
                      <a:srgbClr val="F3F6F9"/>
                    </a:solidFill>
                  </a:tcPr>
                </a:tc>
                <a:tc>
                  <a:txBody>
                    <a:bodyPr wrap="square"/>
                    <a:lstStyle/>
                    <a:p>
                      <a:r>
                        <a:rPr b="0" sz="1300" i="0">
                          <a:solidFill>
                            <a:srgbClr val="1A2233"/>
                          </a:solidFill>
                          <a:latin typeface="Calibri"/>
                        </a:rPr>
                        <a:t>200.0</a:t>
                      </a:r>
                    </a:p>
                  </a:txBody>
                  <a:tcPr marL="64008" marR="64008" marT="27432" marB="27432" anchor="ctr">
                    <a:solidFill>
                      <a:srgbClr val="F3F6F9"/>
                    </a:solidFill>
                  </a:tcPr>
                </a:tc>
                <a:tc>
                  <a:txBody>
                    <a:bodyPr wrap="square"/>
                    <a:lstStyle/>
                    <a:p>
                      <a:r>
                        <a:rPr b="0" sz="1300" i="0">
                          <a:solidFill>
                            <a:srgbClr val="1A2233"/>
                          </a:solidFill>
                          <a:latin typeface="Calibri"/>
                        </a:rPr>
                        <a:t>240.0</a:t>
                      </a:r>
                    </a:p>
                  </a:txBody>
                  <a:tcPr marL="64008" marR="64008" marT="27432" marB="27432" anchor="ctr">
                    <a:solidFill>
                      <a:srgbClr val="F3F6F9"/>
                    </a:solidFill>
                  </a:tcPr>
                </a:tc>
                <a:tc>
                  <a:txBody>
                    <a:bodyPr wrap="square"/>
                    <a:lstStyle/>
                    <a:p>
                      <a:r>
                        <a:rPr b="0" sz="1300" i="0">
                          <a:solidFill>
                            <a:srgbClr val="1A2233"/>
                          </a:solidFill>
                          <a:latin typeface="Calibri"/>
                        </a:rPr>
                        <a:t>200.0</a:t>
                      </a:r>
                    </a:p>
                  </a:txBody>
                  <a:tcPr marL="64008" marR="64008" marT="27432" marB="27432" anchor="ctr">
                    <a:solidFill>
                      <a:srgbClr val="F3F6F9"/>
                    </a:solidFill>
                  </a:tcPr>
                </a:tc>
              </a:tr>
              <a:tr h="384048">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20.0</a:t>
                      </a:r>
                    </a:p>
                  </a:txBody>
                  <a:tcPr marL="64008" marR="64008" marT="27432" marB="27432" anchor="ctr">
                    <a:solidFill>
                      <a:srgbClr val="FFFFFF"/>
                    </a:solidFill>
                  </a:tcPr>
                </a:tc>
                <a:tc>
                  <a:txBody>
                    <a:bodyPr wrap="square"/>
                    <a:lstStyle/>
                    <a:p>
                      <a:r>
                        <a:rPr b="0" sz="1300" i="0">
                          <a:solidFill>
                            <a:srgbClr val="1A2233"/>
                          </a:solidFill>
                          <a:latin typeface="Calibri"/>
                        </a:rPr>
                        <a:t>200.0</a:t>
                      </a:r>
                    </a:p>
                  </a:txBody>
                  <a:tcPr marL="64008" marR="64008" marT="27432" marB="27432" anchor="ctr">
                    <a:solidFill>
                      <a:srgbClr val="FFFFFF"/>
                    </a:solidFill>
                  </a:tcPr>
                </a:tc>
                <a:tc>
                  <a:txBody>
                    <a:bodyPr wrap="square"/>
                    <a:lstStyle/>
                    <a:p>
                      <a:r>
                        <a:rPr b="0" sz="1300" i="0">
                          <a:solidFill>
                            <a:srgbClr val="1A2233"/>
                          </a:solidFill>
                          <a:latin typeface="Calibri"/>
                        </a:rPr>
                        <a:t>220.0</a:t>
                      </a:r>
                    </a:p>
                  </a:txBody>
                  <a:tcPr marL="64008" marR="64008" marT="27432" marB="27432" anchor="ctr">
                    <a:solidFill>
                      <a:srgbClr val="FFFFFF"/>
                    </a:solidFill>
                  </a:tcPr>
                </a:tc>
                <a:tc>
                  <a:txBody>
                    <a:bodyPr wrap="square"/>
                    <a:lstStyle/>
                    <a:p>
                      <a:r>
                        <a:rPr b="0" sz="1300" i="0">
                          <a:solidFill>
                            <a:srgbClr val="1A2233"/>
                          </a:solidFill>
                          <a:latin typeface="Calibri"/>
                        </a:rPr>
                        <a:t>0.0</a:t>
                      </a:r>
                    </a:p>
                  </a:txBody>
                  <a:tcPr marL="64008" marR="64008" marT="27432" marB="27432" anchor="ctr">
                    <a:solidFill>
                      <a:srgbClr val="FFFFFF"/>
                    </a:solidFill>
                  </a:tcPr>
                </a:tc>
              </a:tr>
            </a:tbl>
          </a:graphicData>
        </a:graphic>
      </p:graphicFrame>
      <p:sp>
        <p:nvSpPr>
          <p:cNvPr id="12" name="Rectangle 11"/>
          <p:cNvSpPr/>
          <p:nvPr/>
        </p:nvSpPr>
        <p:spPr>
          <a:xfrm>
            <a:off x="548640" y="4206240"/>
            <a:ext cx="11064240" cy="73152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06240"/>
            <a:ext cx="82296" cy="73152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0624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Total interest = 300.0 (lower than the annuity's 319.0 because principal is repaid sooner), but early payments are higher.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SCULPTING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Sculpting: cash flow varies, debt service follows (target DSCR 1.5x)</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1097280"/>
                <a:gridCol w="2011680"/>
                <a:gridCol w="2011680"/>
                <a:gridCol w="2011680"/>
                <a:gridCol w="2011680"/>
                <a:gridCol w="1920240"/>
              </a:tblGrid>
              <a:tr h="384048">
                <a:tc>
                  <a:txBody>
                    <a:bodyPr wrap="square"/>
                    <a:lstStyle/>
                    <a:p>
                      <a:r>
                        <a:rPr b="1" sz="1300" i="0">
                          <a:solidFill>
                            <a:srgbClr val="FFFFFF"/>
                          </a:solidFill>
                          <a:latin typeface="Calibri"/>
                        </a:rPr>
                        <a:t>Year</a:t>
                      </a:r>
                    </a:p>
                  </a:txBody>
                  <a:tcPr marL="64008" marR="64008" marT="27432" marB="27432" anchor="ctr">
                    <a:solidFill>
                      <a:srgbClr val="141B4D"/>
                    </a:solidFill>
                  </a:tcPr>
                </a:tc>
                <a:tc>
                  <a:txBody>
                    <a:bodyPr wrap="square"/>
                    <a:lstStyle/>
                    <a:p>
                      <a:r>
                        <a:rPr b="1" sz="1300" i="0">
                          <a:solidFill>
                            <a:srgbClr val="FFFFFF"/>
                          </a:solidFill>
                          <a:latin typeface="Calibri"/>
                        </a:rPr>
                        <a:t>CFADS</a:t>
                      </a:r>
                    </a:p>
                  </a:txBody>
                  <a:tcPr marL="64008" marR="64008" marT="27432" marB="27432" anchor="ctr">
                    <a:solidFill>
                      <a:srgbClr val="141B4D"/>
                    </a:solidFill>
                  </a:tcPr>
                </a:tc>
                <a:tc>
                  <a:txBody>
                    <a:bodyPr wrap="square"/>
                    <a:lstStyle/>
                    <a:p>
                      <a:r>
                        <a:rPr b="1" sz="1300" i="0">
                          <a:solidFill>
                            <a:srgbClr val="FFFFFF"/>
                          </a:solidFill>
                          <a:latin typeface="Calibri"/>
                        </a:rPr>
                        <a:t>Debt service</a:t>
                      </a:r>
                    </a:p>
                  </a:txBody>
                  <a:tcPr marL="64008" marR="64008" marT="27432" marB="27432" anchor="ctr">
                    <a:solidFill>
                      <a:srgbClr val="141B4D"/>
                    </a:solidFill>
                  </a:tcPr>
                </a:tc>
                <a:tc>
                  <a:txBody>
                    <a:bodyPr wrap="square"/>
                    <a:lstStyle/>
                    <a:p>
                      <a:r>
                        <a:rPr b="1" sz="1300" i="0">
                          <a:solidFill>
                            <a:srgbClr val="FFFFFF"/>
                          </a:solidFill>
                          <a:latin typeface="Calibri"/>
                        </a:rPr>
                        <a:t>Interest</a:t>
                      </a:r>
                    </a:p>
                  </a:txBody>
                  <a:tcPr marL="64008" marR="64008" marT="27432" marB="27432" anchor="ctr">
                    <a:solidFill>
                      <a:srgbClr val="141B4D"/>
                    </a:solidFill>
                  </a:tcPr>
                </a:tc>
                <a:tc>
                  <a:txBody>
                    <a:bodyPr wrap="square"/>
                    <a:lstStyle/>
                    <a:p>
                      <a:r>
                        <a:rPr b="1" sz="1300" i="0">
                          <a:solidFill>
                            <a:srgbClr val="FFFFFF"/>
                          </a:solidFill>
                          <a:latin typeface="Calibri"/>
                        </a:rPr>
                        <a:t>Principal</a:t>
                      </a:r>
                    </a:p>
                  </a:txBody>
                  <a:tcPr marL="64008" marR="64008" marT="27432" marB="27432" anchor="ctr">
                    <a:solidFill>
                      <a:srgbClr val="141B4D"/>
                    </a:solidFill>
                  </a:tcPr>
                </a:tc>
                <a:tc>
                  <a:txBody>
                    <a:bodyPr wrap="square"/>
                    <a:lstStyle/>
                    <a:p>
                      <a:r>
                        <a:rPr b="1" sz="1300" i="0">
                          <a:solidFill>
                            <a:srgbClr val="FFFFFF"/>
                          </a:solidFill>
                          <a:latin typeface="Calibri"/>
                        </a:rPr>
                        <a:t>Closing</a:t>
                      </a:r>
                    </a:p>
                  </a:txBody>
                  <a:tcPr marL="64008" marR="64008" marT="27432" marB="27432" anchor="ctr">
                    <a:solidFill>
                      <a:srgbClr val="141B4D"/>
                    </a:solidFill>
                  </a:tcPr>
                </a:tc>
              </a:tr>
              <a:tr h="384048">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330.0</a:t>
                      </a:r>
                    </a:p>
                  </a:txBody>
                  <a:tcPr marL="64008" marR="64008" marT="27432" marB="27432" anchor="ctr">
                    <a:solidFill>
                      <a:srgbClr val="FFFFFF"/>
                    </a:solidFill>
                  </a:tcPr>
                </a:tc>
                <a:tc>
                  <a:txBody>
                    <a:bodyPr wrap="square"/>
                    <a:lstStyle/>
                    <a:p>
                      <a:r>
                        <a:rPr b="0" sz="1300" i="0">
                          <a:solidFill>
                            <a:srgbClr val="1A2233"/>
                          </a:solidFill>
                          <a:latin typeface="Calibri"/>
                        </a:rPr>
                        <a:t>220.0</a:t>
                      </a:r>
                    </a:p>
                  </a:txBody>
                  <a:tcPr marL="64008" marR="64008" marT="27432" marB="27432" anchor="ctr">
                    <a:solidFill>
                      <a:srgbClr val="FFFFFF"/>
                    </a:solidFill>
                  </a:tcPr>
                </a:tc>
                <a:tc>
                  <a:txBody>
                    <a:bodyPr wrap="square"/>
                    <a:lstStyle/>
                    <a:p>
                      <a:r>
                        <a:rPr b="0" sz="1300" i="0">
                          <a:solidFill>
                            <a:srgbClr val="1A2233"/>
                          </a:solidFill>
                          <a:latin typeface="Calibri"/>
                        </a:rPr>
                        <a:t>101.6</a:t>
                      </a:r>
                    </a:p>
                  </a:txBody>
                  <a:tcPr marL="64008" marR="64008" marT="27432" marB="27432" anchor="ctr">
                    <a:solidFill>
                      <a:srgbClr val="FFFFFF"/>
                    </a:solidFill>
                  </a:tcPr>
                </a:tc>
                <a:tc>
                  <a:txBody>
                    <a:bodyPr wrap="square"/>
                    <a:lstStyle/>
                    <a:p>
                      <a:r>
                        <a:rPr b="0" sz="1300" i="0">
                          <a:solidFill>
                            <a:srgbClr val="1A2233"/>
                          </a:solidFill>
                          <a:latin typeface="Calibri"/>
                        </a:rPr>
                        <a:t>118.4</a:t>
                      </a:r>
                    </a:p>
                  </a:txBody>
                  <a:tcPr marL="64008" marR="64008" marT="27432" marB="27432" anchor="ctr">
                    <a:solidFill>
                      <a:srgbClr val="FFFFFF"/>
                    </a:solidFill>
                  </a:tcPr>
                </a:tc>
                <a:tc>
                  <a:txBody>
                    <a:bodyPr wrap="square"/>
                    <a:lstStyle/>
                    <a:p>
                      <a:r>
                        <a:rPr b="0" sz="1300" i="0">
                          <a:solidFill>
                            <a:srgbClr val="1A2233"/>
                          </a:solidFill>
                          <a:latin typeface="Calibri"/>
                        </a:rPr>
                        <a:t>897.6</a:t>
                      </a:r>
                    </a:p>
                  </a:txBody>
                  <a:tcPr marL="64008" marR="64008" marT="27432" marB="27432" anchor="ctr">
                    <a:solidFill>
                      <a:srgbClr val="FFFFFF"/>
                    </a:solidFill>
                  </a:tcPr>
                </a:tc>
              </a:tr>
              <a:tr h="384048">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380.0</a:t>
                      </a:r>
                    </a:p>
                  </a:txBody>
                  <a:tcPr marL="64008" marR="64008" marT="27432" marB="27432" anchor="ctr">
                    <a:solidFill>
                      <a:srgbClr val="F3F6F9"/>
                    </a:solidFill>
                  </a:tcPr>
                </a:tc>
                <a:tc>
                  <a:txBody>
                    <a:bodyPr wrap="square"/>
                    <a:lstStyle/>
                    <a:p>
                      <a:r>
                        <a:rPr b="0" sz="1300" i="0">
                          <a:solidFill>
                            <a:srgbClr val="1A2233"/>
                          </a:solidFill>
                          <a:latin typeface="Calibri"/>
                        </a:rPr>
                        <a:t>253.3</a:t>
                      </a:r>
                    </a:p>
                  </a:txBody>
                  <a:tcPr marL="64008" marR="64008" marT="27432" marB="27432" anchor="ctr">
                    <a:solidFill>
                      <a:srgbClr val="F3F6F9"/>
                    </a:solidFill>
                  </a:tcPr>
                </a:tc>
                <a:tc>
                  <a:txBody>
                    <a:bodyPr wrap="square"/>
                    <a:lstStyle/>
                    <a:p>
                      <a:r>
                        <a:rPr b="0" sz="1300" i="0">
                          <a:solidFill>
                            <a:srgbClr val="1A2233"/>
                          </a:solidFill>
                          <a:latin typeface="Calibri"/>
                        </a:rPr>
                        <a:t>89.8</a:t>
                      </a:r>
                    </a:p>
                  </a:txBody>
                  <a:tcPr marL="64008" marR="64008" marT="27432" marB="27432" anchor="ctr">
                    <a:solidFill>
                      <a:srgbClr val="F3F6F9"/>
                    </a:solidFill>
                  </a:tcPr>
                </a:tc>
                <a:tc>
                  <a:txBody>
                    <a:bodyPr wrap="square"/>
                    <a:lstStyle/>
                    <a:p>
                      <a:r>
                        <a:rPr b="0" sz="1300" i="0">
                          <a:solidFill>
                            <a:srgbClr val="1A2233"/>
                          </a:solidFill>
                          <a:latin typeface="Calibri"/>
                        </a:rPr>
                        <a:t>163.6</a:t>
                      </a:r>
                    </a:p>
                  </a:txBody>
                  <a:tcPr marL="64008" marR="64008" marT="27432" marB="27432" anchor="ctr">
                    <a:solidFill>
                      <a:srgbClr val="F3F6F9"/>
                    </a:solidFill>
                  </a:tcPr>
                </a:tc>
                <a:tc>
                  <a:txBody>
                    <a:bodyPr wrap="square"/>
                    <a:lstStyle/>
                    <a:p>
                      <a:r>
                        <a:rPr b="0" sz="1300" i="0">
                          <a:solidFill>
                            <a:srgbClr val="1A2233"/>
                          </a:solidFill>
                          <a:latin typeface="Calibri"/>
                        </a:rPr>
                        <a:t>734.0</a:t>
                      </a:r>
                    </a:p>
                  </a:txBody>
                  <a:tcPr marL="64008" marR="64008" marT="27432" marB="27432" anchor="ctr">
                    <a:solidFill>
                      <a:srgbClr val="F3F6F9"/>
                    </a:solidFill>
                  </a:tcPr>
                </a:tc>
              </a:tr>
              <a:tr h="384048">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450.0</a:t>
                      </a:r>
                    </a:p>
                  </a:txBody>
                  <a:tcPr marL="64008" marR="64008" marT="27432" marB="27432" anchor="ctr">
                    <a:solidFill>
                      <a:srgbClr val="FFFFFF"/>
                    </a:solidFill>
                  </a:tcPr>
                </a:tc>
                <a:tc>
                  <a:txBody>
                    <a:bodyPr wrap="square"/>
                    <a:lstStyle/>
                    <a:p>
                      <a:r>
                        <a:rPr b="0" sz="1300" i="0">
                          <a:solidFill>
                            <a:srgbClr val="1A2233"/>
                          </a:solidFill>
                          <a:latin typeface="Calibri"/>
                        </a:rPr>
                        <a:t>300.0</a:t>
                      </a:r>
                    </a:p>
                  </a:txBody>
                  <a:tcPr marL="64008" marR="64008" marT="27432" marB="27432" anchor="ctr">
                    <a:solidFill>
                      <a:srgbClr val="FFFFFF"/>
                    </a:solidFill>
                  </a:tcPr>
                </a:tc>
                <a:tc>
                  <a:txBody>
                    <a:bodyPr wrap="square"/>
                    <a:lstStyle/>
                    <a:p>
                      <a:r>
                        <a:rPr b="0" sz="1300" i="0">
                          <a:solidFill>
                            <a:srgbClr val="1A2233"/>
                          </a:solidFill>
                          <a:latin typeface="Calibri"/>
                        </a:rPr>
                        <a:t>73.4</a:t>
                      </a:r>
                    </a:p>
                  </a:txBody>
                  <a:tcPr marL="64008" marR="64008" marT="27432" marB="27432" anchor="ctr">
                    <a:solidFill>
                      <a:srgbClr val="FFFFFF"/>
                    </a:solidFill>
                  </a:tcPr>
                </a:tc>
                <a:tc>
                  <a:txBody>
                    <a:bodyPr wrap="square"/>
                    <a:lstStyle/>
                    <a:p>
                      <a:r>
                        <a:rPr b="0" sz="1300" i="0">
                          <a:solidFill>
                            <a:srgbClr val="1A2233"/>
                          </a:solidFill>
                          <a:latin typeface="Calibri"/>
                        </a:rPr>
                        <a:t>226.6</a:t>
                      </a:r>
                    </a:p>
                  </a:txBody>
                  <a:tcPr marL="64008" marR="64008" marT="27432" marB="27432" anchor="ctr">
                    <a:solidFill>
                      <a:srgbClr val="FFFFFF"/>
                    </a:solidFill>
                  </a:tcPr>
                </a:tc>
                <a:tc>
                  <a:txBody>
                    <a:bodyPr wrap="square"/>
                    <a:lstStyle/>
                    <a:p>
                      <a:r>
                        <a:rPr b="0" sz="1300" i="0">
                          <a:solidFill>
                            <a:srgbClr val="1A2233"/>
                          </a:solidFill>
                          <a:latin typeface="Calibri"/>
                        </a:rPr>
                        <a:t>507.4</a:t>
                      </a:r>
                    </a:p>
                  </a:txBody>
                  <a:tcPr marL="64008" marR="64008" marT="27432" marB="27432" anchor="ctr">
                    <a:solidFill>
                      <a:srgbClr val="FFFFFF"/>
                    </a:solidFill>
                  </a:tcPr>
                </a:tc>
              </a:tr>
              <a:tr h="384048">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410.0</a:t>
                      </a:r>
                    </a:p>
                  </a:txBody>
                  <a:tcPr marL="64008" marR="64008" marT="27432" marB="27432" anchor="ctr">
                    <a:solidFill>
                      <a:srgbClr val="F3F6F9"/>
                    </a:solidFill>
                  </a:tcPr>
                </a:tc>
                <a:tc>
                  <a:txBody>
                    <a:bodyPr wrap="square"/>
                    <a:lstStyle/>
                    <a:p>
                      <a:r>
                        <a:rPr b="0" sz="1300" i="0">
                          <a:solidFill>
                            <a:srgbClr val="1A2233"/>
                          </a:solidFill>
                          <a:latin typeface="Calibri"/>
                        </a:rPr>
                        <a:t>273.3</a:t>
                      </a:r>
                    </a:p>
                  </a:txBody>
                  <a:tcPr marL="64008" marR="64008" marT="27432" marB="27432" anchor="ctr">
                    <a:solidFill>
                      <a:srgbClr val="F3F6F9"/>
                    </a:solidFill>
                  </a:tcPr>
                </a:tc>
                <a:tc>
                  <a:txBody>
                    <a:bodyPr wrap="square"/>
                    <a:lstStyle/>
                    <a:p>
                      <a:r>
                        <a:rPr b="0" sz="1300" i="0">
                          <a:solidFill>
                            <a:srgbClr val="1A2233"/>
                          </a:solidFill>
                          <a:latin typeface="Calibri"/>
                        </a:rPr>
                        <a:t>50.7</a:t>
                      </a:r>
                    </a:p>
                  </a:txBody>
                  <a:tcPr marL="64008" marR="64008" marT="27432" marB="27432" anchor="ctr">
                    <a:solidFill>
                      <a:srgbClr val="F3F6F9"/>
                    </a:solidFill>
                  </a:tcPr>
                </a:tc>
                <a:tc>
                  <a:txBody>
                    <a:bodyPr wrap="square"/>
                    <a:lstStyle/>
                    <a:p>
                      <a:r>
                        <a:rPr b="0" sz="1300" i="0">
                          <a:solidFill>
                            <a:srgbClr val="1A2233"/>
                          </a:solidFill>
                          <a:latin typeface="Calibri"/>
                        </a:rPr>
                        <a:t>222.6</a:t>
                      </a:r>
                    </a:p>
                  </a:txBody>
                  <a:tcPr marL="64008" marR="64008" marT="27432" marB="27432" anchor="ctr">
                    <a:solidFill>
                      <a:srgbClr val="F3F6F9"/>
                    </a:solidFill>
                  </a:tcPr>
                </a:tc>
                <a:tc>
                  <a:txBody>
                    <a:bodyPr wrap="square"/>
                    <a:lstStyle/>
                    <a:p>
                      <a:r>
                        <a:rPr b="0" sz="1300" i="0">
                          <a:solidFill>
                            <a:srgbClr val="1A2233"/>
                          </a:solidFill>
                          <a:latin typeface="Calibri"/>
                        </a:rPr>
                        <a:t>284.8</a:t>
                      </a:r>
                    </a:p>
                  </a:txBody>
                  <a:tcPr marL="64008" marR="64008" marT="27432" marB="27432" anchor="ctr">
                    <a:solidFill>
                      <a:srgbClr val="F3F6F9"/>
                    </a:solidFill>
                  </a:tcPr>
                </a:tc>
              </a:tr>
              <a:tr h="384048">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470.0</a:t>
                      </a:r>
                    </a:p>
                  </a:txBody>
                  <a:tcPr marL="64008" marR="64008" marT="27432" marB="27432" anchor="ctr">
                    <a:solidFill>
                      <a:srgbClr val="FFFFFF"/>
                    </a:solidFill>
                  </a:tcPr>
                </a:tc>
                <a:tc>
                  <a:txBody>
                    <a:bodyPr wrap="square"/>
                    <a:lstStyle/>
                    <a:p>
                      <a:r>
                        <a:rPr b="0" sz="1300" i="0">
                          <a:solidFill>
                            <a:srgbClr val="1A2233"/>
                          </a:solidFill>
                          <a:latin typeface="Calibri"/>
                        </a:rPr>
                        <a:t>313.3</a:t>
                      </a:r>
                    </a:p>
                  </a:txBody>
                  <a:tcPr marL="64008" marR="64008" marT="27432" marB="27432" anchor="ctr">
                    <a:solidFill>
                      <a:srgbClr val="FFFFFF"/>
                    </a:solidFill>
                  </a:tcPr>
                </a:tc>
                <a:tc>
                  <a:txBody>
                    <a:bodyPr wrap="square"/>
                    <a:lstStyle/>
                    <a:p>
                      <a:r>
                        <a:rPr b="0" sz="1300" i="0">
                          <a:solidFill>
                            <a:srgbClr val="1A2233"/>
                          </a:solidFill>
                          <a:latin typeface="Calibri"/>
                        </a:rPr>
                        <a:t>28.5</a:t>
                      </a:r>
                    </a:p>
                  </a:txBody>
                  <a:tcPr marL="64008" marR="64008" marT="27432" marB="27432" anchor="ctr">
                    <a:solidFill>
                      <a:srgbClr val="FFFFFF"/>
                    </a:solidFill>
                  </a:tcPr>
                </a:tc>
                <a:tc>
                  <a:txBody>
                    <a:bodyPr wrap="square"/>
                    <a:lstStyle/>
                    <a:p>
                      <a:r>
                        <a:rPr b="0" sz="1300" i="0">
                          <a:solidFill>
                            <a:srgbClr val="1A2233"/>
                          </a:solidFill>
                          <a:latin typeface="Calibri"/>
                        </a:rPr>
                        <a:t>284.8</a:t>
                      </a:r>
                    </a:p>
                  </a:txBody>
                  <a:tcPr marL="64008" marR="64008" marT="27432" marB="27432" anchor="ctr">
                    <a:solidFill>
                      <a:srgbClr val="FFFFFF"/>
                    </a:solidFill>
                  </a:tcPr>
                </a:tc>
                <a:tc>
                  <a:txBody>
                    <a:bodyPr wrap="square"/>
                    <a:lstStyle/>
                    <a:p>
                      <a:r>
                        <a:rPr b="0" sz="1300" i="0">
                          <a:solidFill>
                            <a:srgbClr val="1A2233"/>
                          </a:solidFill>
                          <a:latin typeface="Calibri"/>
                        </a:rPr>
                        <a:t>0.0</a:t>
                      </a:r>
                    </a:p>
                  </a:txBody>
                  <a:tcPr marL="64008" marR="64008" marT="27432" marB="27432" anchor="ctr">
                    <a:solidFill>
                      <a:srgbClr val="FFFFFF"/>
                    </a:solidFill>
                  </a:tcPr>
                </a:tc>
              </a:tr>
            </a:tbl>
          </a:graphicData>
        </a:graphic>
      </p:graphicFrame>
      <p:sp>
        <p:nvSpPr>
          <p:cNvPr id="12" name="Rectangle 11"/>
          <p:cNvSpPr/>
          <p:nvPr/>
        </p:nvSpPr>
        <p:spPr>
          <a:xfrm>
            <a:off x="548640" y="4206240"/>
            <a:ext cx="11064240" cy="8229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06240"/>
            <a:ext cx="82296" cy="8229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0624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Debt capacity = PV of (CFADS ÷ 1.5) at 10% = 1,016.0; the loan closes at 0 in year 5. A flat annuity would have a different DSCR each year. Built in Excel on Day 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REPAYMENT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service profiles for the same US$1,000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Annuity: level payment. Straight line: highest in year 1. Sculpted: follows cash flow.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3.3: Three schedules, one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In Excel build annuity, straight-line and sculpted schedules for a loan of 1,000 at 10% over 5 years (sculpted target 1.5x with CFADS 330, 380, 450, 410, 470).</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Annuity: </a:t>
            </a:r>
            <a:r>
              <a:rPr b="0" sz="1500" i="0">
                <a:solidFill>
                  <a:srgbClr val="0B5E82"/>
                </a:solidFill>
                <a:latin typeface="Consolas"/>
              </a:rPr>
              <a:t>=PMT(10%,5,-1000)</a:t>
            </a:r>
            <a:r>
              <a:rPr b="0" sz="1500" i="0">
                <a:solidFill>
                  <a:srgbClr val="1A2233"/>
                </a:solidFill>
                <a:latin typeface="Calibri"/>
              </a:rPr>
              <a:t> and </a:t>
            </a:r>
            <a:r>
              <a:rPr b="0" sz="1500" i="0">
                <a:solidFill>
                  <a:srgbClr val="0B5E82"/>
                </a:solidFill>
                <a:latin typeface="Consolas"/>
              </a:rPr>
              <a:t>=IPMT</a:t>
            </a:r>
            <a:r>
              <a:rPr b="0" sz="1500" i="0">
                <a:solidFill>
                  <a:srgbClr val="1A2233"/>
                </a:solidFill>
                <a:latin typeface="Calibri"/>
              </a:rPr>
              <a:t>, </a:t>
            </a:r>
            <a:r>
              <a:rPr b="0" sz="1500" i="0">
                <a:solidFill>
                  <a:srgbClr val="0B5E82"/>
                </a:solidFill>
                <a:latin typeface="Consolas"/>
              </a:rPr>
              <a:t>=PPMT</a:t>
            </a:r>
            <a:r>
              <a:rPr b="0" sz="1500" i="0">
                <a:solidFill>
                  <a:srgbClr val="1A2233"/>
                </a:solidFill>
                <a:latin typeface="Calibri"/>
              </a:rPr>
              <a:t> for interest and principal</a:t>
            </a:r>
          </a:p>
          <a:p>
            <a:pPr>
              <a:spcAft>
                <a:spcPts val="300"/>
              </a:spcAft>
            </a:pPr>
            <a:r>
              <a:rPr b="0" sz="1500" i="0">
                <a:solidFill>
                  <a:srgbClr val="1A2233"/>
                </a:solidFill>
                <a:latin typeface="Calibri"/>
              </a:rPr>
              <a:t>2.  Straight line: principal = 1000/5; interest = opening × 10%</a:t>
            </a:r>
          </a:p>
          <a:p>
            <a:pPr>
              <a:spcAft>
                <a:spcPts val="300"/>
              </a:spcAft>
            </a:pPr>
            <a:r>
              <a:rPr b="0" sz="1500" i="0">
                <a:solidFill>
                  <a:srgbClr val="1A2233"/>
                </a:solidFill>
                <a:latin typeface="Calibri"/>
              </a:rPr>
              <a:t>3.  Sculpted: debt service = CFADS/1.5; capacity = </a:t>
            </a:r>
            <a:r>
              <a:rPr b="0" sz="1500" i="0">
                <a:solidFill>
                  <a:srgbClr val="0B5E82"/>
                </a:solidFill>
                <a:latin typeface="Consolas"/>
              </a:rPr>
              <a:t>=NPV(10%,debt_service_range)</a:t>
            </a:r>
          </a:p>
          <a:p>
            <a:pPr>
              <a:spcAft>
                <a:spcPts val="300"/>
              </a:spcAft>
            </a:pPr>
            <a:r>
              <a:rPr b="0" sz="1500" i="0">
                <a:solidFill>
                  <a:srgbClr val="1A2233"/>
                </a:solidFill>
                <a:latin typeface="Calibri"/>
              </a:rPr>
              <a:t>4.  Compute DSCR = CFADS ÷ debt service for each profile</a:t>
            </a:r>
          </a:p>
          <a:p>
            <a:pPr>
              <a:spcAft>
                <a:spcPts val="300"/>
              </a:spcAft>
            </a:pPr>
            <a:r>
              <a:rPr b="0" sz="1500" i="0">
                <a:solidFill>
                  <a:srgbClr val="1A2233"/>
                </a:solidFill>
                <a:latin typeface="Calibri"/>
              </a:rPr>
              <a:t>5.  Which profile has the lowest minimum DSCR?</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COST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All-in cost of a loan: interest plus fees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20240"/>
        </p:xfrm>
        <a:graphic>
          <a:graphicData uri="http://schemas.openxmlformats.org/drawingml/2006/table">
            <a:tbl>
              <a:tblPr firstRow="1" bandRow="1">
                <a:tableStyleId>{5C22544A-7EE6-4342-B048-85BDC9FD1C3A}</a:tableStyleId>
              </a:tblPr>
              <a:tblGrid>
                <a:gridCol w="5486400"/>
                <a:gridCol w="5577840"/>
              </a:tblGrid>
              <a:tr h="384048">
                <a:tc>
                  <a:txBody>
                    <a:bodyPr wrap="square"/>
                    <a:lstStyle/>
                    <a:p>
                      <a:r>
                        <a:rPr b="1" sz="1300" i="0">
                          <a:solidFill>
                            <a:srgbClr val="FFFFFF"/>
                          </a:solidFill>
                          <a:latin typeface="Calibri"/>
                        </a:rPr>
                        <a:t>Component</a:t>
                      </a:r>
                    </a:p>
                  </a:txBody>
                  <a:tcPr marL="64008" marR="64008" marT="27432" marB="27432" anchor="ctr">
                    <a:solidFill>
                      <a:srgbClr val="141B4D"/>
                    </a:solidFill>
                  </a:tcPr>
                </a:tc>
                <a:tc>
                  <a:txBody>
                    <a:bodyPr wrap="square"/>
                    <a:lstStyle/>
                    <a:p>
                      <a:r>
                        <a:rPr b="1" sz="1300" i="0">
                          <a:solidFill>
                            <a:srgbClr val="FFFFFF"/>
                          </a:solidFill>
                          <a:latin typeface="Calibri"/>
                        </a:rPr>
                        <a:t>Amount</a:t>
                      </a:r>
                    </a:p>
                  </a:txBody>
                  <a:tcPr marL="64008" marR="64008" marT="27432" marB="27432" anchor="ctr">
                    <a:solidFill>
                      <a:srgbClr val="141B4D"/>
                    </a:solidFill>
                  </a:tcPr>
                </a:tc>
              </a:tr>
              <a:tr h="384048">
                <a:tc>
                  <a:txBody>
                    <a:bodyPr wrap="square"/>
                    <a:lstStyle/>
                    <a:p>
                      <a:r>
                        <a:rPr b="1" sz="1300" i="0">
                          <a:solidFill>
                            <a:srgbClr val="1A2233"/>
                          </a:solidFill>
                          <a:latin typeface="Calibri"/>
                        </a:rPr>
                        <a:t>Loan</a:t>
                      </a:r>
                    </a:p>
                  </a:txBody>
                  <a:tcPr marL="64008" marR="64008" marT="27432" marB="27432" anchor="ctr">
                    <a:solidFill>
                      <a:srgbClr val="FFFFFF"/>
                    </a:solidFill>
                  </a:tcPr>
                </a:tc>
                <a:tc>
                  <a:txBody>
                    <a:bodyPr wrap="square"/>
                    <a:lstStyle/>
                    <a:p>
                      <a:r>
                        <a:rPr b="0" sz="1300" i="0">
                          <a:solidFill>
                            <a:srgbClr val="1A2233"/>
                          </a:solidFill>
                          <a:latin typeface="Calibri"/>
                        </a:rPr>
                        <a:t>1,000</a:t>
                      </a:r>
                    </a:p>
                  </a:txBody>
                  <a:tcPr marL="64008" marR="64008" marT="27432" marB="27432" anchor="ctr">
                    <a:solidFill>
                      <a:srgbClr val="FFFFFF"/>
                    </a:solidFill>
                  </a:tcPr>
                </a:tc>
              </a:tr>
              <a:tr h="384048">
                <a:tc>
                  <a:txBody>
                    <a:bodyPr wrap="square"/>
                    <a:lstStyle/>
                    <a:p>
                      <a:r>
                        <a:rPr b="1" sz="1300" i="0">
                          <a:solidFill>
                            <a:srgbClr val="1A2233"/>
                          </a:solidFill>
                          <a:latin typeface="Calibri"/>
                        </a:rPr>
                        <a:t>Upfront fee 2%</a:t>
                      </a:r>
                    </a:p>
                  </a:txBody>
                  <a:tcPr marL="64008" marR="64008" marT="27432" marB="27432" anchor="ctr">
                    <a:solidFill>
                      <a:srgbClr val="F3F6F9"/>
                    </a:solidFill>
                  </a:tcPr>
                </a:tc>
                <a:tc>
                  <a:txBody>
                    <a:bodyPr wrap="square"/>
                    <a:lstStyle/>
                    <a:p>
                      <a:r>
                        <a:rPr b="0" sz="1300" i="0">
                          <a:solidFill>
                            <a:srgbClr val="1A2233"/>
                          </a:solidFill>
                          <a:latin typeface="Calibri"/>
                        </a:rPr>
                        <a:t>20 (paid at start)</a:t>
                      </a:r>
                    </a:p>
                  </a:txBody>
                  <a:tcPr marL="64008" marR="64008" marT="27432" marB="27432" anchor="ctr">
                    <a:solidFill>
                      <a:srgbClr val="F3F6F9"/>
                    </a:solidFill>
                  </a:tcPr>
                </a:tc>
              </a:tr>
              <a:tr h="384048">
                <a:tc>
                  <a:txBody>
                    <a:bodyPr wrap="square"/>
                    <a:lstStyle/>
                    <a:p>
                      <a:r>
                        <a:rPr b="1" sz="1300" i="0">
                          <a:solidFill>
                            <a:srgbClr val="1A2233"/>
                          </a:solidFill>
                          <a:latin typeface="Calibri"/>
                        </a:rPr>
                        <a:t>Interest 10%</a:t>
                      </a:r>
                    </a:p>
                  </a:txBody>
                  <a:tcPr marL="64008" marR="64008" marT="27432" marB="27432" anchor="ctr">
                    <a:solidFill>
                      <a:srgbClr val="FFFFFF"/>
                    </a:solidFill>
                  </a:tcPr>
                </a:tc>
                <a:tc>
                  <a:txBody>
                    <a:bodyPr wrap="square"/>
                    <a:lstStyle/>
                    <a:p>
                      <a:r>
                        <a:rPr b="0" sz="1300" i="0">
                          <a:solidFill>
                            <a:srgbClr val="1A2233"/>
                          </a:solidFill>
                          <a:latin typeface="Calibri"/>
                        </a:rPr>
                        <a:t>paid annually on balance</a:t>
                      </a:r>
                    </a:p>
                  </a:txBody>
                  <a:tcPr marL="64008" marR="64008" marT="27432" marB="27432" anchor="ctr">
                    <a:solidFill>
                      <a:srgbClr val="FFFFFF"/>
                    </a:solidFill>
                  </a:tcPr>
                </a:tc>
              </a:tr>
              <a:tr h="384048">
                <a:tc>
                  <a:txBody>
                    <a:bodyPr wrap="square"/>
                    <a:lstStyle/>
                    <a:p>
                      <a:r>
                        <a:rPr b="1" sz="1300" i="0">
                          <a:solidFill>
                            <a:srgbClr val="1A2233"/>
                          </a:solidFill>
                          <a:latin typeface="Calibri"/>
                        </a:rPr>
                        <a:t>Net funds received</a:t>
                      </a:r>
                    </a:p>
                  </a:txBody>
                  <a:tcPr marL="64008" marR="64008" marT="27432" marB="27432" anchor="ctr">
                    <a:solidFill>
                      <a:srgbClr val="F3F6F9"/>
                    </a:solidFill>
                  </a:tcPr>
                </a:tc>
                <a:tc>
                  <a:txBody>
                    <a:bodyPr wrap="square"/>
                    <a:lstStyle/>
                    <a:p>
                      <a:r>
                        <a:rPr b="0" sz="1300" i="0">
                          <a:solidFill>
                            <a:srgbClr val="1A2233"/>
                          </a:solidFill>
                          <a:latin typeface="Calibri"/>
                        </a:rPr>
                        <a:t>980</a:t>
                      </a:r>
                    </a:p>
                  </a:txBody>
                  <a:tcPr marL="64008" marR="64008" marT="27432" marB="27432" anchor="ctr">
                    <a:solidFill>
                      <a:srgbClr val="F3F6F9"/>
                    </a:solidFill>
                  </a:tcPr>
                </a:tc>
              </a:tr>
            </a:tbl>
          </a:graphicData>
        </a:graphic>
      </p:graphicFrame>
      <p:sp>
        <p:nvSpPr>
          <p:cNvPr id="12" name="Rectangle 11"/>
          <p:cNvSpPr/>
          <p:nvPr/>
        </p:nvSpPr>
        <p:spPr>
          <a:xfrm>
            <a:off x="548640" y="3611880"/>
            <a:ext cx="11064240" cy="9144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611880"/>
            <a:ext cx="82296" cy="9144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11880"/>
            <a:ext cx="10835640" cy="914400"/>
          </a:xfrm>
          <a:prstGeom prst="rect">
            <a:avLst/>
          </a:prstGeom>
          <a:noFill/>
        </p:spPr>
        <p:txBody>
          <a:bodyPr wrap="square" lIns="45720" rIns="45720" tIns="27432" bIns="27432" anchor="ctr">
            <a:spAutoFit/>
          </a:bodyPr>
          <a:lstStyle/>
          <a:p>
            <a:pPr algn="l"/>
            <a:r>
              <a:rPr b="0" sz="1400" i="0">
                <a:solidFill>
                  <a:srgbClr val="1A2233"/>
                </a:solidFill>
                <a:latin typeface="Calibri"/>
              </a:rPr>
              <a:t>All-in cost (IRR to the lender including the fee) is slightly above the margin: with a 2% upfront fee on a 5-year annuity the effective rate is 10.80% versus 10.00% headline.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INTEREST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Interest basis: fixed or floating, day count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97100"/>
        </p:xfrm>
        <a:graphic>
          <a:graphicData uri="http://schemas.openxmlformats.org/drawingml/2006/table">
            <a:tbl>
              <a:tblPr firstRow="1" bandRow="1">
                <a:tableStyleId>{5C22544A-7EE6-4342-B048-85BDC9FD1C3A}</a:tableStyleId>
              </a:tblPr>
              <a:tblGrid>
                <a:gridCol w="2377440"/>
                <a:gridCol w="5120640"/>
                <a:gridCol w="3566160"/>
              </a:tblGrid>
              <a:tr h="384048">
                <a:tc>
                  <a:txBody>
                    <a:bodyPr wrap="square"/>
                    <a:lstStyle/>
                    <a:p>
                      <a:r>
                        <a:rPr b="1" sz="1300" i="0">
                          <a:solidFill>
                            <a:srgbClr val="FFFFFF"/>
                          </a:solidFill>
                          <a:latin typeface="Calibri"/>
                        </a:rPr>
                        <a:t>Topic</a:t>
                      </a:r>
                    </a:p>
                  </a:txBody>
                  <a:tcPr marL="64008" marR="64008" marT="27432" marB="27432" anchor="ctr">
                    <a:solidFill>
                      <a:srgbClr val="141B4D"/>
                    </a:solidFill>
                  </a:tcPr>
                </a:tc>
                <a:tc>
                  <a:txBody>
                    <a:bodyPr wrap="square"/>
                    <a:lstStyle/>
                    <a:p>
                      <a:r>
                        <a:rPr b="1" sz="1300" i="0">
                          <a:solidFill>
                            <a:srgbClr val="FFFFFF"/>
                          </a:solidFill>
                          <a:latin typeface="Calibri"/>
                        </a:rPr>
                        <a:t>Explanation</a:t>
                      </a:r>
                    </a:p>
                  </a:txBody>
                  <a:tcPr marL="64008" marR="64008" marT="27432" marB="27432" anchor="ctr">
                    <a:solidFill>
                      <a:srgbClr val="141B4D"/>
                    </a:solidFill>
                  </a:tcPr>
                </a:tc>
                <a:tc>
                  <a:txBody>
                    <a:bodyPr wrap="square"/>
                    <a:lstStyle/>
                    <a:p>
                      <a:r>
                        <a:rPr b="1" sz="1300" i="0">
                          <a:solidFill>
                            <a:srgbClr val="FFFFFF"/>
                          </a:solidFill>
                          <a:latin typeface="Calibri"/>
                        </a:rPr>
                        <a:t>Model link</a:t>
                      </a:r>
                    </a:p>
                  </a:txBody>
                  <a:tcPr marL="64008" marR="64008" marT="27432" marB="27432" anchor="ctr">
                    <a:solidFill>
                      <a:srgbClr val="141B4D"/>
                    </a:solidFill>
                  </a:tcPr>
                </a:tc>
              </a:tr>
              <a:tr h="384048">
                <a:tc>
                  <a:txBody>
                    <a:bodyPr wrap="square"/>
                    <a:lstStyle/>
                    <a:p>
                      <a:r>
                        <a:rPr b="1" sz="1300" i="0">
                          <a:solidFill>
                            <a:srgbClr val="1A2233"/>
                          </a:solidFill>
                          <a:latin typeface="Calibri"/>
                        </a:rPr>
                        <a:t>Fixed rate</a:t>
                      </a:r>
                    </a:p>
                  </a:txBody>
                  <a:tcPr marL="64008" marR="64008" marT="27432" marB="27432" anchor="ctr">
                    <a:solidFill>
                      <a:srgbClr val="FFFFFF"/>
                    </a:solidFill>
                  </a:tcPr>
                </a:tc>
                <a:tc>
                  <a:txBody>
                    <a:bodyPr wrap="square"/>
                    <a:lstStyle/>
                    <a:p>
                      <a:r>
                        <a:rPr b="0" sz="1300" i="0">
                          <a:solidFill>
                            <a:srgbClr val="1A2233"/>
                          </a:solidFill>
                          <a:latin typeface="Calibri"/>
                        </a:rPr>
                        <a:t>Rate fixed for the loan</a:t>
                      </a:r>
                    </a:p>
                  </a:txBody>
                  <a:tcPr marL="64008" marR="64008" marT="27432" marB="27432" anchor="ctr">
                    <a:solidFill>
                      <a:srgbClr val="FFFFFF"/>
                    </a:solidFill>
                  </a:tcPr>
                </a:tc>
                <a:tc>
                  <a:txBody>
                    <a:bodyPr wrap="square"/>
                    <a:lstStyle/>
                    <a:p>
                      <a:r>
                        <a:rPr b="0" sz="1300" i="0">
                          <a:solidFill>
                            <a:srgbClr val="1A2233"/>
                          </a:solidFill>
                          <a:latin typeface="Calibri"/>
                        </a:rPr>
                        <a:t>InpC row 77: all-in annual rate 6.5%</a:t>
                      </a:r>
                    </a:p>
                  </a:txBody>
                  <a:tcPr marL="64008" marR="64008" marT="27432" marB="27432" anchor="ctr">
                    <a:solidFill>
                      <a:srgbClr val="FFFFFF"/>
                    </a:solidFill>
                  </a:tcPr>
                </a:tc>
              </a:tr>
              <a:tr h="522478">
                <a:tc>
                  <a:txBody>
                    <a:bodyPr wrap="square"/>
                    <a:lstStyle/>
                    <a:p>
                      <a:r>
                        <a:rPr b="1" sz="1300" i="0">
                          <a:solidFill>
                            <a:srgbClr val="1A2233"/>
                          </a:solidFill>
                          <a:latin typeface="Calibri"/>
                        </a:rPr>
                        <a:t>Floating</a:t>
                      </a:r>
                    </a:p>
                  </a:txBody>
                  <a:tcPr marL="64008" marR="64008" marT="27432" marB="27432" anchor="ctr">
                    <a:solidFill>
                      <a:srgbClr val="F3F6F9"/>
                    </a:solidFill>
                  </a:tcPr>
                </a:tc>
                <a:tc>
                  <a:txBody>
                    <a:bodyPr wrap="square"/>
                    <a:lstStyle/>
                    <a:p>
                      <a:r>
                        <a:rPr b="0" sz="1300" i="0">
                          <a:solidFill>
                            <a:srgbClr val="1A2233"/>
                          </a:solidFill>
                          <a:latin typeface="Calibri"/>
                        </a:rPr>
                        <a:t>Reference rate (SOFR, etc.) + margin; usually hedged with a swap</a:t>
                      </a:r>
                    </a:p>
                  </a:txBody>
                  <a:tcPr marL="64008" marR="64008" marT="27432" marB="27432" anchor="ctr">
                    <a:solidFill>
                      <a:srgbClr val="F3F6F9"/>
                    </a:solidFill>
                  </a:tcPr>
                </a:tc>
                <a:tc>
                  <a:txBody>
                    <a:bodyPr wrap="square"/>
                    <a:lstStyle/>
                    <a:p>
                      <a:r>
                        <a:rPr b="0" sz="1300" i="0">
                          <a:solidFill>
                            <a:srgbClr val="1A2233"/>
                          </a:solidFill>
                          <a:latin typeface="Calibri"/>
                        </a:rPr>
                        <a:t>Add a rate path on InpS if needed</a:t>
                      </a:r>
                    </a:p>
                  </a:txBody>
                  <a:tcPr marL="64008" marR="64008" marT="27432" marB="27432" anchor="ctr">
                    <a:solidFill>
                      <a:srgbClr val="F3F6F9"/>
                    </a:solidFill>
                  </a:tcPr>
                </a:tc>
              </a:tr>
              <a:tr h="384048">
                <a:tc>
                  <a:txBody>
                    <a:bodyPr wrap="square"/>
                    <a:lstStyle/>
                    <a:p>
                      <a:r>
                        <a:rPr b="1" sz="1300" i="0">
                          <a:solidFill>
                            <a:srgbClr val="1A2233"/>
                          </a:solidFill>
                          <a:latin typeface="Calibri"/>
                        </a:rPr>
                        <a:t>Day count</a:t>
                      </a:r>
                    </a:p>
                  </a:txBody>
                  <a:tcPr marL="64008" marR="64008" marT="27432" marB="27432" anchor="ctr">
                    <a:solidFill>
                      <a:srgbClr val="FFFFFF"/>
                    </a:solidFill>
                  </a:tcPr>
                </a:tc>
                <a:tc>
                  <a:txBody>
                    <a:bodyPr wrap="square"/>
                    <a:lstStyle/>
                    <a:p>
                      <a:r>
                        <a:rPr b="0" sz="1300" i="0">
                          <a:solidFill>
                            <a:srgbClr val="1A2233"/>
                          </a:solidFill>
                          <a:latin typeface="Calibri"/>
                        </a:rPr>
                        <a:t>Actual/360, Actual/365, 30/360</a:t>
                      </a:r>
                    </a:p>
                  </a:txBody>
                  <a:tcPr marL="64008" marR="64008" marT="27432" marB="27432" anchor="ctr">
                    <a:solidFill>
                      <a:srgbClr val="FFFFFF"/>
                    </a:solidFill>
                  </a:tcPr>
                </a:tc>
                <a:tc>
                  <a:txBody>
                    <a:bodyPr wrap="square"/>
                    <a:lstStyle/>
                    <a:p>
                      <a:r>
                        <a:rPr b="0" sz="1300" i="0">
                          <a:solidFill>
                            <a:srgbClr val="1A2233"/>
                          </a:solidFill>
                          <a:latin typeface="Calibri"/>
                        </a:rPr>
                        <a:t>InpC row 79 = 360; Time days row</a:t>
                      </a:r>
                    </a:p>
                  </a:txBody>
                  <a:tcPr marL="64008" marR="64008" marT="27432" marB="27432" anchor="ctr">
                    <a:solidFill>
                      <a:srgbClr val="FFFFFF"/>
                    </a:solidFill>
                  </a:tcPr>
                </a:tc>
              </a:tr>
              <a:tr h="522478">
                <a:tc>
                  <a:txBody>
                    <a:bodyPr wrap="square"/>
                    <a:lstStyle/>
                    <a:p>
                      <a:r>
                        <a:rPr b="1" sz="1300" i="0">
                          <a:solidFill>
                            <a:srgbClr val="1A2233"/>
                          </a:solidFill>
                          <a:latin typeface="Calibri"/>
                        </a:rPr>
                        <a:t>Interest on opening balance</a:t>
                      </a:r>
                    </a:p>
                  </a:txBody>
                  <a:tcPr marL="64008" marR="64008" marT="27432" marB="27432" anchor="ctr">
                    <a:solidFill>
                      <a:srgbClr val="F3F6F9"/>
                    </a:solidFill>
                  </a:tcPr>
                </a:tc>
                <a:tc>
                  <a:txBody>
                    <a:bodyPr wrap="square"/>
                    <a:lstStyle/>
                    <a:p>
                      <a:r>
                        <a:rPr b="0" sz="1300" i="0">
                          <a:solidFill>
                            <a:srgbClr val="1A2233"/>
                          </a:solidFill>
                          <a:latin typeface="Calibri"/>
                        </a:rPr>
                        <a:t>Standard for term loans</a:t>
                      </a:r>
                    </a:p>
                  </a:txBody>
                  <a:tcPr marL="64008" marR="64008" marT="27432" marB="27432" anchor="ctr">
                    <a:solidFill>
                      <a:srgbClr val="F3F6F9"/>
                    </a:solidFill>
                  </a:tcPr>
                </a:tc>
                <a:tc>
                  <a:txBody>
                    <a:bodyPr wrap="square"/>
                    <a:lstStyle/>
                    <a:p>
                      <a:r>
                        <a:rPr b="0" sz="1300" i="0">
                          <a:solidFill>
                            <a:srgbClr val="1A2233"/>
                          </a:solidFill>
                          <a:latin typeface="Calibri"/>
                        </a:rPr>
                        <a:t>Debt!J32 = opening × rate × days</a:t>
                      </a:r>
                    </a:p>
                  </a:txBody>
                  <a:tcPr marL="64008" marR="64008" marT="27432" marB="27432" anchor="ctr">
                    <a:solidFill>
                      <a:srgbClr val="F3F6F9"/>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27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12.30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4: Syndication and sources of finance</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Who lends, and how big loans are shared.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is syndication?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A syndicated loan is one loan made by a group of lenders under a single agreement. One or more banks (the arrangers) structure it and invite others to take a share. The borrower deals with one agent; each lender is repaid pro rata.</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Why: no single bank wants to hold a US$500m infrastructure loan</a:t>
            </a:r>
          </a:p>
          <a:p>
            <a:pPr algn="l"/>
            <a:r>
              <a:rPr b="0" sz="1600" i="0">
                <a:solidFill>
                  <a:srgbClr val="1A2233"/>
                </a:solidFill>
                <a:latin typeface="Calibri"/>
              </a:rPr>
              <a:t>Benefit to borrower: one set of documents; large amounts</a:t>
            </a:r>
          </a:p>
          <a:p>
            <a:pPr algn="l"/>
            <a:r>
              <a:rPr b="0" sz="1600" i="0">
                <a:solidFill>
                  <a:srgbClr val="1A2233"/>
                </a:solidFill>
                <a:latin typeface="Calibri"/>
              </a:rPr>
              <a:t>Benefit to banks: share risk; earn fees</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Syndication is how infrastructure gets financed by many lenders with a single negotiation.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ROLES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Roles in a syndicated project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3474720"/>
                <a:gridCol w="7589520"/>
              </a:tblGrid>
              <a:tr h="365760">
                <a:tc>
                  <a:txBody>
                    <a:bodyPr wrap="square"/>
                    <a:lstStyle/>
                    <a:p>
                      <a:r>
                        <a:rPr b="1" sz="1200" i="0">
                          <a:solidFill>
                            <a:srgbClr val="FFFFFF"/>
                          </a:solidFill>
                          <a:latin typeface="Calibri"/>
                        </a:rPr>
                        <a:t>Role</a:t>
                      </a:r>
                    </a:p>
                  </a:txBody>
                  <a:tcPr marL="64008" marR="64008" marT="27432" marB="27432" anchor="ctr">
                    <a:solidFill>
                      <a:srgbClr val="141B4D"/>
                    </a:solidFill>
                  </a:tcPr>
                </a:tc>
                <a:tc>
                  <a:txBody>
                    <a:bodyPr wrap="square"/>
                    <a:lstStyle/>
                    <a:p>
                      <a:r>
                        <a:rPr b="1" sz="1200" i="0">
                          <a:solidFill>
                            <a:srgbClr val="FFFFFF"/>
                          </a:solidFill>
                          <a:latin typeface="Calibri"/>
                        </a:rPr>
                        <a:t>What they do</a:t>
                      </a:r>
                    </a:p>
                  </a:txBody>
                  <a:tcPr marL="64008" marR="64008" marT="27432" marB="27432" anchor="ctr">
                    <a:solidFill>
                      <a:srgbClr val="141B4D"/>
                    </a:solidFill>
                  </a:tcPr>
                </a:tc>
              </a:tr>
              <a:tr h="365760">
                <a:tc>
                  <a:txBody>
                    <a:bodyPr wrap="square"/>
                    <a:lstStyle/>
                    <a:p>
                      <a:r>
                        <a:rPr b="1" sz="1200" i="0">
                          <a:solidFill>
                            <a:srgbClr val="1A2233"/>
                          </a:solidFill>
                          <a:latin typeface="Calibri"/>
                        </a:rPr>
                        <a:t>Mandated lead arranger (MLA)</a:t>
                      </a:r>
                    </a:p>
                  </a:txBody>
                  <a:tcPr marL="64008" marR="64008" marT="27432" marB="27432" anchor="ctr">
                    <a:solidFill>
                      <a:srgbClr val="FFFFFF"/>
                    </a:solidFill>
                  </a:tcPr>
                </a:tc>
                <a:tc>
                  <a:txBody>
                    <a:bodyPr wrap="square"/>
                    <a:lstStyle/>
                    <a:p>
                      <a:r>
                        <a:rPr b="0" sz="1200" i="0">
                          <a:solidFill>
                            <a:srgbClr val="1A2233"/>
                          </a:solidFill>
                          <a:latin typeface="Calibri"/>
                        </a:rPr>
                        <a:t>Structures the deal, negotiates documents, invites banks</a:t>
                      </a:r>
                    </a:p>
                  </a:txBody>
                  <a:tcPr marL="64008" marR="64008" marT="27432" marB="27432" anchor="ctr">
                    <a:solidFill>
                      <a:srgbClr val="FFFFFF"/>
                    </a:solidFill>
                  </a:tcPr>
                </a:tc>
              </a:tr>
              <a:tr h="365760">
                <a:tc>
                  <a:txBody>
                    <a:bodyPr wrap="square"/>
                    <a:lstStyle/>
                    <a:p>
                      <a:r>
                        <a:rPr b="1" sz="1200" i="0">
                          <a:solidFill>
                            <a:srgbClr val="1A2233"/>
                          </a:solidFill>
                          <a:latin typeface="Calibri"/>
                        </a:rPr>
                        <a:t>Bookrunner</a:t>
                      </a:r>
                    </a:p>
                  </a:txBody>
                  <a:tcPr marL="64008" marR="64008" marT="27432" marB="27432" anchor="ctr">
                    <a:solidFill>
                      <a:srgbClr val="F3F6F9"/>
                    </a:solidFill>
                  </a:tcPr>
                </a:tc>
                <a:tc>
                  <a:txBody>
                    <a:bodyPr wrap="square"/>
                    <a:lstStyle/>
                    <a:p>
                      <a:r>
                        <a:rPr b="0" sz="1200" i="0">
                          <a:solidFill>
                            <a:srgbClr val="1A2233"/>
                          </a:solidFill>
                          <a:latin typeface="Calibri"/>
                        </a:rPr>
                        <a:t>Manages the process of collecting commitments</a:t>
                      </a:r>
                    </a:p>
                  </a:txBody>
                  <a:tcPr marL="64008" marR="64008" marT="27432" marB="27432" anchor="ctr">
                    <a:solidFill>
                      <a:srgbClr val="F3F6F9"/>
                    </a:solidFill>
                  </a:tcPr>
                </a:tc>
              </a:tr>
              <a:tr h="365760">
                <a:tc>
                  <a:txBody>
                    <a:bodyPr wrap="square"/>
                    <a:lstStyle/>
                    <a:p>
                      <a:r>
                        <a:rPr b="1" sz="1200" i="0">
                          <a:solidFill>
                            <a:srgbClr val="1A2233"/>
                          </a:solidFill>
                          <a:latin typeface="Calibri"/>
                        </a:rPr>
                        <a:t>Underwriter</a:t>
                      </a:r>
                    </a:p>
                  </a:txBody>
                  <a:tcPr marL="64008" marR="64008" marT="27432" marB="27432" anchor="ctr">
                    <a:solidFill>
                      <a:srgbClr val="FFFFFF"/>
                    </a:solidFill>
                  </a:tcPr>
                </a:tc>
                <a:tc>
                  <a:txBody>
                    <a:bodyPr wrap="square"/>
                    <a:lstStyle/>
                    <a:p>
                      <a:r>
                        <a:rPr b="0" sz="1200" i="0">
                          <a:solidFill>
                            <a:srgbClr val="1A2233"/>
                          </a:solidFill>
                          <a:latin typeface="Calibri"/>
                        </a:rPr>
                        <a:t>Commits to provide the whole amount, then sells down</a:t>
                      </a:r>
                    </a:p>
                  </a:txBody>
                  <a:tcPr marL="64008" marR="64008" marT="27432" marB="27432" anchor="ctr">
                    <a:solidFill>
                      <a:srgbClr val="FFFFFF"/>
                    </a:solidFill>
                  </a:tcPr>
                </a:tc>
              </a:tr>
              <a:tr h="365760">
                <a:tc>
                  <a:txBody>
                    <a:bodyPr wrap="square"/>
                    <a:lstStyle/>
                    <a:p>
                      <a:r>
                        <a:rPr b="1" sz="1200" i="0">
                          <a:solidFill>
                            <a:srgbClr val="1A2233"/>
                          </a:solidFill>
                          <a:latin typeface="Calibri"/>
                        </a:rPr>
                        <a:t>Facility agent</a:t>
                      </a:r>
                    </a:p>
                  </a:txBody>
                  <a:tcPr marL="64008" marR="64008" marT="27432" marB="27432" anchor="ctr">
                    <a:solidFill>
                      <a:srgbClr val="F3F6F9"/>
                    </a:solidFill>
                  </a:tcPr>
                </a:tc>
                <a:tc>
                  <a:txBody>
                    <a:bodyPr wrap="square"/>
                    <a:lstStyle/>
                    <a:p>
                      <a:r>
                        <a:rPr b="0" sz="1200" i="0">
                          <a:solidFill>
                            <a:srgbClr val="1A2233"/>
                          </a:solidFill>
                          <a:latin typeface="Calibri"/>
                        </a:rPr>
                        <a:t>Administers payments, notices and communications</a:t>
                      </a:r>
                    </a:p>
                  </a:txBody>
                  <a:tcPr marL="64008" marR="64008" marT="27432" marB="27432" anchor="ctr">
                    <a:solidFill>
                      <a:srgbClr val="F3F6F9"/>
                    </a:solidFill>
                  </a:tcPr>
                </a:tc>
              </a:tr>
              <a:tr h="365760">
                <a:tc>
                  <a:txBody>
                    <a:bodyPr wrap="square"/>
                    <a:lstStyle/>
                    <a:p>
                      <a:r>
                        <a:rPr b="1" sz="1200" i="0">
                          <a:solidFill>
                            <a:srgbClr val="1A2233"/>
                          </a:solidFill>
                          <a:latin typeface="Calibri"/>
                        </a:rPr>
                        <a:t>Security trustee</a:t>
                      </a:r>
                    </a:p>
                  </a:txBody>
                  <a:tcPr marL="64008" marR="64008" marT="27432" marB="27432" anchor="ctr">
                    <a:solidFill>
                      <a:srgbClr val="FFFFFF"/>
                    </a:solidFill>
                  </a:tcPr>
                </a:tc>
                <a:tc>
                  <a:txBody>
                    <a:bodyPr wrap="square"/>
                    <a:lstStyle/>
                    <a:p>
                      <a:r>
                        <a:rPr b="0" sz="1200" i="0">
                          <a:solidFill>
                            <a:srgbClr val="1A2233"/>
                          </a:solidFill>
                          <a:latin typeface="Calibri"/>
                        </a:rPr>
                        <a:t>Holds security for all lenders</a:t>
                      </a:r>
                    </a:p>
                  </a:txBody>
                  <a:tcPr marL="64008" marR="64008" marT="27432" marB="27432" anchor="ctr">
                    <a:solidFill>
                      <a:srgbClr val="FFFFFF"/>
                    </a:solidFill>
                  </a:tcPr>
                </a:tc>
              </a:tr>
              <a:tr h="365760">
                <a:tc>
                  <a:txBody>
                    <a:bodyPr wrap="square"/>
                    <a:lstStyle/>
                    <a:p>
                      <a:r>
                        <a:rPr b="1" sz="1200" i="0">
                          <a:solidFill>
                            <a:srgbClr val="1A2233"/>
                          </a:solidFill>
                          <a:latin typeface="Calibri"/>
                        </a:rPr>
                        <a:t>Lenders</a:t>
                      </a:r>
                    </a:p>
                  </a:txBody>
                  <a:tcPr marL="64008" marR="64008" marT="27432" marB="27432" anchor="ctr">
                    <a:solidFill>
                      <a:srgbClr val="F3F6F9"/>
                    </a:solidFill>
                  </a:tcPr>
                </a:tc>
                <a:tc>
                  <a:txBody>
                    <a:bodyPr wrap="square"/>
                    <a:lstStyle/>
                    <a:p>
                      <a:r>
                        <a:rPr b="0" sz="1200" i="0">
                          <a:solidFill>
                            <a:srgbClr val="1A2233"/>
                          </a:solidFill>
                          <a:latin typeface="Calibri"/>
                        </a:rPr>
                        <a:t>Provide money; vote on waivers and amendments</a:t>
                      </a:r>
                    </a:p>
                  </a:txBody>
                  <a:tcPr marL="64008" marR="64008" marT="27432" marB="27432" anchor="ctr">
                    <a:solidFill>
                      <a:srgbClr val="F3F6F9"/>
                    </a:solidFill>
                  </a:tcPr>
                </a:tc>
              </a:tr>
              <a:tr h="365760">
                <a:tc>
                  <a:txBody>
                    <a:bodyPr wrap="square"/>
                    <a:lstStyle/>
                    <a:p>
                      <a:r>
                        <a:rPr b="1" sz="1200" i="0">
                          <a:solidFill>
                            <a:srgbClr val="1A2233"/>
                          </a:solidFill>
                          <a:latin typeface="Calibri"/>
                        </a:rPr>
                        <a:t>Technical, insurance and model advisers</a:t>
                      </a:r>
                    </a:p>
                  </a:txBody>
                  <a:tcPr marL="64008" marR="64008" marT="27432" marB="27432" anchor="ctr">
                    <a:solidFill>
                      <a:srgbClr val="FFFFFF"/>
                    </a:solidFill>
                  </a:tcPr>
                </a:tc>
                <a:tc>
                  <a:txBody>
                    <a:bodyPr wrap="square"/>
                    <a:lstStyle/>
                    <a:p>
                      <a:r>
                        <a:rPr b="0" sz="1200" i="0">
                          <a:solidFill>
                            <a:srgbClr val="1A2233"/>
                          </a:solidFill>
                          <a:latin typeface="Calibri"/>
                        </a:rPr>
                        <a:t>Independent engineer, insurance adviser, model auditor</a:t>
                      </a:r>
                    </a:p>
                  </a:txBody>
                  <a:tcPr marL="64008" marR="64008" marT="27432" marB="27432" anchor="ctr">
                    <a:solidFill>
                      <a:srgbClr val="FFFFFF"/>
                    </a:solidFill>
                  </a:tcPr>
                </a:tc>
              </a:tr>
              <a:tr h="365760">
                <a:tc>
                  <a:txBody>
                    <a:bodyPr wrap="square"/>
                    <a:lstStyle/>
                    <a:p>
                      <a:r>
                        <a:rPr b="1" sz="1200" i="0">
                          <a:solidFill>
                            <a:srgbClr val="1A2233"/>
                          </a:solidFill>
                          <a:latin typeface="Calibri"/>
                        </a:rPr>
                        <a:t>Legal counsel</a:t>
                      </a:r>
                    </a:p>
                  </a:txBody>
                  <a:tcPr marL="64008" marR="64008" marT="27432" marB="27432" anchor="ctr">
                    <a:solidFill>
                      <a:srgbClr val="F3F6F9"/>
                    </a:solidFill>
                  </a:tcPr>
                </a:tc>
                <a:tc>
                  <a:txBody>
                    <a:bodyPr wrap="square"/>
                    <a:lstStyle/>
                    <a:p>
                      <a:r>
                        <a:rPr b="0" sz="1200" i="0">
                          <a:solidFill>
                            <a:srgbClr val="1A2233"/>
                          </a:solidFill>
                          <a:latin typeface="Calibri"/>
                        </a:rPr>
                        <a:t>Lenders' counsel and borrower's counsel (Day 2)</a:t>
                      </a:r>
                    </a:p>
                  </a:txBody>
                  <a:tcPr marL="64008" marR="64008" marT="27432" marB="27432" anchor="ctr">
                    <a:solidFill>
                      <a:srgbClr val="F3F6F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PROCESS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A syndication, step by step</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Mandate: borrower appoints arrangers; term sheet agreed</a:t>
            </a:r>
          </a:p>
        </p:txBody>
      </p:sp>
      <p:sp>
        <p:nvSpPr>
          <p:cNvPr id="13" name="Oval 12"/>
          <p:cNvSpPr/>
          <p:nvPr/>
        </p:nvSpPr>
        <p:spPr>
          <a:xfrm>
            <a:off x="548640" y="2087444"/>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050868"/>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Information memorandum and model sent to potential lenders</a:t>
            </a:r>
          </a:p>
        </p:txBody>
      </p:sp>
      <p:sp>
        <p:nvSpPr>
          <p:cNvPr id="15" name="Oval 14"/>
          <p:cNvSpPr/>
          <p:nvPr/>
        </p:nvSpPr>
        <p:spPr>
          <a:xfrm>
            <a:off x="548640" y="2629553"/>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592977"/>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Lender due diligence and credit approval</a:t>
            </a:r>
          </a:p>
        </p:txBody>
      </p:sp>
      <p:sp>
        <p:nvSpPr>
          <p:cNvPr id="17" name="Oval 16"/>
          <p:cNvSpPr/>
          <p:nvPr/>
        </p:nvSpPr>
        <p:spPr>
          <a:xfrm>
            <a:off x="548640" y="3171661"/>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135085"/>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Commitments received (the 'sell-down' or primary syndication)</a:t>
            </a:r>
          </a:p>
        </p:txBody>
      </p:sp>
      <p:sp>
        <p:nvSpPr>
          <p:cNvPr id="19" name="Oval 18"/>
          <p:cNvSpPr/>
          <p:nvPr/>
        </p:nvSpPr>
        <p:spPr>
          <a:xfrm>
            <a:off x="548640" y="3713770"/>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3677194"/>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Allocation: arrangers allocate the final hold amounts</a:t>
            </a:r>
          </a:p>
        </p:txBody>
      </p:sp>
      <p:sp>
        <p:nvSpPr>
          <p:cNvPr id="21" name="Oval 20"/>
          <p:cNvSpPr/>
          <p:nvPr/>
        </p:nvSpPr>
        <p:spPr>
          <a:xfrm>
            <a:off x="548640" y="4255878"/>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219302"/>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Documents signed; financial close</a:t>
            </a:r>
          </a:p>
        </p:txBody>
      </p:sp>
      <p:sp>
        <p:nvSpPr>
          <p:cNvPr id="23" name="Oval 22"/>
          <p:cNvSpPr/>
          <p:nvPr/>
        </p:nvSpPr>
        <p:spPr>
          <a:xfrm>
            <a:off x="548640" y="4797987"/>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7</a:t>
            </a:r>
          </a:p>
        </p:txBody>
      </p:sp>
      <p:sp>
        <p:nvSpPr>
          <p:cNvPr id="24" name="TextBox 23"/>
          <p:cNvSpPr txBox="1"/>
          <p:nvPr/>
        </p:nvSpPr>
        <p:spPr>
          <a:xfrm>
            <a:off x="1078992" y="4761411"/>
            <a:ext cx="10378440" cy="496388"/>
          </a:xfrm>
          <a:prstGeom prst="rect">
            <a:avLst/>
          </a:prstGeom>
          <a:noFill/>
        </p:spPr>
        <p:txBody>
          <a:bodyPr wrap="square" lIns="45720" rIns="45720" tIns="27432" bIns="27432" anchor="ctr">
            <a:spAutoFit/>
          </a:bodyPr>
          <a:lstStyle/>
          <a:p>
            <a:pPr algn="l"/>
            <a:r>
              <a:rPr b="0" sz="1300" i="0">
                <a:solidFill>
                  <a:srgbClr val="1A2233"/>
                </a:solidFill>
                <a:latin typeface="Calibri"/>
              </a:rPr>
              <a:t>General syndication after close: secondary market</a:t>
            </a:r>
          </a:p>
        </p:txBody>
      </p:sp>
      <p:sp>
        <p:nvSpPr>
          <p:cNvPr id="25" name="Rectangle 24"/>
          <p:cNvSpPr/>
          <p:nvPr/>
        </p:nvSpPr>
        <p:spPr>
          <a:xfrm>
            <a:off x="548640" y="539496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39496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39496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Underwritten deals give the borrower certainty; best-efforts deals leave risk of an undersubscribed loan.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SOURCES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Sources of finance for infrastructure in Nigeria and beyond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019298"/>
        </p:xfrm>
        <a:graphic>
          <a:graphicData uri="http://schemas.openxmlformats.org/drawingml/2006/table">
            <a:tbl>
              <a:tblPr firstRow="1" bandRow="1">
                <a:tableStyleId>{5C22544A-7EE6-4342-B048-85BDC9FD1C3A}</a:tableStyleId>
              </a:tblPr>
              <a:tblGrid>
                <a:gridCol w="3383280"/>
                <a:gridCol w="3657600"/>
                <a:gridCol w="4023360"/>
              </a:tblGrid>
              <a:tr h="365760">
                <a:tc>
                  <a:txBody>
                    <a:bodyPr wrap="square"/>
                    <a:lstStyle/>
                    <a:p>
                      <a:r>
                        <a:rPr b="1" sz="1100" i="0">
                          <a:solidFill>
                            <a:srgbClr val="FFFFFF"/>
                          </a:solidFill>
                          <a:latin typeface="Calibri"/>
                        </a:rPr>
                        <a:t>Source</a:t>
                      </a:r>
                    </a:p>
                  </a:txBody>
                  <a:tcPr marL="64008" marR="64008" marT="27432" marB="27432" anchor="ctr">
                    <a:solidFill>
                      <a:srgbClr val="141B4D"/>
                    </a:solidFill>
                  </a:tcPr>
                </a:tc>
                <a:tc>
                  <a:txBody>
                    <a:bodyPr wrap="square"/>
                    <a:lstStyle/>
                    <a:p>
                      <a:r>
                        <a:rPr b="1" sz="1100" i="0">
                          <a:solidFill>
                            <a:srgbClr val="FFFFFF"/>
                          </a:solidFill>
                          <a:latin typeface="Calibri"/>
                        </a:rPr>
                        <a:t>Typical role</a:t>
                      </a:r>
                    </a:p>
                  </a:txBody>
                  <a:tcPr marL="64008" marR="64008" marT="27432" marB="27432" anchor="ctr">
                    <a:solidFill>
                      <a:srgbClr val="141B4D"/>
                    </a:solidFill>
                  </a:tcPr>
                </a:tc>
                <a:tc>
                  <a:txBody>
                    <a:bodyPr wrap="square"/>
                    <a:lstStyle/>
                    <a:p>
                      <a:r>
                        <a:rPr b="1" sz="1100" i="0">
                          <a:solidFill>
                            <a:srgbClr val="FFFFFF"/>
                          </a:solidFill>
                          <a:latin typeface="Calibri"/>
                        </a:rPr>
                        <a:t>Note</a:t>
                      </a:r>
                    </a:p>
                  </a:txBody>
                  <a:tcPr marL="64008" marR="64008" marT="27432" marB="27432" anchor="ctr">
                    <a:solidFill>
                      <a:srgbClr val="141B4D"/>
                    </a:solidFill>
                  </a:tcPr>
                </a:tc>
              </a:tr>
              <a:tr h="458978">
                <a:tc>
                  <a:txBody>
                    <a:bodyPr wrap="square"/>
                    <a:lstStyle/>
                    <a:p>
                      <a:r>
                        <a:rPr b="1" sz="1100" i="0">
                          <a:solidFill>
                            <a:srgbClr val="1A2233"/>
                          </a:solidFill>
                          <a:latin typeface="Calibri"/>
                        </a:rPr>
                        <a:t>Commercial banks (local and international)</a:t>
                      </a:r>
                    </a:p>
                  </a:txBody>
                  <a:tcPr marL="64008" marR="64008" marT="27432" marB="27432" anchor="ctr">
                    <a:solidFill>
                      <a:srgbClr val="FFFFFF"/>
                    </a:solidFill>
                  </a:tcPr>
                </a:tc>
                <a:tc>
                  <a:txBody>
                    <a:bodyPr wrap="square"/>
                    <a:lstStyle/>
                    <a:p>
                      <a:r>
                        <a:rPr b="0" sz="1100" i="0">
                          <a:solidFill>
                            <a:srgbClr val="1A2233"/>
                          </a:solidFill>
                          <a:latin typeface="Calibri"/>
                        </a:rPr>
                        <a:t>Senior debt</a:t>
                      </a:r>
                    </a:p>
                  </a:txBody>
                  <a:tcPr marL="64008" marR="64008" marT="27432" marB="27432" anchor="ctr">
                    <a:solidFill>
                      <a:srgbClr val="FFFFFF"/>
                    </a:solidFill>
                  </a:tcPr>
                </a:tc>
                <a:tc>
                  <a:txBody>
                    <a:bodyPr wrap="square"/>
                    <a:lstStyle/>
                    <a:p>
                      <a:r>
                        <a:rPr b="0" sz="1100" i="0">
                          <a:solidFill>
                            <a:srgbClr val="1A2233"/>
                          </a:solidFill>
                          <a:latin typeface="Calibri"/>
                        </a:rPr>
                        <a:t>Tenor limited by deposit funding; foreign currency scarce</a:t>
                      </a:r>
                    </a:p>
                  </a:txBody>
                  <a:tcPr marL="64008" marR="64008" marT="27432" marB="27432" anchor="ctr">
                    <a:solidFill>
                      <a:srgbClr val="FFFFFF"/>
                    </a:solidFill>
                  </a:tcPr>
                </a:tc>
              </a:tr>
              <a:tr h="365760">
                <a:tc>
                  <a:txBody>
                    <a:bodyPr wrap="square"/>
                    <a:lstStyle/>
                    <a:p>
                      <a:r>
                        <a:rPr b="1" sz="1100" i="0">
                          <a:solidFill>
                            <a:srgbClr val="1A2233"/>
                          </a:solidFill>
                          <a:latin typeface="Calibri"/>
                        </a:rPr>
                        <a:t>DFIs (IFC, AfDB, AFC, FMO, etc.)</a:t>
                      </a:r>
                    </a:p>
                  </a:txBody>
                  <a:tcPr marL="64008" marR="64008" marT="27432" marB="27432" anchor="ctr">
                    <a:solidFill>
                      <a:srgbClr val="F3F6F9"/>
                    </a:solidFill>
                  </a:tcPr>
                </a:tc>
                <a:tc>
                  <a:txBody>
                    <a:bodyPr wrap="square"/>
                    <a:lstStyle/>
                    <a:p>
                      <a:r>
                        <a:rPr b="0" sz="1100" i="0">
                          <a:solidFill>
                            <a:srgbClr val="1A2233"/>
                          </a:solidFill>
                          <a:latin typeface="Calibri"/>
                        </a:rPr>
                        <a:t>Long-tenor senior debt, mezzanine, guarantees</a:t>
                      </a:r>
                    </a:p>
                  </a:txBody>
                  <a:tcPr marL="64008" marR="64008" marT="27432" marB="27432" anchor="ctr">
                    <a:solidFill>
                      <a:srgbClr val="F3F6F9"/>
                    </a:solidFill>
                  </a:tcPr>
                </a:tc>
                <a:tc>
                  <a:txBody>
                    <a:bodyPr wrap="square"/>
                    <a:lstStyle/>
                    <a:p>
                      <a:r>
                        <a:rPr b="0" sz="1100" i="0">
                          <a:solidFill>
                            <a:srgbClr val="1A2233"/>
                          </a:solidFill>
                          <a:latin typeface="Calibri"/>
                        </a:rPr>
                        <a:t>Apply E&amp;S standards (IFC Performance Standards)</a:t>
                      </a:r>
                    </a:p>
                  </a:txBody>
                  <a:tcPr marL="64008" marR="64008" marT="27432" marB="27432" anchor="ctr">
                    <a:solidFill>
                      <a:srgbClr val="F3F6F9"/>
                    </a:solidFill>
                  </a:tcPr>
                </a:tc>
              </a:tr>
              <a:tr h="365760">
                <a:tc>
                  <a:txBody>
                    <a:bodyPr wrap="square"/>
                    <a:lstStyle/>
                    <a:p>
                      <a:r>
                        <a:rPr b="1" sz="1100" i="0">
                          <a:solidFill>
                            <a:srgbClr val="1A2233"/>
                          </a:solidFill>
                          <a:latin typeface="Calibri"/>
                        </a:rPr>
                        <a:t>Export credit agencies</a:t>
                      </a:r>
                    </a:p>
                  </a:txBody>
                  <a:tcPr marL="64008" marR="64008" marT="27432" marB="27432" anchor="ctr">
                    <a:solidFill>
                      <a:srgbClr val="FFFFFF"/>
                    </a:solidFill>
                  </a:tcPr>
                </a:tc>
                <a:tc>
                  <a:txBody>
                    <a:bodyPr wrap="square"/>
                    <a:lstStyle/>
                    <a:p>
                      <a:r>
                        <a:rPr b="0" sz="1100" i="0">
                          <a:solidFill>
                            <a:srgbClr val="1A2233"/>
                          </a:solidFill>
                          <a:latin typeface="Calibri"/>
                        </a:rPr>
                        <a:t>Finance equipment from their country</a:t>
                      </a:r>
                    </a:p>
                  </a:txBody>
                  <a:tcPr marL="64008" marR="64008" marT="27432" marB="27432" anchor="ctr">
                    <a:solidFill>
                      <a:srgbClr val="FFFFFF"/>
                    </a:solidFill>
                  </a:tcPr>
                </a:tc>
                <a:tc>
                  <a:txBody>
                    <a:bodyPr wrap="square"/>
                    <a:lstStyle/>
                    <a:p>
                      <a:r>
                        <a:rPr b="0" sz="1100" i="0">
                          <a:solidFill>
                            <a:srgbClr val="1A2233"/>
                          </a:solidFill>
                          <a:latin typeface="Calibri"/>
                        </a:rPr>
                        <a:t>Tied to exports</a:t>
                      </a:r>
                    </a:p>
                  </a:txBody>
                  <a:tcPr marL="64008" marR="64008" marT="27432" marB="27432" anchor="ctr">
                    <a:solidFill>
                      <a:srgbClr val="FFFFFF"/>
                    </a:solidFill>
                  </a:tcPr>
                </a:tc>
              </a:tr>
              <a:tr h="365760">
                <a:tc>
                  <a:txBody>
                    <a:bodyPr wrap="square"/>
                    <a:lstStyle/>
                    <a:p>
                      <a:r>
                        <a:rPr b="1" sz="1100" i="0">
                          <a:solidFill>
                            <a:srgbClr val="1A2233"/>
                          </a:solidFill>
                          <a:latin typeface="Calibri"/>
                        </a:rPr>
                        <a:t>Bond investors (pension funds, insurers)</a:t>
                      </a:r>
                    </a:p>
                  </a:txBody>
                  <a:tcPr marL="64008" marR="64008" marT="27432" marB="27432" anchor="ctr">
                    <a:solidFill>
                      <a:srgbClr val="F3F6F9"/>
                    </a:solidFill>
                  </a:tcPr>
                </a:tc>
                <a:tc>
                  <a:txBody>
                    <a:bodyPr wrap="square"/>
                    <a:lstStyle/>
                    <a:p>
                      <a:r>
                        <a:rPr b="0" sz="1100" i="0">
                          <a:solidFill>
                            <a:srgbClr val="1A2233"/>
                          </a:solidFill>
                          <a:latin typeface="Calibri"/>
                        </a:rPr>
                        <a:t>Long-tenor local-currency debt</a:t>
                      </a:r>
                    </a:p>
                  </a:txBody>
                  <a:tcPr marL="64008" marR="64008" marT="27432" marB="27432" anchor="ctr">
                    <a:solidFill>
                      <a:srgbClr val="F3F6F9"/>
                    </a:solidFill>
                  </a:tcPr>
                </a:tc>
                <a:tc>
                  <a:txBody>
                    <a:bodyPr wrap="square"/>
                    <a:lstStyle/>
                    <a:p>
                      <a:r>
                        <a:rPr b="0" sz="1100" i="0">
                          <a:solidFill>
                            <a:srgbClr val="1A2233"/>
                          </a:solidFill>
                          <a:latin typeface="Calibri"/>
                        </a:rPr>
                        <a:t>InfraCredit guarantees help; see Day 1</a:t>
                      </a:r>
                    </a:p>
                  </a:txBody>
                  <a:tcPr marL="64008" marR="64008" marT="27432" marB="27432" anchor="ctr">
                    <a:solidFill>
                      <a:srgbClr val="F3F6F9"/>
                    </a:solidFill>
                  </a:tcPr>
                </a:tc>
              </a:tr>
              <a:tr h="365760">
                <a:tc>
                  <a:txBody>
                    <a:bodyPr wrap="square"/>
                    <a:lstStyle/>
                    <a:p>
                      <a:r>
                        <a:rPr b="1" sz="1100" i="0">
                          <a:solidFill>
                            <a:srgbClr val="1A2233"/>
                          </a:solidFill>
                          <a:latin typeface="Calibri"/>
                        </a:rPr>
                        <a:t>Guarantee and insurance providers</a:t>
                      </a:r>
                    </a:p>
                  </a:txBody>
                  <a:tcPr marL="64008" marR="64008" marT="27432" marB="27432" anchor="ctr">
                    <a:solidFill>
                      <a:srgbClr val="FFFFFF"/>
                    </a:solidFill>
                  </a:tcPr>
                </a:tc>
                <a:tc>
                  <a:txBody>
                    <a:bodyPr wrap="square"/>
                    <a:lstStyle/>
                    <a:p>
                      <a:r>
                        <a:rPr b="0" sz="1100" i="0">
                          <a:solidFill>
                            <a:srgbClr val="1A2233"/>
                          </a:solidFill>
                          <a:latin typeface="Calibri"/>
                        </a:rPr>
                        <a:t>Credit enhancement</a:t>
                      </a:r>
                    </a:p>
                  </a:txBody>
                  <a:tcPr marL="64008" marR="64008" marT="27432" marB="27432" anchor="ctr">
                    <a:solidFill>
                      <a:srgbClr val="FFFFFF"/>
                    </a:solidFill>
                  </a:tcPr>
                </a:tc>
                <a:tc>
                  <a:txBody>
                    <a:bodyPr wrap="square"/>
                    <a:lstStyle/>
                    <a:p>
                      <a:r>
                        <a:rPr b="0" sz="1100" i="0">
                          <a:solidFill>
                            <a:srgbClr val="1A2233"/>
                          </a:solidFill>
                          <a:latin typeface="Calibri"/>
                        </a:rPr>
                        <a:t>World Bank PRG, MIGA, InfraCredit</a:t>
                      </a:r>
                    </a:p>
                  </a:txBody>
                  <a:tcPr marL="64008" marR="64008" marT="27432" marB="27432" anchor="ctr">
                    <a:solidFill>
                      <a:srgbClr val="FFFFFF"/>
                    </a:solidFill>
                  </a:tcPr>
                </a:tc>
              </a:tr>
              <a:tr h="365760">
                <a:tc>
                  <a:txBody>
                    <a:bodyPr wrap="square"/>
                    <a:lstStyle/>
                    <a:p>
                      <a:r>
                        <a:rPr b="1" sz="1100" i="0">
                          <a:solidFill>
                            <a:srgbClr val="1A2233"/>
                          </a:solidFill>
                          <a:latin typeface="Calibri"/>
                        </a:rPr>
                        <a:t>Sponsors and equity funds</a:t>
                      </a:r>
                    </a:p>
                  </a:txBody>
                  <a:tcPr marL="64008" marR="64008" marT="27432" marB="27432" anchor="ctr">
                    <a:solidFill>
                      <a:srgbClr val="F3F6F9"/>
                    </a:solidFill>
                  </a:tcPr>
                </a:tc>
                <a:tc>
                  <a:txBody>
                    <a:bodyPr wrap="square"/>
                    <a:lstStyle/>
                    <a:p>
                      <a:r>
                        <a:rPr b="0" sz="1100" i="0">
                          <a:solidFill>
                            <a:srgbClr val="1A2233"/>
                          </a:solidFill>
                          <a:latin typeface="Calibri"/>
                        </a:rPr>
                        <a:t>Equity and shareholder loans</a:t>
                      </a:r>
                    </a:p>
                  </a:txBody>
                  <a:tcPr marL="64008" marR="64008" marT="27432" marB="27432" anchor="ctr">
                    <a:solidFill>
                      <a:srgbClr val="F3F6F9"/>
                    </a:solidFill>
                  </a:tcPr>
                </a:tc>
                <a:tc>
                  <a:txBody>
                    <a:bodyPr wrap="square"/>
                    <a:lstStyle/>
                    <a:p>
                      <a:r>
                        <a:rPr b="0" sz="1100" i="0">
                          <a:solidFill>
                            <a:srgbClr val="1A2233"/>
                          </a:solidFill>
                          <a:latin typeface="Calibri"/>
                        </a:rPr>
                        <a:t>Return expectations 15 to 25%+</a:t>
                      </a:r>
                    </a:p>
                  </a:txBody>
                  <a:tcPr marL="64008" marR="64008" marT="27432" marB="27432" anchor="ctr">
                    <a:solidFill>
                      <a:srgbClr val="F3F6F9"/>
                    </a:solidFill>
                  </a:tcPr>
                </a:tc>
              </a:tr>
              <a:tr h="365760">
                <a:tc>
                  <a:txBody>
                    <a:bodyPr wrap="square"/>
                    <a:lstStyle/>
                    <a:p>
                      <a:r>
                        <a:rPr b="1" sz="1100" i="0">
                          <a:solidFill>
                            <a:srgbClr val="1A2233"/>
                          </a:solidFill>
                          <a:latin typeface="Calibri"/>
                        </a:rPr>
                        <a:t>Government support</a:t>
                      </a:r>
                    </a:p>
                  </a:txBody>
                  <a:tcPr marL="64008" marR="64008" marT="27432" marB="27432" anchor="ctr">
                    <a:solidFill>
                      <a:srgbClr val="FFFFFF"/>
                    </a:solidFill>
                  </a:tcPr>
                </a:tc>
                <a:tc>
                  <a:txBody>
                    <a:bodyPr wrap="square"/>
                    <a:lstStyle/>
                    <a:p>
                      <a:r>
                        <a:rPr b="0" sz="1100" i="0">
                          <a:solidFill>
                            <a:srgbClr val="1A2233"/>
                          </a:solidFill>
                          <a:latin typeface="Calibri"/>
                        </a:rPr>
                        <a:t>Viability gap, guarantees</a:t>
                      </a:r>
                    </a:p>
                  </a:txBody>
                  <a:tcPr marL="64008" marR="64008" marT="27432" marB="27432" anchor="ctr">
                    <a:solidFill>
                      <a:srgbClr val="FFFFFF"/>
                    </a:solidFill>
                  </a:tcPr>
                </a:tc>
                <a:tc>
                  <a:txBody>
                    <a:bodyPr wrap="square"/>
                    <a:lstStyle/>
                    <a:p>
                      <a:r>
                        <a:rPr b="0" sz="1100" i="0">
                          <a:solidFill>
                            <a:srgbClr val="1A2233"/>
                          </a:solidFill>
                          <a:latin typeface="Calibri"/>
                        </a:rPr>
                        <a:t>Fiscal impact</a:t>
                      </a:r>
                    </a:p>
                  </a:txBody>
                  <a:tcPr marL="64008" marR="64008" marT="27432" marB="27432"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3.4a: Allocate a syndicate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A US$300m loan must be syndicated. You are the arranger. Decide the allocation among 6 lenders who offered: A 100, B 80, C 70, D 60, E 50, F 40 (total 400). You will scale back pro rata.</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Total commitments 400 vs 300 required: scale factor = 300/400 = 75%</a:t>
            </a:r>
          </a:p>
          <a:p>
            <a:pPr>
              <a:spcAft>
                <a:spcPts val="300"/>
              </a:spcAft>
            </a:pPr>
            <a:r>
              <a:rPr b="0" sz="1500" i="0">
                <a:solidFill>
                  <a:srgbClr val="1A2233"/>
                </a:solidFill>
                <a:latin typeface="Calibri"/>
              </a:rPr>
              <a:t>2.  Compute each allocation</a:t>
            </a:r>
          </a:p>
          <a:p>
            <a:pPr>
              <a:spcAft>
                <a:spcPts val="300"/>
              </a:spcAft>
            </a:pPr>
            <a:r>
              <a:rPr b="0" sz="1500" i="0">
                <a:solidFill>
                  <a:srgbClr val="1A2233"/>
                </a:solidFill>
                <a:latin typeface="Calibri"/>
              </a:rPr>
              <a:t>3.  Which lenders might you favour and why?</a:t>
            </a:r>
          </a:p>
          <a:p>
            <a:pPr>
              <a:spcAft>
                <a:spcPts val="300"/>
              </a:spcAft>
            </a:pPr>
            <a:r>
              <a:rPr b="0" sz="1500" i="0">
                <a:solidFill>
                  <a:srgbClr val="1A2233"/>
                </a:solidFill>
                <a:latin typeface="Calibri"/>
              </a:rPr>
              <a:t>4.  Explain the scale-back to a lender who wanted 100</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10 min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33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14.45 – 16.30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5: Risk allocation, risks and mitigants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Who bears each risk, and what stops it hurting cash flow?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allocation matters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Every project risk lands somewhere: on lenders, sponsors, contractors, suppliers, the government or users. The aim is to place each risk with the party best able to control or absorb it at the lowest cost. If a risk sits with a party that cannot bear it, the project is unfinanceable.</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Principle 1: the party that can control the risk should bear it</a:t>
            </a:r>
          </a:p>
          <a:p>
            <a:pPr algn="l"/>
            <a:r>
              <a:rPr b="0" sz="1600" i="0">
                <a:solidFill>
                  <a:srgbClr val="1A2233"/>
                </a:solidFill>
                <a:latin typeface="Calibri"/>
              </a:rPr>
              <a:t>Principle 2: if nobody can control it, the party that can insure or diversify it</a:t>
            </a:r>
          </a:p>
          <a:p>
            <a:pPr algn="l"/>
            <a:r>
              <a:rPr b="0" sz="1600" i="0">
                <a:solidFill>
                  <a:srgbClr val="1A2233"/>
                </a:solidFill>
                <a:latin typeface="Calibri"/>
              </a:rPr>
              <a:t>Principle 3: lenders bear as little commercial risk as possible</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Risk allocation is the language of term sheets, contracts and the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RISK MAP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Risks by project phase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34334"/>
        </p:xfrm>
        <a:graphic>
          <a:graphicData uri="http://schemas.openxmlformats.org/drawingml/2006/table">
            <a:tbl>
              <a:tblPr firstRow="1" bandRow="1">
                <a:tableStyleId>{5C22544A-7EE6-4342-B048-85BDC9FD1C3A}</a:tableStyleId>
              </a:tblPr>
              <a:tblGrid>
                <a:gridCol w="1920240"/>
                <a:gridCol w="4389120"/>
                <a:gridCol w="4754880"/>
              </a:tblGrid>
              <a:tr h="411480">
                <a:tc>
                  <a:txBody>
                    <a:bodyPr wrap="square"/>
                    <a:lstStyle/>
                    <a:p>
                      <a:r>
                        <a:rPr b="1" sz="1100" i="0">
                          <a:solidFill>
                            <a:srgbClr val="FFFFFF"/>
                          </a:solidFill>
                          <a:latin typeface="Calibri"/>
                        </a:rPr>
                        <a:t>Phase</a:t>
                      </a:r>
                    </a:p>
                  </a:txBody>
                  <a:tcPr marL="64008" marR="64008" marT="27432" marB="27432" anchor="ctr">
                    <a:solidFill>
                      <a:srgbClr val="141B4D"/>
                    </a:solidFill>
                  </a:tcPr>
                </a:tc>
                <a:tc>
                  <a:txBody>
                    <a:bodyPr wrap="square"/>
                    <a:lstStyle/>
                    <a:p>
                      <a:r>
                        <a:rPr b="1" sz="1100" i="0">
                          <a:solidFill>
                            <a:srgbClr val="FFFFFF"/>
                          </a:solidFill>
                          <a:latin typeface="Calibri"/>
                        </a:rPr>
                        <a:t>Main risks</a:t>
                      </a:r>
                    </a:p>
                  </a:txBody>
                  <a:tcPr marL="64008" marR="64008" marT="27432" marB="27432" anchor="ctr">
                    <a:solidFill>
                      <a:srgbClr val="141B4D"/>
                    </a:solidFill>
                  </a:tcPr>
                </a:tc>
                <a:tc>
                  <a:txBody>
                    <a:bodyPr wrap="square"/>
                    <a:lstStyle/>
                    <a:p>
                      <a:r>
                        <a:rPr b="1" sz="1100" i="0">
                          <a:solidFill>
                            <a:srgbClr val="FFFFFF"/>
                          </a:solidFill>
                          <a:latin typeface="Calibri"/>
                        </a:rPr>
                        <a:t>Typical mitigants</a:t>
                      </a:r>
                    </a:p>
                  </a:txBody>
                  <a:tcPr marL="64008" marR="64008" marT="27432" marB="27432" anchor="ctr">
                    <a:solidFill>
                      <a:srgbClr val="141B4D"/>
                    </a:solidFill>
                  </a:tcPr>
                </a:tc>
              </a:tr>
              <a:tr h="411480">
                <a:tc>
                  <a:txBody>
                    <a:bodyPr wrap="square"/>
                    <a:lstStyle/>
                    <a:p>
                      <a:r>
                        <a:rPr b="1" sz="1100" i="0">
                          <a:solidFill>
                            <a:srgbClr val="1A2233"/>
                          </a:solidFill>
                          <a:latin typeface="Calibri"/>
                        </a:rPr>
                        <a:t>Development</a:t>
                      </a:r>
                    </a:p>
                  </a:txBody>
                  <a:tcPr marL="64008" marR="64008" marT="27432" marB="27432" anchor="ctr">
                    <a:solidFill>
                      <a:srgbClr val="FFFFFF"/>
                    </a:solidFill>
                  </a:tcPr>
                </a:tc>
                <a:tc>
                  <a:txBody>
                    <a:bodyPr wrap="square"/>
                    <a:lstStyle/>
                    <a:p>
                      <a:r>
                        <a:rPr b="0" sz="1100" i="0">
                          <a:solidFill>
                            <a:srgbClr val="1A2233"/>
                          </a:solidFill>
                          <a:latin typeface="Calibri"/>
                        </a:rPr>
                        <a:t>Permits, land, community, political support</a:t>
                      </a:r>
                    </a:p>
                  </a:txBody>
                  <a:tcPr marL="64008" marR="64008" marT="27432" marB="27432" anchor="ctr">
                    <a:solidFill>
                      <a:srgbClr val="FFFFFF"/>
                    </a:solidFill>
                  </a:tcPr>
                </a:tc>
                <a:tc>
                  <a:txBody>
                    <a:bodyPr wrap="square"/>
                    <a:lstStyle/>
                    <a:p>
                      <a:r>
                        <a:rPr b="0" sz="1100" i="0">
                          <a:solidFill>
                            <a:srgbClr val="1A2233"/>
                          </a:solidFill>
                          <a:latin typeface="Calibri"/>
                        </a:rPr>
                        <a:t>Early engagement; permits as CPs; land title diligence</a:t>
                      </a:r>
                    </a:p>
                  </a:txBody>
                  <a:tcPr marL="64008" marR="64008" marT="27432" marB="27432" anchor="ctr">
                    <a:solidFill>
                      <a:srgbClr val="FFFFFF"/>
                    </a:solidFill>
                  </a:tcPr>
                </a:tc>
              </a:tr>
              <a:tr h="458978">
                <a:tc>
                  <a:txBody>
                    <a:bodyPr wrap="square"/>
                    <a:lstStyle/>
                    <a:p>
                      <a:r>
                        <a:rPr b="1" sz="1100" i="0">
                          <a:solidFill>
                            <a:srgbClr val="1A2233"/>
                          </a:solidFill>
                          <a:latin typeface="Calibri"/>
                        </a:rPr>
                        <a:t>Construction</a:t>
                      </a:r>
                    </a:p>
                  </a:txBody>
                  <a:tcPr marL="64008" marR="64008" marT="27432" marB="27432" anchor="ctr">
                    <a:solidFill>
                      <a:srgbClr val="F3F6F9"/>
                    </a:solidFill>
                  </a:tcPr>
                </a:tc>
                <a:tc>
                  <a:txBody>
                    <a:bodyPr wrap="square"/>
                    <a:lstStyle/>
                    <a:p>
                      <a:r>
                        <a:rPr b="0" sz="1100" i="0">
                          <a:solidFill>
                            <a:srgbClr val="1A2233"/>
                          </a:solidFill>
                          <a:latin typeface="Calibri"/>
                        </a:rPr>
                        <a:t>Cost overrun, delay, technical failure, contractor default</a:t>
                      </a:r>
                    </a:p>
                  </a:txBody>
                  <a:tcPr marL="64008" marR="64008" marT="27432" marB="27432" anchor="ctr">
                    <a:solidFill>
                      <a:srgbClr val="F3F6F9"/>
                    </a:solidFill>
                  </a:tcPr>
                </a:tc>
                <a:tc>
                  <a:txBody>
                    <a:bodyPr wrap="square"/>
                    <a:lstStyle/>
                    <a:p>
                      <a:r>
                        <a:rPr b="0" sz="1100" i="0">
                          <a:solidFill>
                            <a:srgbClr val="1A2233"/>
                          </a:solidFill>
                          <a:latin typeface="Calibri"/>
                        </a:rPr>
                        <a:t>Fixed-price EPC; liquidated damages; performance bond; contingency; sponsor completion support</a:t>
                      </a:r>
                    </a:p>
                  </a:txBody>
                  <a:tcPr marL="64008" marR="64008" marT="27432" marB="27432" anchor="ctr">
                    <a:solidFill>
                      <a:srgbClr val="F3F6F9"/>
                    </a:solidFill>
                  </a:tcPr>
                </a:tc>
              </a:tr>
              <a:tr h="411480">
                <a:tc>
                  <a:txBody>
                    <a:bodyPr wrap="square"/>
                    <a:lstStyle/>
                    <a:p>
                      <a:r>
                        <a:rPr b="1" sz="1100" i="0">
                          <a:solidFill>
                            <a:srgbClr val="1A2233"/>
                          </a:solidFill>
                          <a:latin typeface="Calibri"/>
                        </a:rPr>
                        <a:t>Operations</a:t>
                      </a:r>
                    </a:p>
                  </a:txBody>
                  <a:tcPr marL="64008" marR="64008" marT="27432" marB="27432" anchor="ctr">
                    <a:solidFill>
                      <a:srgbClr val="FFFFFF"/>
                    </a:solidFill>
                  </a:tcPr>
                </a:tc>
                <a:tc>
                  <a:txBody>
                    <a:bodyPr wrap="square"/>
                    <a:lstStyle/>
                    <a:p>
                      <a:r>
                        <a:rPr b="0" sz="1100" i="0">
                          <a:solidFill>
                            <a:srgbClr val="1A2233"/>
                          </a:solidFill>
                          <a:latin typeface="Calibri"/>
                        </a:rPr>
                        <a:t>Output below plan, higher O&amp;M cost, technical</a:t>
                      </a:r>
                    </a:p>
                  </a:txBody>
                  <a:tcPr marL="64008" marR="64008" marT="27432" marB="27432" anchor="ctr">
                    <a:solidFill>
                      <a:srgbClr val="FFFFFF"/>
                    </a:solidFill>
                  </a:tcPr>
                </a:tc>
                <a:tc>
                  <a:txBody>
                    <a:bodyPr wrap="square"/>
                    <a:lstStyle/>
                    <a:p>
                      <a:r>
                        <a:rPr b="0" sz="1100" i="0">
                          <a:solidFill>
                            <a:srgbClr val="1A2233"/>
                          </a:solidFill>
                          <a:latin typeface="Calibri"/>
                        </a:rPr>
                        <a:t>O&amp;M contract; performance guarantees; reserve accounts</a:t>
                      </a:r>
                    </a:p>
                  </a:txBody>
                  <a:tcPr marL="64008" marR="64008" marT="27432" marB="27432" anchor="ctr">
                    <a:solidFill>
                      <a:srgbClr val="FFFFFF"/>
                    </a:solidFill>
                  </a:tcPr>
                </a:tc>
              </a:tr>
              <a:tr h="458978">
                <a:tc>
                  <a:txBody>
                    <a:bodyPr wrap="square"/>
                    <a:lstStyle/>
                    <a:p>
                      <a:r>
                        <a:rPr b="1" sz="1100" i="0">
                          <a:solidFill>
                            <a:srgbClr val="1A2233"/>
                          </a:solidFill>
                          <a:latin typeface="Calibri"/>
                        </a:rPr>
                        <a:t>Market / demand</a:t>
                      </a:r>
                    </a:p>
                  </a:txBody>
                  <a:tcPr marL="64008" marR="64008" marT="27432" marB="27432" anchor="ctr">
                    <a:solidFill>
                      <a:srgbClr val="F3F6F9"/>
                    </a:solidFill>
                  </a:tcPr>
                </a:tc>
                <a:tc>
                  <a:txBody>
                    <a:bodyPr wrap="square"/>
                    <a:lstStyle/>
                    <a:p>
                      <a:r>
                        <a:rPr b="0" sz="1100" i="0">
                          <a:solidFill>
                            <a:srgbClr val="1A2233"/>
                          </a:solidFill>
                          <a:latin typeface="Calibri"/>
                        </a:rPr>
                        <a:t>Traffic or demand below forecast</a:t>
                      </a:r>
                    </a:p>
                  </a:txBody>
                  <a:tcPr marL="64008" marR="64008" marT="27432" marB="27432" anchor="ctr">
                    <a:solidFill>
                      <a:srgbClr val="F3F6F9"/>
                    </a:solidFill>
                  </a:tcPr>
                </a:tc>
                <a:tc>
                  <a:txBody>
                    <a:bodyPr wrap="square"/>
                    <a:lstStyle/>
                    <a:p>
                      <a:r>
                        <a:rPr b="0" sz="1100" i="0">
                          <a:solidFill>
                            <a:srgbClr val="1A2233"/>
                          </a:solidFill>
                          <a:latin typeface="Calibri"/>
                        </a:rPr>
                        <a:t>Take-or-pay; minimum revenue guarantee; conservative forecasts; higher DSCR</a:t>
                      </a:r>
                    </a:p>
                  </a:txBody>
                  <a:tcPr marL="64008" marR="64008" marT="27432" marB="27432" anchor="ctr">
                    <a:solidFill>
                      <a:srgbClr val="F3F6F9"/>
                    </a:solidFill>
                  </a:tcPr>
                </a:tc>
              </a:tr>
              <a:tr h="411480">
                <a:tc>
                  <a:txBody>
                    <a:bodyPr wrap="square"/>
                    <a:lstStyle/>
                    <a:p>
                      <a:r>
                        <a:rPr b="1" sz="1100" i="0">
                          <a:solidFill>
                            <a:srgbClr val="1A2233"/>
                          </a:solidFill>
                          <a:latin typeface="Calibri"/>
                        </a:rPr>
                        <a:t>Financial</a:t>
                      </a:r>
                    </a:p>
                  </a:txBody>
                  <a:tcPr marL="64008" marR="64008" marT="27432" marB="27432" anchor="ctr">
                    <a:solidFill>
                      <a:srgbClr val="FFFFFF"/>
                    </a:solidFill>
                  </a:tcPr>
                </a:tc>
                <a:tc>
                  <a:txBody>
                    <a:bodyPr wrap="square"/>
                    <a:lstStyle/>
                    <a:p>
                      <a:r>
                        <a:rPr b="0" sz="1100" i="0">
                          <a:solidFill>
                            <a:srgbClr val="1A2233"/>
                          </a:solidFill>
                          <a:latin typeface="Calibri"/>
                        </a:rPr>
                        <a:t>Interest rate, exchange rate, refinancing</a:t>
                      </a:r>
                    </a:p>
                  </a:txBody>
                  <a:tcPr marL="64008" marR="64008" marT="27432" marB="27432" anchor="ctr">
                    <a:solidFill>
                      <a:srgbClr val="FFFFFF"/>
                    </a:solidFill>
                  </a:tcPr>
                </a:tc>
                <a:tc>
                  <a:txBody>
                    <a:bodyPr wrap="square"/>
                    <a:lstStyle/>
                    <a:p>
                      <a:r>
                        <a:rPr b="0" sz="1100" i="0">
                          <a:solidFill>
                            <a:srgbClr val="1A2233"/>
                          </a:solidFill>
                          <a:latin typeface="Calibri"/>
                        </a:rPr>
                        <a:t>Hedging; local-currency debt; tariff indexation; long tenor</a:t>
                      </a:r>
                    </a:p>
                  </a:txBody>
                  <a:tcPr marL="64008" marR="64008" marT="27432" marB="27432" anchor="ctr">
                    <a:solidFill>
                      <a:srgbClr val="FFFFFF"/>
                    </a:solidFill>
                  </a:tcPr>
                </a:tc>
              </a:tr>
              <a:tr h="458978">
                <a:tc>
                  <a:txBody>
                    <a:bodyPr wrap="square"/>
                    <a:lstStyle/>
                    <a:p>
                      <a:r>
                        <a:rPr b="1" sz="1100" i="0">
                          <a:solidFill>
                            <a:srgbClr val="1A2233"/>
                          </a:solidFill>
                          <a:latin typeface="Calibri"/>
                        </a:rPr>
                        <a:t>Political / regulatory</a:t>
                      </a:r>
                    </a:p>
                  </a:txBody>
                  <a:tcPr marL="64008" marR="64008" marT="27432" marB="27432" anchor="ctr">
                    <a:solidFill>
                      <a:srgbClr val="F3F6F9"/>
                    </a:solidFill>
                  </a:tcPr>
                </a:tc>
                <a:tc>
                  <a:txBody>
                    <a:bodyPr wrap="square"/>
                    <a:lstStyle/>
                    <a:p>
                      <a:r>
                        <a:rPr b="0" sz="1100" i="0">
                          <a:solidFill>
                            <a:srgbClr val="1A2233"/>
                          </a:solidFill>
                          <a:latin typeface="Calibri"/>
                        </a:rPr>
                        <a:t>Change in law, expropriation, tariff interference</a:t>
                      </a:r>
                    </a:p>
                  </a:txBody>
                  <a:tcPr marL="64008" marR="64008" marT="27432" marB="27432" anchor="ctr">
                    <a:solidFill>
                      <a:srgbClr val="F3F6F9"/>
                    </a:solidFill>
                  </a:tcPr>
                </a:tc>
                <a:tc>
                  <a:txBody>
                    <a:bodyPr wrap="square"/>
                    <a:lstStyle/>
                    <a:p>
                      <a:r>
                        <a:rPr b="0" sz="1100" i="0">
                          <a:solidFill>
                            <a:srgbClr val="1A2233"/>
                          </a:solidFill>
                          <a:latin typeface="Calibri"/>
                        </a:rPr>
                        <a:t>Change-in-law clause; termination payment; political risk insurance</a:t>
                      </a:r>
                    </a:p>
                  </a:txBody>
                  <a:tcPr marL="64008" marR="64008" marT="27432" marB="27432" anchor="ctr">
                    <a:solidFill>
                      <a:srgbClr val="F3F6F9"/>
                    </a:solidFill>
                  </a:tcPr>
                </a:tc>
              </a:tr>
              <a:tr h="411480">
                <a:tc>
                  <a:txBody>
                    <a:bodyPr wrap="square"/>
                    <a:lstStyle/>
                    <a:p>
                      <a:r>
                        <a:rPr b="1" sz="1100" i="0">
                          <a:solidFill>
                            <a:srgbClr val="1A2233"/>
                          </a:solidFill>
                          <a:latin typeface="Calibri"/>
                        </a:rPr>
                        <a:t>Force majeure</a:t>
                      </a:r>
                    </a:p>
                  </a:txBody>
                  <a:tcPr marL="64008" marR="64008" marT="27432" marB="27432" anchor="ctr">
                    <a:solidFill>
                      <a:srgbClr val="FFFFFF"/>
                    </a:solidFill>
                  </a:tcPr>
                </a:tc>
                <a:tc>
                  <a:txBody>
                    <a:bodyPr wrap="square"/>
                    <a:lstStyle/>
                    <a:p>
                      <a:r>
                        <a:rPr b="0" sz="1100" i="0">
                          <a:solidFill>
                            <a:srgbClr val="1A2233"/>
                          </a:solidFill>
                          <a:latin typeface="Calibri"/>
                        </a:rPr>
                        <a:t>Floods, war, strike</a:t>
                      </a:r>
                    </a:p>
                  </a:txBody>
                  <a:tcPr marL="64008" marR="64008" marT="27432" marB="27432" anchor="ctr">
                    <a:solidFill>
                      <a:srgbClr val="FFFFFF"/>
                    </a:solidFill>
                  </a:tcPr>
                </a:tc>
                <a:tc>
                  <a:txBody>
                    <a:bodyPr wrap="square"/>
                    <a:lstStyle/>
                    <a:p>
                      <a:r>
                        <a:rPr b="0" sz="1100" i="0">
                          <a:solidFill>
                            <a:srgbClr val="1A2233"/>
                          </a:solidFill>
                          <a:latin typeface="Calibri"/>
                        </a:rPr>
                        <a:t>Insurance; relief clauses</a:t>
                      </a:r>
                    </a:p>
                  </a:txBody>
                  <a:tcPr marL="64008" marR="64008" marT="27432" marB="27432"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LINK TO MODEL</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Mapping risks to model inputs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923031"/>
        </p:xfrm>
        <a:graphic>
          <a:graphicData uri="http://schemas.openxmlformats.org/drawingml/2006/table">
            <a:tbl>
              <a:tblPr firstRow="1" bandRow="1">
                <a:tableStyleId>{5C22544A-7EE6-4342-B048-85BDC9FD1C3A}</a:tableStyleId>
              </a:tblPr>
              <a:tblGrid>
                <a:gridCol w="2743200"/>
                <a:gridCol w="3474720"/>
                <a:gridCol w="3017520"/>
                <a:gridCol w="1828800"/>
              </a:tblGrid>
              <a:tr h="347472">
                <a:tc>
                  <a:txBody>
                    <a:bodyPr wrap="square"/>
                    <a:lstStyle/>
                    <a:p>
                      <a:r>
                        <a:rPr b="1" sz="1200" i="0">
                          <a:solidFill>
                            <a:srgbClr val="FFFFFF"/>
                          </a:solidFill>
                          <a:latin typeface="Calibri"/>
                        </a:rPr>
                        <a:t>Risk</a:t>
                      </a:r>
                    </a:p>
                  </a:txBody>
                  <a:tcPr marL="64008" marR="64008" marT="27432" marB="27432" anchor="ctr">
                    <a:solidFill>
                      <a:srgbClr val="141B4D"/>
                    </a:solidFill>
                  </a:tcPr>
                </a:tc>
                <a:tc>
                  <a:txBody>
                    <a:bodyPr wrap="square"/>
                    <a:lstStyle/>
                    <a:p>
                      <a:r>
                        <a:rPr b="1" sz="1200" i="0">
                          <a:solidFill>
                            <a:srgbClr val="FFFFFF"/>
                          </a:solidFill>
                          <a:latin typeface="Calibri"/>
                        </a:rPr>
                        <a:t>Model input that carries it</a:t>
                      </a:r>
                    </a:p>
                  </a:txBody>
                  <a:tcPr marL="64008" marR="64008" marT="27432" marB="27432" anchor="ctr">
                    <a:solidFill>
                      <a:srgbClr val="141B4D"/>
                    </a:solidFill>
                  </a:tcPr>
                </a:tc>
                <a:tc>
                  <a:txBody>
                    <a:bodyPr wrap="square"/>
                    <a:lstStyle/>
                    <a:p>
                      <a:r>
                        <a:rPr b="1" sz="1200" i="0">
                          <a:solidFill>
                            <a:srgbClr val="FFFFFF"/>
                          </a:solidFill>
                          <a:latin typeface="Calibri"/>
                        </a:rPr>
                        <a:t>Where</a:t>
                      </a:r>
                    </a:p>
                  </a:txBody>
                  <a:tcPr marL="64008" marR="64008" marT="27432" marB="27432" anchor="ctr">
                    <a:solidFill>
                      <a:srgbClr val="141B4D"/>
                    </a:solidFill>
                  </a:tcPr>
                </a:tc>
                <a:tc>
                  <a:txBody>
                    <a:bodyPr wrap="square"/>
                    <a:lstStyle/>
                    <a:p>
                      <a:r>
                        <a:rPr b="1" sz="1200" i="0">
                          <a:solidFill>
                            <a:srgbClr val="FFFFFF"/>
                          </a:solidFill>
                          <a:latin typeface="Calibri"/>
                        </a:rPr>
                        <a:t>Day built</a:t>
                      </a:r>
                    </a:p>
                  </a:txBody>
                  <a:tcPr marL="64008" marR="64008" marT="27432" marB="27432" anchor="ctr">
                    <a:solidFill>
                      <a:srgbClr val="141B4D"/>
                    </a:solidFill>
                  </a:tcPr>
                </a:tc>
              </a:tr>
              <a:tr h="347472">
                <a:tc>
                  <a:txBody>
                    <a:bodyPr wrap="square"/>
                    <a:lstStyle/>
                    <a:p>
                      <a:r>
                        <a:rPr b="1" sz="1200" i="0">
                          <a:solidFill>
                            <a:srgbClr val="1A2233"/>
                          </a:solidFill>
                          <a:latin typeface="Calibri"/>
                        </a:rPr>
                        <a:t>Demand / fare</a:t>
                      </a:r>
                    </a:p>
                  </a:txBody>
                  <a:tcPr marL="64008" marR="64008" marT="27432" marB="27432" anchor="ctr">
                    <a:solidFill>
                      <a:srgbClr val="FFFFFF"/>
                    </a:solidFill>
                  </a:tcPr>
                </a:tc>
                <a:tc>
                  <a:txBody>
                    <a:bodyPr wrap="square"/>
                    <a:lstStyle/>
                    <a:p>
                      <a:r>
                        <a:rPr b="0" sz="1200" i="0">
                          <a:solidFill>
                            <a:srgbClr val="1A2233"/>
                          </a:solidFill>
                          <a:latin typeface="Calibri"/>
                        </a:rPr>
                        <a:t>Trains, occupancy, fare</a:t>
                      </a:r>
                    </a:p>
                  </a:txBody>
                  <a:tcPr marL="64008" marR="64008" marT="27432" marB="27432" anchor="ctr">
                    <a:solidFill>
                      <a:srgbClr val="FFFFFF"/>
                    </a:solidFill>
                  </a:tcPr>
                </a:tc>
                <a:tc>
                  <a:txBody>
                    <a:bodyPr wrap="square"/>
                    <a:lstStyle/>
                    <a:p>
                      <a:r>
                        <a:rPr b="0" sz="1200" i="0">
                          <a:solidFill>
                            <a:srgbClr val="1A2233"/>
                          </a:solidFill>
                          <a:latin typeface="Calibri"/>
                        </a:rPr>
                        <a:t>InpS rows 8 to 15; InpC row 35</a:t>
                      </a:r>
                    </a:p>
                  </a:txBody>
                  <a:tcPr marL="64008" marR="64008" marT="27432" marB="27432" anchor="ctr">
                    <a:solidFill>
                      <a:srgbClr val="FFFFFF"/>
                    </a:solidFill>
                  </a:tcPr>
                </a:tc>
                <a:tc>
                  <a:txBody>
                    <a:bodyPr wrap="square"/>
                    <a:lstStyle/>
                    <a:p>
                      <a:r>
                        <a:rPr b="0" sz="1200" i="0">
                          <a:solidFill>
                            <a:srgbClr val="1A2233"/>
                          </a:solidFill>
                          <a:latin typeface="Calibri"/>
                        </a:rPr>
                        <a:t>4</a:t>
                      </a:r>
                    </a:p>
                  </a:txBody>
                  <a:tcPr marL="64008" marR="64008" marT="27432" marB="27432" anchor="ctr">
                    <a:solidFill>
                      <a:srgbClr val="FFFFFF"/>
                    </a:solidFill>
                  </a:tcPr>
                </a:tc>
              </a:tr>
              <a:tr h="347472">
                <a:tc>
                  <a:txBody>
                    <a:bodyPr wrap="square"/>
                    <a:lstStyle/>
                    <a:p>
                      <a:r>
                        <a:rPr b="1" sz="1200" i="0">
                          <a:solidFill>
                            <a:srgbClr val="1A2233"/>
                          </a:solidFill>
                          <a:latin typeface="Calibri"/>
                        </a:rPr>
                        <a:t>Operating cost overrun</a:t>
                      </a:r>
                    </a:p>
                  </a:txBody>
                  <a:tcPr marL="64008" marR="64008" marT="27432" marB="27432" anchor="ctr">
                    <a:solidFill>
                      <a:srgbClr val="F3F6F9"/>
                    </a:solidFill>
                  </a:tcPr>
                </a:tc>
                <a:tc>
                  <a:txBody>
                    <a:bodyPr wrap="square"/>
                    <a:lstStyle/>
                    <a:p>
                      <a:r>
                        <a:rPr b="0" sz="1200" i="0">
                          <a:solidFill>
                            <a:srgbClr val="1A2233"/>
                          </a:solidFill>
                          <a:latin typeface="Calibri"/>
                        </a:rPr>
                        <a:t>Handling, O&amp;M costs and sensitivity</a:t>
                      </a:r>
                    </a:p>
                  </a:txBody>
                  <a:tcPr marL="64008" marR="64008" marT="27432" marB="27432" anchor="ctr">
                    <a:solidFill>
                      <a:srgbClr val="F3F6F9"/>
                    </a:solidFill>
                  </a:tcPr>
                </a:tc>
                <a:tc>
                  <a:txBody>
                    <a:bodyPr wrap="square"/>
                    <a:lstStyle/>
                    <a:p>
                      <a:r>
                        <a:rPr b="0" sz="1200" i="0">
                          <a:solidFill>
                            <a:srgbClr val="1A2233"/>
                          </a:solidFill>
                          <a:latin typeface="Calibri"/>
                        </a:rPr>
                        <a:t>InpC rows 42 to 48</a:t>
                      </a:r>
                    </a:p>
                  </a:txBody>
                  <a:tcPr marL="64008" marR="64008" marT="27432" marB="27432" anchor="ctr">
                    <a:solidFill>
                      <a:srgbClr val="F3F6F9"/>
                    </a:solidFill>
                  </a:tcPr>
                </a:tc>
                <a:tc>
                  <a:txBody>
                    <a:bodyPr wrap="square"/>
                    <a:lstStyle/>
                    <a:p>
                      <a:r>
                        <a:rPr b="0" sz="1200" i="0">
                          <a:solidFill>
                            <a:srgbClr val="1A2233"/>
                          </a:solidFill>
                          <a:latin typeface="Calibri"/>
                        </a:rPr>
                        <a:t>4</a:t>
                      </a:r>
                    </a:p>
                  </a:txBody>
                  <a:tcPr marL="64008" marR="64008" marT="27432" marB="27432" anchor="ctr">
                    <a:solidFill>
                      <a:srgbClr val="F3F6F9"/>
                    </a:solidFill>
                  </a:tcPr>
                </a:tc>
              </a:tr>
              <a:tr h="347472">
                <a:tc>
                  <a:txBody>
                    <a:bodyPr wrap="square"/>
                    <a:lstStyle/>
                    <a:p>
                      <a:r>
                        <a:rPr b="1" sz="1200" i="0">
                          <a:solidFill>
                            <a:srgbClr val="1A2233"/>
                          </a:solidFill>
                          <a:latin typeface="Calibri"/>
                        </a:rPr>
                        <a:t>Inflation</a:t>
                      </a:r>
                    </a:p>
                  </a:txBody>
                  <a:tcPr marL="64008" marR="64008" marT="27432" marB="27432" anchor="ctr">
                    <a:solidFill>
                      <a:srgbClr val="FFFFFF"/>
                    </a:solidFill>
                  </a:tcPr>
                </a:tc>
                <a:tc>
                  <a:txBody>
                    <a:bodyPr wrap="square"/>
                    <a:lstStyle/>
                    <a:p>
                      <a:r>
                        <a:rPr b="0" sz="1200" i="0">
                          <a:solidFill>
                            <a:srgbClr val="1A2233"/>
                          </a:solidFill>
                          <a:latin typeface="Calibri"/>
                        </a:rPr>
                        <a:t>CPI path</a:t>
                      </a:r>
                    </a:p>
                  </a:txBody>
                  <a:tcPr marL="64008" marR="64008" marT="27432" marB="27432" anchor="ctr">
                    <a:solidFill>
                      <a:srgbClr val="FFFFFF"/>
                    </a:solidFill>
                  </a:tcPr>
                </a:tc>
                <a:tc>
                  <a:txBody>
                    <a:bodyPr wrap="square"/>
                    <a:lstStyle/>
                    <a:p>
                      <a:r>
                        <a:rPr b="0" sz="1200" i="0">
                          <a:solidFill>
                            <a:srgbClr val="1A2233"/>
                          </a:solidFill>
                          <a:latin typeface="Calibri"/>
                        </a:rPr>
                        <a:t>InpC rows 17 to 21</a:t>
                      </a:r>
                    </a:p>
                  </a:txBody>
                  <a:tcPr marL="64008" marR="64008" marT="27432" marB="27432" anchor="ctr">
                    <a:solidFill>
                      <a:srgbClr val="FFFFFF"/>
                    </a:solidFill>
                  </a:tcPr>
                </a:tc>
                <a:tc>
                  <a:txBody>
                    <a:bodyPr wrap="square"/>
                    <a:lstStyle/>
                    <a:p>
                      <a:r>
                        <a:rPr b="0" sz="1200" i="0">
                          <a:solidFill>
                            <a:srgbClr val="1A2233"/>
                          </a:solidFill>
                          <a:latin typeface="Calibri"/>
                        </a:rPr>
                        <a:t>4</a:t>
                      </a:r>
                    </a:p>
                  </a:txBody>
                  <a:tcPr marL="64008" marR="64008" marT="27432" marB="27432" anchor="ctr">
                    <a:solidFill>
                      <a:srgbClr val="FFFFFF"/>
                    </a:solidFill>
                  </a:tcPr>
                </a:tc>
              </a:tr>
              <a:tr h="347472">
                <a:tc>
                  <a:txBody>
                    <a:bodyPr wrap="square"/>
                    <a:lstStyle/>
                    <a:p>
                      <a:r>
                        <a:rPr b="1" sz="1200" i="0">
                          <a:solidFill>
                            <a:srgbClr val="1A2233"/>
                          </a:solidFill>
                          <a:latin typeface="Calibri"/>
                        </a:rPr>
                        <a:t>Interest rate</a:t>
                      </a:r>
                    </a:p>
                  </a:txBody>
                  <a:tcPr marL="64008" marR="64008" marT="27432" marB="27432" anchor="ctr">
                    <a:solidFill>
                      <a:srgbClr val="F3F6F9"/>
                    </a:solidFill>
                  </a:tcPr>
                </a:tc>
                <a:tc>
                  <a:txBody>
                    <a:bodyPr wrap="square"/>
                    <a:lstStyle/>
                    <a:p>
                      <a:r>
                        <a:rPr b="0" sz="1200" i="0">
                          <a:solidFill>
                            <a:srgbClr val="1A2233"/>
                          </a:solidFill>
                          <a:latin typeface="Calibri"/>
                        </a:rPr>
                        <a:t>All-in rate</a:t>
                      </a:r>
                    </a:p>
                  </a:txBody>
                  <a:tcPr marL="64008" marR="64008" marT="27432" marB="27432" anchor="ctr">
                    <a:solidFill>
                      <a:srgbClr val="F3F6F9"/>
                    </a:solidFill>
                  </a:tcPr>
                </a:tc>
                <a:tc>
                  <a:txBody>
                    <a:bodyPr wrap="square"/>
                    <a:lstStyle/>
                    <a:p>
                      <a:r>
                        <a:rPr b="0" sz="1200" i="0">
                          <a:solidFill>
                            <a:srgbClr val="1A2233"/>
                          </a:solidFill>
                          <a:latin typeface="Calibri"/>
                        </a:rPr>
                        <a:t>InpC row 77</a:t>
                      </a:r>
                    </a:p>
                  </a:txBody>
                  <a:tcPr marL="64008" marR="64008" marT="27432" marB="27432" anchor="ctr">
                    <a:solidFill>
                      <a:srgbClr val="F3F6F9"/>
                    </a:solidFill>
                  </a:tcPr>
                </a:tc>
                <a:tc>
                  <a:txBody>
                    <a:bodyPr wrap="square"/>
                    <a:lstStyle/>
                    <a:p>
                      <a:r>
                        <a:rPr b="0" sz="1200" i="0">
                          <a:solidFill>
                            <a:srgbClr val="1A2233"/>
                          </a:solidFill>
                          <a:latin typeface="Calibri"/>
                        </a:rPr>
                        <a:t>5</a:t>
                      </a:r>
                    </a:p>
                  </a:txBody>
                  <a:tcPr marL="64008" marR="64008" marT="27432" marB="27432" anchor="ctr">
                    <a:solidFill>
                      <a:srgbClr val="F3F6F9"/>
                    </a:solidFill>
                  </a:tcPr>
                </a:tc>
              </a:tr>
              <a:tr h="490727">
                <a:tc>
                  <a:txBody>
                    <a:bodyPr wrap="square"/>
                    <a:lstStyle/>
                    <a:p>
                      <a:r>
                        <a:rPr b="1" sz="1200" i="0">
                          <a:solidFill>
                            <a:srgbClr val="1A2233"/>
                          </a:solidFill>
                          <a:latin typeface="Calibri"/>
                        </a:rPr>
                        <a:t>Construction overrun and delay</a:t>
                      </a:r>
                    </a:p>
                  </a:txBody>
                  <a:tcPr marL="64008" marR="64008" marT="27432" marB="27432" anchor="ctr">
                    <a:solidFill>
                      <a:srgbClr val="FFFFFF"/>
                    </a:solidFill>
                  </a:tcPr>
                </a:tc>
                <a:tc>
                  <a:txBody>
                    <a:bodyPr wrap="square"/>
                    <a:lstStyle/>
                    <a:p>
                      <a:r>
                        <a:rPr b="0" sz="1200" i="0">
                          <a:solidFill>
                            <a:srgbClr val="1A2233"/>
                          </a:solidFill>
                          <a:latin typeface="Calibri"/>
                        </a:rPr>
                        <a:t>Hard cost, spend profile, construction quarters</a:t>
                      </a:r>
                    </a:p>
                  </a:txBody>
                  <a:tcPr marL="64008" marR="64008" marT="27432" marB="27432" anchor="ctr">
                    <a:solidFill>
                      <a:srgbClr val="FFFFFF"/>
                    </a:solidFill>
                  </a:tcPr>
                </a:tc>
                <a:tc>
                  <a:txBody>
                    <a:bodyPr wrap="square"/>
                    <a:lstStyle/>
                    <a:p>
                      <a:r>
                        <a:rPr b="0" sz="1200" i="0">
                          <a:solidFill>
                            <a:srgbClr val="1A2233"/>
                          </a:solidFill>
                          <a:latin typeface="Calibri"/>
                        </a:rPr>
                        <a:t>InpC rows 113 to 125</a:t>
                      </a:r>
                    </a:p>
                  </a:txBody>
                  <a:tcPr marL="64008" marR="64008" marT="27432" marB="27432" anchor="ctr">
                    <a:solidFill>
                      <a:srgbClr val="FFFFFF"/>
                    </a:solidFill>
                  </a:tcPr>
                </a:tc>
                <a:tc>
                  <a:txBody>
                    <a:bodyPr wrap="square"/>
                    <a:lstStyle/>
                    <a:p>
                      <a:r>
                        <a:rPr b="0" sz="1200" i="0">
                          <a:solidFill>
                            <a:srgbClr val="1A2233"/>
                          </a:solidFill>
                          <a:latin typeface="Calibri"/>
                        </a:rPr>
                        <a:t>6</a:t>
                      </a:r>
                    </a:p>
                  </a:txBody>
                  <a:tcPr marL="64008" marR="64008" marT="27432" marB="27432" anchor="ctr">
                    <a:solidFill>
                      <a:srgbClr val="FFFFFF"/>
                    </a:solidFill>
                  </a:tcPr>
                </a:tc>
              </a:tr>
              <a:tr h="347472">
                <a:tc>
                  <a:txBody>
                    <a:bodyPr wrap="square"/>
                    <a:lstStyle/>
                    <a:p>
                      <a:r>
                        <a:rPr b="1" sz="1200" i="0">
                          <a:solidFill>
                            <a:srgbClr val="1A2233"/>
                          </a:solidFill>
                          <a:latin typeface="Calibri"/>
                        </a:rPr>
                        <a:t>Completion funding</a:t>
                      </a:r>
                    </a:p>
                  </a:txBody>
                  <a:tcPr marL="64008" marR="64008" marT="27432" marB="27432" anchor="ctr">
                    <a:solidFill>
                      <a:srgbClr val="F3F6F9"/>
                    </a:solidFill>
                  </a:tcPr>
                </a:tc>
                <a:tc>
                  <a:txBody>
                    <a:bodyPr wrap="square"/>
                    <a:lstStyle/>
                    <a:p>
                      <a:r>
                        <a:rPr b="0" sz="1200" i="0">
                          <a:solidFill>
                            <a:srgbClr val="1A2233"/>
                          </a:solidFill>
                          <a:latin typeface="Calibri"/>
                        </a:rPr>
                        <a:t>Equity commitment, DSRA</a:t>
                      </a:r>
                    </a:p>
                  </a:txBody>
                  <a:tcPr marL="64008" marR="64008" marT="27432" marB="27432" anchor="ctr">
                    <a:solidFill>
                      <a:srgbClr val="F3F6F9"/>
                    </a:solidFill>
                  </a:tcPr>
                </a:tc>
                <a:tc>
                  <a:txBody>
                    <a:bodyPr wrap="square"/>
                    <a:lstStyle/>
                    <a:p>
                      <a:r>
                        <a:rPr b="0" sz="1200" i="0">
                          <a:solidFill>
                            <a:srgbClr val="1A2233"/>
                          </a:solidFill>
                          <a:latin typeface="Calibri"/>
                        </a:rPr>
                        <a:t>InpC rows 135, 143</a:t>
                      </a:r>
                    </a:p>
                  </a:txBody>
                  <a:tcPr marL="64008" marR="64008" marT="27432" marB="27432" anchor="ctr">
                    <a:solidFill>
                      <a:srgbClr val="F3F6F9"/>
                    </a:solidFill>
                  </a:tcPr>
                </a:tc>
                <a:tc>
                  <a:txBody>
                    <a:bodyPr wrap="square"/>
                    <a:lstStyle/>
                    <a:p>
                      <a:r>
                        <a:rPr b="0" sz="1200" i="0">
                          <a:solidFill>
                            <a:srgbClr val="1A2233"/>
                          </a:solidFill>
                          <a:latin typeface="Calibri"/>
                        </a:rPr>
                        <a:t>6 and 7</a:t>
                      </a:r>
                    </a:p>
                  </a:txBody>
                  <a:tcPr marL="64008" marR="64008" marT="27432" marB="27432" anchor="ctr">
                    <a:solidFill>
                      <a:srgbClr val="F3F6F9"/>
                    </a:solidFill>
                  </a:tcPr>
                </a:tc>
              </a:tr>
              <a:tr h="347472">
                <a:tc>
                  <a:txBody>
                    <a:bodyPr wrap="square"/>
                    <a:lstStyle/>
                    <a:p>
                      <a:r>
                        <a:rPr b="1" sz="1200" i="0">
                          <a:solidFill>
                            <a:srgbClr val="1A2233"/>
                          </a:solidFill>
                          <a:latin typeface="Calibri"/>
                        </a:rPr>
                        <a:t>Refinancing / tenor</a:t>
                      </a:r>
                    </a:p>
                  </a:txBody>
                  <a:tcPr marL="64008" marR="64008" marT="27432" marB="27432" anchor="ctr">
                    <a:solidFill>
                      <a:srgbClr val="FFFFFF"/>
                    </a:solidFill>
                  </a:tcPr>
                </a:tc>
                <a:tc>
                  <a:txBody>
                    <a:bodyPr wrap="square"/>
                    <a:lstStyle/>
                    <a:p>
                      <a:r>
                        <a:rPr b="0" sz="1200" i="0">
                          <a:solidFill>
                            <a:srgbClr val="1A2233"/>
                          </a:solidFill>
                          <a:latin typeface="Calibri"/>
                        </a:rPr>
                        <a:t>Debt tenor</a:t>
                      </a:r>
                    </a:p>
                  </a:txBody>
                  <a:tcPr marL="64008" marR="64008" marT="27432" marB="27432" anchor="ctr">
                    <a:solidFill>
                      <a:srgbClr val="FFFFFF"/>
                    </a:solidFill>
                  </a:tcPr>
                </a:tc>
                <a:tc>
                  <a:txBody>
                    <a:bodyPr wrap="square"/>
                    <a:lstStyle/>
                    <a:p>
                      <a:r>
                        <a:rPr b="0" sz="1200" i="0">
                          <a:solidFill>
                            <a:srgbClr val="1A2233"/>
                          </a:solidFill>
                          <a:latin typeface="Calibri"/>
                        </a:rPr>
                        <a:t>InpC row 139</a:t>
                      </a:r>
                    </a:p>
                  </a:txBody>
                  <a:tcPr marL="64008" marR="64008" marT="27432" marB="27432" anchor="ctr">
                    <a:solidFill>
                      <a:srgbClr val="FFFFFF"/>
                    </a:solidFill>
                  </a:tcPr>
                </a:tc>
                <a:tc>
                  <a:txBody>
                    <a:bodyPr wrap="square"/>
                    <a:lstStyle/>
                    <a:p>
                      <a:r>
                        <a:rPr b="0" sz="1200" i="0">
                          <a:solidFill>
                            <a:srgbClr val="1A2233"/>
                          </a:solidFill>
                          <a:latin typeface="Calibri"/>
                        </a:rPr>
                        <a:t>7</a:t>
                      </a:r>
                    </a:p>
                  </a:txBody>
                  <a:tcPr marL="64008" marR="64008" marT="27432" marB="27432" anchor="ctr">
                    <a:solidFill>
                      <a:srgbClr val="FFFFFF"/>
                    </a:solidFill>
                  </a:tcPr>
                </a:tc>
              </a:tr>
            </a:tbl>
          </a:graphicData>
        </a:graphic>
      </p:graphicFrame>
      <p:sp>
        <p:nvSpPr>
          <p:cNvPr id="12" name="Rectangle 11"/>
          <p:cNvSpPr/>
          <p:nvPr/>
        </p:nvSpPr>
        <p:spPr>
          <a:xfrm>
            <a:off x="548640" y="4614671"/>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614671"/>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614671"/>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Rule: every risk you cannot tie to an input is a risk you cannot test.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MITIGANTS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General risks and mitigants that appear in most projects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39" cy="3202178"/>
        </p:xfrm>
        <a:graphic>
          <a:graphicData uri="http://schemas.openxmlformats.org/drawingml/2006/table">
            <a:tbl>
              <a:tblPr firstRow="1" bandRow="1">
                <a:tableStyleId>{5C22544A-7EE6-4342-B048-85BDC9FD1C3A}</a:tableStyleId>
              </a:tblPr>
              <a:tblGrid>
                <a:gridCol w="1828800"/>
                <a:gridCol w="2926080"/>
                <a:gridCol w="3749039"/>
                <a:gridCol w="2560320"/>
              </a:tblGrid>
              <a:tr h="457200">
                <a:tc>
                  <a:txBody>
                    <a:bodyPr wrap="square"/>
                    <a:lstStyle/>
                    <a:p>
                      <a:r>
                        <a:rPr b="1" sz="1100" i="0">
                          <a:solidFill>
                            <a:srgbClr val="FFFFFF"/>
                          </a:solidFill>
                          <a:latin typeface="Calibri"/>
                        </a:rPr>
                        <a:t>Risk</a:t>
                      </a:r>
                    </a:p>
                  </a:txBody>
                  <a:tcPr marL="64008" marR="64008" marT="27432" marB="27432" anchor="ctr">
                    <a:solidFill>
                      <a:srgbClr val="141B4D"/>
                    </a:solidFill>
                  </a:tcPr>
                </a:tc>
                <a:tc>
                  <a:txBody>
                    <a:bodyPr wrap="square"/>
                    <a:lstStyle/>
                    <a:p>
                      <a:r>
                        <a:rPr b="1" sz="1100" i="0">
                          <a:solidFill>
                            <a:srgbClr val="FFFFFF"/>
                          </a:solidFill>
                          <a:latin typeface="Calibri"/>
                        </a:rPr>
                        <a:t>How it hurts</a:t>
                      </a:r>
                    </a:p>
                  </a:txBody>
                  <a:tcPr marL="64008" marR="64008" marT="27432" marB="27432" anchor="ctr">
                    <a:solidFill>
                      <a:srgbClr val="141B4D"/>
                    </a:solidFill>
                  </a:tcPr>
                </a:tc>
                <a:tc>
                  <a:txBody>
                    <a:bodyPr wrap="square"/>
                    <a:lstStyle/>
                    <a:p>
                      <a:r>
                        <a:rPr b="1" sz="1100" i="0">
                          <a:solidFill>
                            <a:srgbClr val="FFFFFF"/>
                          </a:solidFill>
                          <a:latin typeface="Calibri"/>
                        </a:rPr>
                        <a:t>Mitigant</a:t>
                      </a:r>
                    </a:p>
                  </a:txBody>
                  <a:tcPr marL="64008" marR="64008" marT="27432" marB="27432" anchor="ctr">
                    <a:solidFill>
                      <a:srgbClr val="141B4D"/>
                    </a:solidFill>
                  </a:tcPr>
                </a:tc>
                <a:tc>
                  <a:txBody>
                    <a:bodyPr wrap="square"/>
                    <a:lstStyle/>
                    <a:p>
                      <a:r>
                        <a:rPr b="1" sz="1100" i="0">
                          <a:solidFill>
                            <a:srgbClr val="FFFFFF"/>
                          </a:solidFill>
                          <a:latin typeface="Calibri"/>
                        </a:rPr>
                        <a:t>Residual risk</a:t>
                      </a:r>
                    </a:p>
                  </a:txBody>
                  <a:tcPr marL="64008" marR="64008" marT="27432" marB="27432" anchor="ctr">
                    <a:solidFill>
                      <a:srgbClr val="141B4D"/>
                    </a:solidFill>
                  </a:tcPr>
                </a:tc>
              </a:tr>
              <a:tr h="458978">
                <a:tc>
                  <a:txBody>
                    <a:bodyPr wrap="square"/>
                    <a:lstStyle/>
                    <a:p>
                      <a:r>
                        <a:rPr b="1" sz="1100" i="0">
                          <a:solidFill>
                            <a:srgbClr val="1A2233"/>
                          </a:solidFill>
                          <a:latin typeface="Calibri"/>
                        </a:rPr>
                        <a:t>Completion</a:t>
                      </a:r>
                    </a:p>
                  </a:txBody>
                  <a:tcPr marL="64008" marR="64008" marT="27432" marB="27432" anchor="ctr">
                    <a:solidFill>
                      <a:srgbClr val="FFFFFF"/>
                    </a:solidFill>
                  </a:tcPr>
                </a:tc>
                <a:tc>
                  <a:txBody>
                    <a:bodyPr wrap="square"/>
                    <a:lstStyle/>
                    <a:p>
                      <a:r>
                        <a:rPr b="0" sz="1100" i="0">
                          <a:solidFill>
                            <a:srgbClr val="1A2233"/>
                          </a:solidFill>
                          <a:latin typeface="Calibri"/>
                        </a:rPr>
                        <a:t>Debt must be repaid from a project that does not exist</a:t>
                      </a:r>
                    </a:p>
                  </a:txBody>
                  <a:tcPr marL="64008" marR="64008" marT="27432" marB="27432" anchor="ctr">
                    <a:solidFill>
                      <a:srgbClr val="FFFFFF"/>
                    </a:solidFill>
                  </a:tcPr>
                </a:tc>
                <a:tc>
                  <a:txBody>
                    <a:bodyPr wrap="square"/>
                    <a:lstStyle/>
                    <a:p>
                      <a:r>
                        <a:rPr b="0" sz="1100" i="0">
                          <a:solidFill>
                            <a:srgbClr val="1A2233"/>
                          </a:solidFill>
                          <a:latin typeface="Calibri"/>
                        </a:rPr>
                        <a:t>Completion guarantee; equity first; contingency; DSU insurance</a:t>
                      </a:r>
                    </a:p>
                  </a:txBody>
                  <a:tcPr marL="64008" marR="64008" marT="27432" marB="27432" anchor="ctr">
                    <a:solidFill>
                      <a:srgbClr val="FFFFFF"/>
                    </a:solidFill>
                  </a:tcPr>
                </a:tc>
                <a:tc>
                  <a:txBody>
                    <a:bodyPr wrap="square"/>
                    <a:lstStyle/>
                    <a:p>
                      <a:r>
                        <a:rPr b="0" sz="1100" i="0">
                          <a:solidFill>
                            <a:srgbClr val="1A2233"/>
                          </a:solidFill>
                          <a:latin typeface="Calibri"/>
                        </a:rPr>
                        <a:t>Overrun beyond contingency</a:t>
                      </a:r>
                    </a:p>
                  </a:txBody>
                  <a:tcPr marL="64008" marR="64008" marT="27432" marB="27432" anchor="ctr">
                    <a:solidFill>
                      <a:srgbClr val="FFFFFF"/>
                    </a:solidFill>
                  </a:tcPr>
                </a:tc>
              </a:tr>
              <a:tr h="457200">
                <a:tc>
                  <a:txBody>
                    <a:bodyPr wrap="square"/>
                    <a:lstStyle/>
                    <a:p>
                      <a:r>
                        <a:rPr b="1" sz="1100" i="0">
                          <a:solidFill>
                            <a:srgbClr val="1A2233"/>
                          </a:solidFill>
                          <a:latin typeface="Calibri"/>
                        </a:rPr>
                        <a:t>Offtaker credit</a:t>
                      </a:r>
                    </a:p>
                  </a:txBody>
                  <a:tcPr marL="64008" marR="64008" marT="27432" marB="27432" anchor="ctr">
                    <a:solidFill>
                      <a:srgbClr val="F3F6F9"/>
                    </a:solidFill>
                  </a:tcPr>
                </a:tc>
                <a:tc>
                  <a:txBody>
                    <a:bodyPr wrap="square"/>
                    <a:lstStyle/>
                    <a:p>
                      <a:r>
                        <a:rPr b="0" sz="1100" i="0">
                          <a:solidFill>
                            <a:srgbClr val="1A2233"/>
                          </a:solidFill>
                          <a:latin typeface="Calibri"/>
                        </a:rPr>
                        <a:t>Revenue stops</a:t>
                      </a:r>
                    </a:p>
                  </a:txBody>
                  <a:tcPr marL="64008" marR="64008" marT="27432" marB="27432" anchor="ctr">
                    <a:solidFill>
                      <a:srgbClr val="F3F6F9"/>
                    </a:solidFill>
                  </a:tcPr>
                </a:tc>
                <a:tc>
                  <a:txBody>
                    <a:bodyPr wrap="square"/>
                    <a:lstStyle/>
                    <a:p>
                      <a:r>
                        <a:rPr b="0" sz="1100" i="0">
                          <a:solidFill>
                            <a:srgbClr val="1A2233"/>
                          </a:solidFill>
                          <a:latin typeface="Calibri"/>
                        </a:rPr>
                        <a:t>LC, guarantee, escrow, termination payment</a:t>
                      </a:r>
                    </a:p>
                  </a:txBody>
                  <a:tcPr marL="64008" marR="64008" marT="27432" marB="27432" anchor="ctr">
                    <a:solidFill>
                      <a:srgbClr val="F3F6F9"/>
                    </a:solidFill>
                  </a:tcPr>
                </a:tc>
                <a:tc>
                  <a:txBody>
                    <a:bodyPr wrap="square"/>
                    <a:lstStyle/>
                    <a:p>
                      <a:r>
                        <a:rPr b="0" sz="1100" i="0">
                          <a:solidFill>
                            <a:srgbClr val="1A2233"/>
                          </a:solidFill>
                          <a:latin typeface="Calibri"/>
                        </a:rPr>
                        <a:t>Guarantor failure</a:t>
                      </a:r>
                    </a:p>
                  </a:txBody>
                  <a:tcPr marL="64008" marR="64008" marT="27432" marB="27432" anchor="ctr">
                    <a:solidFill>
                      <a:srgbClr val="F3F6F9"/>
                    </a:solidFill>
                  </a:tcPr>
                </a:tc>
              </a:tr>
              <a:tr h="457200">
                <a:tc>
                  <a:txBody>
                    <a:bodyPr wrap="square"/>
                    <a:lstStyle/>
                    <a:p>
                      <a:r>
                        <a:rPr b="1" sz="1100" i="0">
                          <a:solidFill>
                            <a:srgbClr val="1A2233"/>
                          </a:solidFill>
                          <a:latin typeface="Calibri"/>
                        </a:rPr>
                        <a:t>Currency</a:t>
                      </a:r>
                    </a:p>
                  </a:txBody>
                  <a:tcPr marL="64008" marR="64008" marT="27432" marB="27432" anchor="ctr">
                    <a:solidFill>
                      <a:srgbClr val="FFFFFF"/>
                    </a:solidFill>
                  </a:tcPr>
                </a:tc>
                <a:tc>
                  <a:txBody>
                    <a:bodyPr wrap="square"/>
                    <a:lstStyle/>
                    <a:p>
                      <a:r>
                        <a:rPr b="0" sz="1100" i="0">
                          <a:solidFill>
                            <a:srgbClr val="1A2233"/>
                          </a:solidFill>
                          <a:latin typeface="Calibri"/>
                        </a:rPr>
                        <a:t>Debt in dollars, revenue in naira</a:t>
                      </a:r>
                    </a:p>
                  </a:txBody>
                  <a:tcPr marL="64008" marR="64008" marT="27432" marB="27432" anchor="ctr">
                    <a:solidFill>
                      <a:srgbClr val="FFFFFF"/>
                    </a:solidFill>
                  </a:tcPr>
                </a:tc>
                <a:tc>
                  <a:txBody>
                    <a:bodyPr wrap="square"/>
                    <a:lstStyle/>
                    <a:p>
                      <a:r>
                        <a:rPr b="0" sz="1100" i="0">
                          <a:solidFill>
                            <a:srgbClr val="1A2233"/>
                          </a:solidFill>
                          <a:latin typeface="Calibri"/>
                        </a:rPr>
                        <a:t>Tariff indexation; naira debt; hedge</a:t>
                      </a:r>
                    </a:p>
                  </a:txBody>
                  <a:tcPr marL="64008" marR="64008" marT="27432" marB="27432" anchor="ctr">
                    <a:solidFill>
                      <a:srgbClr val="FFFFFF"/>
                    </a:solidFill>
                  </a:tcPr>
                </a:tc>
                <a:tc>
                  <a:txBody>
                    <a:bodyPr wrap="square"/>
                    <a:lstStyle/>
                    <a:p>
                      <a:r>
                        <a:rPr b="0" sz="1100" i="0">
                          <a:solidFill>
                            <a:srgbClr val="1A2233"/>
                          </a:solidFill>
                          <a:latin typeface="Calibri"/>
                        </a:rPr>
                        <a:t>Hedge cost; basis risk</a:t>
                      </a:r>
                    </a:p>
                  </a:txBody>
                  <a:tcPr marL="64008" marR="64008" marT="27432" marB="27432" anchor="ctr">
                    <a:solidFill>
                      <a:srgbClr val="FFFFFF"/>
                    </a:solidFill>
                  </a:tcPr>
                </a:tc>
              </a:tr>
              <a:tr h="457200">
                <a:tc>
                  <a:txBody>
                    <a:bodyPr wrap="square"/>
                    <a:lstStyle/>
                    <a:p>
                      <a:r>
                        <a:rPr b="1" sz="1100" i="0">
                          <a:solidFill>
                            <a:srgbClr val="1A2233"/>
                          </a:solidFill>
                          <a:latin typeface="Calibri"/>
                        </a:rPr>
                        <a:t>Regulatory</a:t>
                      </a:r>
                    </a:p>
                  </a:txBody>
                  <a:tcPr marL="64008" marR="64008" marT="27432" marB="27432" anchor="ctr">
                    <a:solidFill>
                      <a:srgbClr val="F3F6F9"/>
                    </a:solidFill>
                  </a:tcPr>
                </a:tc>
                <a:tc>
                  <a:txBody>
                    <a:bodyPr wrap="square"/>
                    <a:lstStyle/>
                    <a:p>
                      <a:r>
                        <a:rPr b="0" sz="1100" i="0">
                          <a:solidFill>
                            <a:srgbClr val="1A2233"/>
                          </a:solidFill>
                          <a:latin typeface="Calibri"/>
                        </a:rPr>
                        <a:t>Tariff cut or licence withdrawn</a:t>
                      </a:r>
                    </a:p>
                  </a:txBody>
                  <a:tcPr marL="64008" marR="64008" marT="27432" marB="27432" anchor="ctr">
                    <a:solidFill>
                      <a:srgbClr val="F3F6F9"/>
                    </a:solidFill>
                  </a:tcPr>
                </a:tc>
                <a:tc>
                  <a:txBody>
                    <a:bodyPr wrap="square"/>
                    <a:lstStyle/>
                    <a:p>
                      <a:r>
                        <a:rPr b="0" sz="1100" i="0">
                          <a:solidFill>
                            <a:srgbClr val="1A2233"/>
                          </a:solidFill>
                          <a:latin typeface="Calibri"/>
                        </a:rPr>
                        <a:t>Stabilisation clause; compensation</a:t>
                      </a:r>
                    </a:p>
                  </a:txBody>
                  <a:tcPr marL="64008" marR="64008" marT="27432" marB="27432" anchor="ctr">
                    <a:solidFill>
                      <a:srgbClr val="F3F6F9"/>
                    </a:solidFill>
                  </a:tcPr>
                </a:tc>
                <a:tc>
                  <a:txBody>
                    <a:bodyPr wrap="square"/>
                    <a:lstStyle/>
                    <a:p>
                      <a:r>
                        <a:rPr b="0" sz="1100" i="0">
                          <a:solidFill>
                            <a:srgbClr val="1A2233"/>
                          </a:solidFill>
                          <a:latin typeface="Calibri"/>
                        </a:rPr>
                        <a:t>Enforcement</a:t>
                      </a:r>
                    </a:p>
                  </a:txBody>
                  <a:tcPr marL="64008" marR="64008" marT="27432" marB="27432" anchor="ctr">
                    <a:solidFill>
                      <a:srgbClr val="F3F6F9"/>
                    </a:solidFill>
                  </a:tcPr>
                </a:tc>
              </a:tr>
              <a:tr h="457200">
                <a:tc>
                  <a:txBody>
                    <a:bodyPr wrap="square"/>
                    <a:lstStyle/>
                    <a:p>
                      <a:r>
                        <a:rPr b="1" sz="1100" i="0">
                          <a:solidFill>
                            <a:srgbClr val="1A2233"/>
                          </a:solidFill>
                          <a:latin typeface="Calibri"/>
                        </a:rPr>
                        <a:t>Supply</a:t>
                      </a:r>
                    </a:p>
                  </a:txBody>
                  <a:tcPr marL="64008" marR="64008" marT="27432" marB="27432" anchor="ctr">
                    <a:solidFill>
                      <a:srgbClr val="FFFFFF"/>
                    </a:solidFill>
                  </a:tcPr>
                </a:tc>
                <a:tc>
                  <a:txBody>
                    <a:bodyPr wrap="square"/>
                    <a:lstStyle/>
                    <a:p>
                      <a:r>
                        <a:rPr b="0" sz="1100" i="0">
                          <a:solidFill>
                            <a:srgbClr val="1A2233"/>
                          </a:solidFill>
                          <a:latin typeface="Calibri"/>
                        </a:rPr>
                        <a:t>Fuel or input price/availability</a:t>
                      </a:r>
                    </a:p>
                  </a:txBody>
                  <a:tcPr marL="64008" marR="64008" marT="27432" marB="27432" anchor="ctr">
                    <a:solidFill>
                      <a:srgbClr val="FFFFFF"/>
                    </a:solidFill>
                  </a:tcPr>
                </a:tc>
                <a:tc>
                  <a:txBody>
                    <a:bodyPr wrap="square"/>
                    <a:lstStyle/>
                    <a:p>
                      <a:r>
                        <a:rPr b="0" sz="1100" i="0">
                          <a:solidFill>
                            <a:srgbClr val="1A2233"/>
                          </a:solidFill>
                          <a:latin typeface="Calibri"/>
                        </a:rPr>
                        <a:t>Long-term supply agreement</a:t>
                      </a:r>
                    </a:p>
                  </a:txBody>
                  <a:tcPr marL="64008" marR="64008" marT="27432" marB="27432" anchor="ctr">
                    <a:solidFill>
                      <a:srgbClr val="FFFFFF"/>
                    </a:solidFill>
                  </a:tcPr>
                </a:tc>
                <a:tc>
                  <a:txBody>
                    <a:bodyPr wrap="square"/>
                    <a:lstStyle/>
                    <a:p>
                      <a:r>
                        <a:rPr b="0" sz="1100" i="0">
                          <a:solidFill>
                            <a:srgbClr val="1A2233"/>
                          </a:solidFill>
                          <a:latin typeface="Calibri"/>
                        </a:rPr>
                        <a:t>Counterparty default</a:t>
                      </a:r>
                    </a:p>
                  </a:txBody>
                  <a:tcPr marL="64008" marR="64008" marT="27432" marB="27432" anchor="ctr">
                    <a:solidFill>
                      <a:srgbClr val="FFFFFF"/>
                    </a:solidFill>
                  </a:tcPr>
                </a:tc>
              </a:tr>
              <a:tr h="457200">
                <a:tc>
                  <a:txBody>
                    <a:bodyPr wrap="square"/>
                    <a:lstStyle/>
                    <a:p>
                      <a:r>
                        <a:rPr b="1" sz="1100" i="0">
                          <a:solidFill>
                            <a:srgbClr val="1A2233"/>
                          </a:solidFill>
                          <a:latin typeface="Calibri"/>
                        </a:rPr>
                        <a:t>Technology</a:t>
                      </a:r>
                    </a:p>
                  </a:txBody>
                  <a:tcPr marL="64008" marR="64008" marT="27432" marB="27432" anchor="ctr">
                    <a:solidFill>
                      <a:srgbClr val="F3F6F9"/>
                    </a:solidFill>
                  </a:tcPr>
                </a:tc>
                <a:tc>
                  <a:txBody>
                    <a:bodyPr wrap="square"/>
                    <a:lstStyle/>
                    <a:p>
                      <a:r>
                        <a:rPr b="0" sz="1100" i="0">
                          <a:solidFill>
                            <a:srgbClr val="1A2233"/>
                          </a:solidFill>
                          <a:latin typeface="Calibri"/>
                        </a:rPr>
                        <a:t>Does not perform</a:t>
                      </a:r>
                    </a:p>
                  </a:txBody>
                  <a:tcPr marL="64008" marR="64008" marT="27432" marB="27432" anchor="ctr">
                    <a:solidFill>
                      <a:srgbClr val="F3F6F9"/>
                    </a:solidFill>
                  </a:tcPr>
                </a:tc>
                <a:tc>
                  <a:txBody>
                    <a:bodyPr wrap="square"/>
                    <a:lstStyle/>
                    <a:p>
                      <a:r>
                        <a:rPr b="0" sz="1100" i="0">
                          <a:solidFill>
                            <a:srgbClr val="1A2233"/>
                          </a:solidFill>
                          <a:latin typeface="Calibri"/>
                        </a:rPr>
                        <a:t>Proven technology; warranties</a:t>
                      </a:r>
                    </a:p>
                  </a:txBody>
                  <a:tcPr marL="64008" marR="64008" marT="27432" marB="27432" anchor="ctr">
                    <a:solidFill>
                      <a:srgbClr val="F3F6F9"/>
                    </a:solidFill>
                  </a:tcPr>
                </a:tc>
                <a:tc>
                  <a:txBody>
                    <a:bodyPr wrap="square"/>
                    <a:lstStyle/>
                    <a:p>
                      <a:r>
                        <a:rPr b="0" sz="1100" i="0">
                          <a:solidFill>
                            <a:srgbClr val="1A2233"/>
                          </a:solidFill>
                          <a:latin typeface="Calibri"/>
                        </a:rPr>
                        <a:t>Latent defects</a:t>
                      </a:r>
                    </a:p>
                  </a:txBody>
                  <a:tcPr marL="64008" marR="64008" marT="27432" marB="27432" anchor="ctr">
                    <a:solidFill>
                      <a:srgbClr val="F3F6F9"/>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3.4b: Risk matrix for TrainStat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Complete a risk matrix: for each of six risks write who bears it today, what mitigant you propose, and the model input that tests it.</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Demand below forecast</a:t>
            </a:r>
          </a:p>
          <a:p>
            <a:pPr>
              <a:spcAft>
                <a:spcPts val="300"/>
              </a:spcAft>
            </a:pPr>
            <a:r>
              <a:rPr b="0" sz="1500" i="0">
                <a:solidFill>
                  <a:srgbClr val="1A2233"/>
                </a:solidFill>
                <a:latin typeface="Calibri"/>
              </a:rPr>
              <a:t>2.  Handling cost overrun</a:t>
            </a:r>
          </a:p>
          <a:p>
            <a:pPr>
              <a:spcAft>
                <a:spcPts val="300"/>
              </a:spcAft>
            </a:pPr>
            <a:r>
              <a:rPr b="0" sz="1500" i="0">
                <a:solidFill>
                  <a:srgbClr val="1A2233"/>
                </a:solidFill>
                <a:latin typeface="Calibri"/>
              </a:rPr>
              <a:t>3.  Inflation above plan</a:t>
            </a:r>
          </a:p>
          <a:p>
            <a:pPr>
              <a:spcAft>
                <a:spcPts val="300"/>
              </a:spcAft>
            </a:pPr>
            <a:r>
              <a:rPr b="0" sz="1500" i="0">
                <a:solidFill>
                  <a:srgbClr val="1A2233"/>
                </a:solidFill>
                <a:latin typeface="Calibri"/>
              </a:rPr>
              <a:t>4.  Interest rate rise</a:t>
            </a:r>
          </a:p>
          <a:p>
            <a:pPr>
              <a:spcAft>
                <a:spcPts val="300"/>
              </a:spcAft>
            </a:pPr>
            <a:r>
              <a:rPr b="0" sz="1500" i="0">
                <a:solidFill>
                  <a:srgbClr val="1A2233"/>
                </a:solidFill>
                <a:latin typeface="Calibri"/>
              </a:rPr>
              <a:t>5.  Construction delay of 2 quarters</a:t>
            </a:r>
          </a:p>
          <a:p>
            <a:pPr>
              <a:spcAft>
                <a:spcPts val="300"/>
              </a:spcAft>
            </a:pPr>
            <a:r>
              <a:rPr b="0" sz="1500" i="0">
                <a:solidFill>
                  <a:srgbClr val="1A2233"/>
                </a:solidFill>
                <a:latin typeface="Calibri"/>
              </a:rPr>
              <a:t>6.  Operator failure</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25 min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PREVIEW</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Quantifying risk: a first look at sensitivities (Base case, replica results)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20240"/>
        </p:xfrm>
        <a:graphic>
          <a:graphicData uri="http://schemas.openxmlformats.org/drawingml/2006/table">
            <a:tbl>
              <a:tblPr firstRow="1" bandRow="1">
                <a:tableStyleId>{5C22544A-7EE6-4342-B048-85BDC9FD1C3A}</a:tableStyleId>
              </a:tblPr>
              <a:tblGrid>
                <a:gridCol w="3291840"/>
                <a:gridCol w="3291840"/>
                <a:gridCol w="4480560"/>
              </a:tblGrid>
              <a:tr h="384048">
                <a:tc>
                  <a:txBody>
                    <a:bodyPr wrap="square"/>
                    <a:lstStyle/>
                    <a:p>
                      <a:r>
                        <a:rPr b="1" sz="1300" i="0">
                          <a:solidFill>
                            <a:srgbClr val="FFFFFF"/>
                          </a:solidFill>
                          <a:latin typeface="Calibri"/>
                        </a:rPr>
                        <a:t>Shock</a:t>
                      </a:r>
                    </a:p>
                  </a:txBody>
                  <a:tcPr marL="64008" marR="64008" marT="27432" marB="27432" anchor="ctr">
                    <a:solidFill>
                      <a:srgbClr val="141B4D"/>
                    </a:solidFill>
                  </a:tcPr>
                </a:tc>
                <a:tc>
                  <a:txBody>
                    <a:bodyPr wrap="square"/>
                    <a:lstStyle/>
                    <a:p>
                      <a:r>
                        <a:rPr b="1" sz="1300" i="0">
                          <a:solidFill>
                            <a:srgbClr val="FFFFFF"/>
                          </a:solidFill>
                          <a:latin typeface="Calibri"/>
                        </a:rPr>
                        <a:t>Effect on shareholder IRR</a:t>
                      </a:r>
                    </a:p>
                  </a:txBody>
                  <a:tcPr marL="64008" marR="64008" marT="27432" marB="27432" anchor="ctr">
                    <a:solidFill>
                      <a:srgbClr val="141B4D"/>
                    </a:solidFill>
                  </a:tcPr>
                </a:tc>
                <a:tc>
                  <a:txBody>
                    <a:bodyPr wrap="square"/>
                    <a:lstStyle/>
                    <a:p>
                      <a:r>
                        <a:rPr b="1" sz="1300" i="0">
                          <a:solidFill>
                            <a:srgbClr val="FFFFFF"/>
                          </a:solidFill>
                          <a:latin typeface="Calibri"/>
                        </a:rPr>
                        <a:t>Reading</a:t>
                      </a:r>
                    </a:p>
                  </a:txBody>
                  <a:tcPr marL="64008" marR="64008" marT="27432" marB="27432" anchor="ctr">
                    <a:solidFill>
                      <a:srgbClr val="141B4D"/>
                    </a:solidFill>
                  </a:tcPr>
                </a:tc>
              </a:tr>
              <a:tr h="384048">
                <a:tc>
                  <a:txBody>
                    <a:bodyPr wrap="square"/>
                    <a:lstStyle/>
                    <a:p>
                      <a:r>
                        <a:rPr b="1" sz="1300" i="0">
                          <a:solidFill>
                            <a:srgbClr val="1A2233"/>
                          </a:solidFill>
                          <a:latin typeface="Calibri"/>
                        </a:rPr>
                        <a:t>Fare or occupancy −10%</a:t>
                      </a:r>
                    </a:p>
                  </a:txBody>
                  <a:tcPr marL="64008" marR="64008" marT="27432" marB="27432" anchor="ctr">
                    <a:solidFill>
                      <a:srgbClr val="FFFFFF"/>
                    </a:solidFill>
                  </a:tcPr>
                </a:tc>
                <a:tc>
                  <a:txBody>
                    <a:bodyPr wrap="square"/>
                    <a:lstStyle/>
                    <a:p>
                      <a:r>
                        <a:rPr b="0" sz="1300" i="0">
                          <a:solidFill>
                            <a:srgbClr val="1A2233"/>
                          </a:solidFill>
                          <a:latin typeface="Calibri"/>
                        </a:rPr>
                        <a:t>Large fall</a:t>
                      </a:r>
                    </a:p>
                  </a:txBody>
                  <a:tcPr marL="64008" marR="64008" marT="27432" marB="27432" anchor="ctr">
                    <a:solidFill>
                      <a:srgbClr val="FFFFFF"/>
                    </a:solidFill>
                  </a:tcPr>
                </a:tc>
                <a:tc>
                  <a:txBody>
                    <a:bodyPr wrap="square"/>
                    <a:lstStyle/>
                    <a:p>
                      <a:r>
                        <a:rPr b="0" sz="1300" i="0">
                          <a:solidFill>
                            <a:srgbClr val="1A2233"/>
                          </a:solidFill>
                          <a:latin typeface="Calibri"/>
                        </a:rPr>
                        <a:t>Revenue risk dominates</a:t>
                      </a:r>
                    </a:p>
                  </a:txBody>
                  <a:tcPr marL="64008" marR="64008" marT="27432" marB="27432" anchor="ctr">
                    <a:solidFill>
                      <a:srgbClr val="FFFFFF"/>
                    </a:solidFill>
                  </a:tcPr>
                </a:tc>
              </a:tr>
              <a:tr h="384048">
                <a:tc>
                  <a:txBody>
                    <a:bodyPr wrap="square"/>
                    <a:lstStyle/>
                    <a:p>
                      <a:r>
                        <a:rPr b="1" sz="1300" i="0">
                          <a:solidFill>
                            <a:srgbClr val="1A2233"/>
                          </a:solidFill>
                          <a:latin typeface="Calibri"/>
                        </a:rPr>
                        <a:t>O&amp;M cost +10%</a:t>
                      </a:r>
                    </a:p>
                  </a:txBody>
                  <a:tcPr marL="64008" marR="64008" marT="27432" marB="27432" anchor="ctr">
                    <a:solidFill>
                      <a:srgbClr val="F3F6F9"/>
                    </a:solidFill>
                  </a:tcPr>
                </a:tc>
                <a:tc>
                  <a:txBody>
                    <a:bodyPr wrap="square"/>
                    <a:lstStyle/>
                    <a:p>
                      <a:r>
                        <a:rPr b="0" sz="1300" i="0">
                          <a:solidFill>
                            <a:srgbClr val="1A2233"/>
                          </a:solidFill>
                          <a:latin typeface="Calibri"/>
                        </a:rPr>
                        <a:t>Small fall</a:t>
                      </a:r>
                    </a:p>
                  </a:txBody>
                  <a:tcPr marL="64008" marR="64008" marT="27432" marB="27432" anchor="ctr">
                    <a:solidFill>
                      <a:srgbClr val="F3F6F9"/>
                    </a:solidFill>
                  </a:tcPr>
                </a:tc>
                <a:tc>
                  <a:txBody>
                    <a:bodyPr wrap="square"/>
                    <a:lstStyle/>
                    <a:p>
                      <a:r>
                        <a:rPr b="0" sz="1300" i="0">
                          <a:solidFill>
                            <a:srgbClr val="1A2233"/>
                          </a:solidFill>
                          <a:latin typeface="Calibri"/>
                        </a:rPr>
                        <a:t>Cost risk is second-order here</a:t>
                      </a:r>
                    </a:p>
                  </a:txBody>
                  <a:tcPr marL="64008" marR="64008" marT="27432" marB="27432" anchor="ctr">
                    <a:solidFill>
                      <a:srgbClr val="F3F6F9"/>
                    </a:solidFill>
                  </a:tcPr>
                </a:tc>
              </a:tr>
              <a:tr h="384048">
                <a:tc>
                  <a:txBody>
                    <a:bodyPr wrap="square"/>
                    <a:lstStyle/>
                    <a:p>
                      <a:r>
                        <a:rPr b="1" sz="1300" i="0">
                          <a:solidFill>
                            <a:srgbClr val="1A2233"/>
                          </a:solidFill>
                          <a:latin typeface="Calibri"/>
                        </a:rPr>
                        <a:t>Interest rate +1 point</a:t>
                      </a:r>
                    </a:p>
                  </a:txBody>
                  <a:tcPr marL="64008" marR="64008" marT="27432" marB="27432" anchor="ctr">
                    <a:solidFill>
                      <a:srgbClr val="FFFFFF"/>
                    </a:solidFill>
                  </a:tcPr>
                </a:tc>
                <a:tc>
                  <a:txBody>
                    <a:bodyPr wrap="square"/>
                    <a:lstStyle/>
                    <a:p>
                      <a:r>
                        <a:rPr b="0" sz="1300" i="0">
                          <a:solidFill>
                            <a:srgbClr val="1A2233"/>
                          </a:solidFill>
                          <a:latin typeface="Calibri"/>
                        </a:rPr>
                        <a:t>Very small</a:t>
                      </a:r>
                    </a:p>
                  </a:txBody>
                  <a:tcPr marL="64008" marR="64008" marT="27432" marB="27432" anchor="ctr">
                    <a:solidFill>
                      <a:srgbClr val="FFFFFF"/>
                    </a:solidFill>
                  </a:tcPr>
                </a:tc>
                <a:tc>
                  <a:txBody>
                    <a:bodyPr wrap="square"/>
                    <a:lstStyle/>
                    <a:p>
                      <a:r>
                        <a:rPr b="0" sz="1300" i="0">
                          <a:solidFill>
                            <a:srgbClr val="1A2233"/>
                          </a:solidFill>
                          <a:latin typeface="Calibri"/>
                        </a:rPr>
                        <a:t>Debt is a small share of cash flow</a:t>
                      </a:r>
                    </a:p>
                  </a:txBody>
                  <a:tcPr marL="64008" marR="64008" marT="27432" marB="27432" anchor="ctr">
                    <a:solidFill>
                      <a:srgbClr val="FFFFFF"/>
                    </a:solidFill>
                  </a:tcPr>
                </a:tc>
              </a:tr>
              <a:tr h="384048">
                <a:tc>
                  <a:txBody>
                    <a:bodyPr wrap="square"/>
                    <a:lstStyle/>
                    <a:p>
                      <a:r>
                        <a:rPr b="1" sz="1300" i="0">
                          <a:solidFill>
                            <a:srgbClr val="1A2233"/>
                          </a:solidFill>
                          <a:latin typeface="Calibri"/>
                        </a:rPr>
                        <a:t>Construction cost +10% (Day 6)</a:t>
                      </a:r>
                    </a:p>
                  </a:txBody>
                  <a:tcPr marL="64008" marR="64008" marT="27432" marB="27432" anchor="ctr">
                    <a:solidFill>
                      <a:srgbClr val="F3F6F9"/>
                    </a:solidFill>
                  </a:tcPr>
                </a:tc>
                <a:tc>
                  <a:txBody>
                    <a:bodyPr wrap="square"/>
                    <a:lstStyle/>
                    <a:p>
                      <a:r>
                        <a:rPr b="0" sz="1300" i="0">
                          <a:solidFill>
                            <a:srgbClr val="1A2233"/>
                          </a:solidFill>
                          <a:latin typeface="Calibri"/>
                        </a:rPr>
                        <a:t>Small to medium</a:t>
                      </a:r>
                    </a:p>
                  </a:txBody>
                  <a:tcPr marL="64008" marR="64008" marT="27432" marB="27432" anchor="ctr">
                    <a:solidFill>
                      <a:srgbClr val="F3F6F9"/>
                    </a:solidFill>
                  </a:tcPr>
                </a:tc>
                <a:tc>
                  <a:txBody>
                    <a:bodyPr wrap="square"/>
                    <a:lstStyle/>
                    <a:p>
                      <a:r>
                        <a:rPr b="0" sz="1300" i="0">
                          <a:solidFill>
                            <a:srgbClr val="1A2233"/>
                          </a:solidFill>
                          <a:latin typeface="Calibri"/>
                        </a:rPr>
                        <a:t>Increases equity cheque and IDC</a:t>
                      </a:r>
                    </a:p>
                  </a:txBody>
                  <a:tcPr marL="64008" marR="64008" marT="27432" marB="27432" anchor="ctr">
                    <a:solidFill>
                      <a:srgbClr val="F3F6F9"/>
                    </a:solidFill>
                  </a:tcPr>
                </a:tc>
              </a:tr>
            </a:tbl>
          </a:graphicData>
        </a:graphic>
      </p:graphicFrame>
      <p:sp>
        <p:nvSpPr>
          <p:cNvPr id="12" name="Rectangle 11"/>
          <p:cNvSpPr/>
          <p:nvPr/>
        </p:nvSpPr>
        <p:spPr>
          <a:xfrm>
            <a:off x="548640" y="365760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65760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576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Exact figures are built in the model on Days 5 to 7. The point today: put your effort into the risks the numbers say matter.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Which allocation best follows the rule 'risk to the party best able to control it'?</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Construction cost overrun to the EPC contractor under a fixed-price contract</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Currency devaluation to the lenders</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Demand risk to the EPC contractor</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Political risk to the O&amp;M operator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project earns 16% on cost; debt costs 7%. Adding debt will normally:</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Raise equity IRR but reduce cover ratios</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Lower equity IRR and raise cover</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Not affect equity IRR</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Remove risk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In a 5-year, 10% annuity loan of 1,000 the annual payment is about:</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263.8</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200.0</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300.0</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100.0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16.30 – 17.00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6: Preview of the TrainStat financial model</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A tour before we build, so Saturday morning feels familiar.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PREVIEW</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we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Lenders and sponsors test the project on one integrated spreadsheet: revenue, cost, tax, funding, ratios, returns</a:t>
            </a:r>
          </a:p>
          <a:p>
            <a:pPr>
              <a:spcAft>
                <a:spcPts val="700"/>
              </a:spcAft>
            </a:pPr>
            <a:r>
              <a:rPr b="0" sz="2000" i="0">
                <a:solidFill>
                  <a:srgbClr val="1A2233"/>
                </a:solidFill>
                <a:latin typeface="Calibri"/>
              </a:rPr>
              <a:t>▪ Everything in today's slides becomes an input or an output in the model</a:t>
            </a:r>
          </a:p>
          <a:p>
            <a:pPr>
              <a:spcAft>
                <a:spcPts val="700"/>
              </a:spcAft>
            </a:pPr>
            <a:r>
              <a:rPr b="0" sz="2000" i="0">
                <a:solidFill>
                  <a:srgbClr val="1A2233"/>
                </a:solidFill>
                <a:latin typeface="Calibri"/>
              </a:rPr>
              <a:t>▪ Days 4 and 5 build the operating three-statement model; Days 6 and 7 turn it into a project finance model</a:t>
            </a:r>
          </a:p>
        </p:txBody>
      </p:sp>
      <p:sp>
        <p:nvSpPr>
          <p:cNvPr id="12" name="Rectangle 11"/>
          <p:cNvSpPr/>
          <p:nvPr/>
        </p:nvSpPr>
        <p:spPr>
          <a:xfrm>
            <a:off x="640080" y="39319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9319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319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Use the Excel Foundations deck for any participant who has not used Excel formulas.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MAP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TrainStat workbook at a glance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1828800"/>
            <a:ext cx="2011680" cy="1005840"/>
          </a:xfrm>
          <a:prstGeom prst="roundRect">
            <a:avLst/>
          </a:prstGeom>
          <a:solidFill>
            <a:srgbClr val="F2C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1A2233"/>
                </a:solidFill>
                <a:latin typeface="Calibri"/>
              </a:rPr>
              <a:t>Inputs
InpC  InpS</a:t>
            </a:r>
          </a:p>
        </p:txBody>
      </p:sp>
      <p:sp>
        <p:nvSpPr>
          <p:cNvPr id="12" name="Rounded Rectangle 11"/>
          <p:cNvSpPr/>
          <p:nvPr/>
        </p:nvSpPr>
        <p:spPr>
          <a:xfrm>
            <a:off x="2834640" y="1828800"/>
            <a:ext cx="2011680" cy="10058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Timeline
Time  Esc</a:t>
            </a:r>
          </a:p>
        </p:txBody>
      </p:sp>
      <p:sp>
        <p:nvSpPr>
          <p:cNvPr id="13" name="Rounded Rectangle 12"/>
          <p:cNvSpPr/>
          <p:nvPr/>
        </p:nvSpPr>
        <p:spPr>
          <a:xfrm>
            <a:off x="5212080" y="1828800"/>
            <a:ext cx="2560320" cy="100584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Operations
OpRev OpCost Tax NCA</a:t>
            </a:r>
          </a:p>
        </p:txBody>
      </p:sp>
      <p:sp>
        <p:nvSpPr>
          <p:cNvPr id="14" name="Rounded Rectangle 13"/>
          <p:cNvSpPr/>
          <p:nvPr/>
        </p:nvSpPr>
        <p:spPr>
          <a:xfrm>
            <a:off x="8229600" y="1828800"/>
            <a:ext cx="1828800" cy="100584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Funding
Debt Equity</a:t>
            </a:r>
          </a:p>
        </p:txBody>
      </p:sp>
      <p:sp>
        <p:nvSpPr>
          <p:cNvPr id="15" name="Rounded Rectangle 14"/>
          <p:cNvSpPr/>
          <p:nvPr/>
        </p:nvSpPr>
        <p:spPr>
          <a:xfrm>
            <a:off x="5212080" y="3474720"/>
            <a:ext cx="2560320" cy="100584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Statements
FinStat</a:t>
            </a:r>
          </a:p>
        </p:txBody>
      </p:sp>
      <p:sp>
        <p:nvSpPr>
          <p:cNvPr id="16" name="Rounded Rectangle 15"/>
          <p:cNvSpPr/>
          <p:nvPr/>
        </p:nvSpPr>
        <p:spPr>
          <a:xfrm>
            <a:off x="8229600" y="3474720"/>
            <a:ext cx="3017520" cy="100584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Results
Val Track Dashboard</a:t>
            </a:r>
          </a:p>
        </p:txBody>
      </p:sp>
      <p:cxnSp>
        <p:nvCxnSpPr>
          <p:cNvPr id="17" name="Connector 16"/>
          <p:cNvCxnSpPr/>
          <p:nvPr/>
        </p:nvCxnSpPr>
        <p:spPr>
          <a:xfrm>
            <a:off x="2468880" y="2331720"/>
            <a:ext cx="36576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46320" y="2331720"/>
            <a:ext cx="36576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72400" y="2331720"/>
            <a:ext cx="45720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492240" y="2834640"/>
            <a:ext cx="0" cy="64008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772400" y="2331720"/>
            <a:ext cx="457200" cy="1645919"/>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772400" y="3977639"/>
            <a:ext cx="45720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48640" y="484632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84632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84632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84 quarterly columns (J to CO), one formula per row, blue pulls, red results, yellow inputs.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SET-UP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Set-up check for Saturday (Day 4)</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9601200"/>
                <a:gridCol w="146304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Done?</a:t>
                      </a:r>
                    </a:p>
                  </a:txBody>
                  <a:tcPr marL="64008" marR="64008" marT="27432" marB="27432" anchor="ctr">
                    <a:solidFill>
                      <a:srgbClr val="141B4D"/>
                    </a:solidFill>
                  </a:tcPr>
                </a:tc>
              </a:tr>
              <a:tr h="384048">
                <a:tc>
                  <a:txBody>
                    <a:bodyPr wrap="square"/>
                    <a:lstStyle/>
                    <a:p>
                      <a:r>
                        <a:rPr b="1" sz="1300" i="0">
                          <a:solidFill>
                            <a:srgbClr val="1A2233"/>
                          </a:solidFill>
                          <a:latin typeface="Calibri"/>
                        </a:rPr>
                        <a:t>Excel 2019 or Microsoft 365 installed (Windows or Mac)</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84048">
                <a:tc>
                  <a:txBody>
                    <a:bodyPr wrap="square"/>
                    <a:lstStyle/>
                    <a:p>
                      <a:r>
                        <a:rPr b="1" sz="1300" i="0">
                          <a:solidFill>
                            <a:srgbClr val="1A2233"/>
                          </a:solidFill>
                          <a:latin typeface="Calibri"/>
                        </a:rPr>
                        <a:t>TrainStat_StartModel.xlsx downloaded; original kept untouched</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r h="384048">
                <a:tc>
                  <a:txBody>
                    <a:bodyPr wrap="square"/>
                    <a:lstStyle/>
                    <a:p>
                      <a:r>
                        <a:rPr b="1" sz="1300" i="0">
                          <a:solidFill>
                            <a:srgbClr val="0B5E82"/>
                          </a:solidFill>
                          <a:latin typeface="Consolas"/>
                        </a:rPr>
                        <a:t>Ctrl+G</a:t>
                      </a:r>
                      <a:r>
                        <a:rPr b="1" sz="1300" i="0">
                          <a:solidFill>
                            <a:srgbClr val="1A2233"/>
                          </a:solidFill>
                          <a:latin typeface="Calibri"/>
                        </a:rPr>
                        <a:t> opens Go To; </a:t>
                      </a:r>
                      <a:r>
                        <a:rPr b="1" sz="1300" i="0">
                          <a:solidFill>
                            <a:srgbClr val="0B5E82"/>
                          </a:solidFill>
                          <a:latin typeface="Consolas"/>
                        </a:rPr>
                        <a:t>Ctrl+`</a:t>
                      </a:r>
                      <a:r>
                        <a:rPr b="1" sz="1300" i="0">
                          <a:solidFill>
                            <a:srgbClr val="1A2233"/>
                          </a:solidFill>
                          <a:latin typeface="Calibri"/>
                        </a:rPr>
                        <a:t> toggles formulas</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r h="384048">
                <a:tc>
                  <a:txBody>
                    <a:bodyPr wrap="square"/>
                    <a:lstStyle/>
                    <a:p>
                      <a:r>
                        <a:rPr b="1" sz="1300" i="0">
                          <a:solidFill>
                            <a:srgbClr val="1A2233"/>
                          </a:solidFill>
                          <a:latin typeface="Calibri"/>
                        </a:rPr>
                        <a:t>Calculation set to Automatic; iterative calculation off</a:t>
                      </a:r>
                    </a:p>
                  </a:txBody>
                  <a:tcPr marL="64008" marR="64008" marT="27432" marB="27432" anchor="ctr">
                    <a:solidFill>
                      <a:srgbClr val="F3F6F9"/>
                    </a:solidFill>
                  </a:tcPr>
                </a:tc>
                <a:tc>
                  <a:txBody>
                    <a:bodyPr wrap="square"/>
                    <a:lstStyle/>
                    <a:p>
                      <a:r>
                        <a:rPr b="0" sz="1300" i="0">
                          <a:solidFill>
                            <a:srgbClr val="1A2233"/>
                          </a:solidFill>
                          <a:latin typeface="Calibri"/>
                        </a:rPr>
                        <a:t>☐</a:t>
                      </a:r>
                    </a:p>
                  </a:txBody>
                  <a:tcPr marL="64008" marR="64008" marT="27432" marB="27432" anchor="ctr">
                    <a:solidFill>
                      <a:srgbClr val="F3F6F9"/>
                    </a:solidFill>
                  </a:tcPr>
                </a:tc>
              </a:tr>
              <a:tr h="384048">
                <a:tc>
                  <a:txBody>
                    <a:bodyPr wrap="square"/>
                    <a:lstStyle/>
                    <a:p>
                      <a:r>
                        <a:rPr b="1" sz="1300" i="0">
                          <a:solidFill>
                            <a:srgbClr val="1A2233"/>
                          </a:solidFill>
                          <a:latin typeface="Calibri"/>
                        </a:rPr>
                        <a:t>Read the Excel Foundations deck sections A and B</a:t>
                      </a:r>
                    </a:p>
                  </a:txBody>
                  <a:tcPr marL="64008" marR="64008" marT="27432" marB="27432" anchor="ctr">
                    <a:solidFill>
                      <a:srgbClr val="FFFFFF"/>
                    </a:solidFill>
                  </a:tcPr>
                </a:tc>
                <a:tc>
                  <a:txBody>
                    <a:bodyPr wrap="square"/>
                    <a:lstStyle/>
                    <a:p>
                      <a:r>
                        <a:rPr b="0" sz="1300" i="0">
                          <a:solidFill>
                            <a:srgbClr val="1A2233"/>
                          </a:solidFill>
                          <a:latin typeface="Calibri"/>
                        </a:rPr>
                        <a:t>☐</a:t>
                      </a:r>
                    </a:p>
                  </a:txBody>
                  <a:tcPr marL="64008" marR="64008" marT="27432" marB="27432" anchor="ctr">
                    <a:solidFill>
                      <a:srgbClr val="FFFFFF"/>
                    </a:solidFill>
                  </a:tcPr>
                </a:tc>
              </a:tr>
            </a:tbl>
          </a:graphicData>
        </a:graphic>
      </p:graphicFrame>
      <p:sp>
        <p:nvSpPr>
          <p:cNvPr id="12" name="Rectangle 11"/>
          <p:cNvSpPr/>
          <p:nvPr/>
        </p:nvSpPr>
        <p:spPr>
          <a:xfrm>
            <a:off x="548640" y="3995928"/>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95928"/>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95928"/>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Day 4 is Saturday 17 October; Sunday 18 is a rest day; Day 5 is Monday 19 October.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3  |  Fri 16 Oct 2026  |  Finance fundamentals of project and infrastructure finance</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RECAP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Recap</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Bankable = contracted revenue + credible construction + creditworthy counterparties + sensible structure + legal protection</a:t>
            </a:r>
          </a:p>
          <a:p>
            <a:pPr>
              <a:spcAft>
                <a:spcPts val="700"/>
              </a:spcAft>
            </a:pPr>
            <a:r>
              <a:rPr b="0" sz="2000" i="0">
                <a:solidFill>
                  <a:srgbClr val="1A2233"/>
                </a:solidFill>
                <a:latin typeface="Calibri"/>
              </a:rPr>
              <a:t>▪ Leverage raises equity IRR and lowers DSCR: lenders cap gearing</a:t>
            </a:r>
          </a:p>
          <a:p>
            <a:pPr>
              <a:spcAft>
                <a:spcPts val="700"/>
              </a:spcAft>
            </a:pPr>
            <a:r>
              <a:rPr b="0" sz="2000" i="0">
                <a:solidFill>
                  <a:srgbClr val="1A2233"/>
                </a:solidFill>
                <a:latin typeface="Calibri"/>
              </a:rPr>
              <a:t>▪ Term loans: choose the repayment shape that fits cash flow: annuity, straight line, sculpted</a:t>
            </a:r>
          </a:p>
          <a:p>
            <a:pPr>
              <a:spcAft>
                <a:spcPts val="700"/>
              </a:spcAft>
            </a:pPr>
            <a:r>
              <a:rPr b="0" sz="2000" i="0">
                <a:solidFill>
                  <a:srgbClr val="1A2233"/>
                </a:solidFill>
                <a:latin typeface="Calibri"/>
              </a:rPr>
              <a:t>▪ Syndication spreads big loans across many lenders under one agreement and one agent</a:t>
            </a:r>
          </a:p>
          <a:p>
            <a:pPr>
              <a:spcAft>
                <a:spcPts val="700"/>
              </a:spcAft>
            </a:pPr>
            <a:r>
              <a:rPr b="0" sz="2000" i="0">
                <a:solidFill>
                  <a:srgbClr val="1A2233"/>
                </a:solidFill>
                <a:latin typeface="Calibri"/>
              </a:rPr>
              <a:t>▪ Risk allocation: give each risk to the party who can control or absorb it; test every risk in the model</a:t>
            </a:r>
          </a:p>
        </p:txBody>
      </p:sp>
      <p:sp>
        <p:nvSpPr>
          <p:cNvPr id="12" name="Rectangle 11"/>
          <p:cNvSpPr/>
          <p:nvPr/>
        </p:nvSpPr>
        <p:spPr>
          <a:xfrm>
            <a:off x="640080" y="5029200"/>
            <a:ext cx="10881360" cy="77724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29200"/>
            <a:ext cx="82296" cy="77724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52760" cy="777240"/>
          </a:xfrm>
          <a:prstGeom prst="rect">
            <a:avLst/>
          </a:prstGeom>
          <a:noFill/>
        </p:spPr>
        <p:txBody>
          <a:bodyPr wrap="square" lIns="45720" rIns="45720" tIns="27432" bIns="27432" anchor="ctr">
            <a:spAutoFit/>
          </a:bodyPr>
          <a:lstStyle/>
          <a:p>
            <a:pPr algn="l"/>
            <a:r>
              <a:rPr b="0" sz="1400" i="0">
                <a:solidFill>
                  <a:srgbClr val="1A2233"/>
                </a:solidFill>
                <a:latin typeface="Calibri"/>
              </a:rPr>
              <a:t>Next: Day 4 (Saturday): build the operating model: Time, Esc, Revenue, Operating cost and Tax.</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3  |  Fri 16 Oct 2026  |  Finance fundamentals of project and infrastructure finance</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48</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15544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QUESTIONS AND FOLLOW-UP</a:t>
            </a:r>
          </a:p>
        </p:txBody>
      </p:sp>
      <p:sp>
        <p:nvSpPr>
          <p:cNvPr id="10" name="TextBox 9"/>
          <p:cNvSpPr txBox="1"/>
          <p:nvPr/>
        </p:nvSpPr>
        <p:spPr>
          <a:xfrm>
            <a:off x="731520" y="1965960"/>
            <a:ext cx="10058400" cy="914400"/>
          </a:xfrm>
          <a:prstGeom prst="rect">
            <a:avLst/>
          </a:prstGeom>
          <a:noFill/>
        </p:spPr>
        <p:txBody>
          <a:bodyPr wrap="square" lIns="45720" rIns="45720" tIns="27432" bIns="27432" anchor="t">
            <a:spAutoFit/>
          </a:bodyPr>
          <a:lstStyle/>
          <a:p>
            <a:pPr algn="l"/>
            <a:r>
              <a:rPr b="1" sz="4400" i="0">
                <a:solidFill>
                  <a:srgbClr val="FFFFFF"/>
                </a:solidFill>
                <a:latin typeface="Georgia"/>
              </a:rPr>
              <a:t>Thank you</a:t>
            </a:r>
          </a:p>
        </p:txBody>
      </p:sp>
      <p:sp>
        <p:nvSpPr>
          <p:cNvPr id="11" name="TextBox 10"/>
          <p:cNvSpPr txBox="1"/>
          <p:nvPr/>
        </p:nvSpPr>
        <p:spPr>
          <a:xfrm>
            <a:off x="731520" y="3200400"/>
            <a:ext cx="8686800" cy="2194560"/>
          </a:xfrm>
          <a:prstGeom prst="rect">
            <a:avLst/>
          </a:prstGeom>
          <a:noFill/>
        </p:spPr>
        <p:txBody>
          <a:bodyPr wrap="square" lIns="45720" rIns="45720" tIns="27432" bIns="27432" anchor="t">
            <a:spAutoFit/>
          </a:bodyPr>
          <a:lstStyle/>
          <a:p>
            <a:pPr algn="l"/>
            <a:r>
              <a:rPr b="1" sz="2000" i="0">
                <a:solidFill>
                  <a:srgbClr val="D8DEF5"/>
                </a:solidFill>
                <a:latin typeface="Calibri"/>
              </a:rPr>
              <a:t>Prof Bongo Adi</a:t>
            </a:r>
          </a:p>
          <a:p>
            <a:pPr algn="l"/>
            <a:r>
              <a:rPr b="0" sz="2000" i="0">
                <a:solidFill>
                  <a:srgbClr val="D8DEF5"/>
                </a:solidFill>
                <a:latin typeface="Calibri"/>
              </a:rPr>
              <a:t>Lagos Business School, Pan-Atlantic University</a:t>
            </a:r>
          </a:p>
          <a:p>
            <a:pPr algn="l"/>
            <a:r>
              <a:rPr b="0" sz="2000" i="0">
                <a:solidFill>
                  <a:srgbClr val="D8DEF5"/>
                </a:solidFill>
                <a:latin typeface="Calibri"/>
              </a:rPr>
              <a:t>Phone / WhatsApp:  +234 706 164 8699</a:t>
            </a:r>
          </a:p>
          <a:p>
            <a:pPr algn="l"/>
            <a:r>
              <a:rPr b="0" sz="2000" i="0">
                <a:solidFill>
                  <a:srgbClr val="D8DEF5"/>
                </a:solidFill>
                <a:latin typeface="Calibri"/>
              </a:rPr>
              <a:t>Email:  badi@lbs.edu.ng</a:t>
            </a:r>
          </a:p>
          <a:p>
            <a:pPr algn="l"/>
            <a:r>
              <a:rPr b="0" sz="2000" i="0">
                <a:solidFill>
                  <a:srgbClr val="D8DEF5"/>
                </a:solidFill>
                <a:latin typeface="Calibri"/>
              </a:rPr>
              <a:t>Fulbright email:  bongo.adi@fulbrightmail.org</a:t>
            </a:r>
          </a:p>
        </p:txBody>
      </p:sp>
      <p:pic>
        <p:nvPicPr>
          <p:cNvPr id="12" name="Picture 11" descr="mipf_hex.png"/>
          <p:cNvPicPr>
            <a:picLocks noChangeAspect="1"/>
          </p:cNvPicPr>
          <p:nvPr/>
        </p:nvPicPr>
        <p:blipFill>
          <a:blip r:embed="rId5"/>
          <a:stretch>
            <a:fillRect/>
          </a:stretch>
        </p:blipFill>
        <p:spPr>
          <a:xfrm>
            <a:off x="9418320" y="1828800"/>
            <a:ext cx="2103120" cy="2103120"/>
          </a:xfrm>
          <a:prstGeom prst="rect">
            <a:avLst/>
          </a:prstGeom>
        </p:spPr>
      </p:pic>
      <p:pic>
        <p:nvPicPr>
          <p:cNvPr id="13" name="Picture 12" descr="bongo_ai_hex_dark_256.png"/>
          <p:cNvPicPr>
            <a:picLocks noChangeAspect="1"/>
          </p:cNvPicPr>
          <p:nvPr/>
        </p:nvPicPr>
        <p:blipFill>
          <a:blip r:embed="rId4"/>
          <a:stretch>
            <a:fillRect/>
          </a:stretch>
        </p:blipFill>
        <p:spPr>
          <a:xfrm>
            <a:off x="9692640" y="411480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MIPF_Day3_Finance_Fundamentals_Deck (participant edition)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