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3200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516682" cy="868680"/>
          </a:xfrm>
          <a:prstGeom prst="rect">
            <a:avLst/>
          </a:prstGeom>
        </p:spPr>
      </p:pic>
      <p:pic>
        <p:nvPicPr>
          <p:cNvPr id="4" name="Picture 3" descr="mipf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377440" cy="2377440"/>
          </a:xfrm>
          <a:prstGeom prst="rect">
            <a:avLst/>
          </a:prstGeom>
        </p:spPr>
      </p:pic>
      <p:pic>
        <p:nvPicPr>
          <p:cNvPr id="5" name="Picture 4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07492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603504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100" i="0">
                <a:solidFill>
                  <a:srgbClr val="C9D3F5"/>
                </a:solidFill>
                <a:latin typeface="Calibri"/>
              </a:rPr>
              <a:t>bongo.ai  ·  MIPF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8412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MASTERING INFRASTRUCTURE AND PROJECT FINANCE BOOT 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5953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4000" i="0">
                <a:solidFill>
                  <a:srgbClr val="FFFFFF"/>
                </a:solidFill>
                <a:latin typeface="Georgia"/>
              </a:rPr>
              <a:t>Day 1 Companion: Foundations and the Classic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8595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A zero-knowledge glossary and numbers primer for the Day 1 deck, plus teaching frames for the alternative case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595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  <a:latin typeface="Calibri"/>
              </a:rPr>
              <a:t>Wednesday 14th October 2026  |  Facilitator: Prof Bongo 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C9D3F5"/>
                </a:solidFill>
                <a:latin typeface="Calibri"/>
              </a:rPr>
              <a:t>Prof Bongo Adi  |  +234 706 164 8699  |  badi@lbs.edu.ng  |  bongo.adi@fulbrightmail.org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219456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9A2B"/>
                </a:solidFill>
                <a:latin typeface="Calibri"/>
              </a:rPr>
              <a:t>PARTICIPANT EDITION  ·  exercise answers and facilitator notes are withheld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How to use this companion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Before the session: participants skim the glossary and numbers primer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During the session: pull up a glossary slide whenever a term is new; use the numbers primer before the capital stack exercise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Alternative reading: the cases (Argentina Power, Chad-Cameroon, BP Amoco, Australia-Japan Cable) are listed against each session; the frames below show how to use them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After the session: use the case frames for homework and for the credit-committee debrief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1: Glossary from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Thirty terms, three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GLOSSARY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Glossary 1: the players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The company or investor that develops the project and puts in equity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SPV (project company)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new company created only to own and run the project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Lender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Bank, development finance institution or bond investor that provides the 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Offtaker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The customer that buys the project's output (e.g. the power buyer)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EPC contractor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Engineering, procurement and construction: builds the project for a fixed price and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O&amp;M operator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Operates and maintains the project after construction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DFI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Development finance institution (e.g. IFC, AfDB) that lends for development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Guarantor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party that promises to pay if the main party does not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Regulator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Public body that licenses and sets rules (e.g. tariffs)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GLOSSARY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Glossary 2: the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Equity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Money from owners; paid last; highest risk and return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Senior debt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Loan repaid first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Mezzanine / subordinated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Loan repaid after senior debt, before equity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Gearing (leverage)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Debt as a share of total funding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Length of a 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Grace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Time before principal repayments start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The lender's extra interest over the base 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CFADS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Cash flow available for debt service: revenue − operating cost − tax − capex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DSCR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CFADS ÷ debt service in a period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LLCR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Present value of cash flow over the loan life ÷ debt outstanding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Sculpting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Shaping repayments to match cash flow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GLOSSARY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Glossary 3: the structure and the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Limited recourse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Lenders mainly look to the project's cash flow and assets, not the sponsors' wider assets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Non-recourse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 claim on sponsors at all (rare after construction)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PPA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Power purchase agreement: contract to sell electricity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Concession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right granted by government to build and operate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Take-or-pay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Buyer pays whether or not it takes the output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Covenant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promise in a loan agreement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Rights over assets backing a 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Credit enhancement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Guarantee or insurance that lifts credit quality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Force majeure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Event beyond anyone's control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Financial close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The point when all documents are effective and the loan can be drawn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COD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Commercial operation date: when the project starts earning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2: Infrastructure and why it is hard to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Four features that make infrastructure different.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Why infrastructure financing is different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05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663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Large and lumpy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Cost is paid upfront, in big sums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Few single lenders can fund 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Long-lived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Assets last 20 to 50 years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Needs long-tenor funding; banks' deposits are short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Revenue arrives later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 income during construction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Interest during construction; completion 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Partly public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Services often priced or regulated by government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Political and regulatory risk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931920"/>
            <a:ext cx="11064240" cy="7772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82296" cy="7772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Project finance exists to solve these four features: ring-fence the project, lend against cash flow, allocate risks by contract.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Three things people confuse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81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Project finance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way of funding a project using its own cash flow and assets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Azura-Edo IPP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PPP (public-private partnership)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contract between government and a private party to deliver and run infrastructure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Lekki-Epe concession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Privatisation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Selling a public asset to private owners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Selling a state utility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504692"/>
            <a:ext cx="1106424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04692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04692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A PPP is often project-financed, but project finance is also used without government (e.g. a private power plant).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LIFE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life of a project, simply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54533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508760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Idea and feasibility: is it needed and viable?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16255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25979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Development: permits, land, contracts, financing plan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77977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43200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Financial close: documents signed, money available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39699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360420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Construction: money drawn; interest accumulates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14215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977639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Operations: revenue arrives; debt is repaid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3143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94859"/>
            <a:ext cx="10378440" cy="57149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Handback or refinancing: end of concession or loan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0352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Risk is highest in development and construction; lenders prefer to be repaid from the stable operations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3: Numbers primer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Four ideas: time value, present value, IRR, cover.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time value of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A naira today is worth more than a naira next year because it can earn interest and because the future is uncertain. To compare money at different dates we convert everything to today's value (present value) using a discount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PV = Cash flow ÷ (1 + r)^t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1325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100 received in one year at 10%: PV = 100 ÷ 1.10 = 90.91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100 a year for three years at 10%: PV = 248.69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At 20% the same stream is worth 210.65: higher risk, lower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Debt capacity and project value are present values of future cash 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IRR: the return on a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The internal rate of return is the discount rate at which the present value of all the project's cash flows equals zero. It is the project's own percentage return.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0 = −Investment + Σ CF_t ÷ (1 + IRR)^t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1325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Invest 100 now; receive 60 and 60 in years 1 and 2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Try 13%: PV = 60/1.13 + 60/1.13² = 53.10 + 46.99 = 100.09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So the IRR is about 13.1%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Lenders and sponsors compare IRR with the required return: if IRR is higher, accept.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Cover: DSCR and why lenders want a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DSCR compares the cash available to the cash owed in a period. A DSCR of 1.00x means no spare cash; lenders require a margin because forecasts are uncertain.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DSCR = CFADS ÷ (interest + principal)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1325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CFADS 7.64m; debt service 5.66m → DSCR 1.35x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If revenue falls 15%, CFADS falls much more because costs are fixed: revenue 8.74m → 7.43m; opex 1.10m; CFADS 6.33m; DSCR 1.12x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At a DSCR below 1.0x the project cannot pay lenders from cash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Operating leverage: a small fall in revenue produces a large fall in CFADS. That is why cover ratios, not just profit, matter.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Warm-up: Three quick calculations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Do these before the capital stack exercise.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PV of 200 received in 2 years at 12%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DSCR if CFADS is 9.0 and debt service is 6.0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Equity share if total cost is 55 and debt is 37.4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ALTERNATIVE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4: Using the classic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Argentina Power, Chad-Cameroon, BP Amoco, Australia-Japan Cable.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How to read a project finance case: six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858000"/>
                <a:gridCol w="3566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Links to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What is the project and who are the parties?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Structure (Session 1.1)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What is the source of revenue and how secure is it?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Offtake, CFADS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How is it funded: debt, equity, credit support?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Capital stack (Session 1.2)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Which risks arise and who bears them?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Risk allocation (Session 2.1)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What role do governments and institutions play?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PPP and blended finance (Session 2.2)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What would you do differently?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Credit committee (Session 2.4)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Argentina Power: Don't Cry for Me Argentina (HBS)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The case 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Why was a country with significant natural resources unable to keep the lights on?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Why would anyone invest in energy in Argentina given a long record of government interference?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Can a reasonable transaction protect a foreign investor?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Use it to practise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Political and regulatory risk (Session 2.1)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Tariff and currency risk (compare Lekki-Epe tariff risk)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Instruments that protect investors: contracts, guarantees, political risk insurance, treaties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Apply to Nigeria: Azura-Edo's payment security layers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400" i="0">
                <a:solidFill>
                  <a:srgbClr val="141B4D"/>
                </a:solidFill>
                <a:latin typeface="Georgia"/>
              </a:rPr>
              <a:t>Chad-Cameroon Petroleum Development and Pipeline Project (HBS)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Why it is taught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A landmark project-financed pipeline in a high-risk setting with World Bank Group involvement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Four issues: why use project finance; how to value the project; how to manage sovereign risk; whether and how much the IFC / World Bank should lend and how leveraged the project should be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Ethical issues in developing countries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Use it to practise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Structuring: sponsors, governments, lenders (Session 1.1)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Valuation and leverage (Session 1.2, 1.3)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Sovereign risk and its mitigants (Session 2.1)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ESG and revenue management (Session 2.3): safeguards and what happens if they fail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Compare with Azura-Edo and Lekki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400" i="0">
                <a:solidFill>
                  <a:srgbClr val="141B4D"/>
                </a:solidFill>
                <a:latin typeface="Georgia"/>
              </a:rPr>
              <a:t>BP Amoco (A): Policy Statement on the Use of Project Finance (HBS)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The case 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Under what conditions should a large corporation use project finance rather than corporate funding?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What does project finance change: risk, control, cost?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How should a policy statement define when to use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Use it to practise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Corporate versus project finance (Session 1.1)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Cost of capital and structure (Session 1.2)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Risk allocation by contract (Session 2.1)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Write a one-paragraph policy: when would a bank use project finance for infrastructure lending?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Australia-Japan Cable: Structuring the Project Company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The case 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How should the project company be structured?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Who owns it, who funds it, who bears which risk?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Use it to practise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SPV design, shareholder rights and funding (Day 2 shareholders' agreement)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Why the structure affects financeability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Compare with Sahel Sun's ownership and funding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Case homework: One-page case memo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Choose one of the four cases and write a one-page memo answering the six questions, ending with one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Use the six-question template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Quote two facts from the case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Name one risk the contract structure does not solve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Link to one Day 1 concept (SPV, capital stack, bankability, risk matrix, ESG)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Which statement about project finance is correct?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Lenders rely mainly on the project's own cash flow for repayment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Lenders rely on the sponsors' balance sheets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is only used by governments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never uses equity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A project's CFADS is 12 and debt service is 10. Its DSCR is: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1.20x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0.83x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2.00x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12x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Recap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Know the language: sponsor, SPV, lender, offtaker, CFADS, DSCR, gearing, tenor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Four features make infrastructure hard to finance: size, life, delayed revenue, public role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Time value of money and cover ratios are the maths of lending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Use cases through six questions; always end with a recommendation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Next: Day 2 (Thursday): the legal architecture: due diligence, security, risk allocation and covenants.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1  |  Wed 14 Oct 2026  |  Foundations and case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QUESTIONS AND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4400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86868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D8DEF5"/>
                </a:solidFill>
                <a:latin typeface="Calibri"/>
              </a:rPr>
              <a:t>Prof Bongo Adi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Lagos Business School, Pan-Atlantic University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Phone / WhatsApp:  +234 706 164 8699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Email:  badi@lbs.edu.ng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Fulbright email:  bongo.adi@fulbrightmail.org</a:t>
            </a:r>
          </a:p>
        </p:txBody>
      </p:sp>
      <p:pic>
        <p:nvPicPr>
          <p:cNvPr id="12" name="Picture 11" descr="mipf_h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828800"/>
            <a:ext cx="2103120" cy="2103120"/>
          </a:xfrm>
          <a:prstGeom prst="rect">
            <a:avLst/>
          </a:prstGeom>
        </p:spPr>
      </p:pic>
      <p:pic>
        <p:nvPicPr>
          <p:cNvPr id="13" name="Picture 12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1148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MIPF_Day1_Companion_Deck (participant edition)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