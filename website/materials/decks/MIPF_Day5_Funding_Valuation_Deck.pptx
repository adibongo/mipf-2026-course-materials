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Profile 1: 7.5 years</c:v>
                </c:pt>
              </c:strCache>
            </c:strRef>
          </c:tx>
          <c:spPr>
            <a:ln w="31750">
              <a:solidFill>
                <a:srgbClr val="141B4D"/>
              </a:solidFill>
            </a:ln>
          </c:spPr>
          <c:marker>
            <c:symbol val="none"/>
          </c:marker>
          <c:cat>
            <c:strRef>
              <c:f>Sheet1!$A$2:$A$17</c:f>
              <c:strCache>
                <c:ptCount val="16"/>
                <c:pt idx="0">
                  <c:v>Dec-21</c:v>
                </c:pt>
                <c:pt idx="1">
                  <c:v>Dec-22</c:v>
                </c:pt>
                <c:pt idx="2">
                  <c:v>Dec-23</c:v>
                </c:pt>
                <c:pt idx="3">
                  <c:v>Dec-24</c:v>
                </c:pt>
                <c:pt idx="4">
                  <c:v>Dec-25</c:v>
                </c:pt>
                <c:pt idx="5">
                  <c:v>Dec-26</c:v>
                </c:pt>
                <c:pt idx="6">
                  <c:v>Dec-27</c:v>
                </c:pt>
                <c:pt idx="7">
                  <c:v>Dec-28</c:v>
                </c:pt>
                <c:pt idx="8">
                  <c:v>Dec-29</c:v>
                </c:pt>
                <c:pt idx="9">
                  <c:v>Dec-30</c:v>
                </c:pt>
                <c:pt idx="10">
                  <c:v>Dec-31</c:v>
                </c:pt>
                <c:pt idx="11">
                  <c:v>Dec-32</c:v>
                </c:pt>
                <c:pt idx="12">
                  <c:v>Dec-33</c:v>
                </c:pt>
                <c:pt idx="13">
                  <c:v>Dec-34</c:v>
                </c:pt>
                <c:pt idx="14">
                  <c:v>Dec-35</c:v>
                </c:pt>
                <c:pt idx="15">
                  <c:v>Dec-36</c:v>
                </c:pt>
              </c:strCache>
            </c:strRef>
          </c:cat>
          <c:val>
            <c:numRef>
              <c:f>Sheet1!$B$2:$B$17</c:f>
              <c:numCache>
                <c:formatCode>General</c:formatCode>
                <c:ptCount val="16"/>
                <c:pt idx="0">
                  <c:v>60000</c:v>
                </c:pt>
                <c:pt idx="1">
                  <c:v>58000</c:v>
                </c:pt>
                <c:pt idx="2">
                  <c:v>50000</c:v>
                </c:pt>
                <c:pt idx="3">
                  <c:v>42000</c:v>
                </c:pt>
                <c:pt idx="4">
                  <c:v>34000</c:v>
                </c:pt>
                <c:pt idx="5">
                  <c:v>26000</c:v>
                </c:pt>
                <c:pt idx="6">
                  <c:v>18000</c:v>
                </c:pt>
                <c:pt idx="7">
                  <c:v>10000</c:v>
                </c:pt>
                <c:pt idx="8">
                  <c:v>2000</c:v>
                </c:pt>
                <c:pt idx="9">
                  <c:v>0</c:v>
                </c:pt>
                <c:pt idx="10">
                  <c:v>0</c:v>
                </c:pt>
                <c:pt idx="11">
                  <c:v>0</c:v>
                </c:pt>
                <c:pt idx="12">
                  <c:v>0</c:v>
                </c:pt>
                <c:pt idx="13">
                  <c:v>0</c:v>
                </c:pt>
                <c:pt idx="14">
                  <c:v>0</c:v>
                </c:pt>
                <c:pt idx="15">
                  <c:v>0</c:v>
                </c:pt>
              </c:numCache>
            </c:numRef>
          </c:val>
          <c:smooth val="0"/>
        </c:ser>
        <c:ser>
          <c:idx val="1"/>
          <c:order val="1"/>
          <c:tx>
            <c:strRef>
              <c:f>Sheet1!$C$1</c:f>
              <c:strCache>
                <c:ptCount val="1"/>
                <c:pt idx="0">
                  <c:v>Profile 2: 10 years</c:v>
                </c:pt>
              </c:strCache>
            </c:strRef>
          </c:tx>
          <c:spPr>
            <a:ln w="31750">
              <a:solidFill>
                <a:srgbClr val="D99A2B"/>
              </a:solidFill>
            </a:ln>
          </c:spPr>
          <c:marker>
            <c:symbol val="none"/>
          </c:marker>
          <c:cat>
            <c:strRef>
              <c:f>Sheet1!$A$2:$A$17</c:f>
              <c:strCache>
                <c:ptCount val="16"/>
                <c:pt idx="0">
                  <c:v>Dec-21</c:v>
                </c:pt>
                <c:pt idx="1">
                  <c:v>Dec-22</c:v>
                </c:pt>
                <c:pt idx="2">
                  <c:v>Dec-23</c:v>
                </c:pt>
                <c:pt idx="3">
                  <c:v>Dec-24</c:v>
                </c:pt>
                <c:pt idx="4">
                  <c:v>Dec-25</c:v>
                </c:pt>
                <c:pt idx="5">
                  <c:v>Dec-26</c:v>
                </c:pt>
                <c:pt idx="6">
                  <c:v>Dec-27</c:v>
                </c:pt>
                <c:pt idx="7">
                  <c:v>Dec-28</c:v>
                </c:pt>
                <c:pt idx="8">
                  <c:v>Dec-29</c:v>
                </c:pt>
                <c:pt idx="9">
                  <c:v>Dec-30</c:v>
                </c:pt>
                <c:pt idx="10">
                  <c:v>Dec-31</c:v>
                </c:pt>
                <c:pt idx="11">
                  <c:v>Dec-32</c:v>
                </c:pt>
                <c:pt idx="12">
                  <c:v>Dec-33</c:v>
                </c:pt>
                <c:pt idx="13">
                  <c:v>Dec-34</c:v>
                </c:pt>
                <c:pt idx="14">
                  <c:v>Dec-35</c:v>
                </c:pt>
                <c:pt idx="15">
                  <c:v>Dec-36</c:v>
                </c:pt>
              </c:strCache>
            </c:strRef>
          </c:cat>
          <c:val>
            <c:numRef>
              <c:f>Sheet1!$C$2:$C$17</c:f>
              <c:numCache>
                <c:formatCode>General</c:formatCode>
                <c:ptCount val="16"/>
                <c:pt idx="0">
                  <c:v>60000</c:v>
                </c:pt>
                <c:pt idx="1">
                  <c:v>58500</c:v>
                </c:pt>
                <c:pt idx="2">
                  <c:v>52500</c:v>
                </c:pt>
                <c:pt idx="3">
                  <c:v>46500</c:v>
                </c:pt>
                <c:pt idx="4">
                  <c:v>40500</c:v>
                </c:pt>
                <c:pt idx="5">
                  <c:v>34500</c:v>
                </c:pt>
                <c:pt idx="6">
                  <c:v>28500</c:v>
                </c:pt>
                <c:pt idx="7">
                  <c:v>22500</c:v>
                </c:pt>
                <c:pt idx="8">
                  <c:v>16500</c:v>
                </c:pt>
                <c:pt idx="9">
                  <c:v>10500</c:v>
                </c:pt>
                <c:pt idx="10">
                  <c:v>4500</c:v>
                </c:pt>
                <c:pt idx="11">
                  <c:v>0</c:v>
                </c:pt>
                <c:pt idx="12">
                  <c:v>0</c:v>
                </c:pt>
                <c:pt idx="13">
                  <c:v>0</c:v>
                </c:pt>
                <c:pt idx="14">
                  <c:v>0</c:v>
                </c:pt>
                <c:pt idx="15">
                  <c:v>0</c:v>
                </c:pt>
              </c:numCache>
            </c:numRef>
          </c:val>
          <c:smooth val="0"/>
        </c:ser>
        <c:ser>
          <c:idx val="2"/>
          <c:order val="2"/>
          <c:tx>
            <c:strRef>
              <c:f>Sheet1!$D$1</c:f>
              <c:strCache>
                <c:ptCount val="1"/>
                <c:pt idx="0">
                  <c:v>Profile 3: 15 years</c:v>
                </c:pt>
              </c:strCache>
            </c:strRef>
          </c:tx>
          <c:spPr>
            <a:ln w="31750">
              <a:solidFill>
                <a:srgbClr val="1C7293"/>
              </a:solidFill>
            </a:ln>
          </c:spPr>
          <c:marker>
            <c:symbol val="none"/>
          </c:marker>
          <c:cat>
            <c:strRef>
              <c:f>Sheet1!$A$2:$A$17</c:f>
              <c:strCache>
                <c:ptCount val="16"/>
                <c:pt idx="0">
                  <c:v>Dec-21</c:v>
                </c:pt>
                <c:pt idx="1">
                  <c:v>Dec-22</c:v>
                </c:pt>
                <c:pt idx="2">
                  <c:v>Dec-23</c:v>
                </c:pt>
                <c:pt idx="3">
                  <c:v>Dec-24</c:v>
                </c:pt>
                <c:pt idx="4">
                  <c:v>Dec-25</c:v>
                </c:pt>
                <c:pt idx="5">
                  <c:v>Dec-26</c:v>
                </c:pt>
                <c:pt idx="6">
                  <c:v>Dec-27</c:v>
                </c:pt>
                <c:pt idx="7">
                  <c:v>Dec-28</c:v>
                </c:pt>
                <c:pt idx="8">
                  <c:v>Dec-29</c:v>
                </c:pt>
                <c:pt idx="9">
                  <c:v>Dec-30</c:v>
                </c:pt>
                <c:pt idx="10">
                  <c:v>Dec-31</c:v>
                </c:pt>
                <c:pt idx="11">
                  <c:v>Dec-32</c:v>
                </c:pt>
                <c:pt idx="12">
                  <c:v>Dec-33</c:v>
                </c:pt>
                <c:pt idx="13">
                  <c:v>Dec-34</c:v>
                </c:pt>
                <c:pt idx="14">
                  <c:v>Dec-35</c:v>
                </c:pt>
                <c:pt idx="15">
                  <c:v>Dec-36</c:v>
                </c:pt>
              </c:strCache>
            </c:strRef>
          </c:cat>
          <c:val>
            <c:numRef>
              <c:f>Sheet1!$D$2:$D$17</c:f>
              <c:numCache>
                <c:formatCode>General</c:formatCode>
                <c:ptCount val="16"/>
                <c:pt idx="0">
                  <c:v>60000</c:v>
                </c:pt>
                <c:pt idx="1">
                  <c:v>59000</c:v>
                </c:pt>
                <c:pt idx="2">
                  <c:v>55000</c:v>
                </c:pt>
                <c:pt idx="3">
                  <c:v>51000</c:v>
                </c:pt>
                <c:pt idx="4">
                  <c:v>47000</c:v>
                </c:pt>
                <c:pt idx="5">
                  <c:v>43000</c:v>
                </c:pt>
                <c:pt idx="6">
                  <c:v>39000</c:v>
                </c:pt>
                <c:pt idx="7">
                  <c:v>35000</c:v>
                </c:pt>
                <c:pt idx="8">
                  <c:v>31000</c:v>
                </c:pt>
                <c:pt idx="9">
                  <c:v>27000</c:v>
                </c:pt>
                <c:pt idx="10">
                  <c:v>23000</c:v>
                </c:pt>
                <c:pt idx="11">
                  <c:v>19000</c:v>
                </c:pt>
                <c:pt idx="12">
                  <c:v>15000</c:v>
                </c:pt>
                <c:pt idx="13">
                  <c:v>11000</c:v>
                </c:pt>
                <c:pt idx="14">
                  <c:v>7000</c:v>
                </c:pt>
                <c:pt idx="15">
                  <c:v>3000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Profile 1</c:v>
                </c:pt>
              </c:strCache>
            </c:strRef>
          </c:tx>
          <c:spPr>
            <a:ln w="31750">
              <a:solidFill>
                <a:srgbClr val="141B4D"/>
              </a:solidFill>
            </a:ln>
          </c:spPr>
          <c:marker>
            <c:symbol val="none"/>
          </c:marker>
          <c:cat>
            <c:strRef>
              <c:f>Sheet1!$A$2:$A$18</c:f>
              <c:strCache>
                <c:ptCount val="17"/>
                <c:pt idx="0">
                  <c:v>Mar-23</c:v>
                </c:pt>
                <c:pt idx="1">
                  <c:v>Sep-23</c:v>
                </c:pt>
                <c:pt idx="2">
                  <c:v>Mar-24</c:v>
                </c:pt>
                <c:pt idx="3">
                  <c:v>Sep-24</c:v>
                </c:pt>
                <c:pt idx="4">
                  <c:v>Mar-25</c:v>
                </c:pt>
                <c:pt idx="5">
                  <c:v>Sep-25</c:v>
                </c:pt>
                <c:pt idx="6">
                  <c:v>Mar-26</c:v>
                </c:pt>
                <c:pt idx="7">
                  <c:v>Sep-26</c:v>
                </c:pt>
                <c:pt idx="8">
                  <c:v>Mar-27</c:v>
                </c:pt>
                <c:pt idx="9">
                  <c:v>Sep-27</c:v>
                </c:pt>
                <c:pt idx="10">
                  <c:v>Mar-28</c:v>
                </c:pt>
                <c:pt idx="11">
                  <c:v>Sep-28</c:v>
                </c:pt>
                <c:pt idx="12">
                  <c:v>Mar-29</c:v>
                </c:pt>
                <c:pt idx="13">
                  <c:v>Sep-29</c:v>
                </c:pt>
                <c:pt idx="14">
                  <c:v>Mar-30</c:v>
                </c:pt>
                <c:pt idx="15">
                  <c:v>Sep-30</c:v>
                </c:pt>
                <c:pt idx="16">
                  <c:v>Mar-31</c:v>
                </c:pt>
              </c:strCache>
            </c:strRef>
          </c:cat>
          <c:val>
            <c:numRef>
              <c:f>Sheet1!$B$2:$B$18</c:f>
              <c:numCache>
                <c:formatCode>General</c:formatCode>
                <c:ptCount val="17"/>
                <c:pt idx="0">
                  <c:v>1.89</c:v>
                </c:pt>
                <c:pt idx="1">
                  <c:v>1.91</c:v>
                </c:pt>
                <c:pt idx="2">
                  <c:v>2.0</c:v>
                </c:pt>
                <c:pt idx="3">
                  <c:v>2.07</c:v>
                </c:pt>
                <c:pt idx="4">
                  <c:v>2.11</c:v>
                </c:pt>
                <c:pt idx="5">
                  <c:v>2.15</c:v>
                </c:pt>
                <c:pt idx="6">
                  <c:v>2.21</c:v>
                </c:pt>
                <c:pt idx="7">
                  <c:v>2.37</c:v>
                </c:pt>
                <c:pt idx="8">
                  <c:v>2.51</c:v>
                </c:pt>
                <c:pt idx="9">
                  <c:v>2.59</c:v>
                </c:pt>
                <c:pt idx="10">
                  <c:v>2.66</c:v>
                </c:pt>
                <c:pt idx="11">
                  <c:v>2.75</c:v>
                </c:pt>
                <c:pt idx="12">
                  <c:v>3.08</c:v>
                </c:pt>
                <c:pt idx="13">
                  <c:v>3.2</c:v>
                </c:pt>
                <c:pt idx="14">
                  <c:v>3.31</c:v>
                </c:pt>
                <c:pt idx="15">
                  <c:v>0</c:v>
                </c:pt>
                <c:pt idx="16">
                  <c:v>0</c:v>
                </c:pt>
              </c:numCache>
            </c:numRef>
          </c:val>
          <c:smooth val="0"/>
        </c:ser>
        <c:ser>
          <c:idx val="1"/>
          <c:order val="1"/>
          <c:tx>
            <c:strRef>
              <c:f>Sheet1!$C$1</c:f>
              <c:strCache>
                <c:ptCount val="1"/>
                <c:pt idx="0">
                  <c:v>Profile 2</c:v>
                </c:pt>
              </c:strCache>
            </c:strRef>
          </c:tx>
          <c:spPr>
            <a:ln w="31750">
              <a:solidFill>
                <a:srgbClr val="D99A2B"/>
              </a:solidFill>
            </a:ln>
          </c:spPr>
          <c:marker>
            <c:symbol val="none"/>
          </c:marker>
          <c:cat>
            <c:strRef>
              <c:f>Sheet1!$A$2:$A$18</c:f>
              <c:strCache>
                <c:ptCount val="17"/>
                <c:pt idx="0">
                  <c:v>Mar-23</c:v>
                </c:pt>
                <c:pt idx="1">
                  <c:v>Sep-23</c:v>
                </c:pt>
                <c:pt idx="2">
                  <c:v>Mar-24</c:v>
                </c:pt>
                <c:pt idx="3">
                  <c:v>Sep-24</c:v>
                </c:pt>
                <c:pt idx="4">
                  <c:v>Mar-25</c:v>
                </c:pt>
                <c:pt idx="5">
                  <c:v>Sep-25</c:v>
                </c:pt>
                <c:pt idx="6">
                  <c:v>Mar-26</c:v>
                </c:pt>
                <c:pt idx="7">
                  <c:v>Sep-26</c:v>
                </c:pt>
                <c:pt idx="8">
                  <c:v>Mar-27</c:v>
                </c:pt>
                <c:pt idx="9">
                  <c:v>Sep-27</c:v>
                </c:pt>
                <c:pt idx="10">
                  <c:v>Mar-28</c:v>
                </c:pt>
                <c:pt idx="11">
                  <c:v>Sep-28</c:v>
                </c:pt>
                <c:pt idx="12">
                  <c:v>Mar-29</c:v>
                </c:pt>
                <c:pt idx="13">
                  <c:v>Sep-29</c:v>
                </c:pt>
                <c:pt idx="14">
                  <c:v>Mar-30</c:v>
                </c:pt>
                <c:pt idx="15">
                  <c:v>Sep-30</c:v>
                </c:pt>
                <c:pt idx="16">
                  <c:v>Mar-31</c:v>
                </c:pt>
              </c:strCache>
            </c:strRef>
          </c:cat>
          <c:val>
            <c:numRef>
              <c:f>Sheet1!$C$2:$C$18</c:f>
              <c:numCache>
                <c:formatCode>General</c:formatCode>
                <c:ptCount val="17"/>
                <c:pt idx="0">
                  <c:v>2.27</c:v>
                </c:pt>
                <c:pt idx="1">
                  <c:v>2.29</c:v>
                </c:pt>
                <c:pt idx="2">
                  <c:v>2.4</c:v>
                </c:pt>
                <c:pt idx="3">
                  <c:v>2.47</c:v>
                </c:pt>
                <c:pt idx="4">
                  <c:v>2.52</c:v>
                </c:pt>
                <c:pt idx="5">
                  <c:v>2.56</c:v>
                </c:pt>
                <c:pt idx="6">
                  <c:v>2.63</c:v>
                </c:pt>
                <c:pt idx="7">
                  <c:v>2.81</c:v>
                </c:pt>
                <c:pt idx="8">
                  <c:v>2.97</c:v>
                </c:pt>
                <c:pt idx="9">
                  <c:v>3.05</c:v>
                </c:pt>
                <c:pt idx="10">
                  <c:v>3.13</c:v>
                </c:pt>
                <c:pt idx="11">
                  <c:v>3.23</c:v>
                </c:pt>
                <c:pt idx="12">
                  <c:v>3.6</c:v>
                </c:pt>
                <c:pt idx="13">
                  <c:v>3.72</c:v>
                </c:pt>
                <c:pt idx="14">
                  <c:v>3.85</c:v>
                </c:pt>
                <c:pt idx="15">
                  <c:v>3.99</c:v>
                </c:pt>
                <c:pt idx="16">
                  <c:v>4.13</c:v>
                </c:pt>
              </c:numCache>
            </c:numRef>
          </c:val>
          <c:smooth val="0"/>
        </c:ser>
        <c:ser>
          <c:idx val="2"/>
          <c:order val="2"/>
          <c:tx>
            <c:strRef>
              <c:f>Sheet1!$D$1</c:f>
              <c:strCache>
                <c:ptCount val="1"/>
                <c:pt idx="0">
                  <c:v>Profile 3</c:v>
                </c:pt>
              </c:strCache>
            </c:strRef>
          </c:tx>
          <c:spPr>
            <a:ln w="31750">
              <a:solidFill>
                <a:srgbClr val="1C7293"/>
              </a:solidFill>
            </a:ln>
          </c:spPr>
          <c:marker>
            <c:symbol val="none"/>
          </c:marker>
          <c:cat>
            <c:strRef>
              <c:f>Sheet1!$A$2:$A$18</c:f>
              <c:strCache>
                <c:ptCount val="17"/>
                <c:pt idx="0">
                  <c:v>Mar-23</c:v>
                </c:pt>
                <c:pt idx="1">
                  <c:v>Sep-23</c:v>
                </c:pt>
                <c:pt idx="2">
                  <c:v>Mar-24</c:v>
                </c:pt>
                <c:pt idx="3">
                  <c:v>Sep-24</c:v>
                </c:pt>
                <c:pt idx="4">
                  <c:v>Mar-25</c:v>
                </c:pt>
                <c:pt idx="5">
                  <c:v>Sep-25</c:v>
                </c:pt>
                <c:pt idx="6">
                  <c:v>Mar-26</c:v>
                </c:pt>
                <c:pt idx="7">
                  <c:v>Sep-26</c:v>
                </c:pt>
                <c:pt idx="8">
                  <c:v>Mar-27</c:v>
                </c:pt>
                <c:pt idx="9">
                  <c:v>Sep-27</c:v>
                </c:pt>
                <c:pt idx="10">
                  <c:v>Mar-28</c:v>
                </c:pt>
                <c:pt idx="11">
                  <c:v>Sep-28</c:v>
                </c:pt>
                <c:pt idx="12">
                  <c:v>Mar-29</c:v>
                </c:pt>
                <c:pt idx="13">
                  <c:v>Sep-29</c:v>
                </c:pt>
                <c:pt idx="14">
                  <c:v>Mar-30</c:v>
                </c:pt>
                <c:pt idx="15">
                  <c:v>Sep-30</c:v>
                </c:pt>
                <c:pt idx="16">
                  <c:v>Mar-31</c:v>
                </c:pt>
              </c:strCache>
            </c:strRef>
          </c:cat>
          <c:val>
            <c:numRef>
              <c:f>Sheet1!$D$2:$D$18</c:f>
              <c:numCache>
                <c:formatCode>General</c:formatCode>
                <c:ptCount val="17"/>
                <c:pt idx="0">
                  <c:v>2.84</c:v>
                </c:pt>
                <c:pt idx="1">
                  <c:v>2.85</c:v>
                </c:pt>
                <c:pt idx="2">
                  <c:v>2.98</c:v>
                </c:pt>
                <c:pt idx="3">
                  <c:v>3.05</c:v>
                </c:pt>
                <c:pt idx="4">
                  <c:v>3.13</c:v>
                </c:pt>
                <c:pt idx="5">
                  <c:v>3.15</c:v>
                </c:pt>
                <c:pt idx="6">
                  <c:v>3.23</c:v>
                </c:pt>
                <c:pt idx="7">
                  <c:v>3.44</c:v>
                </c:pt>
                <c:pt idx="8">
                  <c:v>3.63</c:v>
                </c:pt>
                <c:pt idx="9">
                  <c:v>3.7</c:v>
                </c:pt>
                <c:pt idx="10">
                  <c:v>3.79</c:v>
                </c:pt>
                <c:pt idx="11">
                  <c:v>3.88</c:v>
                </c:pt>
                <c:pt idx="12">
                  <c:v>4.32</c:v>
                </c:pt>
                <c:pt idx="13">
                  <c:v>4.42</c:v>
                </c:pt>
                <c:pt idx="14">
                  <c:v>4.57</c:v>
                </c:pt>
                <c:pt idx="15">
                  <c:v>4.7</c:v>
                </c:pt>
                <c:pt idx="16">
                  <c:v>4.85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DSCR (x)</a:t>
                </a:r>
              </a:p>
            </c:rich>
          </c:tx>
          <c:layout/>
          <c:overlay val="0"/>
        </c:title>
        <c:numFmt formatCode="0.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2.xml"/><Relationship Id="rId6" Type="http://schemas.openxmlformats.org/officeDocument/2006/relationships/notesSlide" Target="../notesSlides/notesSlide3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ounded Rectangle 1"/>
          <p:cNvSpPr/>
          <p:nvPr/>
        </p:nvSpPr>
        <p:spPr>
          <a:xfrm>
            <a:off x="457200" y="411480"/>
            <a:ext cx="32004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566928" y="502920"/>
            <a:ext cx="2516682" cy="868680"/>
          </a:xfrm>
          <a:prstGeom prst="rect">
            <a:avLst/>
          </a:prstGeom>
        </p:spPr>
      </p:pic>
      <p:pic>
        <p:nvPicPr>
          <p:cNvPr id="4" name="Picture 3" descr="mipf_hex.png"/>
          <p:cNvPicPr>
            <a:picLocks noChangeAspect="1"/>
          </p:cNvPicPr>
          <p:nvPr/>
        </p:nvPicPr>
        <p:blipFill>
          <a:blip r:embed="rId3"/>
          <a:stretch>
            <a:fillRect/>
          </a:stretch>
        </p:blipFill>
        <p:spPr>
          <a:xfrm>
            <a:off x="9144000" y="457200"/>
            <a:ext cx="2377440" cy="2377440"/>
          </a:xfrm>
          <a:prstGeom prst="rect">
            <a:avLst/>
          </a:prstGeom>
        </p:spPr>
      </p:pic>
      <p:pic>
        <p:nvPicPr>
          <p:cNvPr id="5" name="Picture 4" descr="bongo_ai_hex_dark_256.png"/>
          <p:cNvPicPr>
            <a:picLocks noChangeAspect="1"/>
          </p:cNvPicPr>
          <p:nvPr/>
        </p:nvPicPr>
        <p:blipFill>
          <a:blip r:embed="rId4"/>
          <a:stretch>
            <a:fillRect/>
          </a:stretch>
        </p:blipFill>
        <p:spPr>
          <a:xfrm>
            <a:off x="10607040" y="5074920"/>
            <a:ext cx="1188720" cy="1188720"/>
          </a:xfrm>
          <a:prstGeom prst="rect">
            <a:avLst/>
          </a:prstGeom>
        </p:spPr>
      </p:pic>
      <p:sp>
        <p:nvSpPr>
          <p:cNvPr id="6" name="TextBox 5"/>
          <p:cNvSpPr txBox="1"/>
          <p:nvPr/>
        </p:nvSpPr>
        <p:spPr>
          <a:xfrm>
            <a:off x="9144000" y="6035040"/>
            <a:ext cx="1463040" cy="274320"/>
          </a:xfrm>
          <a:prstGeom prst="rect">
            <a:avLst/>
          </a:prstGeom>
          <a:noFill/>
        </p:spPr>
        <p:txBody>
          <a:bodyPr wrap="square" lIns="45720" rIns="45720" tIns="27432" bIns="27432" anchor="t">
            <a:spAutoFit/>
          </a:bodyPr>
          <a:lstStyle/>
          <a:p>
            <a:pPr algn="r"/>
            <a:r>
              <a:rPr b="0" sz="1100" i="0">
                <a:solidFill>
                  <a:srgbClr val="C9D3F5"/>
                </a:solidFill>
                <a:latin typeface="Calibri"/>
              </a:rPr>
              <a:t>bongo.ai  ·  MIPF</a:t>
            </a:r>
          </a:p>
        </p:txBody>
      </p:sp>
      <p:sp>
        <p:nvSpPr>
          <p:cNvPr id="7" name="TextBox 6"/>
          <p:cNvSpPr txBox="1"/>
          <p:nvPr/>
        </p:nvSpPr>
        <p:spPr>
          <a:xfrm>
            <a:off x="548640" y="2331720"/>
            <a:ext cx="8412480" cy="365760"/>
          </a:xfrm>
          <a:prstGeom prst="rect">
            <a:avLst/>
          </a:prstGeom>
          <a:noFill/>
        </p:spPr>
        <p:txBody>
          <a:bodyPr wrap="square" lIns="45720" rIns="45720" tIns="27432" bIns="27432" anchor="t">
            <a:spAutoFit/>
          </a:bodyPr>
          <a:lstStyle/>
          <a:p>
            <a:pPr algn="l"/>
            <a:r>
              <a:rPr b="1" sz="1400" i="0">
                <a:solidFill>
                  <a:srgbClr val="D99A2B"/>
                </a:solidFill>
                <a:latin typeface="Calibri"/>
              </a:rPr>
              <a:t>MASTERING INFRASTRUCTURE AND PROJECT FINANCE BOOT CAMP</a:t>
            </a:r>
          </a:p>
        </p:txBody>
      </p:sp>
      <p:sp>
        <p:nvSpPr>
          <p:cNvPr id="8" name="TextBox 7"/>
          <p:cNvSpPr txBox="1"/>
          <p:nvPr/>
        </p:nvSpPr>
        <p:spPr>
          <a:xfrm>
            <a:off x="548640" y="2743200"/>
            <a:ext cx="8595360" cy="1737360"/>
          </a:xfrm>
          <a:prstGeom prst="rect">
            <a:avLst/>
          </a:prstGeom>
          <a:noFill/>
        </p:spPr>
        <p:txBody>
          <a:bodyPr wrap="square" lIns="45720" rIns="45720" tIns="27432" bIns="27432" anchor="t">
            <a:spAutoFit/>
          </a:bodyPr>
          <a:lstStyle/>
          <a:p>
            <a:pPr algn="l"/>
            <a:r>
              <a:rPr b="1" sz="3400" i="0">
                <a:solidFill>
                  <a:srgbClr val="FFFFFF"/>
                </a:solidFill>
                <a:latin typeface="Georgia"/>
              </a:rPr>
              <a:t>Financial Modelling for Projects II: Assets, Funding and Valuation</a:t>
            </a:r>
          </a:p>
        </p:txBody>
      </p:sp>
      <p:sp>
        <p:nvSpPr>
          <p:cNvPr id="9" name="TextBox 8"/>
          <p:cNvSpPr txBox="1"/>
          <p:nvPr/>
        </p:nvSpPr>
        <p:spPr>
          <a:xfrm>
            <a:off x="548640" y="4526280"/>
            <a:ext cx="8595360" cy="822960"/>
          </a:xfrm>
          <a:prstGeom prst="rect">
            <a:avLst/>
          </a:prstGeom>
          <a:noFill/>
        </p:spPr>
        <p:txBody>
          <a:bodyPr wrap="square" lIns="45720" rIns="45720" tIns="27432" bIns="27432" anchor="t">
            <a:spAutoFit/>
          </a:bodyPr>
          <a:lstStyle/>
          <a:p>
            <a:pPr algn="l"/>
            <a:r>
              <a:rPr b="0" sz="1800" i="0">
                <a:solidFill>
                  <a:srgbClr val="D8DEF5"/>
                </a:solidFill>
                <a:latin typeface="Calibri"/>
              </a:rPr>
              <a:t>Non-current assets, working capital, equity and debt; the three statements; scenarios, sensitivities, ratios, NPV, IRR and review</a:t>
            </a:r>
          </a:p>
        </p:txBody>
      </p:sp>
      <p:sp>
        <p:nvSpPr>
          <p:cNvPr id="10" name="TextBox 9"/>
          <p:cNvSpPr txBox="1"/>
          <p:nvPr/>
        </p:nvSpPr>
        <p:spPr>
          <a:xfrm>
            <a:off x="548640" y="5669280"/>
            <a:ext cx="8595360" cy="457200"/>
          </a:xfrm>
          <a:prstGeom prst="rect">
            <a:avLst/>
          </a:prstGeom>
          <a:noFill/>
        </p:spPr>
        <p:txBody>
          <a:bodyPr wrap="square" lIns="45720" rIns="45720" tIns="27432" bIns="27432" anchor="t">
            <a:spAutoFit/>
          </a:bodyPr>
          <a:lstStyle/>
          <a:p>
            <a:pPr algn="l"/>
            <a:r>
              <a:rPr b="1" sz="1500" i="0">
                <a:solidFill>
                  <a:srgbClr val="FFFFFF"/>
                </a:solidFill>
                <a:latin typeface="Calibri"/>
              </a:rPr>
              <a:t>Tuesday 20th October 2026  |  Facilitator: Promise Godbold</a:t>
            </a:r>
          </a:p>
        </p:txBody>
      </p:sp>
      <p:sp>
        <p:nvSpPr>
          <p:cNvPr id="11" name="TextBox 10"/>
          <p:cNvSpPr txBox="1"/>
          <p:nvPr/>
        </p:nvSpPr>
        <p:spPr>
          <a:xfrm>
            <a:off x="548640" y="6053328"/>
            <a:ext cx="10058400" cy="274320"/>
          </a:xfrm>
          <a:prstGeom prst="rect">
            <a:avLst/>
          </a:prstGeom>
          <a:noFill/>
        </p:spPr>
        <p:txBody>
          <a:bodyPr wrap="square" lIns="45720" rIns="45720" tIns="27432" bIns="27432" anchor="t">
            <a:spAutoFit/>
          </a:bodyPr>
          <a:lstStyle/>
          <a:p>
            <a:pPr algn="l"/>
            <a:r>
              <a:rPr b="0" sz="1100" i="0">
                <a:solidFill>
                  <a:srgbClr val="C9D3F5"/>
                </a:solidFill>
                <a:latin typeface="Calibri"/>
              </a:rPr>
              <a:t>Prof Bongo Adi  |  +234 706 164 8699  |  badi@lbs.edu.ng  |  bongo.adi@fulbrightmail.org</a:t>
            </a:r>
          </a:p>
        </p:txBody>
      </p:sp>
      <p:sp>
        <p:nvSpPr>
          <p:cNvPr id="12" name="Rectangle 11"/>
          <p:cNvSpPr/>
          <p:nvPr/>
        </p:nvSpPr>
        <p:spPr>
          <a:xfrm>
            <a:off x="548640" y="5532120"/>
            <a:ext cx="219456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83080"/>
            <a:ext cx="8229600" cy="320040"/>
          </a:xfrm>
          <a:prstGeom prst="rect">
            <a:avLst/>
          </a:prstGeom>
          <a:noFill/>
        </p:spPr>
        <p:txBody>
          <a:bodyPr wrap="none">
            <a:spAutoFit/>
          </a:bodyPr>
          <a:lstStyle/>
          <a:p>
            <a:r>
              <a:rPr sz="1200" b="1">
                <a:solidFill>
                  <a:srgbClr val="D99A2B"/>
                </a:solidFill>
                <a:latin typeface="Calibri"/>
              </a:rPr>
              <a:t>PARTICIPANT EDITION  ·  exercise answers and facilitator notes are withheld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PLAN FOR THE DAY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Today's timetable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19578"/>
        </p:xfrm>
        <a:graphic>
          <a:graphicData uri="http://schemas.openxmlformats.org/drawingml/2006/table">
            <a:tbl>
              <a:tblPr firstRow="1" bandRow="1">
                <a:tableStyleId>{5C22544A-7EE6-4342-B048-85BDC9FD1C3A}</a:tableStyleId>
              </a:tblPr>
              <a:tblGrid>
                <a:gridCol w="1828800"/>
                <a:gridCol w="4754880"/>
                <a:gridCol w="4480560"/>
              </a:tblGrid>
              <a:tr h="384048">
                <a:tc>
                  <a:txBody>
                    <a:bodyPr wrap="square"/>
                    <a:lstStyle/>
                    <a:p>
                      <a:r>
                        <a:rPr b="1" sz="1300" i="0">
                          <a:solidFill>
                            <a:srgbClr val="FFFFFF"/>
                          </a:solidFill>
                          <a:latin typeface="Calibri"/>
                        </a:rPr>
                        <a:t>Time</a:t>
                      </a:r>
                    </a:p>
                  </a:txBody>
                  <a:tcPr marL="64008" marR="64008" marT="27432" marB="27432" anchor="ctr">
                    <a:solidFill>
                      <a:srgbClr val="141B4D"/>
                    </a:solidFill>
                  </a:tcPr>
                </a:tc>
                <a:tc>
                  <a:txBody>
                    <a:bodyPr wrap="square"/>
                    <a:lstStyle/>
                    <a:p>
                      <a:r>
                        <a:rPr b="1" sz="1300" i="0">
                          <a:solidFill>
                            <a:srgbClr val="FFFFFF"/>
                          </a:solidFill>
                          <a:latin typeface="Calibri"/>
                        </a:rPr>
                        <a:t>Session</a:t>
                      </a:r>
                    </a:p>
                  </a:txBody>
                  <a:tcPr marL="64008" marR="64008" marT="27432" marB="27432" anchor="ctr">
                    <a:solidFill>
                      <a:srgbClr val="141B4D"/>
                    </a:solidFill>
                  </a:tcPr>
                </a:tc>
                <a:tc>
                  <a:txBody>
                    <a:bodyPr wrap="square"/>
                    <a:lstStyle/>
                    <a:p>
                      <a:r>
                        <a:rPr b="1" sz="1300" i="0">
                          <a:solidFill>
                            <a:srgbClr val="FFFFFF"/>
                          </a:solidFill>
                          <a:latin typeface="Calibri"/>
                        </a:rPr>
                        <a:t>What participants do</a:t>
                      </a:r>
                    </a:p>
                  </a:txBody>
                  <a:tcPr marL="64008" marR="64008" marT="27432" marB="27432" anchor="ctr">
                    <a:solidFill>
                      <a:srgbClr val="141B4D"/>
                    </a:solidFill>
                  </a:tcPr>
                </a:tc>
              </a:tr>
              <a:tr h="522478">
                <a:tc>
                  <a:txBody>
                    <a:bodyPr wrap="square"/>
                    <a:lstStyle/>
                    <a:p>
                      <a:r>
                        <a:rPr b="1" sz="1300" i="0">
                          <a:solidFill>
                            <a:srgbClr val="1A2233"/>
                          </a:solidFill>
                          <a:latin typeface="Calibri"/>
                        </a:rPr>
                        <a:t>09.00 – 10.00</a:t>
                      </a:r>
                    </a:p>
                  </a:txBody>
                  <a:tcPr marL="64008" marR="64008" marT="27432" marB="27432" anchor="ctr">
                    <a:solidFill>
                      <a:srgbClr val="FFFFFF"/>
                    </a:solidFill>
                  </a:tcPr>
                </a:tc>
                <a:tc>
                  <a:txBody>
                    <a:bodyPr wrap="square"/>
                    <a:lstStyle/>
                    <a:p>
                      <a:r>
                        <a:rPr b="0" sz="1300" i="0">
                          <a:solidFill>
                            <a:srgbClr val="1A2233"/>
                          </a:solidFill>
                          <a:latin typeface="Calibri"/>
                        </a:rPr>
                        <a:t>Modelling non-current assets and working capital</a:t>
                      </a:r>
                    </a:p>
                  </a:txBody>
                  <a:tcPr marL="64008" marR="64008" marT="27432" marB="27432" anchor="ctr">
                    <a:solidFill>
                      <a:srgbClr val="FFFFFF"/>
                    </a:solidFill>
                  </a:tcPr>
                </a:tc>
                <a:tc>
                  <a:txBody>
                    <a:bodyPr wrap="square"/>
                    <a:lstStyle/>
                    <a:p>
                      <a:r>
                        <a:rPr b="0" sz="1300" i="0">
                          <a:solidFill>
                            <a:srgbClr val="1A2233"/>
                          </a:solidFill>
                          <a:latin typeface="Calibri"/>
                        </a:rPr>
                        <a:t>Build NCA; reconcile working capital to cash (Exercises 5.1, 5.2)</a:t>
                      </a:r>
                    </a:p>
                  </a:txBody>
                  <a:tcPr marL="64008" marR="64008" marT="27432" marB="27432" anchor="ctr">
                    <a:solidFill>
                      <a:srgbClr val="FFFFFF"/>
                    </a:solidFill>
                  </a:tcPr>
                </a:tc>
              </a:tr>
              <a:tr h="384048">
                <a:tc>
                  <a:txBody>
                    <a:bodyPr wrap="square"/>
                    <a:lstStyle/>
                    <a:p>
                      <a:r>
                        <a:rPr b="1" sz="1300" i="0">
                          <a:solidFill>
                            <a:srgbClr val="1A2233"/>
                          </a:solidFill>
                          <a:latin typeface="Calibri"/>
                        </a:rPr>
                        <a:t>10.00 – 10.30</a:t>
                      </a:r>
                    </a:p>
                  </a:txBody>
                  <a:tcPr marL="64008" marR="64008" marT="27432" marB="27432" anchor="ctr">
                    <a:solidFill>
                      <a:srgbClr val="F3F6F9"/>
                    </a:solidFill>
                  </a:tcPr>
                </a:tc>
                <a:tc>
                  <a:txBody>
                    <a:bodyPr wrap="square"/>
                    <a:lstStyle/>
                    <a:p>
                      <a:r>
                        <a:rPr b="0" sz="1300" i="0">
                          <a:solidFill>
                            <a:srgbClr val="1A2233"/>
                          </a:solidFill>
                          <a:latin typeface="Calibri"/>
                        </a:rPr>
                        <a:t>Coffee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10.30 – 14.00</a:t>
                      </a:r>
                    </a:p>
                  </a:txBody>
                  <a:tcPr marL="64008" marR="64008" marT="27432" marB="27432" anchor="ctr">
                    <a:solidFill>
                      <a:srgbClr val="FFFFFF"/>
                    </a:solidFill>
                  </a:tcPr>
                </a:tc>
                <a:tc>
                  <a:txBody>
                    <a:bodyPr wrap="square"/>
                    <a:lstStyle/>
                    <a:p>
                      <a:r>
                        <a:rPr b="0" sz="1300" i="0">
                          <a:solidFill>
                            <a:srgbClr val="1A2233"/>
                          </a:solidFill>
                          <a:latin typeface="Calibri"/>
                        </a:rPr>
                        <a:t>Modelling equity and debt; scenario analysis</a:t>
                      </a:r>
                    </a:p>
                  </a:txBody>
                  <a:tcPr marL="64008" marR="64008" marT="27432" marB="27432" anchor="ctr">
                    <a:solidFill>
                      <a:srgbClr val="FFFFFF"/>
                    </a:solidFill>
                  </a:tcPr>
                </a:tc>
                <a:tc>
                  <a:txBody>
                    <a:bodyPr wrap="square"/>
                    <a:lstStyle/>
                    <a:p>
                      <a:r>
                        <a:rPr b="0" sz="1300" i="0">
                          <a:solidFill>
                            <a:srgbClr val="1A2233"/>
                          </a:solidFill>
                          <a:latin typeface="Calibri"/>
                        </a:rPr>
                        <a:t>Build Debt, Equity, finish FinStat; set up Track; run scenarios (Exercises 5.3, 5.4)</a:t>
                      </a:r>
                    </a:p>
                  </a:txBody>
                  <a:tcPr marL="64008" marR="64008" marT="27432" marB="27432" anchor="ctr">
                    <a:solidFill>
                      <a:srgbClr val="FFFFFF"/>
                    </a:solidFill>
                  </a:tcPr>
                </a:tc>
              </a:tr>
              <a:tr h="384048">
                <a:tc>
                  <a:txBody>
                    <a:bodyPr wrap="square"/>
                    <a:lstStyle/>
                    <a:p>
                      <a:r>
                        <a:rPr b="1" sz="1300" i="0">
                          <a:solidFill>
                            <a:srgbClr val="1A2233"/>
                          </a:solidFill>
                          <a:latin typeface="Calibri"/>
                        </a:rPr>
                        <a:t>14.00 – 14.45</a:t>
                      </a:r>
                    </a:p>
                  </a:txBody>
                  <a:tcPr marL="64008" marR="64008" marT="27432" marB="27432" anchor="ctr">
                    <a:solidFill>
                      <a:srgbClr val="F3F6F9"/>
                    </a:solidFill>
                  </a:tcPr>
                </a:tc>
                <a:tc>
                  <a:txBody>
                    <a:bodyPr wrap="square"/>
                    <a:lstStyle/>
                    <a:p>
                      <a:r>
                        <a:rPr b="0" sz="1300" i="0">
                          <a:solidFill>
                            <a:srgbClr val="1A2233"/>
                          </a:solidFill>
                          <a:latin typeface="Calibri"/>
                        </a:rPr>
                        <a:t>Lunch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14.45 – 17.00</a:t>
                      </a:r>
                    </a:p>
                  </a:txBody>
                  <a:tcPr marL="64008" marR="64008" marT="27432" marB="27432" anchor="ctr">
                    <a:solidFill>
                      <a:srgbClr val="FFFFFF"/>
                    </a:solidFill>
                  </a:tcPr>
                </a:tc>
                <a:tc>
                  <a:txBody>
                    <a:bodyPr wrap="square"/>
                    <a:lstStyle/>
                    <a:p>
                      <a:r>
                        <a:rPr b="0" sz="1300" i="0">
                          <a:solidFill>
                            <a:srgbClr val="1A2233"/>
                          </a:solidFill>
                          <a:latin typeface="Calibri"/>
                        </a:rPr>
                        <a:t>Sensitivity and ratio analysis; valuation; model guide and review</a:t>
                      </a:r>
                    </a:p>
                  </a:txBody>
                  <a:tcPr marL="64008" marR="64008" marT="27432" marB="27432" anchor="ctr">
                    <a:solidFill>
                      <a:srgbClr val="FFFFFF"/>
                    </a:solidFill>
                  </a:tcPr>
                </a:tc>
                <a:tc>
                  <a:txBody>
                    <a:bodyPr wrap="square"/>
                    <a:lstStyle/>
                    <a:p>
                      <a:r>
                        <a:rPr b="0" sz="1300" i="0">
                          <a:solidFill>
                            <a:srgbClr val="1A2233"/>
                          </a:solidFill>
                          <a:latin typeface="Calibri"/>
                        </a:rPr>
                        <a:t>Data tables, DSCR, NPV, XIRR, payback; peer review (Exercises 5.5, 5.6)</a:t>
                      </a:r>
                    </a:p>
                  </a:txBody>
                  <a:tcPr marL="64008" marR="64008" marT="27432" marB="27432"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OUTCOMES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Learning outcomes for Day 5</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Build capital expenditure, depreciation and the non-current asset roll-forward</a:t>
            </a:r>
          </a:p>
          <a:p>
            <a:pPr>
              <a:spcAft>
                <a:spcPts val="700"/>
              </a:spcAft>
            </a:pPr>
            <a:r>
              <a:rPr b="0" sz="2000" i="0">
                <a:solidFill>
                  <a:srgbClr val="1A2233"/>
                </a:solidFill>
                <a:latin typeface="Calibri"/>
              </a:rPr>
              <a:t>▪ Reconcile working capital (receivables and payables) to cash flow</a:t>
            </a:r>
          </a:p>
          <a:p>
            <a:pPr>
              <a:spcAft>
                <a:spcPts val="700"/>
              </a:spcAft>
            </a:pPr>
            <a:r>
              <a:rPr b="0" sz="2000" i="0">
                <a:solidFill>
                  <a:srgbClr val="1A2233"/>
                </a:solidFill>
                <a:latin typeface="Calibri"/>
              </a:rPr>
              <a:t>▪ Build senior debt: repayment profiles, interest on the opening balance and the balance</a:t>
            </a:r>
          </a:p>
          <a:p>
            <a:pPr>
              <a:spcAft>
                <a:spcPts val="700"/>
              </a:spcAft>
            </a:pPr>
            <a:r>
              <a:rPr b="0" sz="2000" i="0">
                <a:solidFill>
                  <a:srgbClr val="1A2233"/>
                </a:solidFill>
                <a:latin typeface="Calibri"/>
              </a:rPr>
              <a:t>▪ Build equity: share capital, dividends (two tests) and retained earnings and cash</a:t>
            </a:r>
          </a:p>
          <a:p>
            <a:pPr>
              <a:spcAft>
                <a:spcPts val="700"/>
              </a:spcAft>
            </a:pPr>
            <a:r>
              <a:rPr b="0" sz="2000" i="0">
                <a:solidFill>
                  <a:srgbClr val="1A2233"/>
                </a:solidFill>
                <a:latin typeface="Calibri"/>
              </a:rPr>
              <a:t>▪ Complete the income statement, cash flow cascade and balance sheet; bring all checks to zero</a:t>
            </a:r>
          </a:p>
          <a:p>
            <a:pPr>
              <a:spcAft>
                <a:spcPts val="700"/>
              </a:spcAft>
            </a:pPr>
            <a:r>
              <a:rPr b="0" sz="2000" i="0">
                <a:solidFill>
                  <a:srgbClr val="1A2233"/>
                </a:solidFill>
                <a:latin typeface="Calibri"/>
              </a:rPr>
              <a:t>▪ Store and compare scenarios on Track; run a data-table sensitivity</a:t>
            </a:r>
          </a:p>
          <a:p>
            <a:pPr>
              <a:spcAft>
                <a:spcPts val="700"/>
              </a:spcAft>
            </a:pPr>
            <a:r>
              <a:rPr b="0" sz="2000" i="0">
                <a:solidFill>
                  <a:srgbClr val="1A2233"/>
                </a:solidFill>
                <a:latin typeface="Calibri"/>
              </a:rPr>
              <a:t>▪ Calculate DSCR, NPV, XIRR, project IRR and payback; review a model against a checklist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WARM-UP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Morning check: do your Day 4 numbers match?</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39" cy="1920240"/>
        </p:xfrm>
        <a:graphic>
          <a:graphicData uri="http://schemas.openxmlformats.org/drawingml/2006/table">
            <a:tbl>
              <a:tblPr firstRow="1" bandRow="1">
                <a:tableStyleId>{5C22544A-7EE6-4342-B048-85BDC9FD1C3A}</a:tableStyleId>
              </a:tblPr>
              <a:tblGrid>
                <a:gridCol w="1828800"/>
                <a:gridCol w="5486400"/>
                <a:gridCol w="3749039"/>
              </a:tblGrid>
              <a:tr h="384048">
                <a:tc>
                  <a:txBody>
                    <a:bodyPr wrap="square"/>
                    <a:lstStyle/>
                    <a:p>
                      <a:r>
                        <a:rPr b="1" sz="1300" i="0">
                          <a:solidFill>
                            <a:srgbClr val="FFFFFF"/>
                          </a:solidFill>
                          <a:latin typeface="Calibri"/>
                        </a:rPr>
                        <a:t>Sheet</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H (total)</a:t>
                      </a:r>
                    </a:p>
                  </a:txBody>
                  <a:tcPr marL="64008" marR="64008" marT="27432" marB="27432" anchor="ctr">
                    <a:solidFill>
                      <a:srgbClr val="141B4D"/>
                    </a:solidFill>
                  </a:tcPr>
                </a:tc>
              </a:tr>
              <a:tr h="384048">
                <a:tc>
                  <a:txBody>
                    <a:bodyPr wrap="square"/>
                    <a:lstStyle/>
                    <a:p>
                      <a:r>
                        <a:rPr b="1" sz="1300" i="0">
                          <a:solidFill>
                            <a:srgbClr val="1A2233"/>
                          </a:solidFill>
                          <a:latin typeface="Calibri"/>
                        </a:rPr>
                        <a:t>OpRev</a:t>
                      </a:r>
                    </a:p>
                  </a:txBody>
                  <a:tcPr marL="64008" marR="64008" marT="27432" marB="27432" anchor="ctr">
                    <a:solidFill>
                      <a:srgbClr val="FFFFFF"/>
                    </a:solidFill>
                  </a:tcPr>
                </a:tc>
                <a:tc>
                  <a:txBody>
                    <a:bodyPr wrap="square"/>
                    <a:lstStyle/>
                    <a:p>
                      <a:r>
                        <a:rPr b="0" sz="1300" i="0">
                          <a:solidFill>
                            <a:srgbClr val="1A2233"/>
                          </a:solidFill>
                          <a:latin typeface="Calibri"/>
                        </a:rPr>
                        <a:t>Operating revenue (row 42)</a:t>
                      </a:r>
                    </a:p>
                  </a:txBody>
                  <a:tcPr marL="64008" marR="64008" marT="27432" marB="27432" anchor="ctr">
                    <a:solidFill>
                      <a:srgbClr val="FFFFFF"/>
                    </a:solidFill>
                  </a:tcPr>
                </a:tc>
                <a:tc>
                  <a:txBody>
                    <a:bodyPr wrap="square"/>
                    <a:lstStyle/>
                    <a:p>
                      <a:r>
                        <a:rPr b="0" sz="1300" i="0">
                          <a:solidFill>
                            <a:srgbClr val="1A2233"/>
                          </a:solidFill>
                          <a:latin typeface="Calibri"/>
                        </a:rPr>
                        <a:t>1,941,569</a:t>
                      </a:r>
                    </a:p>
                  </a:txBody>
                  <a:tcPr marL="64008" marR="64008" marT="27432" marB="27432" anchor="ctr">
                    <a:solidFill>
                      <a:srgbClr val="FFFFFF"/>
                    </a:solidFill>
                  </a:tcPr>
                </a:tc>
              </a:tr>
              <a:tr h="384048">
                <a:tc>
                  <a:txBody>
                    <a:bodyPr wrap="square"/>
                    <a:lstStyle/>
                    <a:p>
                      <a:r>
                        <a:rPr b="1" sz="1300" i="0">
                          <a:solidFill>
                            <a:srgbClr val="1A2233"/>
                          </a:solidFill>
                          <a:latin typeface="Calibri"/>
                        </a:rPr>
                        <a:t>OpCost</a:t>
                      </a:r>
                    </a:p>
                  </a:txBody>
                  <a:tcPr marL="64008" marR="64008" marT="27432" marB="27432" anchor="ctr">
                    <a:solidFill>
                      <a:srgbClr val="F3F6F9"/>
                    </a:solidFill>
                  </a:tcPr>
                </a:tc>
                <a:tc>
                  <a:txBody>
                    <a:bodyPr wrap="square"/>
                    <a:lstStyle/>
                    <a:p>
                      <a:r>
                        <a:rPr b="0" sz="1300" i="0">
                          <a:solidFill>
                            <a:srgbClr val="1A2233"/>
                          </a:solidFill>
                          <a:latin typeface="Calibri"/>
                        </a:rPr>
                        <a:t>Operating cost POS (row 37)</a:t>
                      </a:r>
                    </a:p>
                  </a:txBody>
                  <a:tcPr marL="64008" marR="64008" marT="27432" marB="27432" anchor="ctr">
                    <a:solidFill>
                      <a:srgbClr val="F3F6F9"/>
                    </a:solidFill>
                  </a:tcPr>
                </a:tc>
                <a:tc>
                  <a:txBody>
                    <a:bodyPr wrap="square"/>
                    <a:lstStyle/>
                    <a:p>
                      <a:r>
                        <a:rPr b="0" sz="1300" i="0">
                          <a:solidFill>
                            <a:srgbClr val="1A2233"/>
                          </a:solidFill>
                          <a:latin typeface="Calibri"/>
                        </a:rPr>
                        <a:t>104,874</a:t>
                      </a:r>
                    </a:p>
                  </a:txBody>
                  <a:tcPr marL="64008" marR="64008" marT="27432" marB="27432" anchor="ctr">
                    <a:solidFill>
                      <a:srgbClr val="F3F6F9"/>
                    </a:solidFill>
                  </a:tcPr>
                </a:tc>
              </a:tr>
              <a:tr h="384048">
                <a:tc>
                  <a:txBody>
                    <a:bodyPr wrap="square"/>
                    <a:lstStyle/>
                    <a:p>
                      <a:r>
                        <a:rPr b="1" sz="1300" i="0">
                          <a:solidFill>
                            <a:srgbClr val="1A2233"/>
                          </a:solidFill>
                          <a:latin typeface="Calibri"/>
                        </a:rPr>
                        <a:t>Tax</a:t>
                      </a:r>
                    </a:p>
                  </a:txBody>
                  <a:tcPr marL="64008" marR="64008" marT="27432" marB="27432" anchor="ctr">
                    <a:solidFill>
                      <a:srgbClr val="FFFFFF"/>
                    </a:solidFill>
                  </a:tcPr>
                </a:tc>
                <a:tc>
                  <a:txBody>
                    <a:bodyPr wrap="square"/>
                    <a:lstStyle/>
                    <a:p>
                      <a:r>
                        <a:rPr b="0" sz="1300" i="0">
                          <a:solidFill>
                            <a:srgbClr val="1A2233"/>
                          </a:solidFill>
                          <a:latin typeface="Calibri"/>
                        </a:rPr>
                        <a:t>Tax paid POS (row 31)</a:t>
                      </a:r>
                    </a:p>
                  </a:txBody>
                  <a:tcPr marL="64008" marR="64008" marT="27432" marB="27432" anchor="ctr">
                    <a:solidFill>
                      <a:srgbClr val="FFFFFF"/>
                    </a:solidFill>
                  </a:tcPr>
                </a:tc>
                <a:tc>
                  <a:txBody>
                    <a:bodyPr wrap="square"/>
                    <a:lstStyle/>
                    <a:p>
                      <a:r>
                        <a:rPr b="0" sz="1300" i="0">
                          <a:solidFill>
                            <a:srgbClr val="1A2233"/>
                          </a:solidFill>
                          <a:latin typeface="Calibri"/>
                        </a:rPr>
                        <a:t>198,871</a:t>
                      </a:r>
                    </a:p>
                  </a:txBody>
                  <a:tcPr marL="64008" marR="64008" marT="27432" marB="27432" anchor="ctr">
                    <a:solidFill>
                      <a:srgbClr val="FFFFFF"/>
                    </a:solidFill>
                  </a:tcPr>
                </a:tc>
              </a:tr>
              <a:tr h="384048">
                <a:tc>
                  <a:txBody>
                    <a:bodyPr wrap="square"/>
                    <a:lstStyle/>
                    <a:p>
                      <a:r>
                        <a:rPr b="1" sz="1300" i="0">
                          <a:solidFill>
                            <a:srgbClr val="1A2233"/>
                          </a:solidFill>
                          <a:latin typeface="Calibri"/>
                        </a:rPr>
                        <a:t>Tax</a:t>
                      </a:r>
                    </a:p>
                  </a:txBody>
                  <a:tcPr marL="64008" marR="64008" marT="27432" marB="27432" anchor="ctr">
                    <a:solidFill>
                      <a:srgbClr val="F3F6F9"/>
                    </a:solidFill>
                  </a:tcPr>
                </a:tc>
                <a:tc>
                  <a:txBody>
                    <a:bodyPr wrap="square"/>
                    <a:lstStyle/>
                    <a:p>
                      <a:r>
                        <a:rPr b="0" sz="1300" i="0">
                          <a:solidFill>
                            <a:srgbClr val="1A2233"/>
                          </a:solidFill>
                          <a:latin typeface="Calibri"/>
                        </a:rPr>
                        <a:t>Tax expense POS (row 37)</a:t>
                      </a:r>
                    </a:p>
                  </a:txBody>
                  <a:tcPr marL="64008" marR="64008" marT="27432" marB="27432" anchor="ctr">
                    <a:solidFill>
                      <a:srgbClr val="F3F6F9"/>
                    </a:solidFill>
                  </a:tcPr>
                </a:tc>
                <a:tc>
                  <a:txBody>
                    <a:bodyPr wrap="square"/>
                    <a:lstStyle/>
                    <a:p>
                      <a:r>
                        <a:rPr b="0" sz="1300" i="0">
                          <a:solidFill>
                            <a:srgbClr val="1A2233"/>
                          </a:solidFill>
                          <a:latin typeface="Calibri"/>
                        </a:rPr>
                        <a:t>198,871</a:t>
                      </a:r>
                    </a:p>
                  </a:txBody>
                  <a:tcPr marL="64008" marR="64008" marT="27432" marB="27432" anchor="ctr">
                    <a:solidFill>
                      <a:srgbClr val="F3F6F9"/>
                    </a:solidFill>
                  </a:tcPr>
                </a:tc>
              </a:tr>
            </a:tbl>
          </a:graphicData>
        </a:graphic>
      </p:graphicFrame>
      <p:sp>
        <p:nvSpPr>
          <p:cNvPr id="12" name="Rectangle 11"/>
          <p:cNvSpPr/>
          <p:nvPr/>
        </p:nvSpPr>
        <p:spPr>
          <a:xfrm>
            <a:off x="548640" y="365760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65760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576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If any total differs, fix it before building NCA: errors upstream flow into every statement.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09.00 – 09.40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1: Non-current assets (NCA)</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Capex, depreciation of the opening assets, depreciation of new capex, and the asset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Capital expenditure, depreciation and the asset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Capex is cash spent on assets that last for years. It is not an expense in the year it is paid; it becomes an asset, and depreciation spreads its cost over the asset's life as an expense each period.</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Asset balance END = BEG + capex − depreciation</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Opening assets US$100,000k, life 15 years → depreciation 100,000 / (15 × 4) = US$1,666.7k per quarter for 60 quarters</a:t>
            </a:r>
          </a:p>
          <a:p>
            <a:pPr algn="l"/>
            <a:r>
              <a:rPr b="0" sz="1600" i="0">
                <a:solidFill>
                  <a:srgbClr val="1A2233"/>
                </a:solidFill>
                <a:latin typeface="Calibri"/>
              </a:rPr>
              <a:t>Capex of US$2,000k in Dec 2023 with a 5-year life → 2,000 / 20 = US$100k per quarter for 20 quarters</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Depreciation reduces profit but not cash: that is why EBITDA (before depreciation) is closer to cash.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 block 1: capital expenditure (rows 9 to 19) (1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Investment / addition date</a:t>
                      </a:r>
                    </a:p>
                  </a:txBody>
                  <a:tcPr marL="64008" marR="64008" marT="27432" marB="27432" anchor="ctr">
                    <a:solidFill>
                      <a:srgbClr val="FFFFFF"/>
                    </a:solidFill>
                  </a:tcPr>
                </a:tc>
                <a:tc>
                  <a:txBody>
                    <a:bodyPr wrap="square"/>
                    <a:lstStyle/>
                    <a:p>
                      <a:r>
                        <a:rPr b="0" sz="1200" i="0">
                          <a:solidFill>
                            <a:srgbClr val="1A2233"/>
                          </a:solidFill>
                          <a:latin typeface="Consolas"/>
                        </a:rPr>
                        <a:t>F: =InpC!F$55</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31 Dec 2023</a:t>
                      </a:r>
                    </a:p>
                  </a:txBody>
                  <a:tcPr marL="64008" marR="64008" marT="27432" marB="27432" anchor="ctr">
                    <a:solidFill>
                      <a:srgbClr val="F3F6F9"/>
                    </a:solidFill>
                  </a:tcPr>
                </a:tc>
                <a:tc>
                  <a:txBody>
                    <a:bodyPr wrap="square"/>
                    <a:lstStyle/>
                    <a:p>
                      <a:r>
                        <a:rPr b="0" sz="1200" i="0">
                          <a:solidFill>
                            <a:srgbClr val="1A2233"/>
                          </a:solidFill>
                          <a:latin typeface="Consolas"/>
                        </a:rPr>
                        <a:t>F: =InpC!F$56</a:t>
                      </a:r>
                    </a:p>
                  </a:txBody>
                  <a:tcPr marL="64008" marR="64008" marT="27432" marB="27432" anchor="ctr">
                    <a:solidFill>
                      <a:srgbClr val="F3F6F9"/>
                    </a:solidFill>
                  </a:tcPr>
                </a:tc>
              </a:tr>
              <a:tr h="329184">
                <a:tc>
                  <a:txBody>
                    <a:bodyPr wrap="square"/>
                    <a:lstStyle/>
                    <a:p>
                      <a:r>
                        <a:rPr b="1" sz="1200" i="0">
                          <a:solidFill>
                            <a:srgbClr val="1A2233"/>
                          </a:solidFill>
                          <a:latin typeface="Calibri"/>
                        </a:rPr>
                        <a:t>11</a:t>
                      </a:r>
                    </a:p>
                  </a:txBody>
                  <a:tcPr marL="64008" marR="64008" marT="27432" marB="27432" anchor="ctr">
                    <a:solidFill>
                      <a:srgbClr val="FFFFFF"/>
                    </a:solidFill>
                  </a:tcPr>
                </a:tc>
                <a:tc>
                  <a:txBody>
                    <a:bodyPr wrap="square"/>
                    <a:lstStyle/>
                    <a:p>
                      <a:r>
                        <a:rPr b="0" sz="1200" i="0">
                          <a:solidFill>
                            <a:srgbClr val="1A2233"/>
                          </a:solidFill>
                          <a:latin typeface="Calibri"/>
                        </a:rPr>
                        <a:t>31 Dec 2024</a:t>
                      </a:r>
                    </a:p>
                  </a:txBody>
                  <a:tcPr marL="64008" marR="64008" marT="27432" marB="27432" anchor="ctr">
                    <a:solidFill>
                      <a:srgbClr val="FFFFFF"/>
                    </a:solidFill>
                  </a:tcPr>
                </a:tc>
                <a:tc>
                  <a:txBody>
                    <a:bodyPr wrap="square"/>
                    <a:lstStyle/>
                    <a:p>
                      <a:r>
                        <a:rPr b="0" sz="1200" i="0">
                          <a:solidFill>
                            <a:srgbClr val="1A2233"/>
                          </a:solidFill>
                          <a:latin typeface="Consolas"/>
                        </a:rPr>
                        <a:t>F: =InpC!F$57</a:t>
                      </a:r>
                    </a:p>
                  </a:txBody>
                  <a:tcPr marL="64008" marR="64008" marT="27432" marB="27432" anchor="ctr">
                    <a:solidFill>
                      <a:srgbClr val="FFFFFF"/>
                    </a:solidFill>
                  </a:tcPr>
                </a:tc>
              </a:tr>
              <a:tr h="329184">
                <a:tc>
                  <a:txBody>
                    <a:bodyPr wrap="square"/>
                    <a:lstStyle/>
                    <a:p>
                      <a:r>
                        <a:rPr b="1" sz="1200" i="0">
                          <a:solidFill>
                            <a:srgbClr val="1A2233"/>
                          </a:solidFill>
                          <a:latin typeface="Calibri"/>
                        </a:rPr>
                        <a:t>12</a:t>
                      </a:r>
                    </a:p>
                  </a:txBody>
                  <a:tcPr marL="64008" marR="64008" marT="27432" marB="27432" anchor="ctr">
                    <a:solidFill>
                      <a:srgbClr val="F3F6F9"/>
                    </a:solidFill>
                  </a:tcPr>
                </a:tc>
                <a:tc>
                  <a:txBody>
                    <a:bodyPr wrap="square"/>
                    <a:lstStyle/>
                    <a:p>
                      <a:r>
                        <a:rPr b="0" sz="1200" i="0">
                          <a:solidFill>
                            <a:srgbClr val="1A2233"/>
                          </a:solidFill>
                          <a:latin typeface="Calibri"/>
                        </a:rPr>
                        <a:t>31 Dec 2025</a:t>
                      </a:r>
                    </a:p>
                  </a:txBody>
                  <a:tcPr marL="64008" marR="64008" marT="27432" marB="27432" anchor="ctr">
                    <a:solidFill>
                      <a:srgbClr val="F3F6F9"/>
                    </a:solidFill>
                  </a:tcPr>
                </a:tc>
                <a:tc>
                  <a:txBody>
                    <a:bodyPr wrap="square"/>
                    <a:lstStyle/>
                    <a:p>
                      <a:r>
                        <a:rPr b="0" sz="1200" i="0">
                          <a:solidFill>
                            <a:srgbClr val="1A2233"/>
                          </a:solidFill>
                          <a:latin typeface="Consolas"/>
                        </a:rPr>
                        <a:t>F: =InpC!F$58</a:t>
                      </a:r>
                    </a:p>
                  </a:txBody>
                  <a:tcPr marL="64008" marR="64008" marT="27432" marB="27432" anchor="ctr">
                    <a:solidFill>
                      <a:srgbClr val="F3F6F9"/>
                    </a:solidFill>
                  </a:tcPr>
                </a:tc>
              </a:tr>
              <a:tr h="329184">
                <a:tc>
                  <a:txBody>
                    <a:bodyPr wrap="square"/>
                    <a:lstStyle/>
                    <a:p>
                      <a:r>
                        <a:rPr b="1" sz="1200" i="0">
                          <a:solidFill>
                            <a:srgbClr val="1A2233"/>
                          </a:solidFill>
                          <a:latin typeface="Calibri"/>
                        </a:rPr>
                        <a:t>13</a:t>
                      </a:r>
                    </a:p>
                  </a:txBody>
                  <a:tcPr marL="64008" marR="64008" marT="27432" marB="27432" anchor="ctr">
                    <a:solidFill>
                      <a:srgbClr val="FFFFFF"/>
                    </a:solidFill>
                  </a:tcPr>
                </a:tc>
                <a:tc>
                  <a:txBody>
                    <a:bodyPr wrap="square"/>
                    <a:lstStyle/>
                    <a:p>
                      <a:r>
                        <a:rPr b="0" sz="1200" i="0">
                          <a:solidFill>
                            <a:srgbClr val="1A2233"/>
                          </a:solidFill>
                          <a:latin typeface="Calibri"/>
                        </a:rPr>
                        <a:t>31 Dec 2026</a:t>
                      </a:r>
                    </a:p>
                  </a:txBody>
                  <a:tcPr marL="64008" marR="64008" marT="27432" marB="27432" anchor="ctr">
                    <a:solidFill>
                      <a:srgbClr val="FFFFFF"/>
                    </a:solidFill>
                  </a:tcPr>
                </a:tc>
                <a:tc>
                  <a:txBody>
                    <a:bodyPr wrap="square"/>
                    <a:lstStyle/>
                    <a:p>
                      <a:r>
                        <a:rPr b="0" sz="1200" i="0">
                          <a:solidFill>
                            <a:srgbClr val="1A2233"/>
                          </a:solidFill>
                          <a:latin typeface="Consolas"/>
                        </a:rPr>
                        <a:t>F: =InpC!F$59</a:t>
                      </a:r>
                    </a:p>
                  </a:txBody>
                  <a:tcPr marL="64008" marR="64008" marT="27432" marB="27432" anchor="ctr">
                    <a:solidFill>
                      <a:srgbClr val="FFFFFF"/>
                    </a:solidFill>
                  </a:tcPr>
                </a:tc>
              </a:tr>
              <a:tr h="329184">
                <a:tc>
                  <a:txBody>
                    <a:bodyPr wrap="square"/>
                    <a:lstStyle/>
                    <a:p>
                      <a:r>
                        <a:rPr b="1" sz="1200" i="0">
                          <a:solidFill>
                            <a:srgbClr val="1A2233"/>
                          </a:solidFill>
                          <a:latin typeface="Calibri"/>
                        </a:rPr>
                        <a:t>14</a:t>
                      </a:r>
                    </a:p>
                  </a:txBody>
                  <a:tcPr marL="64008" marR="64008" marT="27432" marB="27432" anchor="ctr">
                    <a:solidFill>
                      <a:srgbClr val="F3F6F9"/>
                    </a:solidFill>
                  </a:tcPr>
                </a:tc>
                <a:tc>
                  <a:txBody>
                    <a:bodyPr wrap="square"/>
                    <a:lstStyle/>
                    <a:p>
                      <a:r>
                        <a:rPr b="0" sz="1200" i="0">
                          <a:solidFill>
                            <a:srgbClr val="1A2233"/>
                          </a:solidFill>
                          <a:latin typeface="Calibri"/>
                        </a:rPr>
                        <a:t>31 Dec 2027</a:t>
                      </a:r>
                    </a:p>
                  </a:txBody>
                  <a:tcPr marL="64008" marR="64008" marT="27432" marB="27432" anchor="ctr">
                    <a:solidFill>
                      <a:srgbClr val="F3F6F9"/>
                    </a:solidFill>
                  </a:tcPr>
                </a:tc>
                <a:tc>
                  <a:txBody>
                    <a:bodyPr wrap="square"/>
                    <a:lstStyle/>
                    <a:p>
                      <a:r>
                        <a:rPr b="0" sz="1200" i="0">
                          <a:solidFill>
                            <a:srgbClr val="1A2233"/>
                          </a:solidFill>
                          <a:latin typeface="Consolas"/>
                        </a:rPr>
                        <a:t>F: =InpC!F$60</a:t>
                      </a:r>
                    </a:p>
                  </a:txBody>
                  <a:tcPr marL="64008" marR="64008" marT="27432" marB="27432" anchor="ctr">
                    <a:solidFill>
                      <a:srgbClr val="F3F6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 block 1: capital expenditure (rows 9 to 19) (2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7510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alibri"/>
                        </a:rPr>
                        <a:t>31 Dec 2028</a:t>
                      </a:r>
                    </a:p>
                  </a:txBody>
                  <a:tcPr marL="64008" marR="64008" marT="27432" marB="27432" anchor="ctr">
                    <a:solidFill>
                      <a:srgbClr val="FFFFFF"/>
                    </a:solidFill>
                  </a:tcPr>
                </a:tc>
                <a:tc>
                  <a:txBody>
                    <a:bodyPr wrap="square"/>
                    <a:lstStyle/>
                    <a:p>
                      <a:r>
                        <a:rPr b="0" sz="1200" i="0">
                          <a:solidFill>
                            <a:srgbClr val="1A2233"/>
                          </a:solidFill>
                          <a:latin typeface="Consolas"/>
                        </a:rPr>
                        <a:t>F: =InpC!F$61</a:t>
                      </a:r>
                    </a:p>
                  </a:txBody>
                  <a:tcPr marL="64008" marR="64008" marT="27432" marB="27432" anchor="ctr">
                    <a:solidFill>
                      <a:srgbClr val="FFFFFF"/>
                    </a:solidFill>
                  </a:tcPr>
                </a:tc>
              </a:tr>
              <a:tr h="329184">
                <a:tc>
                  <a:txBody>
                    <a:bodyPr wrap="square"/>
                    <a:lstStyle/>
                    <a:p>
                      <a:r>
                        <a:rPr b="1"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alibri"/>
                        </a:rPr>
                        <a:t>31 Dec 2029</a:t>
                      </a:r>
                    </a:p>
                  </a:txBody>
                  <a:tcPr marL="64008" marR="64008" marT="27432" marB="27432" anchor="ctr">
                    <a:solidFill>
                      <a:srgbClr val="F3F6F9"/>
                    </a:solidFill>
                  </a:tcPr>
                </a:tc>
                <a:tc>
                  <a:txBody>
                    <a:bodyPr wrap="square"/>
                    <a:lstStyle/>
                    <a:p>
                      <a:r>
                        <a:rPr b="0" sz="1200" i="0">
                          <a:solidFill>
                            <a:srgbClr val="1A2233"/>
                          </a:solidFill>
                          <a:latin typeface="Consolas"/>
                        </a:rPr>
                        <a:t>F: =InpC!F$62</a:t>
                      </a:r>
                    </a:p>
                  </a:txBody>
                  <a:tcPr marL="64008" marR="64008" marT="27432" marB="27432" anchor="ctr">
                    <a:solidFill>
                      <a:srgbClr val="F3F6F9"/>
                    </a:solidFill>
                  </a:tcPr>
                </a:tc>
              </a:tr>
              <a:tr h="329184">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Model period ending </a:t>
                      </a:r>
                    </a:p>
                  </a:txBody>
                  <a:tcPr marL="64008" marR="64008" marT="27432" marB="27432" anchor="ctr">
                    <a:solidFill>
                      <a:srgbClr val="FFFFFF"/>
                    </a:solidFill>
                  </a:tcPr>
                </a:tc>
                <a:tc>
                  <a:txBody>
                    <a:bodyPr wrap="square"/>
                    <a:lstStyle/>
                    <a:p>
                      <a:r>
                        <a:rPr b="0" sz="1200" i="0">
                          <a:solidFill>
                            <a:srgbClr val="1A2233"/>
                          </a:solidFill>
                          <a:latin typeface="Consolas"/>
                        </a:rPr>
                        <a:t>J: =Time!J$25</a:t>
                      </a:r>
                    </a:p>
                  </a:txBody>
                  <a:tcPr marL="64008" marR="64008" marT="27432" marB="27432" anchor="ctr">
                    <a:solidFill>
                      <a:srgbClr val="FFFFFF"/>
                    </a:solidFill>
                  </a:tcPr>
                </a:tc>
              </a:tr>
              <a:tr h="329184">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Capital expenditure POS</a:t>
                      </a:r>
                    </a:p>
                  </a:txBody>
                  <a:tcPr marL="64008" marR="64008" marT="27432" marB="27432" anchor="ctr">
                    <a:solidFill>
                      <a:srgbClr val="F3F6F9"/>
                    </a:solidFill>
                  </a:tcPr>
                </a:tc>
                <a:tc>
                  <a:txBody>
                    <a:bodyPr wrap="square"/>
                    <a:lstStyle/>
                    <a:p>
                      <a:r>
                        <a:rPr b="0" sz="1200" i="0">
                          <a:solidFill>
                            <a:srgbClr val="1A2233"/>
                          </a:solidFill>
                          <a:latin typeface="Consolas"/>
                        </a:rPr>
                        <a:t>J: =IFNA(VLOOKUP(J17,$E10:$F16,2,FALSE),0)</a:t>
                      </a:r>
                    </a:p>
                  </a:txBody>
                  <a:tcPr marL="64008" marR="64008" marT="27432" marB="27432" anchor="ctr">
                    <a:solidFill>
                      <a:srgbClr val="F3F6F9"/>
                    </a:solidFill>
                  </a:tcPr>
                </a:tc>
              </a:tr>
              <a:tr h="329184">
                <a:tc>
                  <a:txBody>
                    <a:bodyPr wrap="square"/>
                    <a:lstStyle/>
                    <a:p>
                      <a:r>
                        <a:rPr b="1" sz="1200" i="0">
                          <a:solidFill>
                            <a:srgbClr val="1A2233"/>
                          </a:solidFill>
                          <a:latin typeface="Calibri"/>
                        </a:rPr>
                        <a:t>19</a:t>
                      </a:r>
                    </a:p>
                  </a:txBody>
                  <a:tcPr marL="64008" marR="64008" marT="27432" marB="27432" anchor="ctr">
                    <a:solidFill>
                      <a:srgbClr val="FFFFFF"/>
                    </a:solidFill>
                  </a:tcPr>
                </a:tc>
                <a:tc>
                  <a:txBody>
                    <a:bodyPr wrap="square"/>
                    <a:lstStyle/>
                    <a:p>
                      <a:r>
                        <a:rPr b="0" sz="1200" i="0">
                          <a:solidFill>
                            <a:srgbClr val="1A2233"/>
                          </a:solidFill>
                          <a:latin typeface="Calibri"/>
                        </a:rPr>
                        <a:t>Capital expenditure</a:t>
                      </a:r>
                    </a:p>
                  </a:txBody>
                  <a:tcPr marL="64008" marR="64008" marT="27432" marB="27432" anchor="ctr">
                    <a:solidFill>
                      <a:srgbClr val="FFFFFF"/>
                    </a:solidFill>
                  </a:tcPr>
                </a:tc>
                <a:tc>
                  <a:txBody>
                    <a:bodyPr wrap="square"/>
                    <a:lstStyle/>
                    <a:p>
                      <a:r>
                        <a:rPr b="0" sz="1200" i="0">
                          <a:solidFill>
                            <a:srgbClr val="1A2233"/>
                          </a:solidFill>
                          <a:latin typeface="Consolas"/>
                        </a:rPr>
                        <a:t>J: =-1*J18</a:t>
                      </a:r>
                    </a:p>
                  </a:txBody>
                  <a:tcPr marL="64008" marR="64008" marT="27432" marB="27432"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NCA!J18: capital expenditure POS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J18  (to CO18)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Capital expenditure POS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=IFNA(VLOOKUP(J17,$E10:$F16,2,FALSE),0)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400" i="0">
                <a:solidFill>
                  <a:srgbClr val="1A2233"/>
                </a:solidFill>
                <a:latin typeface="Calibri"/>
              </a:rPr>
              <a:t>▪ Look for the period-end date (row 17) in the capex table E10:F16</a:t>
            </a:r>
          </a:p>
          <a:p>
            <a:pPr algn="l"/>
            <a:r>
              <a:rPr b="0" sz="1400" i="0">
                <a:solidFill>
                  <a:srgbClr val="1A2233"/>
                </a:solidFill>
                <a:latin typeface="Calibri"/>
              </a:rPr>
              <a:t>▪ FALSE = exact match: only an exact date finds an amount</a:t>
            </a:r>
          </a:p>
          <a:p>
            <a:pPr algn="l"/>
            <a:r>
              <a:rPr b="0" sz="1400" i="0">
                <a:solidFill>
                  <a:srgbClr val="1A2233"/>
                </a:solidFill>
                <a:latin typeface="Calibri"/>
              </a:rPr>
              <a:t>▪ IFNA(...,0): if no match (#N/A), use zero</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E10:F16 = InpC rows 56 to 62 (dates and amounts)</a:t>
            </a:r>
          </a:p>
          <a:p>
            <a:pPr algn="l"/>
            <a:r>
              <a:rPr b="0" sz="1300" i="0">
                <a:solidFill>
                  <a:srgbClr val="1A2233"/>
                </a:solidFill>
                <a:latin typeface="Consolas"/>
              </a:rPr>
              <a:t>J17 = Time!J$25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J18:CO18,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J18:CO18,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J18 → CO18</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H18 = 8,000;  L18 = 0  (US$8,000k total)</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Capex only happens in the quarter ending 31 December of 2023 to 2029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NCA!J19: capital expenditure (CF)</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J19  (to CO19)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Capital expenditure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=-1*J18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Minus one times capex: cash going out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J19:CO19,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J19:CO19,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J19 → CO19</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H19 = -8,000;  L19 = 0</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POS rows are positive; the cash flow needs the negative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NCA block 2: depreciation of the opening assets (rows 25 to 29)</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7510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25</a:t>
                      </a:r>
                    </a:p>
                  </a:txBody>
                  <a:tcPr marL="64008" marR="64008" marT="27432" marB="27432" anchor="ctr">
                    <a:solidFill>
                      <a:srgbClr val="FFFFFF"/>
                    </a:solidFill>
                  </a:tcPr>
                </a:tc>
                <a:tc>
                  <a:txBody>
                    <a:bodyPr wrap="square"/>
                    <a:lstStyle/>
                    <a:p>
                      <a:r>
                        <a:rPr b="0" sz="1200" i="0">
                          <a:solidFill>
                            <a:srgbClr val="1A2233"/>
                          </a:solidFill>
                          <a:latin typeface="Calibri"/>
                        </a:rPr>
                        <a:t>Non current asset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=InpC!F$64</a:t>
                      </a:r>
                    </a:p>
                  </a:txBody>
                  <a:tcPr marL="64008" marR="64008" marT="27432" marB="27432" anchor="ctr">
                    <a:solidFill>
                      <a:srgbClr val="FFFFFF"/>
                    </a:solidFill>
                  </a:tcPr>
                </a:tc>
              </a:tr>
              <a:tr h="329184">
                <a:tc>
                  <a:txBody>
                    <a:bodyPr wrap="square"/>
                    <a:lstStyle/>
                    <a:p>
                      <a:r>
                        <a:rPr b="1" sz="1200" i="0">
                          <a:solidFill>
                            <a:srgbClr val="1A2233"/>
                          </a:solidFill>
                          <a:latin typeface="Calibri"/>
                        </a:rPr>
                        <a:t>26</a:t>
                      </a:r>
                    </a:p>
                  </a:txBody>
                  <a:tcPr marL="64008" marR="64008" marT="27432" marB="27432" anchor="ctr">
                    <a:solidFill>
                      <a:srgbClr val="F3F6F9"/>
                    </a:solidFill>
                  </a:tcPr>
                </a:tc>
                <a:tc>
                  <a:txBody>
                    <a:bodyPr wrap="square"/>
                    <a:lstStyle/>
                    <a:p>
                      <a:r>
                        <a:rPr b="0" sz="1200" i="0">
                          <a:solidFill>
                            <a:srgbClr val="1A2233"/>
                          </a:solidFill>
                          <a:latin typeface="Calibri"/>
                        </a:rPr>
                        <a:t>Useful life of NCA at acquisition </a:t>
                      </a:r>
                    </a:p>
                  </a:txBody>
                  <a:tcPr marL="64008" marR="64008" marT="27432" marB="27432" anchor="ctr">
                    <a:solidFill>
                      <a:srgbClr val="F3F6F9"/>
                    </a:solidFill>
                  </a:tcPr>
                </a:tc>
                <a:tc>
                  <a:txBody>
                    <a:bodyPr wrap="square"/>
                    <a:lstStyle/>
                    <a:p>
                      <a:r>
                        <a:rPr b="0" sz="1200" i="0">
                          <a:solidFill>
                            <a:srgbClr val="1A2233"/>
                          </a:solidFill>
                          <a:latin typeface="Consolas"/>
                        </a:rPr>
                        <a:t>F: =InpC!F$65</a:t>
                      </a:r>
                    </a:p>
                  </a:txBody>
                  <a:tcPr marL="64008" marR="64008" marT="27432" marB="27432" anchor="ctr">
                    <a:solidFill>
                      <a:srgbClr val="F3F6F9"/>
                    </a:solidFill>
                  </a:tcPr>
                </a:tc>
              </a:tr>
              <a:tr h="329184">
                <a:tc>
                  <a:txBody>
                    <a:bodyPr wrap="square"/>
                    <a:lstStyle/>
                    <a:p>
                      <a:r>
                        <a:rPr b="1" sz="1200" i="0">
                          <a:solidFill>
                            <a:srgbClr val="1A2233"/>
                          </a:solidFill>
                          <a:latin typeface="Calibri"/>
                        </a:rPr>
                        <a:t>27</a:t>
                      </a:r>
                    </a:p>
                  </a:txBody>
                  <a:tcPr marL="64008" marR="64008" marT="27432" marB="27432" anchor="ctr">
                    <a:solidFill>
                      <a:srgbClr val="FFFFFF"/>
                    </a:solidFill>
                  </a:tcPr>
                </a:tc>
                <a:tc>
                  <a:txBody>
                    <a:bodyPr wrap="square"/>
                    <a:lstStyle/>
                    <a:p>
                      <a:r>
                        <a:rPr b="0" sz="1200" i="0">
                          <a:solidFill>
                            <a:srgbClr val="1A2233"/>
                          </a:solidFill>
                          <a:latin typeface="Calibri"/>
                        </a:rPr>
                        <a:t>No of periods in a year</a:t>
                      </a:r>
                    </a:p>
                  </a:txBody>
                  <a:tcPr marL="64008" marR="64008" marT="27432" marB="27432" anchor="ctr">
                    <a:solidFill>
                      <a:srgbClr val="FFFFFF"/>
                    </a:solidFill>
                  </a:tcPr>
                </a:tc>
                <a:tc>
                  <a:txBody>
                    <a:bodyPr wrap="square"/>
                    <a:lstStyle/>
                    <a:p>
                      <a:r>
                        <a:rPr b="0" sz="1200" i="0">
                          <a:solidFill>
                            <a:srgbClr val="1A2233"/>
                          </a:solidFill>
                          <a:latin typeface="Consolas"/>
                        </a:rPr>
                        <a:t>F: =InpC!F$99</a:t>
                      </a:r>
                    </a:p>
                  </a:txBody>
                  <a:tcPr marL="64008" marR="64008" marT="27432" marB="27432" anchor="ctr">
                    <a:solidFill>
                      <a:srgbClr val="FFFFFF"/>
                    </a:solidFill>
                  </a:tcPr>
                </a:tc>
              </a:tr>
              <a:tr h="329184">
                <a:tc>
                  <a:txBody>
                    <a:bodyPr wrap="square"/>
                    <a:lstStyle/>
                    <a:p>
                      <a:r>
                        <a:rPr b="1" sz="1200" i="0">
                          <a:solidFill>
                            <a:srgbClr val="1A2233"/>
                          </a:solidFill>
                          <a:latin typeface="Calibri"/>
                        </a:rPr>
                        <a:t>28</a:t>
                      </a:r>
                    </a:p>
                  </a:txBody>
                  <a:tcPr marL="64008" marR="64008" marT="27432" marB="27432" anchor="ctr">
                    <a:solidFill>
                      <a:srgbClr val="F3F6F9"/>
                    </a:solidFill>
                  </a:tcPr>
                </a:tc>
                <a:tc>
                  <a:txBody>
                    <a:bodyPr wrap="square"/>
                    <a:lstStyle/>
                    <a:p>
                      <a:r>
                        <a:rPr b="0" sz="1200" i="0">
                          <a:solidFill>
                            <a:srgbClr val="1A2233"/>
                          </a:solidFill>
                          <a:latin typeface="Calibri"/>
                        </a:rPr>
                        <a:t>Depreciation period flag</a:t>
                      </a:r>
                    </a:p>
                  </a:txBody>
                  <a:tcPr marL="64008" marR="64008" marT="27432" marB="27432" anchor="ctr">
                    <a:solidFill>
                      <a:srgbClr val="F3F6F9"/>
                    </a:solidFill>
                  </a:tcPr>
                </a:tc>
                <a:tc>
                  <a:txBody>
                    <a:bodyPr wrap="square"/>
                    <a:lstStyle/>
                    <a:p>
                      <a:r>
                        <a:rPr b="0" sz="1200" i="0">
                          <a:solidFill>
                            <a:srgbClr val="1A2233"/>
                          </a:solidFill>
                          <a:latin typeface="Consolas"/>
                        </a:rPr>
                        <a:t>J: =Time!J$95</a:t>
                      </a:r>
                    </a:p>
                  </a:txBody>
                  <a:tcPr marL="64008" marR="64008" marT="27432" marB="27432" anchor="ctr">
                    <a:solidFill>
                      <a:srgbClr val="F3F6F9"/>
                    </a:solidFill>
                  </a:tcPr>
                </a:tc>
              </a:tr>
              <a:tr h="329184">
                <a:tc>
                  <a:txBody>
                    <a:bodyPr wrap="square"/>
                    <a:lstStyle/>
                    <a:p>
                      <a:r>
                        <a:rPr b="1" sz="1200" i="0">
                          <a:solidFill>
                            <a:srgbClr val="1A2233"/>
                          </a:solidFill>
                          <a:latin typeface="Calibri"/>
                        </a:rPr>
                        <a:t>29</a:t>
                      </a:r>
                    </a:p>
                  </a:txBody>
                  <a:tcPr marL="64008" marR="64008" marT="27432" marB="27432" anchor="ctr">
                    <a:solidFill>
                      <a:srgbClr val="FFFFFF"/>
                    </a:solidFill>
                  </a:tcPr>
                </a:tc>
                <a:tc>
                  <a:txBody>
                    <a:bodyPr wrap="square"/>
                    <a:lstStyle/>
                    <a:p>
                      <a:r>
                        <a:rPr b="0" sz="1200" i="0">
                          <a:solidFill>
                            <a:srgbClr val="1A2233"/>
                          </a:solidFill>
                          <a:latin typeface="Calibri"/>
                        </a:rPr>
                        <a:t>Accounting depreciation - Initial balance</a:t>
                      </a:r>
                    </a:p>
                  </a:txBody>
                  <a:tcPr marL="64008" marR="64008" marT="27432" marB="27432" anchor="ctr">
                    <a:solidFill>
                      <a:srgbClr val="FFFFFF"/>
                    </a:solidFill>
                  </a:tcPr>
                </a:tc>
                <a:tc>
                  <a:txBody>
                    <a:bodyPr wrap="square"/>
                    <a:lstStyle/>
                    <a:p>
                      <a:r>
                        <a:rPr b="0" sz="1200" i="0">
                          <a:solidFill>
                            <a:srgbClr val="1A2233"/>
                          </a:solidFill>
                          <a:latin typeface="Consolas"/>
                        </a:rPr>
                        <a:t>J: =IF(J28=1,$F25/($F26*$F27),0)</a:t>
                      </a:r>
                    </a:p>
                  </a:txBody>
                  <a:tcPr marL="64008" marR="64008" marT="27432" marB="27432"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NCA!J29: depreciation, initial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J29  (to CO29)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Accounting depreciation - Initial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=IF(J28=1,$F25/($F26*$F27),0)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400" i="0">
                <a:solidFill>
                  <a:srgbClr val="1A2233"/>
                </a:solidFill>
                <a:latin typeface="Calibri"/>
              </a:rPr>
              <a:t>▪ During the depreciation period (flag row 28), charge opening assets ÷ (life years × periods per year)</a:t>
            </a:r>
          </a:p>
          <a:p>
            <a:pPr algn="l"/>
            <a:r>
              <a:rPr b="0" sz="1400" i="0">
                <a:solidFill>
                  <a:srgbClr val="1A2233"/>
                </a:solidFill>
                <a:latin typeface="Calibri"/>
              </a:rPr>
              <a:t>▪ 100,000 / (15 × 4) = 1,666.67 per quarter</a:t>
            </a:r>
          </a:p>
          <a:p>
            <a:pPr algn="l"/>
            <a:r>
              <a:rPr b="0" sz="1400" i="0">
                <a:solidFill>
                  <a:srgbClr val="1A2233"/>
                </a:solidFill>
                <a:latin typeface="Calibri"/>
              </a:rPr>
              <a:t>▪ Flag from Time row 95: 60 quarters</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F25 = InpC!F$64 (100,000)</a:t>
            </a:r>
          </a:p>
          <a:p>
            <a:pPr algn="l"/>
            <a:r>
              <a:rPr b="0" sz="1300" i="0">
                <a:solidFill>
                  <a:srgbClr val="1A2233"/>
                </a:solidFill>
                <a:latin typeface="Consolas"/>
              </a:rPr>
              <a:t>F26 = InpC!F$65 (15)</a:t>
            </a:r>
          </a:p>
          <a:p>
            <a:pPr algn="l"/>
            <a:r>
              <a:rPr b="0" sz="1300" i="0">
                <a:solidFill>
                  <a:srgbClr val="1A2233"/>
                </a:solidFill>
                <a:latin typeface="Consolas"/>
              </a:rPr>
              <a:t>F27 = InpC!F$99 (4)</a:t>
            </a:r>
          </a:p>
          <a:p>
            <a:pPr algn="l"/>
            <a:r>
              <a:rPr b="0" sz="1300" i="0">
                <a:solidFill>
                  <a:srgbClr val="1A2233"/>
                </a:solidFill>
                <a:latin typeface="Consolas"/>
              </a:rPr>
              <a:t>J28 = Time!J$95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J29:CO29,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J29:CO29,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J29 → CO29</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H29 = 100,000.00;  L29 = 1,666.67</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Straight-line depreciation on a fixed base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NCA block 3: depreciation of new capex (rows 32 to 48) (1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33472"/>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32</a:t>
                      </a:r>
                    </a:p>
                  </a:txBody>
                  <a:tcPr marL="64008" marR="64008" marT="27432" marB="27432" anchor="ctr">
                    <a:solidFill>
                      <a:srgbClr val="FFFFFF"/>
                    </a:solidFill>
                  </a:tcPr>
                </a:tc>
                <a:tc>
                  <a:txBody>
                    <a:bodyPr wrap="square"/>
                    <a:lstStyle/>
                    <a:p>
                      <a:r>
                        <a:rPr b="0" sz="1200" i="0">
                          <a:solidFill>
                            <a:srgbClr val="1A2233"/>
                          </a:solidFill>
                          <a:latin typeface="Calibri"/>
                        </a:rPr>
                        <a:t>Useful life -capex</a:t>
                      </a:r>
                    </a:p>
                  </a:txBody>
                  <a:tcPr marL="64008" marR="64008" marT="27432" marB="27432" anchor="ctr">
                    <a:solidFill>
                      <a:srgbClr val="FFFFFF"/>
                    </a:solidFill>
                  </a:tcPr>
                </a:tc>
                <a:tc>
                  <a:txBody>
                    <a:bodyPr wrap="square"/>
                    <a:lstStyle/>
                    <a:p>
                      <a:r>
                        <a:rPr b="0" sz="1200" i="0">
                          <a:solidFill>
                            <a:srgbClr val="1A2233"/>
                          </a:solidFill>
                          <a:latin typeface="Consolas"/>
                        </a:rPr>
                        <a:t>F: =InpC!F$67</a:t>
                      </a:r>
                    </a:p>
                  </a:txBody>
                  <a:tcPr marL="64008" marR="64008" marT="27432" marB="27432" anchor="ctr">
                    <a:solidFill>
                      <a:srgbClr val="FFFFFF"/>
                    </a:solidFill>
                  </a:tcPr>
                </a:tc>
              </a:tr>
              <a:tr h="329184">
                <a:tc>
                  <a:txBody>
                    <a:bodyPr wrap="square"/>
                    <a:lstStyle/>
                    <a:p>
                      <a:r>
                        <a:rPr b="1" sz="1200" i="0">
                          <a:solidFill>
                            <a:srgbClr val="1A2233"/>
                          </a:solidFill>
                          <a:latin typeface="Calibri"/>
                        </a:rPr>
                        <a:t>33</a:t>
                      </a:r>
                    </a:p>
                  </a:txBody>
                  <a:tcPr marL="64008" marR="64008" marT="27432" marB="27432" anchor="ctr">
                    <a:solidFill>
                      <a:srgbClr val="F3F6F9"/>
                    </a:solidFill>
                  </a:tcPr>
                </a:tc>
                <a:tc>
                  <a:txBody>
                    <a:bodyPr wrap="square"/>
                    <a:lstStyle/>
                    <a:p>
                      <a:r>
                        <a:rPr b="0" sz="1200" i="0">
                          <a:solidFill>
                            <a:srgbClr val="1A2233"/>
                          </a:solidFill>
                          <a:latin typeface="Calibri"/>
                        </a:rPr>
                        <a:t>No of periods in a year</a:t>
                      </a:r>
                    </a:p>
                  </a:txBody>
                  <a:tcPr marL="64008" marR="64008" marT="27432" marB="27432" anchor="ctr">
                    <a:solidFill>
                      <a:srgbClr val="F3F6F9"/>
                    </a:solidFill>
                  </a:tcPr>
                </a:tc>
                <a:tc>
                  <a:txBody>
                    <a:bodyPr wrap="square"/>
                    <a:lstStyle/>
                    <a:p>
                      <a:r>
                        <a:rPr b="0" sz="1200" i="0">
                          <a:solidFill>
                            <a:srgbClr val="1A2233"/>
                          </a:solidFill>
                          <a:latin typeface="Consolas"/>
                        </a:rPr>
                        <a:t>F: =InpC!F$99</a:t>
                      </a:r>
                    </a:p>
                  </a:txBody>
                  <a:tcPr marL="64008" marR="64008" marT="27432" marB="27432" anchor="ctr">
                    <a:solidFill>
                      <a:srgbClr val="F3F6F9"/>
                    </a:solidFill>
                  </a:tcPr>
                </a:tc>
              </a:tr>
              <a:tr h="329184">
                <a:tc>
                  <a:txBody>
                    <a:bodyPr wrap="square"/>
                    <a:lstStyle/>
                    <a:p>
                      <a:r>
                        <a:rPr b="1" sz="1200" i="0">
                          <a:solidFill>
                            <a:srgbClr val="1A2233"/>
                          </a:solidFill>
                          <a:latin typeface="Calibri"/>
                        </a:rPr>
                        <a:t>34</a:t>
                      </a:r>
                    </a:p>
                  </a:txBody>
                  <a:tcPr marL="64008" marR="64008" marT="27432" marB="27432" anchor="ctr">
                    <a:solidFill>
                      <a:srgbClr val="FFFFFF"/>
                    </a:solidFill>
                  </a:tcPr>
                </a:tc>
                <a:tc>
                  <a:txBody>
                    <a:bodyPr wrap="square"/>
                    <a:lstStyle/>
                    <a:p>
                      <a:r>
                        <a:rPr b="0" sz="1200" i="0">
                          <a:solidFill>
                            <a:srgbClr val="1A2233"/>
                          </a:solidFill>
                          <a:latin typeface="Calibri"/>
                        </a:rPr>
                        <a:t>Periodic useful life</a:t>
                      </a:r>
                    </a:p>
                  </a:txBody>
                  <a:tcPr marL="64008" marR="64008" marT="27432" marB="27432" anchor="ctr">
                    <a:solidFill>
                      <a:srgbClr val="FFFFFF"/>
                    </a:solidFill>
                  </a:tcPr>
                </a:tc>
                <a:tc>
                  <a:txBody>
                    <a:bodyPr wrap="square"/>
                    <a:lstStyle/>
                    <a:p>
                      <a:r>
                        <a:rPr b="0" sz="1200" i="0">
                          <a:solidFill>
                            <a:srgbClr val="1A2233"/>
                          </a:solidFill>
                          <a:latin typeface="Consolas"/>
                        </a:rPr>
                        <a:t>F: =F32*F33</a:t>
                      </a:r>
                    </a:p>
                  </a:txBody>
                  <a:tcPr marL="64008" marR="64008" marT="27432" marB="27432" anchor="ctr">
                    <a:solidFill>
                      <a:srgbClr val="FFFFFF"/>
                    </a:solidFill>
                  </a:tcPr>
                </a:tc>
              </a:tr>
              <a:tr h="329184">
                <a:tc>
                  <a:txBody>
                    <a:bodyPr wrap="square"/>
                    <a:lstStyle/>
                    <a:p>
                      <a:r>
                        <a:rPr b="1" sz="1200" i="0">
                          <a:solidFill>
                            <a:srgbClr val="1A2233"/>
                          </a:solidFill>
                          <a:latin typeface="Calibri"/>
                        </a:rPr>
                        <a:t>36</a:t>
                      </a:r>
                    </a:p>
                  </a:txBody>
                  <a:tcPr marL="64008" marR="64008" marT="27432" marB="27432" anchor="ctr">
                    <a:solidFill>
                      <a:srgbClr val="F3F6F9"/>
                    </a:solidFill>
                  </a:tcPr>
                </a:tc>
                <a:tc>
                  <a:txBody>
                    <a:bodyPr wrap="square"/>
                    <a:lstStyle/>
                    <a:p>
                      <a:r>
                        <a:rPr b="0" sz="1200" i="0">
                          <a:solidFill>
                            <a:srgbClr val="1A2233"/>
                          </a:solidFill>
                          <a:latin typeface="Calibri"/>
                        </a:rPr>
                        <a:t>Periodic useful life</a:t>
                      </a:r>
                    </a:p>
                  </a:txBody>
                  <a:tcPr marL="64008" marR="64008" marT="27432" marB="27432" anchor="ctr">
                    <a:solidFill>
                      <a:srgbClr val="F3F6F9"/>
                    </a:solidFill>
                  </a:tcPr>
                </a:tc>
                <a:tc>
                  <a:txBody>
                    <a:bodyPr wrap="square"/>
                    <a:lstStyle/>
                    <a:p>
                      <a:r>
                        <a:rPr b="0" sz="1200" i="0">
                          <a:solidFill>
                            <a:srgbClr val="1A2233"/>
                          </a:solidFill>
                          <a:latin typeface="Consolas"/>
                        </a:rPr>
                        <a:t>F: =F$34</a:t>
                      </a:r>
                    </a:p>
                  </a:txBody>
                  <a:tcPr marL="64008" marR="64008" marT="27432" marB="27432" anchor="ctr">
                    <a:solidFill>
                      <a:srgbClr val="F3F6F9"/>
                    </a:solidFill>
                  </a:tcPr>
                </a:tc>
              </a:tr>
              <a:tr h="329184">
                <a:tc>
                  <a:txBody>
                    <a:bodyPr wrap="square"/>
                    <a:lstStyle/>
                    <a:p>
                      <a:r>
                        <a:rPr b="1" sz="1200" i="0">
                          <a:solidFill>
                            <a:srgbClr val="1A2233"/>
                          </a:solidFill>
                          <a:latin typeface="Calibri"/>
                        </a:rPr>
                        <a:t>37</a:t>
                      </a:r>
                    </a:p>
                  </a:txBody>
                  <a:tcPr marL="64008" marR="64008" marT="27432" marB="27432" anchor="ctr">
                    <a:solidFill>
                      <a:srgbClr val="FFFFFF"/>
                    </a:solidFill>
                  </a:tcPr>
                </a:tc>
                <a:tc>
                  <a:txBody>
                    <a:bodyPr wrap="square"/>
                    <a:lstStyle/>
                    <a:p>
                      <a:r>
                        <a:rPr b="0" sz="1200" i="0">
                          <a:solidFill>
                            <a:srgbClr val="1A2233"/>
                          </a:solidFill>
                          <a:latin typeface="Calibri"/>
                        </a:rPr>
                        <a:t>Model column counter</a:t>
                      </a:r>
                    </a:p>
                  </a:txBody>
                  <a:tcPr marL="64008" marR="64008" marT="27432" marB="27432" anchor="ctr">
                    <a:solidFill>
                      <a:srgbClr val="FFFFFF"/>
                    </a:solidFill>
                  </a:tcPr>
                </a:tc>
                <a:tc>
                  <a:txBody>
                    <a:bodyPr wrap="square"/>
                    <a:lstStyle/>
                    <a:p>
                      <a:r>
                        <a:rPr b="0" sz="1200" i="0">
                          <a:solidFill>
                            <a:srgbClr val="1A2233"/>
                          </a:solidFill>
                          <a:latin typeface="Consolas"/>
                        </a:rPr>
                        <a:t>J: =Time!J$10</a:t>
                      </a:r>
                    </a:p>
                  </a:txBody>
                  <a:tcPr marL="64008" marR="64008" marT="27432" marB="27432" anchor="ctr">
                    <a:solidFill>
                      <a:srgbClr val="FFFFFF"/>
                    </a:solidFill>
                  </a:tcPr>
                </a:tc>
              </a:tr>
              <a:tr h="329184">
                <a:tc>
                  <a:txBody>
                    <a:bodyPr wrap="square"/>
                    <a:lstStyle/>
                    <a:p>
                      <a:r>
                        <a:rPr b="1" sz="1200" i="0">
                          <a:solidFill>
                            <a:srgbClr val="1A2233"/>
                          </a:solidFill>
                          <a:latin typeface="Calibri"/>
                        </a:rPr>
                        <a:t>38</a:t>
                      </a:r>
                    </a:p>
                  </a:txBody>
                  <a:tcPr marL="64008" marR="64008" marT="27432" marB="27432" anchor="ctr">
                    <a:solidFill>
                      <a:srgbClr val="F3F6F9"/>
                    </a:solidFill>
                  </a:tcPr>
                </a:tc>
                <a:tc>
                  <a:txBody>
                    <a:bodyPr wrap="square"/>
                    <a:lstStyle/>
                    <a:p>
                      <a:r>
                        <a:rPr b="0" sz="1200" i="0">
                          <a:solidFill>
                            <a:srgbClr val="1A2233"/>
                          </a:solidFill>
                          <a:latin typeface="Calibri"/>
                        </a:rPr>
                        <a:t>Capital expenditure POS</a:t>
                      </a:r>
                    </a:p>
                  </a:txBody>
                  <a:tcPr marL="64008" marR="64008" marT="27432" marB="27432" anchor="ctr">
                    <a:solidFill>
                      <a:srgbClr val="F3F6F9"/>
                    </a:solidFill>
                  </a:tcPr>
                </a:tc>
                <a:tc>
                  <a:txBody>
                    <a:bodyPr wrap="square"/>
                    <a:lstStyle/>
                    <a:p>
                      <a:r>
                        <a:rPr b="0" sz="1200" i="0">
                          <a:solidFill>
                            <a:srgbClr val="1A2233"/>
                          </a:solidFill>
                          <a:latin typeface="Consolas"/>
                        </a:rPr>
                        <a:t>J: =J$18</a:t>
                      </a:r>
                    </a:p>
                  </a:txBody>
                  <a:tcPr marL="64008" marR="64008" marT="27432" marB="27432" anchor="ctr">
                    <a:solidFill>
                      <a:srgbClr val="F3F6F9"/>
                    </a:solidFill>
                  </a:tcPr>
                </a:tc>
              </a:tr>
              <a:tr h="329184">
                <a:tc>
                  <a:txBody>
                    <a:bodyPr wrap="square"/>
                    <a:lstStyle/>
                    <a:p>
                      <a:r>
                        <a:rPr b="1" sz="1200" i="0">
                          <a:solidFill>
                            <a:srgbClr val="1A2233"/>
                          </a:solidFill>
                          <a:latin typeface="Calibri"/>
                        </a:rPr>
                        <a:t>39</a:t>
                      </a:r>
                    </a:p>
                  </a:txBody>
                  <a:tcPr marL="64008" marR="64008" marT="27432" marB="27432" anchor="ctr">
                    <a:solidFill>
                      <a:srgbClr val="FFFFFF"/>
                    </a:solidFill>
                  </a:tcPr>
                </a:tc>
                <a:tc>
                  <a:txBody>
                    <a:bodyPr wrap="square"/>
                    <a:lstStyle/>
                    <a:p>
                      <a:r>
                        <a:rPr b="0" sz="1200" i="0">
                          <a:solidFill>
                            <a:srgbClr val="1A2233"/>
                          </a:solidFill>
                          <a:latin typeface="Calibri"/>
                        </a:rPr>
                        <a:t>Retirement of capex</a:t>
                      </a:r>
                    </a:p>
                  </a:txBody>
                  <a:tcPr marL="64008" marR="64008" marT="27432" marB="27432" anchor="ctr">
                    <a:solidFill>
                      <a:srgbClr val="FFFFFF"/>
                    </a:solidFill>
                  </a:tcPr>
                </a:tc>
                <a:tc>
                  <a:txBody>
                    <a:bodyPr wrap="square"/>
                    <a:lstStyle/>
                    <a:p>
                      <a:r>
                        <a:rPr b="0" sz="1200" i="0">
                          <a:solidFill>
                            <a:srgbClr val="1A2233"/>
                          </a:solidFill>
                          <a:latin typeface="Consolas"/>
                        </a:rPr>
                        <a:t>J: =SUMIFS($J38:J38,$J37:J37,J37-$F36)</a:t>
                      </a:r>
                    </a:p>
                  </a:txBody>
                  <a:tcPr marL="64008" marR="64008" marT="27432" marB="27432"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NCA block 3: depreciation of new capex (rows 32 to 48) (2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33472"/>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41</a:t>
                      </a:r>
                    </a:p>
                  </a:txBody>
                  <a:tcPr marL="64008" marR="64008" marT="27432" marB="27432" anchor="ctr">
                    <a:solidFill>
                      <a:srgbClr val="FFFFFF"/>
                    </a:solidFill>
                  </a:tcPr>
                </a:tc>
                <a:tc>
                  <a:txBody>
                    <a:bodyPr wrap="square"/>
                    <a:lstStyle/>
                    <a:p>
                      <a:r>
                        <a:rPr b="0" sz="1200" i="0">
                          <a:solidFill>
                            <a:srgbClr val="1A2233"/>
                          </a:solidFill>
                          <a:latin typeface="Calibri"/>
                        </a:rPr>
                        <a:t>Capex depreciable balance BEG</a:t>
                      </a:r>
                    </a:p>
                  </a:txBody>
                  <a:tcPr marL="64008" marR="64008" marT="27432" marB="27432" anchor="ctr">
                    <a:solidFill>
                      <a:srgbClr val="FFFFFF"/>
                    </a:solidFill>
                  </a:tcPr>
                </a:tc>
                <a:tc>
                  <a:txBody>
                    <a:bodyPr wrap="square"/>
                    <a:lstStyle/>
                    <a:p>
                      <a:r>
                        <a:rPr b="0" sz="1200" i="0">
                          <a:solidFill>
                            <a:srgbClr val="1A2233"/>
                          </a:solidFill>
                          <a:latin typeface="Consolas"/>
                        </a:rPr>
                        <a:t>J: =I44</a:t>
                      </a:r>
                    </a:p>
                  </a:txBody>
                  <a:tcPr marL="64008" marR="64008" marT="27432" marB="27432" anchor="ctr">
                    <a:solidFill>
                      <a:srgbClr val="FFFFFF"/>
                    </a:solidFill>
                  </a:tcPr>
                </a:tc>
              </a:tr>
              <a:tr h="329184">
                <a:tc>
                  <a:txBody>
                    <a:bodyPr wrap="square"/>
                    <a:lstStyle/>
                    <a:p>
                      <a:r>
                        <a:rPr b="1" sz="1200" i="0">
                          <a:solidFill>
                            <a:srgbClr val="1A2233"/>
                          </a:solidFill>
                          <a:latin typeface="Calibri"/>
                        </a:rPr>
                        <a:t>42</a:t>
                      </a:r>
                    </a:p>
                  </a:txBody>
                  <a:tcPr marL="64008" marR="64008" marT="27432" marB="27432" anchor="ctr">
                    <a:solidFill>
                      <a:srgbClr val="F3F6F9"/>
                    </a:solidFill>
                  </a:tcPr>
                </a:tc>
                <a:tc>
                  <a:txBody>
                    <a:bodyPr wrap="square"/>
                    <a:lstStyle/>
                    <a:p>
                      <a:r>
                        <a:rPr b="0" sz="1200" i="0">
                          <a:solidFill>
                            <a:srgbClr val="1A2233"/>
                          </a:solidFill>
                          <a:latin typeface="Calibri"/>
                        </a:rPr>
                        <a:t>Capital expenditure POS</a:t>
                      </a:r>
                    </a:p>
                  </a:txBody>
                  <a:tcPr marL="64008" marR="64008" marT="27432" marB="27432" anchor="ctr">
                    <a:solidFill>
                      <a:srgbClr val="F3F6F9"/>
                    </a:solidFill>
                  </a:tcPr>
                </a:tc>
                <a:tc>
                  <a:txBody>
                    <a:bodyPr wrap="square"/>
                    <a:lstStyle/>
                    <a:p>
                      <a:r>
                        <a:rPr b="0" sz="1200" i="0">
                          <a:solidFill>
                            <a:srgbClr val="1A2233"/>
                          </a:solidFill>
                          <a:latin typeface="Consolas"/>
                        </a:rPr>
                        <a:t>J: =J$18</a:t>
                      </a:r>
                    </a:p>
                  </a:txBody>
                  <a:tcPr marL="64008" marR="64008" marT="27432" marB="27432" anchor="ctr">
                    <a:solidFill>
                      <a:srgbClr val="F3F6F9"/>
                    </a:solidFill>
                  </a:tcPr>
                </a:tc>
              </a:tr>
              <a:tr h="329184">
                <a:tc>
                  <a:txBody>
                    <a:bodyPr wrap="square"/>
                    <a:lstStyle/>
                    <a:p>
                      <a:r>
                        <a:rPr b="1" sz="1200" i="0">
                          <a:solidFill>
                            <a:srgbClr val="1A2233"/>
                          </a:solidFill>
                          <a:latin typeface="Calibri"/>
                        </a:rPr>
                        <a:t>43</a:t>
                      </a:r>
                    </a:p>
                  </a:txBody>
                  <a:tcPr marL="64008" marR="64008" marT="27432" marB="27432" anchor="ctr">
                    <a:solidFill>
                      <a:srgbClr val="FFFFFF"/>
                    </a:solidFill>
                  </a:tcPr>
                </a:tc>
                <a:tc>
                  <a:txBody>
                    <a:bodyPr wrap="square"/>
                    <a:lstStyle/>
                    <a:p>
                      <a:r>
                        <a:rPr b="0" sz="1200" i="0">
                          <a:solidFill>
                            <a:srgbClr val="1A2233"/>
                          </a:solidFill>
                          <a:latin typeface="Calibri"/>
                        </a:rPr>
                        <a:t>Retirement of capex</a:t>
                      </a:r>
                    </a:p>
                  </a:txBody>
                  <a:tcPr marL="64008" marR="64008" marT="27432" marB="27432" anchor="ctr">
                    <a:solidFill>
                      <a:srgbClr val="FFFFFF"/>
                    </a:solidFill>
                  </a:tcPr>
                </a:tc>
                <a:tc>
                  <a:txBody>
                    <a:bodyPr wrap="square"/>
                    <a:lstStyle/>
                    <a:p>
                      <a:r>
                        <a:rPr b="0" sz="1200" i="0">
                          <a:solidFill>
                            <a:srgbClr val="1A2233"/>
                          </a:solidFill>
                          <a:latin typeface="Consolas"/>
                        </a:rPr>
                        <a:t>J: =J$39</a:t>
                      </a:r>
                    </a:p>
                  </a:txBody>
                  <a:tcPr marL="64008" marR="64008" marT="27432" marB="27432" anchor="ctr">
                    <a:solidFill>
                      <a:srgbClr val="FFFFFF"/>
                    </a:solidFill>
                  </a:tcPr>
                </a:tc>
              </a:tr>
              <a:tr h="329184">
                <a:tc>
                  <a:txBody>
                    <a:bodyPr wrap="square"/>
                    <a:lstStyle/>
                    <a:p>
                      <a:r>
                        <a:rPr b="1" sz="1200" i="0">
                          <a:solidFill>
                            <a:srgbClr val="1A2233"/>
                          </a:solidFill>
                          <a:latin typeface="Calibri"/>
                        </a:rPr>
                        <a:t>44</a:t>
                      </a:r>
                    </a:p>
                  </a:txBody>
                  <a:tcPr marL="64008" marR="64008" marT="27432" marB="27432" anchor="ctr">
                    <a:solidFill>
                      <a:srgbClr val="F3F6F9"/>
                    </a:solidFill>
                  </a:tcPr>
                </a:tc>
                <a:tc>
                  <a:txBody>
                    <a:bodyPr wrap="square"/>
                    <a:lstStyle/>
                    <a:p>
                      <a:r>
                        <a:rPr b="0" sz="1200" i="0">
                          <a:solidFill>
                            <a:srgbClr val="1A2233"/>
                          </a:solidFill>
                          <a:latin typeface="Calibri"/>
                        </a:rPr>
                        <a:t>Capex depreciable balance END</a:t>
                      </a:r>
                    </a:p>
                  </a:txBody>
                  <a:tcPr marL="64008" marR="64008" marT="27432" marB="27432" anchor="ctr">
                    <a:solidFill>
                      <a:srgbClr val="F3F6F9"/>
                    </a:solidFill>
                  </a:tcPr>
                </a:tc>
                <a:tc>
                  <a:txBody>
                    <a:bodyPr wrap="square"/>
                    <a:lstStyle/>
                    <a:p>
                      <a:r>
                        <a:rPr b="0" sz="1200" i="0">
                          <a:solidFill>
                            <a:srgbClr val="1A2233"/>
                          </a:solidFill>
                          <a:latin typeface="Consolas"/>
                        </a:rPr>
                        <a:t>J: =J41+J42-J43</a:t>
                      </a:r>
                    </a:p>
                  </a:txBody>
                  <a:tcPr marL="64008" marR="64008" marT="27432" marB="27432" anchor="ctr">
                    <a:solidFill>
                      <a:srgbClr val="F3F6F9"/>
                    </a:solidFill>
                  </a:tcPr>
                </a:tc>
              </a:tr>
              <a:tr h="329184">
                <a:tc>
                  <a:txBody>
                    <a:bodyPr wrap="square"/>
                    <a:lstStyle/>
                    <a:p>
                      <a:r>
                        <a:rPr b="1" sz="1200" i="0">
                          <a:solidFill>
                            <a:srgbClr val="1A2233"/>
                          </a:solidFill>
                          <a:latin typeface="Calibri"/>
                        </a:rPr>
                        <a:t>46</a:t>
                      </a:r>
                    </a:p>
                  </a:txBody>
                  <a:tcPr marL="64008" marR="64008" marT="27432" marB="27432" anchor="ctr">
                    <a:solidFill>
                      <a:srgbClr val="FFFFFF"/>
                    </a:solidFill>
                  </a:tcPr>
                </a:tc>
                <a:tc>
                  <a:txBody>
                    <a:bodyPr wrap="square"/>
                    <a:lstStyle/>
                    <a:p>
                      <a:r>
                        <a:rPr b="0" sz="1200" i="0">
                          <a:solidFill>
                            <a:srgbClr val="1A2233"/>
                          </a:solidFill>
                          <a:latin typeface="Calibri"/>
                        </a:rPr>
                        <a:t>Periodic useful life</a:t>
                      </a:r>
                    </a:p>
                  </a:txBody>
                  <a:tcPr marL="64008" marR="64008" marT="27432" marB="27432" anchor="ctr">
                    <a:solidFill>
                      <a:srgbClr val="FFFFFF"/>
                    </a:solidFill>
                  </a:tcPr>
                </a:tc>
                <a:tc>
                  <a:txBody>
                    <a:bodyPr wrap="square"/>
                    <a:lstStyle/>
                    <a:p>
                      <a:r>
                        <a:rPr b="0" sz="1200" i="0">
                          <a:solidFill>
                            <a:srgbClr val="1A2233"/>
                          </a:solidFill>
                          <a:latin typeface="Consolas"/>
                        </a:rPr>
                        <a:t>F: =F$34</a:t>
                      </a:r>
                    </a:p>
                  </a:txBody>
                  <a:tcPr marL="64008" marR="64008" marT="27432" marB="27432" anchor="ctr">
                    <a:solidFill>
                      <a:srgbClr val="FFFFFF"/>
                    </a:solidFill>
                  </a:tcPr>
                </a:tc>
              </a:tr>
              <a:tr h="329184">
                <a:tc>
                  <a:txBody>
                    <a:bodyPr wrap="square"/>
                    <a:lstStyle/>
                    <a:p>
                      <a:r>
                        <a:rPr b="1" sz="1200" i="0">
                          <a:solidFill>
                            <a:srgbClr val="1A2233"/>
                          </a:solidFill>
                          <a:latin typeface="Calibri"/>
                        </a:rPr>
                        <a:t>47</a:t>
                      </a:r>
                    </a:p>
                  </a:txBody>
                  <a:tcPr marL="64008" marR="64008" marT="27432" marB="27432" anchor="ctr">
                    <a:solidFill>
                      <a:srgbClr val="F3F6F9"/>
                    </a:solidFill>
                  </a:tcPr>
                </a:tc>
                <a:tc>
                  <a:txBody>
                    <a:bodyPr wrap="square"/>
                    <a:lstStyle/>
                    <a:p>
                      <a:r>
                        <a:rPr b="0" sz="1200" i="0">
                          <a:solidFill>
                            <a:srgbClr val="1A2233"/>
                          </a:solidFill>
                          <a:latin typeface="Calibri"/>
                        </a:rPr>
                        <a:t>Capex depreciable balance BEG</a:t>
                      </a:r>
                    </a:p>
                  </a:txBody>
                  <a:tcPr marL="64008" marR="64008" marT="27432" marB="27432" anchor="ctr">
                    <a:solidFill>
                      <a:srgbClr val="F3F6F9"/>
                    </a:solidFill>
                  </a:tcPr>
                </a:tc>
                <a:tc>
                  <a:txBody>
                    <a:bodyPr wrap="square"/>
                    <a:lstStyle/>
                    <a:p>
                      <a:r>
                        <a:rPr b="0" sz="1200" i="0">
                          <a:solidFill>
                            <a:srgbClr val="1A2233"/>
                          </a:solidFill>
                          <a:latin typeface="Consolas"/>
                        </a:rPr>
                        <a:t>J: =J$41</a:t>
                      </a:r>
                    </a:p>
                  </a:txBody>
                  <a:tcPr marL="64008" marR="64008" marT="27432" marB="27432" anchor="ctr">
                    <a:solidFill>
                      <a:srgbClr val="F3F6F9"/>
                    </a:solidFill>
                  </a:tcPr>
                </a:tc>
              </a:tr>
              <a:tr h="329184">
                <a:tc>
                  <a:txBody>
                    <a:bodyPr wrap="square"/>
                    <a:lstStyle/>
                    <a:p>
                      <a:r>
                        <a:rPr b="1" sz="1200" i="0">
                          <a:solidFill>
                            <a:srgbClr val="1A2233"/>
                          </a:solidFill>
                          <a:latin typeface="Calibri"/>
                        </a:rPr>
                        <a:t>48</a:t>
                      </a:r>
                    </a:p>
                  </a:txBody>
                  <a:tcPr marL="64008" marR="64008" marT="27432" marB="27432" anchor="ctr">
                    <a:solidFill>
                      <a:srgbClr val="FFFFFF"/>
                    </a:solidFill>
                  </a:tcPr>
                </a:tc>
                <a:tc>
                  <a:txBody>
                    <a:bodyPr wrap="square"/>
                    <a:lstStyle/>
                    <a:p>
                      <a:r>
                        <a:rPr b="0" sz="1200" i="0">
                          <a:solidFill>
                            <a:srgbClr val="1A2233"/>
                          </a:solidFill>
                          <a:latin typeface="Calibri"/>
                        </a:rPr>
                        <a:t>Accounting depreciation - capex</a:t>
                      </a:r>
                    </a:p>
                  </a:txBody>
                  <a:tcPr marL="64008" marR="64008" marT="27432" marB="27432" anchor="ctr">
                    <a:solidFill>
                      <a:srgbClr val="FFFFFF"/>
                    </a:solidFill>
                  </a:tcPr>
                </a:tc>
                <a:tc>
                  <a:txBody>
                    <a:bodyPr wrap="square"/>
                    <a:lstStyle/>
                    <a:p>
                      <a:r>
                        <a:rPr b="0" sz="1200" i="0">
                          <a:solidFill>
                            <a:srgbClr val="1A2233"/>
                          </a:solidFill>
                          <a:latin typeface="Consolas"/>
                        </a:rPr>
                        <a:t>J: =J47/$F46</a:t>
                      </a:r>
                    </a:p>
                  </a:txBody>
                  <a:tcPr marL="64008" marR="64008" marT="27432" marB="27432"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NCA!J39: retirement of capex</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J39  (to CO39)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Retirement of capex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=SUMIFS($J38:J38,$J37:J37,J37-$F36)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Capex retires from the depreciable pool when it is 20 periods old</a:t>
            </a:r>
          </a:p>
          <a:p>
            <a:pPr algn="l"/>
            <a:r>
              <a:rPr b="0" sz="1500" i="0">
                <a:solidFill>
                  <a:srgbClr val="1A2233"/>
                </a:solidFill>
                <a:latin typeface="Calibri"/>
              </a:rPr>
              <a:t>▪ SUMIFS adds the capex made exactly F36 (20) periods ago: counter now minus 20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F36 = F$34 (periodic life = 5 yrs × 4 = 20)</a:t>
            </a:r>
          </a:p>
          <a:p>
            <a:pPr algn="l"/>
            <a:r>
              <a:rPr b="0" sz="1300" i="0">
                <a:solidFill>
                  <a:srgbClr val="1A2233"/>
                </a:solidFill>
                <a:latin typeface="Consolas"/>
              </a:rPr>
              <a:t>J37 = Time!J$10 (counter)</a:t>
            </a:r>
          </a:p>
          <a:p>
            <a:pPr algn="l"/>
            <a:r>
              <a:rPr b="0" sz="1300" i="0">
                <a:solidFill>
                  <a:srgbClr val="1A2233"/>
                </a:solidFill>
                <a:latin typeface="Consolas"/>
              </a:rPr>
              <a:t>J38 = J$18 (capex)</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J39:CO39,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J39:CO39,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J39 → CO39</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H39 = 8,000;  L39 = 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 moving window: capex joins the pool when spent and leaves it 20 quarters later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NCA!J44: capex depreciable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J44  (to CO44)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Capex depreciable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=J41+J42-J43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Capex depreciable balance END = BEG + capex − retirement</a:t>
            </a:r>
          </a:p>
          <a:p>
            <a:pPr algn="l"/>
            <a:r>
              <a:rPr b="0" sz="1500" i="0">
                <a:solidFill>
                  <a:srgbClr val="1A2233"/>
                </a:solidFill>
                <a:latin typeface="Calibri"/>
              </a:rPr>
              <a:t>▪ Row 41 BEG </a:t>
            </a:r>
            <a:r>
              <a:rPr b="0" sz="1500" i="0">
                <a:solidFill>
                  <a:srgbClr val="0B5E82"/>
                </a:solidFill>
                <a:latin typeface="Consolas"/>
              </a:rPr>
              <a:t>=I44</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J44:CO44,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J44:CO44,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J44 → CO44</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L44 = 0</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Pool of capex still being depreciated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NCA!J48: accounting depreciation of capex</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J48  (to CO48)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Accounting depreciation - capex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=J47/$F46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Depreciation of the capex pool = opening pool ÷ periodic life (20)</a:t>
            </a:r>
          </a:p>
          <a:p>
            <a:pPr algn="l"/>
            <a:r>
              <a:rPr b="0" sz="1500" i="0">
                <a:solidFill>
                  <a:srgbClr val="1A2233"/>
                </a:solidFill>
                <a:latin typeface="Calibri"/>
              </a:rPr>
              <a:t>▪ Simple and transparent; a slight simplification versus asset-by-asset depreciation</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F46 = F$34 (20)</a:t>
            </a:r>
          </a:p>
          <a:p>
            <a:pPr algn="l"/>
            <a:r>
              <a:rPr b="0" sz="1300" i="0">
                <a:solidFill>
                  <a:srgbClr val="1A2233"/>
                </a:solidFill>
                <a:latin typeface="Consolas"/>
              </a:rPr>
              <a:t>J47 = J$41 (pool BEG)</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J48:CO48,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J48:CO48,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J48 → CO48</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H48 = 8,000.00;  L48 = 0.00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Smooths depreciation and avoids a separate schedule for each capex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 block 4: depreciation summary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64592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51</a:t>
                      </a:r>
                    </a:p>
                  </a:txBody>
                  <a:tcPr marL="64008" marR="64008" marT="27432" marB="27432" anchor="ctr">
                    <a:solidFill>
                      <a:srgbClr val="FFFFFF"/>
                    </a:solidFill>
                  </a:tcPr>
                </a:tc>
                <a:tc>
                  <a:txBody>
                    <a:bodyPr wrap="square"/>
                    <a:lstStyle/>
                    <a:p>
                      <a:r>
                        <a:rPr b="0" sz="1200" i="0">
                          <a:solidFill>
                            <a:srgbClr val="1A2233"/>
                          </a:solidFill>
                          <a:latin typeface="Calibri"/>
                        </a:rPr>
                        <a:t>Accounting depreciation - Initial balance</a:t>
                      </a:r>
                    </a:p>
                  </a:txBody>
                  <a:tcPr marL="64008" marR="64008" marT="27432" marB="27432" anchor="ctr">
                    <a:solidFill>
                      <a:srgbClr val="FFFFFF"/>
                    </a:solidFill>
                  </a:tcPr>
                </a:tc>
                <a:tc>
                  <a:txBody>
                    <a:bodyPr wrap="square"/>
                    <a:lstStyle/>
                    <a:p>
                      <a:r>
                        <a:rPr b="0" sz="1200" i="0">
                          <a:solidFill>
                            <a:srgbClr val="1A2233"/>
                          </a:solidFill>
                          <a:latin typeface="Consolas"/>
                        </a:rPr>
                        <a:t>J: =J$29</a:t>
                      </a:r>
                    </a:p>
                  </a:txBody>
                  <a:tcPr marL="64008" marR="64008" marT="27432" marB="27432" anchor="ctr">
                    <a:solidFill>
                      <a:srgbClr val="FFFFFF"/>
                    </a:solidFill>
                  </a:tcPr>
                </a:tc>
              </a:tr>
              <a:tr h="329184">
                <a:tc>
                  <a:txBody>
                    <a:bodyPr wrap="square"/>
                    <a:lstStyle/>
                    <a:p>
                      <a:r>
                        <a:rPr b="1" sz="1200" i="0">
                          <a:solidFill>
                            <a:srgbClr val="1A2233"/>
                          </a:solidFill>
                          <a:latin typeface="Calibri"/>
                        </a:rPr>
                        <a:t>52</a:t>
                      </a:r>
                    </a:p>
                  </a:txBody>
                  <a:tcPr marL="64008" marR="64008" marT="27432" marB="27432" anchor="ctr">
                    <a:solidFill>
                      <a:srgbClr val="F3F6F9"/>
                    </a:solidFill>
                  </a:tcPr>
                </a:tc>
                <a:tc>
                  <a:txBody>
                    <a:bodyPr wrap="square"/>
                    <a:lstStyle/>
                    <a:p>
                      <a:r>
                        <a:rPr b="0" sz="1200" i="0">
                          <a:solidFill>
                            <a:srgbClr val="1A2233"/>
                          </a:solidFill>
                          <a:latin typeface="Calibri"/>
                        </a:rPr>
                        <a:t>Accounting depreciation - capex</a:t>
                      </a:r>
                    </a:p>
                  </a:txBody>
                  <a:tcPr marL="64008" marR="64008" marT="27432" marB="27432" anchor="ctr">
                    <a:solidFill>
                      <a:srgbClr val="F3F6F9"/>
                    </a:solidFill>
                  </a:tcPr>
                </a:tc>
                <a:tc>
                  <a:txBody>
                    <a:bodyPr wrap="square"/>
                    <a:lstStyle/>
                    <a:p>
                      <a:r>
                        <a:rPr b="0" sz="1200" i="0">
                          <a:solidFill>
                            <a:srgbClr val="1A2233"/>
                          </a:solidFill>
                          <a:latin typeface="Consolas"/>
                        </a:rPr>
                        <a:t>J: =J$48</a:t>
                      </a:r>
                    </a:p>
                  </a:txBody>
                  <a:tcPr marL="64008" marR="64008" marT="27432" marB="27432" anchor="ctr">
                    <a:solidFill>
                      <a:srgbClr val="F3F6F9"/>
                    </a:solidFill>
                  </a:tcPr>
                </a:tc>
              </a:tr>
              <a:tr h="329184">
                <a:tc>
                  <a:txBody>
                    <a:bodyPr wrap="square"/>
                    <a:lstStyle/>
                    <a:p>
                      <a:r>
                        <a:rPr b="1" sz="1200" i="0">
                          <a:solidFill>
                            <a:srgbClr val="1A2233"/>
                          </a:solidFill>
                          <a:latin typeface="Calibri"/>
                        </a:rPr>
                        <a:t>53</a:t>
                      </a:r>
                    </a:p>
                  </a:txBody>
                  <a:tcPr marL="64008" marR="64008" marT="27432" marB="27432" anchor="ctr">
                    <a:solidFill>
                      <a:srgbClr val="FFFFFF"/>
                    </a:solidFill>
                  </a:tcPr>
                </a:tc>
                <a:tc>
                  <a:txBody>
                    <a:bodyPr wrap="square"/>
                    <a:lstStyle/>
                    <a:p>
                      <a:r>
                        <a:rPr b="0" sz="1200" i="0">
                          <a:solidFill>
                            <a:srgbClr val="1A2233"/>
                          </a:solidFill>
                          <a:latin typeface="Calibri"/>
                        </a:rPr>
                        <a:t>Accounting depreciation POS</a:t>
                      </a:r>
                    </a:p>
                  </a:txBody>
                  <a:tcPr marL="64008" marR="64008" marT="27432" marB="27432" anchor="ctr">
                    <a:solidFill>
                      <a:srgbClr val="FFFFFF"/>
                    </a:solidFill>
                  </a:tcPr>
                </a:tc>
                <a:tc>
                  <a:txBody>
                    <a:bodyPr wrap="square"/>
                    <a:lstStyle/>
                    <a:p>
                      <a:r>
                        <a:rPr b="0" sz="1200" i="0">
                          <a:solidFill>
                            <a:srgbClr val="1A2233"/>
                          </a:solidFill>
                          <a:latin typeface="Consolas"/>
                        </a:rPr>
                        <a:t>J: =SUM(J51:J52)</a:t>
                      </a:r>
                    </a:p>
                  </a:txBody>
                  <a:tcPr marL="64008" marR="64008" marT="27432" marB="27432" anchor="ctr">
                    <a:solidFill>
                      <a:srgbClr val="FFFFFF"/>
                    </a:solidFill>
                  </a:tcPr>
                </a:tc>
              </a:tr>
              <a:tr h="329184">
                <a:tc>
                  <a:txBody>
                    <a:bodyPr wrap="square"/>
                    <a:lstStyle/>
                    <a:p>
                      <a:r>
                        <a:rPr b="1" sz="1200" i="0">
                          <a:solidFill>
                            <a:srgbClr val="1A2233"/>
                          </a:solidFill>
                          <a:latin typeface="Calibri"/>
                        </a:rPr>
                        <a:t>54</a:t>
                      </a:r>
                    </a:p>
                  </a:txBody>
                  <a:tcPr marL="64008" marR="64008" marT="27432" marB="27432" anchor="ctr">
                    <a:solidFill>
                      <a:srgbClr val="F3F6F9"/>
                    </a:solidFill>
                  </a:tcPr>
                </a:tc>
                <a:tc>
                  <a:txBody>
                    <a:bodyPr wrap="square"/>
                    <a:lstStyle/>
                    <a:p>
                      <a:r>
                        <a:rPr b="0" sz="1200" i="0">
                          <a:solidFill>
                            <a:srgbClr val="1A2233"/>
                          </a:solidFill>
                          <a:latin typeface="Calibri"/>
                        </a:rPr>
                        <a:t>Accounting depreciation</a:t>
                      </a:r>
                    </a:p>
                  </a:txBody>
                  <a:tcPr marL="64008" marR="64008" marT="27432" marB="27432" anchor="ctr">
                    <a:solidFill>
                      <a:srgbClr val="F3F6F9"/>
                    </a:solidFill>
                  </a:tcPr>
                </a:tc>
                <a:tc>
                  <a:txBody>
                    <a:bodyPr wrap="square"/>
                    <a:lstStyle/>
                    <a:p>
                      <a:r>
                        <a:rPr b="0" sz="1200" i="0">
                          <a:solidFill>
                            <a:srgbClr val="1A2233"/>
                          </a:solidFill>
                          <a:latin typeface="Consolas"/>
                        </a:rPr>
                        <a:t>J: =-1*J53</a:t>
                      </a:r>
                    </a:p>
                  </a:txBody>
                  <a:tcPr marL="64008" marR="64008" marT="27432" marB="27432" anchor="ctr">
                    <a:solidFill>
                      <a:srgbClr val="F3F6F9"/>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NCA!J53: accounting depreciation POS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J53  (to CO53)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Accounting depreciation POS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=SUM(J51:J52)</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Opening-asset depreciation + capex depreciation</a:t>
            </a:r>
          </a:p>
          <a:p>
            <a:pPr algn="l"/>
            <a:r>
              <a:rPr b="0" sz="1500" i="0">
                <a:solidFill>
                  <a:srgbClr val="1A2233"/>
                </a:solidFill>
                <a:latin typeface="Calibri"/>
              </a:rPr>
              <a:t>▪ Row 54 flips sign for the income statement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J53:CO53,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J53:CO53,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J53 → CO53</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H53 = 108,000;  L53 = 1,667</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Flows to FinStat row 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NCA!J64: non-current asset balance (BS)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NCA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J64  (to CO64)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Non current asset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=IF(J59=1,$F58,J61+J62-J63)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Roll-forward: opening + capex − depreciation; opening on the acquisition date is F58 (100,000)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F58 = InpC!F$64</a:t>
            </a:r>
          </a:p>
          <a:p>
            <a:pPr algn="l"/>
            <a:r>
              <a:rPr b="0" sz="1300" i="0">
                <a:solidFill>
                  <a:srgbClr val="1A2233"/>
                </a:solidFill>
                <a:latin typeface="Consolas"/>
              </a:rPr>
              <a:t>J59 = Time!J$45</a:t>
            </a:r>
          </a:p>
          <a:p>
            <a:pPr algn="l"/>
            <a:r>
              <a:rPr b="0" sz="1300" i="0">
                <a:solidFill>
                  <a:srgbClr val="1A2233"/>
                </a:solidFill>
                <a:latin typeface="Consolas"/>
              </a:rPr>
              <a:t>J61 = I64</a:t>
            </a:r>
          </a:p>
          <a:p>
            <a:pPr algn="l"/>
            <a:r>
              <a:rPr b="0" sz="1300" i="0">
                <a:solidFill>
                  <a:srgbClr val="1A2233"/>
                </a:solidFill>
                <a:latin typeface="Consolas"/>
              </a:rPr>
              <a:t>J62 = J$18</a:t>
            </a:r>
          </a:p>
          <a:p>
            <a:pPr algn="l"/>
            <a:r>
              <a:rPr b="0" sz="1300" i="0">
                <a:solidFill>
                  <a:srgbClr val="1A2233"/>
                </a:solidFill>
                <a:latin typeface="Consolas"/>
              </a:rPr>
              <a:t>J63 = J$53</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J64:CO64,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J64:CO64,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J64 → CO64</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L64 = 98,333</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balance-sheet asset 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5.1: Rebuild NCA and check the 108,000</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Rebuild NCA rows 9 to 64. Test: total depreciation H53 must equal the opening asset base plus all capex.</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Capex (18, 19) and the date table</a:t>
            </a:r>
          </a:p>
          <a:p>
            <a:pPr>
              <a:spcAft>
                <a:spcPts val="300"/>
              </a:spcAft>
            </a:pPr>
            <a:r>
              <a:rPr b="0" sz="1500" i="0">
                <a:solidFill>
                  <a:srgbClr val="1A2233"/>
                </a:solidFill>
                <a:latin typeface="Calibri"/>
              </a:rPr>
              <a:t>2.  Initial-balance depreciation (29)</a:t>
            </a:r>
          </a:p>
          <a:p>
            <a:pPr>
              <a:spcAft>
                <a:spcPts val="300"/>
              </a:spcAft>
            </a:pPr>
            <a:r>
              <a:rPr b="0" sz="1500" i="0">
                <a:solidFill>
                  <a:srgbClr val="1A2233"/>
                </a:solidFill>
                <a:latin typeface="Calibri"/>
              </a:rPr>
              <a:t>3.  Retirement (39), pool (41 to 44), capex depreciation (48)</a:t>
            </a:r>
          </a:p>
          <a:p>
            <a:pPr>
              <a:spcAft>
                <a:spcPts val="300"/>
              </a:spcAft>
            </a:pPr>
            <a:r>
              <a:rPr b="0" sz="1500" i="0">
                <a:solidFill>
                  <a:srgbClr val="1A2233"/>
                </a:solidFill>
                <a:latin typeface="Calibri"/>
              </a:rPr>
              <a:t>4.  Summary (53, 54) and balance (61 to 64)</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Checkpoints: NCA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914400"/>
                <a:gridCol w="4572000"/>
                <a:gridCol w="2743200"/>
                <a:gridCol w="2834640"/>
              </a:tblGrid>
              <a:tr h="384048">
                <a:tc>
                  <a:txBody>
                    <a:bodyPr wrap="square"/>
                    <a:lstStyle/>
                    <a:p>
                      <a:r>
                        <a:rPr b="1" sz="1300" i="0">
                          <a:solidFill>
                            <a:srgbClr val="FFFFFF"/>
                          </a:solidFill>
                          <a:latin typeface="Calibri"/>
                        </a:rPr>
                        <a:t>Row</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H (total)</a:t>
                      </a:r>
                    </a:p>
                  </a:txBody>
                  <a:tcPr marL="64008" marR="64008" marT="27432" marB="27432" anchor="ctr">
                    <a:solidFill>
                      <a:srgbClr val="141B4D"/>
                    </a:solidFill>
                  </a:tcPr>
                </a:tc>
                <a:tc>
                  <a:txBody>
                    <a:bodyPr wrap="square"/>
                    <a:lstStyle/>
                    <a:p>
                      <a:r>
                        <a:rPr b="1" sz="1300" i="0">
                          <a:solidFill>
                            <a:srgbClr val="FFFFFF"/>
                          </a:solidFill>
                          <a:latin typeface="Calibri"/>
                        </a:rPr>
                        <a:t>L (2022-03-31)</a:t>
                      </a:r>
                    </a:p>
                  </a:txBody>
                  <a:tcPr marL="64008" marR="64008" marT="27432" marB="27432" anchor="ctr">
                    <a:solidFill>
                      <a:srgbClr val="141B4D"/>
                    </a:solidFill>
                  </a:tcPr>
                </a:tc>
              </a:tr>
              <a:tr h="384048">
                <a:tc>
                  <a:txBody>
                    <a:bodyPr wrap="square"/>
                    <a:lstStyle/>
                    <a:p>
                      <a:r>
                        <a:rPr b="1" sz="1300" i="0">
                          <a:solidFill>
                            <a:srgbClr val="1A2233"/>
                          </a:solidFill>
                          <a:latin typeface="Calibri"/>
                        </a:rPr>
                        <a:t>18</a:t>
                      </a:r>
                    </a:p>
                  </a:txBody>
                  <a:tcPr marL="64008" marR="64008" marT="27432" marB="27432" anchor="ctr">
                    <a:solidFill>
                      <a:srgbClr val="FFFFFF"/>
                    </a:solidFill>
                  </a:tcPr>
                </a:tc>
                <a:tc>
                  <a:txBody>
                    <a:bodyPr wrap="square"/>
                    <a:lstStyle/>
                    <a:p>
                      <a:r>
                        <a:rPr b="0" sz="1300" i="0">
                          <a:solidFill>
                            <a:srgbClr val="1A2233"/>
                          </a:solidFill>
                          <a:latin typeface="Calibri"/>
                        </a:rPr>
                        <a:t>Capex POS</a:t>
                      </a:r>
                    </a:p>
                  </a:txBody>
                  <a:tcPr marL="64008" marR="64008" marT="27432" marB="27432" anchor="ctr">
                    <a:solidFill>
                      <a:srgbClr val="FFFFFF"/>
                    </a:solidFill>
                  </a:tcPr>
                </a:tc>
                <a:tc>
                  <a:txBody>
                    <a:bodyPr wrap="square"/>
                    <a:lstStyle/>
                    <a:p>
                      <a:r>
                        <a:rPr b="0" sz="1300" i="0">
                          <a:solidFill>
                            <a:srgbClr val="1A2233"/>
                          </a:solidFill>
                          <a:latin typeface="Calibri"/>
                        </a:rPr>
                        <a:t>8,000</a:t>
                      </a:r>
                    </a:p>
                  </a:txBody>
                  <a:tcPr marL="64008" marR="64008" marT="27432" marB="27432" anchor="ctr">
                    <a:solidFill>
                      <a:srgbClr val="FFFFFF"/>
                    </a:solidFill>
                  </a:tcPr>
                </a:tc>
                <a:tc>
                  <a:txBody>
                    <a:bodyPr wrap="square"/>
                    <a:lstStyle/>
                    <a:p>
                      <a:r>
                        <a:rPr b="0" sz="1300" i="0">
                          <a:solidFill>
                            <a:srgbClr val="1A2233"/>
                          </a:solidFill>
                          <a:latin typeface="Calibri"/>
                        </a:rPr>
                        <a:t>0</a:t>
                      </a:r>
                    </a:p>
                  </a:txBody>
                  <a:tcPr marL="64008" marR="64008" marT="27432" marB="27432" anchor="ctr">
                    <a:solidFill>
                      <a:srgbClr val="FFFFFF"/>
                    </a:solidFill>
                  </a:tcPr>
                </a:tc>
              </a:tr>
              <a:tr h="384048">
                <a:tc>
                  <a:txBody>
                    <a:bodyPr wrap="square"/>
                    <a:lstStyle/>
                    <a:p>
                      <a:r>
                        <a:rPr b="1" sz="1300" i="0">
                          <a:solidFill>
                            <a:srgbClr val="1A2233"/>
                          </a:solidFill>
                          <a:latin typeface="Calibri"/>
                        </a:rPr>
                        <a:t>29</a:t>
                      </a:r>
                    </a:p>
                  </a:txBody>
                  <a:tcPr marL="64008" marR="64008" marT="27432" marB="27432" anchor="ctr">
                    <a:solidFill>
                      <a:srgbClr val="F3F6F9"/>
                    </a:solidFill>
                  </a:tcPr>
                </a:tc>
                <a:tc>
                  <a:txBody>
                    <a:bodyPr wrap="square"/>
                    <a:lstStyle/>
                    <a:p>
                      <a:r>
                        <a:rPr b="0" sz="1300" i="0">
                          <a:solidFill>
                            <a:srgbClr val="1A2233"/>
                          </a:solidFill>
                          <a:latin typeface="Calibri"/>
                        </a:rPr>
                        <a:t>Depreciation, initial balance</a:t>
                      </a:r>
                    </a:p>
                  </a:txBody>
                  <a:tcPr marL="64008" marR="64008" marT="27432" marB="27432" anchor="ctr">
                    <a:solidFill>
                      <a:srgbClr val="F3F6F9"/>
                    </a:solidFill>
                  </a:tcPr>
                </a:tc>
                <a:tc>
                  <a:txBody>
                    <a:bodyPr wrap="square"/>
                    <a:lstStyle/>
                    <a:p>
                      <a:r>
                        <a:rPr b="0" sz="1300" i="0">
                          <a:solidFill>
                            <a:srgbClr val="1A2233"/>
                          </a:solidFill>
                          <a:latin typeface="Calibri"/>
                        </a:rPr>
                        <a:t>100,000</a:t>
                      </a:r>
                    </a:p>
                  </a:txBody>
                  <a:tcPr marL="64008" marR="64008" marT="27432" marB="27432" anchor="ctr">
                    <a:solidFill>
                      <a:srgbClr val="F3F6F9"/>
                    </a:solidFill>
                  </a:tcPr>
                </a:tc>
                <a:tc>
                  <a:txBody>
                    <a:bodyPr wrap="square"/>
                    <a:lstStyle/>
                    <a:p>
                      <a:r>
                        <a:rPr b="0" sz="1300" i="0">
                          <a:solidFill>
                            <a:srgbClr val="1A2233"/>
                          </a:solidFill>
                          <a:latin typeface="Calibri"/>
                        </a:rPr>
                        <a:t>1,666.67</a:t>
                      </a:r>
                    </a:p>
                  </a:txBody>
                  <a:tcPr marL="64008" marR="64008" marT="27432" marB="27432" anchor="ctr">
                    <a:solidFill>
                      <a:srgbClr val="F3F6F9"/>
                    </a:solidFill>
                  </a:tcPr>
                </a:tc>
              </a:tr>
              <a:tr h="384048">
                <a:tc>
                  <a:txBody>
                    <a:bodyPr wrap="square"/>
                    <a:lstStyle/>
                    <a:p>
                      <a:r>
                        <a:rPr b="1" sz="1300" i="0">
                          <a:solidFill>
                            <a:srgbClr val="1A2233"/>
                          </a:solidFill>
                          <a:latin typeface="Calibri"/>
                        </a:rPr>
                        <a:t>48</a:t>
                      </a:r>
                    </a:p>
                  </a:txBody>
                  <a:tcPr marL="64008" marR="64008" marT="27432" marB="27432" anchor="ctr">
                    <a:solidFill>
                      <a:srgbClr val="FFFFFF"/>
                    </a:solidFill>
                  </a:tcPr>
                </a:tc>
                <a:tc>
                  <a:txBody>
                    <a:bodyPr wrap="square"/>
                    <a:lstStyle/>
                    <a:p>
                      <a:r>
                        <a:rPr b="0" sz="1300" i="0">
                          <a:solidFill>
                            <a:srgbClr val="1A2233"/>
                          </a:solidFill>
                          <a:latin typeface="Calibri"/>
                        </a:rPr>
                        <a:t>Depreciation of capex</a:t>
                      </a:r>
                    </a:p>
                  </a:txBody>
                  <a:tcPr marL="64008" marR="64008" marT="27432" marB="27432" anchor="ctr">
                    <a:solidFill>
                      <a:srgbClr val="FFFFFF"/>
                    </a:solidFill>
                  </a:tcPr>
                </a:tc>
                <a:tc>
                  <a:txBody>
                    <a:bodyPr wrap="square"/>
                    <a:lstStyle/>
                    <a:p>
                      <a:r>
                        <a:rPr b="0" sz="1300" i="0">
                          <a:solidFill>
                            <a:srgbClr val="1A2233"/>
                          </a:solidFill>
                          <a:latin typeface="Calibri"/>
                        </a:rPr>
                        <a:t>8,000</a:t>
                      </a:r>
                    </a:p>
                  </a:txBody>
                  <a:tcPr marL="64008" marR="64008" marT="27432" marB="27432" anchor="ctr">
                    <a:solidFill>
                      <a:srgbClr val="FFFFFF"/>
                    </a:solidFill>
                  </a:tcPr>
                </a:tc>
                <a:tc>
                  <a:txBody>
                    <a:bodyPr wrap="square"/>
                    <a:lstStyle/>
                    <a:p>
                      <a:r>
                        <a:rPr b="0" sz="1300" i="0">
                          <a:solidFill>
                            <a:srgbClr val="1A2233"/>
                          </a:solidFill>
                          <a:latin typeface="Calibri"/>
                        </a:rPr>
                        <a:t>0.00</a:t>
                      </a:r>
                    </a:p>
                  </a:txBody>
                  <a:tcPr marL="64008" marR="64008" marT="27432" marB="27432" anchor="ctr">
                    <a:solidFill>
                      <a:srgbClr val="FFFFFF"/>
                    </a:solidFill>
                  </a:tcPr>
                </a:tc>
              </a:tr>
              <a:tr h="384048">
                <a:tc>
                  <a:txBody>
                    <a:bodyPr wrap="square"/>
                    <a:lstStyle/>
                    <a:p>
                      <a:r>
                        <a:rPr b="1" sz="1300" i="0">
                          <a:solidFill>
                            <a:srgbClr val="1A2233"/>
                          </a:solidFill>
                          <a:latin typeface="Calibri"/>
                        </a:rPr>
                        <a:t>53</a:t>
                      </a:r>
                    </a:p>
                  </a:txBody>
                  <a:tcPr marL="64008" marR="64008" marT="27432" marB="27432" anchor="ctr">
                    <a:solidFill>
                      <a:srgbClr val="F3F6F9"/>
                    </a:solidFill>
                  </a:tcPr>
                </a:tc>
                <a:tc>
                  <a:txBody>
                    <a:bodyPr wrap="square"/>
                    <a:lstStyle/>
                    <a:p>
                      <a:r>
                        <a:rPr b="0" sz="1300" i="0">
                          <a:solidFill>
                            <a:srgbClr val="1A2233"/>
                          </a:solidFill>
                          <a:latin typeface="Calibri"/>
                        </a:rPr>
                        <a:t>Accounting depreciation POS</a:t>
                      </a:r>
                    </a:p>
                  </a:txBody>
                  <a:tcPr marL="64008" marR="64008" marT="27432" marB="27432" anchor="ctr">
                    <a:solidFill>
                      <a:srgbClr val="F3F6F9"/>
                    </a:solidFill>
                  </a:tcPr>
                </a:tc>
                <a:tc>
                  <a:txBody>
                    <a:bodyPr wrap="square"/>
                    <a:lstStyle/>
                    <a:p>
                      <a:r>
                        <a:rPr b="0" sz="1300" i="0">
                          <a:solidFill>
                            <a:srgbClr val="1A2233"/>
                          </a:solidFill>
                          <a:latin typeface="Calibri"/>
                        </a:rPr>
                        <a:t>108,000</a:t>
                      </a:r>
                    </a:p>
                  </a:txBody>
                  <a:tcPr marL="64008" marR="64008" marT="27432" marB="27432" anchor="ctr">
                    <a:solidFill>
                      <a:srgbClr val="F3F6F9"/>
                    </a:solidFill>
                  </a:tcPr>
                </a:tc>
                <a:tc>
                  <a:txBody>
                    <a:bodyPr wrap="square"/>
                    <a:lstStyle/>
                    <a:p>
                      <a:r>
                        <a:rPr b="0" sz="1300" i="0">
                          <a:solidFill>
                            <a:srgbClr val="1A2233"/>
                          </a:solidFill>
                          <a:latin typeface="Calibri"/>
                        </a:rPr>
                        <a:t>1,666.67</a:t>
                      </a:r>
                    </a:p>
                  </a:txBody>
                  <a:tcPr marL="64008" marR="64008" marT="27432" marB="27432" anchor="ctr">
                    <a:solidFill>
                      <a:srgbClr val="F3F6F9"/>
                    </a:solidFill>
                  </a:tcPr>
                </a:tc>
              </a:tr>
              <a:tr h="384048">
                <a:tc>
                  <a:txBody>
                    <a:bodyPr wrap="square"/>
                    <a:lstStyle/>
                    <a:p>
                      <a:r>
                        <a:rPr b="1" sz="1300" i="0">
                          <a:solidFill>
                            <a:srgbClr val="1A2233"/>
                          </a:solidFill>
                          <a:latin typeface="Calibri"/>
                        </a:rPr>
                        <a:t>64</a:t>
                      </a:r>
                    </a:p>
                  </a:txBody>
                  <a:tcPr marL="64008" marR="64008" marT="27432" marB="27432" anchor="ctr">
                    <a:solidFill>
                      <a:srgbClr val="FFFFFF"/>
                    </a:solidFill>
                  </a:tcPr>
                </a:tc>
                <a:tc>
                  <a:txBody>
                    <a:bodyPr wrap="square"/>
                    <a:lstStyle/>
                    <a:p>
                      <a:r>
                        <a:rPr b="0" sz="1300" i="0">
                          <a:solidFill>
                            <a:srgbClr val="1A2233"/>
                          </a:solidFill>
                          <a:latin typeface="Calibri"/>
                        </a:rPr>
                        <a:t>NCA balance (end)</a:t>
                      </a:r>
                    </a:p>
                  </a:txBody>
                  <a:tcPr marL="64008" marR="64008" marT="27432" marB="27432" anchor="ctr">
                    <a:solidFill>
                      <a:srgbClr val="FFFFFF"/>
                    </a:solidFill>
                  </a:tcPr>
                </a:tc>
                <a:tc>
                  <a:txBody>
                    <a:bodyPr wrap="square"/>
                    <a:lstStyle/>
                    <a:p>
                      <a:r>
                        <a:rPr b="0" sz="1300" i="0">
                          <a:solidFill>
                            <a:srgbClr val="1A2233"/>
                          </a:solidFill>
                          <a:latin typeface="Calibri"/>
                        </a:rPr>
                        <a:t>n/a</a:t>
                      </a:r>
                    </a:p>
                  </a:txBody>
                  <a:tcPr marL="64008" marR="64008" marT="27432" marB="27432" anchor="ctr">
                    <a:solidFill>
                      <a:srgbClr val="FFFFFF"/>
                    </a:solidFill>
                  </a:tcPr>
                </a:tc>
                <a:tc>
                  <a:txBody>
                    <a:bodyPr wrap="square"/>
                    <a:lstStyle/>
                    <a:p>
                      <a:r>
                        <a:rPr b="0" sz="1300" i="0">
                          <a:solidFill>
                            <a:srgbClr val="1A2233"/>
                          </a:solidFill>
                          <a:latin typeface="Calibri"/>
                        </a:rPr>
                        <a:t>98,333</a:t>
                      </a:r>
                    </a:p>
                  </a:txBody>
                  <a:tcPr marL="64008" marR="64008" marT="27432" marB="27432"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23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09.40 – 10.00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2: Working capital reconciliation</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Receivables and payables explain the gap between profit and cash.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Working capital: profit versus cash</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429004"/>
        </p:xfrm>
        <a:graphic>
          <a:graphicData uri="http://schemas.openxmlformats.org/drawingml/2006/table">
            <a:tbl>
              <a:tblPr firstRow="1" bandRow="1">
                <a:tableStyleId>{5C22544A-7EE6-4342-B048-85BDC9FD1C3A}</a:tableStyleId>
              </a:tblPr>
              <a:tblGrid>
                <a:gridCol w="1828800"/>
                <a:gridCol w="2377440"/>
                <a:gridCol w="2377440"/>
                <a:gridCol w="2377440"/>
                <a:gridCol w="210312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Income statement</a:t>
                      </a:r>
                    </a:p>
                  </a:txBody>
                  <a:tcPr marL="64008" marR="64008" marT="27432" marB="27432" anchor="ctr">
                    <a:solidFill>
                      <a:srgbClr val="141B4D"/>
                    </a:solidFill>
                  </a:tcPr>
                </a:tc>
                <a:tc>
                  <a:txBody>
                    <a:bodyPr wrap="square"/>
                    <a:lstStyle/>
                    <a:p>
                      <a:r>
                        <a:rPr b="1" sz="1300" i="0">
                          <a:solidFill>
                            <a:srgbClr val="FFFFFF"/>
                          </a:solidFill>
                          <a:latin typeface="Calibri"/>
                        </a:rPr>
                        <a:t>Cash flow</a:t>
                      </a:r>
                    </a:p>
                  </a:txBody>
                  <a:tcPr marL="64008" marR="64008" marT="27432" marB="27432" anchor="ctr">
                    <a:solidFill>
                      <a:srgbClr val="141B4D"/>
                    </a:solidFill>
                  </a:tcPr>
                </a:tc>
                <a:tc>
                  <a:txBody>
                    <a:bodyPr wrap="square"/>
                    <a:lstStyle/>
                    <a:p>
                      <a:r>
                        <a:rPr b="1" sz="1300" i="0">
                          <a:solidFill>
                            <a:srgbClr val="FFFFFF"/>
                          </a:solidFill>
                          <a:latin typeface="Calibri"/>
                        </a:rPr>
                        <a:t>Balance sheet</a:t>
                      </a:r>
                    </a:p>
                  </a:txBody>
                  <a:tcPr marL="64008" marR="64008" marT="27432" marB="27432" anchor="ctr">
                    <a:solidFill>
                      <a:srgbClr val="141B4D"/>
                    </a:solidFill>
                  </a:tcPr>
                </a:tc>
                <a:tc>
                  <a:txBody>
                    <a:bodyPr wrap="square"/>
                    <a:lstStyle/>
                    <a:p>
                      <a:r>
                        <a:rPr b="1" sz="1300" i="0">
                          <a:solidFill>
                            <a:srgbClr val="FFFFFF"/>
                          </a:solidFill>
                          <a:latin typeface="Calibri"/>
                        </a:rPr>
                        <a:t>Effect on cash</a:t>
                      </a:r>
                    </a:p>
                  </a:txBody>
                  <a:tcPr marL="64008" marR="64008" marT="27432" marB="27432" anchor="ctr">
                    <a:solidFill>
                      <a:srgbClr val="141B4D"/>
                    </a:solidFill>
                  </a:tcPr>
                </a:tc>
              </a:tr>
              <a:tr h="522478">
                <a:tc>
                  <a:txBody>
                    <a:bodyPr wrap="square"/>
                    <a:lstStyle/>
                    <a:p>
                      <a:r>
                        <a:rPr b="1" sz="1300" i="0">
                          <a:solidFill>
                            <a:srgbClr val="1A2233"/>
                          </a:solidFill>
                          <a:latin typeface="Calibri"/>
                        </a:rPr>
                        <a:t>Revenue</a:t>
                      </a:r>
                    </a:p>
                  </a:txBody>
                  <a:tcPr marL="64008" marR="64008" marT="27432" marB="27432" anchor="ctr">
                    <a:solidFill>
                      <a:srgbClr val="FFFFFF"/>
                    </a:solidFill>
                  </a:tcPr>
                </a:tc>
                <a:tc>
                  <a:txBody>
                    <a:bodyPr wrap="square"/>
                    <a:lstStyle/>
                    <a:p>
                      <a:r>
                        <a:rPr b="0" sz="1300" i="0">
                          <a:solidFill>
                            <a:srgbClr val="1A2233"/>
                          </a:solidFill>
                          <a:latin typeface="Calibri"/>
                        </a:rPr>
                        <a:t>Earned (OpRev 42)</a:t>
                      </a:r>
                    </a:p>
                  </a:txBody>
                  <a:tcPr marL="64008" marR="64008" marT="27432" marB="27432" anchor="ctr">
                    <a:solidFill>
                      <a:srgbClr val="FFFFFF"/>
                    </a:solidFill>
                  </a:tcPr>
                </a:tc>
                <a:tc>
                  <a:txBody>
                    <a:bodyPr wrap="square"/>
                    <a:lstStyle/>
                    <a:p>
                      <a:r>
                        <a:rPr b="0" sz="1300" i="0">
                          <a:solidFill>
                            <a:srgbClr val="1A2233"/>
                          </a:solidFill>
                          <a:latin typeface="Calibri"/>
                        </a:rPr>
                        <a:t>Received (OpRev 54)</a:t>
                      </a:r>
                    </a:p>
                  </a:txBody>
                  <a:tcPr marL="64008" marR="64008" marT="27432" marB="27432" anchor="ctr">
                    <a:solidFill>
                      <a:srgbClr val="FFFFFF"/>
                    </a:solidFill>
                  </a:tcPr>
                </a:tc>
                <a:tc>
                  <a:txBody>
                    <a:bodyPr wrap="square"/>
                    <a:lstStyle/>
                    <a:p>
                      <a:r>
                        <a:rPr b="0" sz="1300" i="0">
                          <a:solidFill>
                            <a:srgbClr val="1A2233"/>
                          </a:solidFill>
                          <a:latin typeface="Calibri"/>
                        </a:rPr>
                        <a:t>Receivables (OpRev 65)</a:t>
                      </a:r>
                    </a:p>
                  </a:txBody>
                  <a:tcPr marL="64008" marR="64008" marT="27432" marB="27432" anchor="ctr">
                    <a:solidFill>
                      <a:srgbClr val="FFFFFF"/>
                    </a:solidFill>
                  </a:tcPr>
                </a:tc>
                <a:tc>
                  <a:txBody>
                    <a:bodyPr wrap="square"/>
                    <a:lstStyle/>
                    <a:p>
                      <a:r>
                        <a:rPr b="0" sz="1300" i="0">
                          <a:solidFill>
                            <a:srgbClr val="1A2233"/>
                          </a:solidFill>
                          <a:latin typeface="Calibri"/>
                        </a:rPr>
                        <a:t>Rising receivables absorb cash</a:t>
                      </a:r>
                    </a:p>
                  </a:txBody>
                  <a:tcPr marL="64008" marR="64008" marT="27432" marB="27432" anchor="ctr">
                    <a:solidFill>
                      <a:srgbClr val="FFFFFF"/>
                    </a:solidFill>
                  </a:tcPr>
                </a:tc>
              </a:tr>
              <a:tr h="522478">
                <a:tc>
                  <a:txBody>
                    <a:bodyPr wrap="square"/>
                    <a:lstStyle/>
                    <a:p>
                      <a:r>
                        <a:rPr b="1" sz="1300" i="0">
                          <a:solidFill>
                            <a:srgbClr val="1A2233"/>
                          </a:solidFill>
                          <a:latin typeface="Calibri"/>
                        </a:rPr>
                        <a:t>Operating cost</a:t>
                      </a:r>
                    </a:p>
                  </a:txBody>
                  <a:tcPr marL="64008" marR="64008" marT="27432" marB="27432" anchor="ctr">
                    <a:solidFill>
                      <a:srgbClr val="F3F6F9"/>
                    </a:solidFill>
                  </a:tcPr>
                </a:tc>
                <a:tc>
                  <a:txBody>
                    <a:bodyPr wrap="square"/>
                    <a:lstStyle/>
                    <a:p>
                      <a:r>
                        <a:rPr b="0" sz="1300" i="0">
                          <a:solidFill>
                            <a:srgbClr val="1A2233"/>
                          </a:solidFill>
                          <a:latin typeface="Calibri"/>
                        </a:rPr>
                        <a:t>Incurred (OpCost 37)</a:t>
                      </a:r>
                    </a:p>
                  </a:txBody>
                  <a:tcPr marL="64008" marR="64008" marT="27432" marB="27432" anchor="ctr">
                    <a:solidFill>
                      <a:srgbClr val="F3F6F9"/>
                    </a:solidFill>
                  </a:tcPr>
                </a:tc>
                <a:tc>
                  <a:txBody>
                    <a:bodyPr wrap="square"/>
                    <a:lstStyle/>
                    <a:p>
                      <a:r>
                        <a:rPr b="0" sz="1300" i="0">
                          <a:solidFill>
                            <a:srgbClr val="1A2233"/>
                          </a:solidFill>
                          <a:latin typeface="Calibri"/>
                        </a:rPr>
                        <a:t>Paid (OpCost 49)</a:t>
                      </a:r>
                    </a:p>
                  </a:txBody>
                  <a:tcPr marL="64008" marR="64008" marT="27432" marB="27432" anchor="ctr">
                    <a:solidFill>
                      <a:srgbClr val="F3F6F9"/>
                    </a:solidFill>
                  </a:tcPr>
                </a:tc>
                <a:tc>
                  <a:txBody>
                    <a:bodyPr wrap="square"/>
                    <a:lstStyle/>
                    <a:p>
                      <a:r>
                        <a:rPr b="0" sz="1300" i="0">
                          <a:solidFill>
                            <a:srgbClr val="1A2233"/>
                          </a:solidFill>
                          <a:latin typeface="Calibri"/>
                        </a:rPr>
                        <a:t>Payables (OpCost 61)</a:t>
                      </a:r>
                    </a:p>
                  </a:txBody>
                  <a:tcPr marL="64008" marR="64008" marT="27432" marB="27432" anchor="ctr">
                    <a:solidFill>
                      <a:srgbClr val="F3F6F9"/>
                    </a:solidFill>
                  </a:tcPr>
                </a:tc>
                <a:tc>
                  <a:txBody>
                    <a:bodyPr wrap="square"/>
                    <a:lstStyle/>
                    <a:p>
                      <a:r>
                        <a:rPr b="0" sz="1300" i="0">
                          <a:solidFill>
                            <a:srgbClr val="1A2233"/>
                          </a:solidFill>
                          <a:latin typeface="Calibri"/>
                        </a:rPr>
                        <a:t>Rising payables release cash</a:t>
                      </a:r>
                    </a:p>
                  </a:txBody>
                  <a:tcPr marL="64008" marR="64008" marT="27432" marB="27432" anchor="ctr">
                    <a:solidFill>
                      <a:srgbClr val="F3F6F9"/>
                    </a:solidFill>
                  </a:tcPr>
                </a:tc>
              </a:tr>
            </a:tbl>
          </a:graphicData>
        </a:graphic>
      </p:graphicFrame>
      <p:sp>
        <p:nvSpPr>
          <p:cNvPr id="12" name="Rectangle 11"/>
          <p:cNvSpPr/>
          <p:nvPr/>
        </p:nvSpPr>
        <p:spPr>
          <a:xfrm>
            <a:off x="548640" y="3291840"/>
            <a:ext cx="11064240" cy="91440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91840"/>
            <a:ext cx="82296" cy="9144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291840"/>
            <a:ext cx="10835640" cy="914400"/>
          </a:xfrm>
          <a:prstGeom prst="rect">
            <a:avLst/>
          </a:prstGeom>
          <a:noFill/>
        </p:spPr>
        <p:txBody>
          <a:bodyPr wrap="square" lIns="45720" rIns="45720" tIns="27432" bIns="27432" anchor="ctr">
            <a:spAutoFit/>
          </a:bodyPr>
          <a:lstStyle/>
          <a:p>
            <a:pPr algn="l"/>
            <a:r>
              <a:rPr b="0" sz="1400" i="0">
                <a:solidFill>
                  <a:srgbClr val="1A2233"/>
                </a:solidFill>
                <a:latin typeface="Calibri"/>
              </a:rPr>
              <a:t>Cash received − cash paid = revenue − cost − Δreceivables + Δpayables. Change in working capital is the bridge between EBITDA and operating cash flow.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Exercise 5.2: Prove the working-capital bridge for the whole 20 years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Show that total operating cash flow equals EBITDA less the closing change in working capital, using column H totals.</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Operating cash flow total: FinStat!H32</a:t>
            </a:r>
          </a:p>
          <a:p>
            <a:pPr>
              <a:spcAft>
                <a:spcPts val="300"/>
              </a:spcAft>
            </a:pPr>
            <a:r>
              <a:rPr b="0" sz="1500" i="0">
                <a:solidFill>
                  <a:srgbClr val="1A2233"/>
                </a:solidFill>
                <a:latin typeface="Calibri"/>
              </a:rPr>
              <a:t>2.  EBITDA total: FinStat!H11</a:t>
            </a:r>
          </a:p>
          <a:p>
            <a:pPr>
              <a:spcAft>
                <a:spcPts val="300"/>
              </a:spcAft>
            </a:pPr>
            <a:r>
              <a:rPr b="0" sz="1500" i="0">
                <a:solidFill>
                  <a:srgbClr val="1A2233"/>
                </a:solidFill>
                <a:latin typeface="Calibri"/>
              </a:rPr>
              <a:t>3.  Closing receivables at the end of the forecast: OpRev!CO65; closing payables: OpCost!CO61</a:t>
            </a:r>
          </a:p>
          <a:p>
            <a:pPr>
              <a:spcAft>
                <a:spcPts val="300"/>
              </a:spcAft>
            </a:pPr>
            <a:r>
              <a:rPr b="0" sz="1500" i="0">
                <a:solidFill>
                  <a:srgbClr val="1A2233"/>
                </a:solidFill>
                <a:latin typeface="Calibri"/>
              </a:rPr>
              <a:t>4.  Check: H32 = H11 − (CO65 − CO61)</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10 min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26</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10.30 – 11.30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3: Senior debt</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Repayment profile, interest, balance.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How a term loan works in the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A lender gives US$60,000k at close (60% of the US$100,000k asset base). The borrower pays interest every quarter on the amount still owed and repays a share of the original amount each quarter according to a repayment profile.</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Interest = Opening balance × (6.5% ÷ 360) × days</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Interest in a quarter = opening balance × annual rate ÷ 360 × days in the quarter</a:t>
            </a:r>
          </a:p>
          <a:p>
            <a:pPr algn="l"/>
            <a:r>
              <a:rPr b="0" sz="1600" i="0">
                <a:solidFill>
                  <a:srgbClr val="1A2233"/>
                </a:solidFill>
                <a:latin typeface="Calibri"/>
              </a:rPr>
              <a:t>Principal in a quarter = initial debt × profile % for that quarter</a:t>
            </a:r>
          </a:p>
          <a:p>
            <a:pPr algn="l"/>
            <a:r>
              <a:rPr b="0" sz="1600" i="0">
                <a:solidFill>
                  <a:srgbClr val="1A2233"/>
                </a:solidFill>
                <a:latin typeface="Calibri"/>
              </a:rPr>
              <a:t>Closing balance = opening balance − principal</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Three profiles are supplied (7.5, 10 and 15 years); the switch on InpC row 74 chooses 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DEBT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Three repayment profiles: senior debt balance (US$ thousands, quarterly)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Straight-line principal: equal repayments, so interest falls over time and total debt service falls. Profiles are typed on InpS rows 18 to 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block 1: principal repayment (rows 9 to 22) (1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465831"/>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Non current asset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=InpC!F$64</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 of NCA financed with debt</a:t>
                      </a:r>
                    </a:p>
                  </a:txBody>
                  <a:tcPr marL="64008" marR="64008" marT="27432" marB="27432" anchor="ctr">
                    <a:solidFill>
                      <a:srgbClr val="F3F6F9"/>
                    </a:solidFill>
                  </a:tcPr>
                </a:tc>
                <a:tc>
                  <a:txBody>
                    <a:bodyPr wrap="square"/>
                    <a:lstStyle/>
                    <a:p>
                      <a:r>
                        <a:rPr b="0" sz="1200" i="0">
                          <a:solidFill>
                            <a:srgbClr val="1A2233"/>
                          </a:solidFill>
                          <a:latin typeface="Consolas"/>
                        </a:rPr>
                        <a:t>F: =InpC!F$72</a:t>
                      </a:r>
                    </a:p>
                  </a:txBody>
                  <a:tcPr marL="64008" marR="64008" marT="27432" marB="27432" anchor="ctr">
                    <a:solidFill>
                      <a:srgbClr val="F3F6F9"/>
                    </a:solidFill>
                  </a:tcPr>
                </a:tc>
              </a:tr>
              <a:tr h="329184">
                <a:tc>
                  <a:txBody>
                    <a:bodyPr wrap="square"/>
                    <a:lstStyle/>
                    <a:p>
                      <a:r>
                        <a:rPr b="1" sz="1200" i="0">
                          <a:solidFill>
                            <a:srgbClr val="1A2233"/>
                          </a:solidFill>
                          <a:latin typeface="Calibri"/>
                        </a:rPr>
                        <a:t>11</a:t>
                      </a:r>
                    </a:p>
                  </a:txBody>
                  <a:tcPr marL="64008" marR="64008" marT="27432" marB="27432" anchor="ctr">
                    <a:solidFill>
                      <a:srgbClr val="FFFFFF"/>
                    </a:solidFill>
                  </a:tcPr>
                </a:tc>
                <a:tc>
                  <a:txBody>
                    <a:bodyPr wrap="square"/>
                    <a:lstStyle/>
                    <a:p>
                      <a:r>
                        <a:rPr b="0" sz="1200" i="0">
                          <a:solidFill>
                            <a:srgbClr val="1A2233"/>
                          </a:solidFill>
                          <a:latin typeface="Calibri"/>
                        </a:rPr>
                        <a:t>Senior debt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=F9*F10</a:t>
                      </a:r>
                    </a:p>
                  </a:txBody>
                  <a:tcPr marL="64008" marR="64008" marT="27432" marB="27432" anchor="ctr">
                    <a:solidFill>
                      <a:srgbClr val="FFFFFF"/>
                    </a:solidFill>
                  </a:tcPr>
                </a:tc>
              </a:tr>
              <a:tr h="490727">
                <a:tc>
                  <a:txBody>
                    <a:bodyPr wrap="square"/>
                    <a:lstStyle/>
                    <a:p>
                      <a:r>
                        <a:rPr b="1" sz="1200" i="0">
                          <a:solidFill>
                            <a:srgbClr val="1A2233"/>
                          </a:solidFill>
                          <a:latin typeface="Calibri"/>
                        </a:rPr>
                        <a:t>13</a:t>
                      </a:r>
                    </a:p>
                  </a:txBody>
                  <a:tcPr marL="64008" marR="64008" marT="27432" marB="27432" anchor="ctr">
                    <a:solidFill>
                      <a:srgbClr val="F3F6F9"/>
                    </a:solidFill>
                  </a:tcPr>
                </a:tc>
                <a:tc>
                  <a:txBody>
                    <a:bodyPr wrap="square"/>
                    <a:lstStyle/>
                    <a:p>
                      <a:r>
                        <a:rPr b="0" sz="1200" i="0">
                          <a:solidFill>
                            <a:srgbClr val="1A2233"/>
                          </a:solidFill>
                          <a:latin typeface="Calibri"/>
                        </a:rPr>
                        <a:t>Senior debt principal repayment profile selection</a:t>
                      </a:r>
                    </a:p>
                  </a:txBody>
                  <a:tcPr marL="64008" marR="64008" marT="27432" marB="27432" anchor="ctr">
                    <a:solidFill>
                      <a:srgbClr val="F3F6F9"/>
                    </a:solidFill>
                  </a:tcPr>
                </a:tc>
                <a:tc>
                  <a:txBody>
                    <a:bodyPr wrap="square"/>
                    <a:lstStyle/>
                    <a:p>
                      <a:r>
                        <a:rPr b="0" sz="1200" i="0">
                          <a:solidFill>
                            <a:srgbClr val="1A2233"/>
                          </a:solidFill>
                          <a:latin typeface="Consolas"/>
                        </a:rPr>
                        <a:t>F: =InpC!F$74</a:t>
                      </a:r>
                    </a:p>
                  </a:txBody>
                  <a:tcPr marL="64008" marR="64008" marT="27432" marB="27432" anchor="ctr">
                    <a:solidFill>
                      <a:srgbClr val="F3F6F9"/>
                    </a:solidFill>
                  </a:tcPr>
                </a:tc>
              </a:tr>
              <a:tr h="329184">
                <a:tc>
                  <a:txBody>
                    <a:bodyPr wrap="square"/>
                    <a:lstStyle/>
                    <a:p>
                      <a:r>
                        <a:rPr b="1" sz="1200" i="0">
                          <a:solidFill>
                            <a:srgbClr val="1A2233"/>
                          </a:solidFill>
                          <a:latin typeface="Calibri"/>
                        </a:rPr>
                        <a:t>14</a:t>
                      </a:r>
                    </a:p>
                  </a:txBody>
                  <a:tcPr marL="64008" marR="64008" marT="27432" marB="27432" anchor="ctr">
                    <a:solidFill>
                      <a:srgbClr val="FFFFFF"/>
                    </a:solidFill>
                  </a:tcPr>
                </a:tc>
                <a:tc>
                  <a:txBody>
                    <a:bodyPr wrap="square"/>
                    <a:lstStyle/>
                    <a:p>
                      <a:r>
                        <a:rPr b="0" sz="1200" i="0">
                          <a:solidFill>
                            <a:srgbClr val="1A2233"/>
                          </a:solidFill>
                          <a:latin typeface="Calibri"/>
                        </a:rPr>
                        <a:t>Senior debt profile 1 - 7.5 years</a:t>
                      </a:r>
                    </a:p>
                  </a:txBody>
                  <a:tcPr marL="64008" marR="64008" marT="27432" marB="27432" anchor="ctr">
                    <a:solidFill>
                      <a:srgbClr val="FFFFFF"/>
                    </a:solidFill>
                  </a:tcPr>
                </a:tc>
                <a:tc>
                  <a:txBody>
                    <a:bodyPr wrap="square"/>
                    <a:lstStyle/>
                    <a:p>
                      <a:r>
                        <a:rPr b="0" sz="1200" i="0">
                          <a:solidFill>
                            <a:srgbClr val="1A2233"/>
                          </a:solidFill>
                          <a:latin typeface="Consolas"/>
                        </a:rPr>
                        <a:t>J: =InpS!J$18</a:t>
                      </a:r>
                    </a:p>
                  </a:txBody>
                  <a:tcPr marL="64008" marR="64008" marT="27432" marB="27432" anchor="ctr">
                    <a:solidFill>
                      <a:srgbClr val="FFFFFF"/>
                    </a:solidFill>
                  </a:tcPr>
                </a:tc>
              </a:tr>
              <a:tr h="329184">
                <a:tc>
                  <a:txBody>
                    <a:bodyPr wrap="square"/>
                    <a:lstStyle/>
                    <a:p>
                      <a:r>
                        <a:rPr b="1" sz="1200" i="0">
                          <a:solidFill>
                            <a:srgbClr val="1A2233"/>
                          </a:solidFill>
                          <a:latin typeface="Calibri"/>
                        </a:rPr>
                        <a:t>15</a:t>
                      </a:r>
                    </a:p>
                  </a:txBody>
                  <a:tcPr marL="64008" marR="64008" marT="27432" marB="27432" anchor="ctr">
                    <a:solidFill>
                      <a:srgbClr val="F3F6F9"/>
                    </a:solidFill>
                  </a:tcPr>
                </a:tc>
                <a:tc>
                  <a:txBody>
                    <a:bodyPr wrap="square"/>
                    <a:lstStyle/>
                    <a:p>
                      <a:r>
                        <a:rPr b="0" sz="1200" i="0">
                          <a:solidFill>
                            <a:srgbClr val="1A2233"/>
                          </a:solidFill>
                          <a:latin typeface="Calibri"/>
                        </a:rPr>
                        <a:t>Senior debt profile 2 - 10 years</a:t>
                      </a:r>
                    </a:p>
                  </a:txBody>
                  <a:tcPr marL="64008" marR="64008" marT="27432" marB="27432" anchor="ctr">
                    <a:solidFill>
                      <a:srgbClr val="F3F6F9"/>
                    </a:solidFill>
                  </a:tcPr>
                </a:tc>
                <a:tc>
                  <a:txBody>
                    <a:bodyPr wrap="square"/>
                    <a:lstStyle/>
                    <a:p>
                      <a:r>
                        <a:rPr b="0" sz="1200" i="0">
                          <a:solidFill>
                            <a:srgbClr val="1A2233"/>
                          </a:solidFill>
                          <a:latin typeface="Consolas"/>
                        </a:rPr>
                        <a:t>J: =InpS!J$19</a:t>
                      </a:r>
                    </a:p>
                  </a:txBody>
                  <a:tcPr marL="64008" marR="64008" marT="27432" marB="27432" anchor="ctr">
                    <a:solidFill>
                      <a:srgbClr val="F3F6F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block 1: principal repayment (rows 9 to 22) (2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16</a:t>
                      </a:r>
                    </a:p>
                  </a:txBody>
                  <a:tcPr marL="64008" marR="64008" marT="27432" marB="27432" anchor="ctr">
                    <a:solidFill>
                      <a:srgbClr val="FFFFFF"/>
                    </a:solidFill>
                  </a:tcPr>
                </a:tc>
                <a:tc>
                  <a:txBody>
                    <a:bodyPr wrap="square"/>
                    <a:lstStyle/>
                    <a:p>
                      <a:r>
                        <a:rPr b="0" sz="1200" i="0">
                          <a:solidFill>
                            <a:srgbClr val="1A2233"/>
                          </a:solidFill>
                          <a:latin typeface="Calibri"/>
                        </a:rPr>
                        <a:t>Senior debt profile 3 - 15 years</a:t>
                      </a:r>
                    </a:p>
                  </a:txBody>
                  <a:tcPr marL="64008" marR="64008" marT="27432" marB="27432" anchor="ctr">
                    <a:solidFill>
                      <a:srgbClr val="FFFFFF"/>
                    </a:solidFill>
                  </a:tcPr>
                </a:tc>
                <a:tc>
                  <a:txBody>
                    <a:bodyPr wrap="square"/>
                    <a:lstStyle/>
                    <a:p>
                      <a:r>
                        <a:rPr b="0" sz="1200" i="0">
                          <a:solidFill>
                            <a:srgbClr val="1A2233"/>
                          </a:solidFill>
                          <a:latin typeface="Consolas"/>
                        </a:rPr>
                        <a:t>J: =InpS!J$20</a:t>
                      </a:r>
                    </a:p>
                  </a:txBody>
                  <a:tcPr marL="64008" marR="64008" marT="27432" marB="27432" anchor="ctr">
                    <a:solidFill>
                      <a:srgbClr val="FFFFFF"/>
                    </a:solidFill>
                  </a:tcPr>
                </a:tc>
              </a:tr>
              <a:tr h="329184">
                <a:tc>
                  <a:txBody>
                    <a:bodyPr wrap="square"/>
                    <a:lstStyle/>
                    <a:p>
                      <a:r>
                        <a:rPr b="1" sz="1200" i="0">
                          <a:solidFill>
                            <a:srgbClr val="1A2233"/>
                          </a:solidFill>
                          <a:latin typeface="Calibri"/>
                        </a:rPr>
                        <a:t>17</a:t>
                      </a:r>
                    </a:p>
                  </a:txBody>
                  <a:tcPr marL="64008" marR="64008" marT="27432" marB="27432" anchor="ctr">
                    <a:solidFill>
                      <a:srgbClr val="F3F6F9"/>
                    </a:solidFill>
                  </a:tcPr>
                </a:tc>
                <a:tc>
                  <a:txBody>
                    <a:bodyPr wrap="square"/>
                    <a:lstStyle/>
                    <a:p>
                      <a:r>
                        <a:rPr b="0" sz="1200" i="0">
                          <a:solidFill>
                            <a:srgbClr val="1A2233"/>
                          </a:solidFill>
                          <a:latin typeface="Calibri"/>
                        </a:rPr>
                        <a:t>Senior debt profile 1 - 7.5 years - active</a:t>
                      </a:r>
                    </a:p>
                  </a:txBody>
                  <a:tcPr marL="64008" marR="64008" marT="27432" marB="27432" anchor="ctr">
                    <a:solidFill>
                      <a:srgbClr val="F3F6F9"/>
                    </a:solidFill>
                  </a:tcPr>
                </a:tc>
                <a:tc>
                  <a:txBody>
                    <a:bodyPr wrap="square"/>
                    <a:lstStyle/>
                    <a:p>
                      <a:r>
                        <a:rPr b="0" sz="1200" i="0">
                          <a:solidFill>
                            <a:srgbClr val="1A2233"/>
                          </a:solidFill>
                          <a:latin typeface="Consolas"/>
                        </a:rPr>
                        <a:t>J: =INDEX(J14:J16,$F13)</a:t>
                      </a:r>
                    </a:p>
                  </a:txBody>
                  <a:tcPr marL="64008" marR="64008" marT="27432" marB="27432" anchor="ctr">
                    <a:solidFill>
                      <a:srgbClr val="F3F6F9"/>
                    </a:solidFill>
                  </a:tcPr>
                </a:tc>
              </a:tr>
              <a:tr h="329184">
                <a:tc>
                  <a:txBody>
                    <a:bodyPr wrap="square"/>
                    <a:lstStyle/>
                    <a:p>
                      <a:r>
                        <a:rPr b="1" sz="1200" i="0">
                          <a:solidFill>
                            <a:srgbClr val="1A2233"/>
                          </a:solidFill>
                          <a:latin typeface="Calibri"/>
                        </a:rPr>
                        <a:t>19</a:t>
                      </a:r>
                    </a:p>
                  </a:txBody>
                  <a:tcPr marL="64008" marR="64008" marT="27432" marB="27432" anchor="ctr">
                    <a:solidFill>
                      <a:srgbClr val="FFFFFF"/>
                    </a:solidFill>
                  </a:tcPr>
                </a:tc>
                <a:tc>
                  <a:txBody>
                    <a:bodyPr wrap="square"/>
                    <a:lstStyle/>
                    <a:p>
                      <a:r>
                        <a:rPr b="0" sz="1200" i="0">
                          <a:solidFill>
                            <a:srgbClr val="1A2233"/>
                          </a:solidFill>
                          <a:latin typeface="Calibri"/>
                        </a:rPr>
                        <a:t>Senior debt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=F$11</a:t>
                      </a:r>
                    </a:p>
                  </a:txBody>
                  <a:tcPr marL="64008" marR="64008" marT="27432" marB="27432" anchor="ctr">
                    <a:solidFill>
                      <a:srgbClr val="FFFFFF"/>
                    </a:solidFill>
                  </a:tcPr>
                </a:tc>
              </a:tr>
              <a:tr h="329184">
                <a:tc>
                  <a:txBody>
                    <a:bodyPr wrap="square"/>
                    <a:lstStyle/>
                    <a:p>
                      <a:r>
                        <a:rPr b="1" sz="1200" i="0">
                          <a:solidFill>
                            <a:srgbClr val="1A2233"/>
                          </a:solidFill>
                          <a:latin typeface="Calibri"/>
                        </a:rPr>
                        <a:t>20</a:t>
                      </a:r>
                    </a:p>
                  </a:txBody>
                  <a:tcPr marL="64008" marR="64008" marT="27432" marB="27432" anchor="ctr">
                    <a:solidFill>
                      <a:srgbClr val="F3F6F9"/>
                    </a:solidFill>
                  </a:tcPr>
                </a:tc>
                <a:tc>
                  <a:txBody>
                    <a:bodyPr wrap="square"/>
                    <a:lstStyle/>
                    <a:p>
                      <a:r>
                        <a:rPr b="0" sz="1200" i="0">
                          <a:solidFill>
                            <a:srgbClr val="1A2233"/>
                          </a:solidFill>
                          <a:latin typeface="Calibri"/>
                        </a:rPr>
                        <a:t>Senior debt profile 1 - 7.5 years - active</a:t>
                      </a:r>
                    </a:p>
                  </a:txBody>
                  <a:tcPr marL="64008" marR="64008" marT="27432" marB="27432" anchor="ctr">
                    <a:solidFill>
                      <a:srgbClr val="F3F6F9"/>
                    </a:solidFill>
                  </a:tcPr>
                </a:tc>
                <a:tc>
                  <a:txBody>
                    <a:bodyPr wrap="square"/>
                    <a:lstStyle/>
                    <a:p>
                      <a:r>
                        <a:rPr b="0" sz="1200" i="0">
                          <a:solidFill>
                            <a:srgbClr val="1A2233"/>
                          </a:solidFill>
                          <a:latin typeface="Consolas"/>
                        </a:rPr>
                        <a:t>J: =J$17</a:t>
                      </a:r>
                    </a:p>
                  </a:txBody>
                  <a:tcPr marL="64008" marR="64008" marT="27432" marB="27432" anchor="ctr">
                    <a:solidFill>
                      <a:srgbClr val="F3F6F9"/>
                    </a:solidFill>
                  </a:tcPr>
                </a:tc>
              </a:tr>
              <a:tr h="329184">
                <a:tc>
                  <a:txBody>
                    <a:bodyPr wrap="square"/>
                    <a:lstStyle/>
                    <a:p>
                      <a:r>
                        <a:rPr b="1" sz="1200" i="0">
                          <a:solidFill>
                            <a:srgbClr val="1A2233"/>
                          </a:solidFill>
                          <a:latin typeface="Calibri"/>
                        </a:rPr>
                        <a:t>21</a:t>
                      </a:r>
                    </a:p>
                  </a:txBody>
                  <a:tcPr marL="64008" marR="64008" marT="27432" marB="27432" anchor="ctr">
                    <a:solidFill>
                      <a:srgbClr val="FFFFFF"/>
                    </a:solidFill>
                  </a:tcPr>
                </a:tc>
                <a:tc>
                  <a:txBody>
                    <a:bodyPr wrap="square"/>
                    <a:lstStyle/>
                    <a:p>
                      <a:r>
                        <a:rPr b="0" sz="1200" i="0">
                          <a:solidFill>
                            <a:srgbClr val="1A2233"/>
                          </a:solidFill>
                          <a:latin typeface="Calibri"/>
                        </a:rPr>
                        <a:t>Senior debt principal repayment POS</a:t>
                      </a:r>
                    </a:p>
                  </a:txBody>
                  <a:tcPr marL="64008" marR="64008" marT="27432" marB="27432" anchor="ctr">
                    <a:solidFill>
                      <a:srgbClr val="FFFFFF"/>
                    </a:solidFill>
                  </a:tcPr>
                </a:tc>
                <a:tc>
                  <a:txBody>
                    <a:bodyPr wrap="square"/>
                    <a:lstStyle/>
                    <a:p>
                      <a:r>
                        <a:rPr b="0" sz="1200" i="0">
                          <a:solidFill>
                            <a:srgbClr val="1A2233"/>
                          </a:solidFill>
                          <a:latin typeface="Consolas"/>
                        </a:rPr>
                        <a:t>J: =$F19*J20</a:t>
                      </a:r>
                    </a:p>
                  </a:txBody>
                  <a:tcPr marL="64008" marR="64008" marT="27432" marB="27432" anchor="ctr">
                    <a:solidFill>
                      <a:srgbClr val="FFFFFF"/>
                    </a:solidFill>
                  </a:tcPr>
                </a:tc>
              </a:tr>
              <a:tr h="329184">
                <a:tc>
                  <a:txBody>
                    <a:bodyPr wrap="square"/>
                    <a:lstStyle/>
                    <a:p>
                      <a:r>
                        <a:rPr b="1" sz="1200" i="0">
                          <a:solidFill>
                            <a:srgbClr val="1A2233"/>
                          </a:solidFill>
                          <a:latin typeface="Calibri"/>
                        </a:rPr>
                        <a:t>22</a:t>
                      </a:r>
                    </a:p>
                  </a:txBody>
                  <a:tcPr marL="64008" marR="64008" marT="27432" marB="27432" anchor="ctr">
                    <a:solidFill>
                      <a:srgbClr val="F3F6F9"/>
                    </a:solidFill>
                  </a:tcPr>
                </a:tc>
                <a:tc>
                  <a:txBody>
                    <a:bodyPr wrap="square"/>
                    <a:lstStyle/>
                    <a:p>
                      <a:r>
                        <a:rPr b="0" sz="1200" i="0">
                          <a:solidFill>
                            <a:srgbClr val="1A2233"/>
                          </a:solidFill>
                          <a:latin typeface="Calibri"/>
                        </a:rPr>
                        <a:t>Senior debt principal repayment</a:t>
                      </a:r>
                    </a:p>
                  </a:txBody>
                  <a:tcPr marL="64008" marR="64008" marT="27432" marB="27432" anchor="ctr">
                    <a:solidFill>
                      <a:srgbClr val="F3F6F9"/>
                    </a:solidFill>
                  </a:tcPr>
                </a:tc>
                <a:tc>
                  <a:txBody>
                    <a:bodyPr wrap="square"/>
                    <a:lstStyle/>
                    <a:p>
                      <a:r>
                        <a:rPr b="0" sz="1200" i="0">
                          <a:solidFill>
                            <a:srgbClr val="1A2233"/>
                          </a:solidFill>
                          <a:latin typeface="Consolas"/>
                        </a:rPr>
                        <a:t>J: =-1*J21</a:t>
                      </a:r>
                    </a:p>
                  </a:txBody>
                  <a:tcPr marL="64008" marR="64008" marT="27432" marB="27432" anchor="ctr">
                    <a:solidFill>
                      <a:srgbClr val="F3F6F9"/>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Debt!F11: senior debt initial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Debt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F11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 Initial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=F9*F10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Initial debt = opening non-current assets × % financed by debt</a:t>
            </a:r>
          </a:p>
          <a:p>
            <a:pPr algn="l"/>
            <a:r>
              <a:rPr b="0" sz="1500" i="0">
                <a:solidFill>
                  <a:srgbClr val="1A2233"/>
                </a:solidFill>
                <a:latin typeface="Calibri"/>
              </a:rPr>
              <a:t>▪ 100,000 × 60% = 60,000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F9 = InpC!F$64</a:t>
            </a:r>
          </a:p>
          <a:p>
            <a:pPr algn="l"/>
            <a:r>
              <a:rPr b="0" sz="1300" i="0">
                <a:solidFill>
                  <a:srgbClr val="1A2233"/>
                </a:solidFill>
                <a:latin typeface="Consolas"/>
              </a:rPr>
              <a:t>F10 = InpC!F$72</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F11 = 60,000</a:t>
            </a:r>
          </a:p>
        </p:txBody>
      </p:sp>
      <p:sp>
        <p:nvSpPr>
          <p:cNvPr id="26" name="Rectangle 25"/>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 single typed-free cell that sets the loan at close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Debt!J17: active repayment profile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Debt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J17  (to CO17)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profile 1 - 7.5 years - active  (%)</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=INDEX(J14:J16,$F13)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INDEX picks the profile row (14, 15 or 16) numbered by the switch in F13 (1, 2 or 3)</a:t>
            </a:r>
          </a:p>
          <a:p>
            <a:pPr algn="l"/>
            <a:r>
              <a:rPr b="0" sz="1500" i="0">
                <a:solidFill>
                  <a:srgbClr val="1A2233"/>
                </a:solidFill>
                <a:latin typeface="Calibri"/>
              </a:rPr>
              <a:t>▪ Label E17 says which profile is active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F13 = InpC!F$74 (switch)</a:t>
            </a:r>
          </a:p>
          <a:p>
            <a:pPr algn="l"/>
            <a:r>
              <a:rPr b="0" sz="1300" i="0">
                <a:solidFill>
                  <a:srgbClr val="1A2233"/>
                </a:solidFill>
                <a:latin typeface="Consolas"/>
              </a:rPr>
              <a:t>J14:J16 = InpS rows 18 to 20</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J17:CO17,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J17:CO17,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J17 → CO17</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With switch = 1, J17:CO17 equals row 14 (3.33% of the debt each quarter from Dec 2022)</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One switch changes the whole repayment schedule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Debt!J21: senior debt principal repayment POS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Debt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J21  (to CO21)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principal repayment POS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=$F19*J20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Principal repayment = initial debt × the profile % for this quarter</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F19 = F$11</a:t>
            </a:r>
          </a:p>
          <a:p>
            <a:pPr algn="l"/>
            <a:r>
              <a:rPr b="0" sz="1300" i="0">
                <a:solidFill>
                  <a:srgbClr val="1A2233"/>
                </a:solidFill>
                <a:latin typeface="Consolas"/>
              </a:rPr>
              <a:t>J20 = J$17</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J21 → CO21</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H21 = 60,000;  L21 = 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Positive ('POS'); the next row flips it for the cash flow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block 2: interest (rows 25 to 33)</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962656"/>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25</a:t>
                      </a:r>
                    </a:p>
                  </a:txBody>
                  <a:tcPr marL="64008" marR="64008" marT="27432" marB="27432" anchor="ctr">
                    <a:solidFill>
                      <a:srgbClr val="FFFFFF"/>
                    </a:solidFill>
                  </a:tcPr>
                </a:tc>
                <a:tc>
                  <a:txBody>
                    <a:bodyPr wrap="square"/>
                    <a:lstStyle/>
                    <a:p>
                      <a:r>
                        <a:rPr b="0" sz="1200" i="0">
                          <a:solidFill>
                            <a:srgbClr val="1A2233"/>
                          </a:solidFill>
                          <a:latin typeface="Calibri"/>
                        </a:rPr>
                        <a:t>All in annual senior debt interest rate </a:t>
                      </a:r>
                    </a:p>
                  </a:txBody>
                  <a:tcPr marL="64008" marR="64008" marT="27432" marB="27432" anchor="ctr">
                    <a:solidFill>
                      <a:srgbClr val="FFFFFF"/>
                    </a:solidFill>
                  </a:tcPr>
                </a:tc>
                <a:tc>
                  <a:txBody>
                    <a:bodyPr wrap="square"/>
                    <a:lstStyle/>
                    <a:p>
                      <a:r>
                        <a:rPr b="0" sz="1200" i="0">
                          <a:solidFill>
                            <a:srgbClr val="1A2233"/>
                          </a:solidFill>
                          <a:latin typeface="Consolas"/>
                        </a:rPr>
                        <a:t>F: =InpC!F$77</a:t>
                      </a:r>
                    </a:p>
                  </a:txBody>
                  <a:tcPr marL="64008" marR="64008" marT="27432" marB="27432" anchor="ctr">
                    <a:solidFill>
                      <a:srgbClr val="FFFFFF"/>
                    </a:solidFill>
                  </a:tcPr>
                </a:tc>
              </a:tr>
              <a:tr h="329184">
                <a:tc>
                  <a:txBody>
                    <a:bodyPr wrap="square"/>
                    <a:lstStyle/>
                    <a:p>
                      <a:r>
                        <a:rPr b="1" sz="1200" i="0">
                          <a:solidFill>
                            <a:srgbClr val="1A2233"/>
                          </a:solidFill>
                          <a:latin typeface="Calibri"/>
                        </a:rPr>
                        <a:t>26</a:t>
                      </a:r>
                    </a:p>
                  </a:txBody>
                  <a:tcPr marL="64008" marR="64008" marT="27432" marB="27432" anchor="ctr">
                    <a:solidFill>
                      <a:srgbClr val="F3F6F9"/>
                    </a:solidFill>
                  </a:tcPr>
                </a:tc>
                <a:tc>
                  <a:txBody>
                    <a:bodyPr wrap="square"/>
                    <a:lstStyle/>
                    <a:p>
                      <a:r>
                        <a:rPr b="0" sz="1200" i="0">
                          <a:solidFill>
                            <a:srgbClr val="1A2233"/>
                          </a:solidFill>
                          <a:latin typeface="Calibri"/>
                        </a:rPr>
                        <a:t>Day count convention </a:t>
                      </a:r>
                    </a:p>
                  </a:txBody>
                  <a:tcPr marL="64008" marR="64008" marT="27432" marB="27432" anchor="ctr">
                    <a:solidFill>
                      <a:srgbClr val="F3F6F9"/>
                    </a:solidFill>
                  </a:tcPr>
                </a:tc>
                <a:tc>
                  <a:txBody>
                    <a:bodyPr wrap="square"/>
                    <a:lstStyle/>
                    <a:p>
                      <a:r>
                        <a:rPr b="0" sz="1200" i="0">
                          <a:solidFill>
                            <a:srgbClr val="1A2233"/>
                          </a:solidFill>
                          <a:latin typeface="Consolas"/>
                        </a:rPr>
                        <a:t>F: =InpC!F$79</a:t>
                      </a:r>
                    </a:p>
                  </a:txBody>
                  <a:tcPr marL="64008" marR="64008" marT="27432" marB="27432" anchor="ctr">
                    <a:solidFill>
                      <a:srgbClr val="F3F6F9"/>
                    </a:solidFill>
                  </a:tcPr>
                </a:tc>
              </a:tr>
              <a:tr h="329184">
                <a:tc>
                  <a:txBody>
                    <a:bodyPr wrap="square"/>
                    <a:lstStyle/>
                    <a:p>
                      <a:r>
                        <a:rPr b="1" sz="1200" i="0">
                          <a:solidFill>
                            <a:srgbClr val="1A2233"/>
                          </a:solidFill>
                          <a:latin typeface="Calibri"/>
                        </a:rPr>
                        <a:t>27</a:t>
                      </a:r>
                    </a:p>
                  </a:txBody>
                  <a:tcPr marL="64008" marR="64008" marT="27432" marB="27432" anchor="ctr">
                    <a:solidFill>
                      <a:srgbClr val="FFFFFF"/>
                    </a:solidFill>
                  </a:tcPr>
                </a:tc>
                <a:tc>
                  <a:txBody>
                    <a:bodyPr wrap="square"/>
                    <a:lstStyle/>
                    <a:p>
                      <a:r>
                        <a:rPr b="0" sz="1200" i="0">
                          <a:solidFill>
                            <a:srgbClr val="1A2233"/>
                          </a:solidFill>
                          <a:latin typeface="Calibri"/>
                        </a:rPr>
                        <a:t>Days in model period</a:t>
                      </a:r>
                    </a:p>
                  </a:txBody>
                  <a:tcPr marL="64008" marR="64008" marT="27432" marB="27432" anchor="ctr">
                    <a:solidFill>
                      <a:srgbClr val="FFFFFF"/>
                    </a:solidFill>
                  </a:tcPr>
                </a:tc>
                <a:tc>
                  <a:txBody>
                    <a:bodyPr wrap="square"/>
                    <a:lstStyle/>
                    <a:p>
                      <a:r>
                        <a:rPr b="0" sz="1200" i="0">
                          <a:solidFill>
                            <a:srgbClr val="1A2233"/>
                          </a:solidFill>
                          <a:latin typeface="Consolas"/>
                        </a:rPr>
                        <a:t>J: =Time!J$30</a:t>
                      </a:r>
                    </a:p>
                  </a:txBody>
                  <a:tcPr marL="64008" marR="64008" marT="27432" marB="27432" anchor="ctr">
                    <a:solidFill>
                      <a:srgbClr val="FFFFFF"/>
                    </a:solidFill>
                  </a:tcPr>
                </a:tc>
              </a:tr>
              <a:tr h="329184">
                <a:tc>
                  <a:txBody>
                    <a:bodyPr wrap="square"/>
                    <a:lstStyle/>
                    <a:p>
                      <a:r>
                        <a:rPr b="1" sz="1200" i="0">
                          <a:solidFill>
                            <a:srgbClr val="1A2233"/>
                          </a:solidFill>
                          <a:latin typeface="Calibri"/>
                        </a:rPr>
                        <a:t>28</a:t>
                      </a:r>
                    </a:p>
                  </a:txBody>
                  <a:tcPr marL="64008" marR="64008" marT="27432" marB="27432" anchor="ctr">
                    <a:solidFill>
                      <a:srgbClr val="F3F6F9"/>
                    </a:solidFill>
                  </a:tcPr>
                </a:tc>
                <a:tc>
                  <a:txBody>
                    <a:bodyPr wrap="square"/>
                    <a:lstStyle/>
                    <a:p>
                      <a:r>
                        <a:rPr b="0" sz="1200" i="0">
                          <a:solidFill>
                            <a:srgbClr val="1A2233"/>
                          </a:solidFill>
                          <a:latin typeface="Calibri"/>
                        </a:rPr>
                        <a:t>Periodic interest rate</a:t>
                      </a:r>
                    </a:p>
                  </a:txBody>
                  <a:tcPr marL="64008" marR="64008" marT="27432" marB="27432" anchor="ctr">
                    <a:solidFill>
                      <a:srgbClr val="F3F6F9"/>
                    </a:solidFill>
                  </a:tcPr>
                </a:tc>
                <a:tc>
                  <a:txBody>
                    <a:bodyPr wrap="square"/>
                    <a:lstStyle/>
                    <a:p>
                      <a:r>
                        <a:rPr b="0" sz="1200" i="0">
                          <a:solidFill>
                            <a:srgbClr val="1A2233"/>
                          </a:solidFill>
                          <a:latin typeface="Consolas"/>
                        </a:rPr>
                        <a:t>J: =$F25/$F26*J27</a:t>
                      </a:r>
                    </a:p>
                  </a:txBody>
                  <a:tcPr marL="64008" marR="64008" marT="27432" marB="27432" anchor="ctr">
                    <a:solidFill>
                      <a:srgbClr val="F3F6F9"/>
                    </a:solidFill>
                  </a:tcPr>
                </a:tc>
              </a:tr>
              <a:tr h="329184">
                <a:tc>
                  <a:txBody>
                    <a:bodyPr wrap="square"/>
                    <a:lstStyle/>
                    <a:p>
                      <a:r>
                        <a:rPr b="1" sz="1200" i="0">
                          <a:solidFill>
                            <a:srgbClr val="1A2233"/>
                          </a:solidFill>
                          <a:latin typeface="Calibri"/>
                        </a:rPr>
                        <a:t>30</a:t>
                      </a:r>
                    </a:p>
                  </a:txBody>
                  <a:tcPr marL="64008" marR="64008" marT="27432" marB="27432" anchor="ctr">
                    <a:solidFill>
                      <a:srgbClr val="FFFFFF"/>
                    </a:solidFill>
                  </a:tcPr>
                </a:tc>
                <a:tc>
                  <a:txBody>
                    <a:bodyPr wrap="square"/>
                    <a:lstStyle/>
                    <a:p>
                      <a:r>
                        <a:rPr b="0" sz="1200" i="0">
                          <a:solidFill>
                            <a:srgbClr val="1A2233"/>
                          </a:solidFill>
                          <a:latin typeface="Calibri"/>
                        </a:rPr>
                        <a:t>Senior debt balance BEG</a:t>
                      </a:r>
                    </a:p>
                  </a:txBody>
                  <a:tcPr marL="64008" marR="64008" marT="27432" marB="27432" anchor="ctr">
                    <a:solidFill>
                      <a:srgbClr val="FFFFFF"/>
                    </a:solidFill>
                  </a:tcPr>
                </a:tc>
                <a:tc>
                  <a:txBody>
                    <a:bodyPr wrap="square"/>
                    <a:lstStyle/>
                    <a:p>
                      <a:r>
                        <a:rPr b="0" sz="1200" i="0">
                          <a:solidFill>
                            <a:srgbClr val="1A2233"/>
                          </a:solidFill>
                          <a:latin typeface="Consolas"/>
                        </a:rPr>
                        <a:t>J: =J$41</a:t>
                      </a:r>
                    </a:p>
                  </a:txBody>
                  <a:tcPr marL="64008" marR="64008" marT="27432" marB="27432" anchor="ctr">
                    <a:solidFill>
                      <a:srgbClr val="FFFFFF"/>
                    </a:solidFill>
                  </a:tcPr>
                </a:tc>
              </a:tr>
              <a:tr h="329184">
                <a:tc>
                  <a:txBody>
                    <a:bodyPr wrap="square"/>
                    <a:lstStyle/>
                    <a:p>
                      <a:r>
                        <a:rPr b="1" sz="1200" i="0">
                          <a:solidFill>
                            <a:srgbClr val="1A2233"/>
                          </a:solidFill>
                          <a:latin typeface="Calibri"/>
                        </a:rPr>
                        <a:t>31</a:t>
                      </a:r>
                    </a:p>
                  </a:txBody>
                  <a:tcPr marL="64008" marR="64008" marT="27432" marB="27432" anchor="ctr">
                    <a:solidFill>
                      <a:srgbClr val="F3F6F9"/>
                    </a:solidFill>
                  </a:tcPr>
                </a:tc>
                <a:tc>
                  <a:txBody>
                    <a:bodyPr wrap="square"/>
                    <a:lstStyle/>
                    <a:p>
                      <a:r>
                        <a:rPr b="0" sz="1200" i="0">
                          <a:solidFill>
                            <a:srgbClr val="1A2233"/>
                          </a:solidFill>
                          <a:latin typeface="Calibri"/>
                        </a:rPr>
                        <a:t>Periodic interest rate</a:t>
                      </a:r>
                    </a:p>
                  </a:txBody>
                  <a:tcPr marL="64008" marR="64008" marT="27432" marB="27432" anchor="ctr">
                    <a:solidFill>
                      <a:srgbClr val="F3F6F9"/>
                    </a:solidFill>
                  </a:tcPr>
                </a:tc>
                <a:tc>
                  <a:txBody>
                    <a:bodyPr wrap="square"/>
                    <a:lstStyle/>
                    <a:p>
                      <a:r>
                        <a:rPr b="0" sz="1200" i="0">
                          <a:solidFill>
                            <a:srgbClr val="1A2233"/>
                          </a:solidFill>
                          <a:latin typeface="Consolas"/>
                        </a:rPr>
                        <a:t>J: =J$28</a:t>
                      </a:r>
                    </a:p>
                  </a:txBody>
                  <a:tcPr marL="64008" marR="64008" marT="27432" marB="27432" anchor="ctr">
                    <a:solidFill>
                      <a:srgbClr val="F3F6F9"/>
                    </a:solidFill>
                  </a:tcPr>
                </a:tc>
              </a:tr>
              <a:tr h="329184">
                <a:tc>
                  <a:txBody>
                    <a:bodyPr wrap="square"/>
                    <a:lstStyle/>
                    <a:p>
                      <a:r>
                        <a:rPr b="1" sz="1200" i="0">
                          <a:solidFill>
                            <a:srgbClr val="1A2233"/>
                          </a:solidFill>
                          <a:latin typeface="Calibri"/>
                        </a:rPr>
                        <a:t>32</a:t>
                      </a:r>
                    </a:p>
                  </a:txBody>
                  <a:tcPr marL="64008" marR="64008" marT="27432" marB="27432" anchor="ctr">
                    <a:solidFill>
                      <a:srgbClr val="FFFFFF"/>
                    </a:solidFill>
                  </a:tcPr>
                </a:tc>
                <a:tc>
                  <a:txBody>
                    <a:bodyPr wrap="square"/>
                    <a:lstStyle/>
                    <a:p>
                      <a:r>
                        <a:rPr b="0" sz="1200" i="0">
                          <a:solidFill>
                            <a:srgbClr val="1A2233"/>
                          </a:solidFill>
                          <a:latin typeface="Calibri"/>
                        </a:rPr>
                        <a:t>Senior debt interest payment POS</a:t>
                      </a:r>
                    </a:p>
                  </a:txBody>
                  <a:tcPr marL="64008" marR="64008" marT="27432" marB="27432" anchor="ctr">
                    <a:solidFill>
                      <a:srgbClr val="FFFFFF"/>
                    </a:solidFill>
                  </a:tcPr>
                </a:tc>
                <a:tc>
                  <a:txBody>
                    <a:bodyPr wrap="square"/>
                    <a:lstStyle/>
                    <a:p>
                      <a:r>
                        <a:rPr b="0" sz="1200" i="0">
                          <a:solidFill>
                            <a:srgbClr val="1A2233"/>
                          </a:solidFill>
                          <a:latin typeface="Consolas"/>
                        </a:rPr>
                        <a:t>J: =J30*J31</a:t>
                      </a:r>
                    </a:p>
                  </a:txBody>
                  <a:tcPr marL="64008" marR="64008" marT="27432" marB="27432" anchor="ctr">
                    <a:solidFill>
                      <a:srgbClr val="FFFFFF"/>
                    </a:solidFill>
                  </a:tcPr>
                </a:tc>
              </a:tr>
              <a:tr h="329184">
                <a:tc>
                  <a:txBody>
                    <a:bodyPr wrap="square"/>
                    <a:lstStyle/>
                    <a:p>
                      <a:r>
                        <a:rPr b="1" sz="1200" i="0">
                          <a:solidFill>
                            <a:srgbClr val="1A2233"/>
                          </a:solidFill>
                          <a:latin typeface="Calibri"/>
                        </a:rPr>
                        <a:t>33</a:t>
                      </a:r>
                    </a:p>
                  </a:txBody>
                  <a:tcPr marL="64008" marR="64008" marT="27432" marB="27432" anchor="ctr">
                    <a:solidFill>
                      <a:srgbClr val="F3F6F9"/>
                    </a:solidFill>
                  </a:tcPr>
                </a:tc>
                <a:tc>
                  <a:txBody>
                    <a:bodyPr wrap="square"/>
                    <a:lstStyle/>
                    <a:p>
                      <a:r>
                        <a:rPr b="0" sz="1200" i="0">
                          <a:solidFill>
                            <a:srgbClr val="1A2233"/>
                          </a:solidFill>
                          <a:latin typeface="Calibri"/>
                        </a:rPr>
                        <a:t>Senior debt interest payment</a:t>
                      </a:r>
                    </a:p>
                  </a:txBody>
                  <a:tcPr marL="64008" marR="64008" marT="27432" marB="27432" anchor="ctr">
                    <a:solidFill>
                      <a:srgbClr val="F3F6F9"/>
                    </a:solidFill>
                  </a:tcPr>
                </a:tc>
                <a:tc>
                  <a:txBody>
                    <a:bodyPr wrap="square"/>
                    <a:lstStyle/>
                    <a:p>
                      <a:r>
                        <a:rPr b="0" sz="1200" i="0">
                          <a:solidFill>
                            <a:srgbClr val="1A2233"/>
                          </a:solidFill>
                          <a:latin typeface="Consolas"/>
                        </a:rPr>
                        <a:t>J: =-1*J32</a:t>
                      </a:r>
                    </a:p>
                  </a:txBody>
                  <a:tcPr marL="64008" marR="64008" marT="27432" marB="27432" anchor="ctr">
                    <a:solidFill>
                      <a:srgbClr val="F3F6F9"/>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Debt!J28: periodic interest rate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Debt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J28  (to CO28)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Periodic interest rate  (%)</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=$F25/$F26*J27</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Annual rate ÷ day-count basis (360) × days in this quarter</a:t>
            </a:r>
          </a:p>
          <a:p>
            <a:pPr algn="l"/>
            <a:r>
              <a:rPr b="0" sz="1500" i="0">
                <a:solidFill>
                  <a:srgbClr val="1A2233"/>
                </a:solidFill>
                <a:latin typeface="Calibri"/>
              </a:rPr>
              <a:t>▪ 6.5% / 360 × 89 = 1.607%</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F25 = InpC!F$77 (6.5%)</a:t>
            </a:r>
          </a:p>
          <a:p>
            <a:pPr algn="l"/>
            <a:r>
              <a:rPr b="0" sz="1300" i="0">
                <a:solidFill>
                  <a:srgbClr val="1A2233"/>
                </a:solidFill>
                <a:latin typeface="Consolas"/>
              </a:rPr>
              <a:t>F26 = InpC!F$79 (360)</a:t>
            </a:r>
          </a:p>
          <a:p>
            <a:pPr algn="l"/>
            <a:r>
              <a:rPr b="0" sz="1300" i="0">
                <a:solidFill>
                  <a:srgbClr val="1A2233"/>
                </a:solidFill>
                <a:latin typeface="Consolas"/>
              </a:rPr>
              <a:t>J27 = Time!J$30 (days)</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J28:CO28,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J28:CO28,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J28 → CO28</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H28 = empty;  L28 = 0.016250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Actual/360 is a common loan convention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Debt!J32: senior debt interest payment POS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Debt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J32  (to CO32)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interest payment POS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=J30*J31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Opening balance × periodic interest rate</a:t>
            </a:r>
          </a:p>
          <a:p>
            <a:pPr algn="l"/>
            <a:r>
              <a:rPr b="0" sz="1500" i="0">
                <a:solidFill>
                  <a:srgbClr val="1A2233"/>
                </a:solidFill>
                <a:latin typeface="Calibri"/>
              </a:rPr>
              <a:t>▪ Row 33 flips the sign; its flag 'IS&amp;CF' means it appears in both the income statement and cash flow</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J30 = J$41 (balance BEG)</a:t>
            </a:r>
          </a:p>
          <a:p>
            <a:pPr algn="l"/>
            <a:r>
              <a:rPr b="0" sz="1300" i="0">
                <a:solidFill>
                  <a:srgbClr val="1A2233"/>
                </a:solidFill>
                <a:latin typeface="Consolas"/>
              </a:rPr>
              <a:t>J31 = J$28</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J32:CO32,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J32:CO32,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J32 → CO32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H32 = 18,291;  L32 = 975</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Interest on the opening balance: no circularity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block 3: debt balance (rows 38 to 44)</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38</a:t>
                      </a:r>
                    </a:p>
                  </a:txBody>
                  <a:tcPr marL="64008" marR="64008" marT="27432" marB="27432" anchor="ctr">
                    <a:solidFill>
                      <a:srgbClr val="FFFFFF"/>
                    </a:solidFill>
                  </a:tcPr>
                </a:tc>
                <a:tc>
                  <a:txBody>
                    <a:bodyPr wrap="square"/>
                    <a:lstStyle/>
                    <a:p>
                      <a:r>
                        <a:rPr b="0" sz="1200" i="0">
                          <a:solidFill>
                            <a:srgbClr val="1A2233"/>
                          </a:solidFill>
                          <a:latin typeface="Calibri"/>
                        </a:rPr>
                        <a:t>Senior debt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=F$11</a:t>
                      </a:r>
                    </a:p>
                  </a:txBody>
                  <a:tcPr marL="64008" marR="64008" marT="27432" marB="27432" anchor="ctr">
                    <a:solidFill>
                      <a:srgbClr val="FFFFFF"/>
                    </a:solidFill>
                  </a:tcPr>
                </a:tc>
              </a:tr>
              <a:tr h="329184">
                <a:tc>
                  <a:txBody>
                    <a:bodyPr wrap="square"/>
                    <a:lstStyle/>
                    <a:p>
                      <a:r>
                        <a:rPr b="1" sz="1200" i="0">
                          <a:solidFill>
                            <a:srgbClr val="1A2233"/>
                          </a:solidFill>
                          <a:latin typeface="Calibri"/>
                        </a:rPr>
                        <a:t>39</a:t>
                      </a:r>
                    </a:p>
                  </a:txBody>
                  <a:tcPr marL="64008" marR="64008" marT="27432" marB="27432" anchor="ctr">
                    <a:solidFill>
                      <a:srgbClr val="F3F6F9"/>
                    </a:solidFill>
                  </a:tcPr>
                </a:tc>
                <a:tc>
                  <a:txBody>
                    <a:bodyPr wrap="square"/>
                    <a:lstStyle/>
                    <a:p>
                      <a:r>
                        <a:rPr b="0" sz="1200" i="0">
                          <a:solidFill>
                            <a:srgbClr val="1A2233"/>
                          </a:solidFill>
                          <a:latin typeface="Calibri"/>
                        </a:rPr>
                        <a:t>Acquisition / initial balance date flag</a:t>
                      </a:r>
                    </a:p>
                  </a:txBody>
                  <a:tcPr marL="64008" marR="64008" marT="27432" marB="27432" anchor="ctr">
                    <a:solidFill>
                      <a:srgbClr val="F3F6F9"/>
                    </a:solidFill>
                  </a:tcPr>
                </a:tc>
                <a:tc>
                  <a:txBody>
                    <a:bodyPr wrap="square"/>
                    <a:lstStyle/>
                    <a:p>
                      <a:r>
                        <a:rPr b="0" sz="1200" i="0">
                          <a:solidFill>
                            <a:srgbClr val="1A2233"/>
                          </a:solidFill>
                          <a:latin typeface="Consolas"/>
                        </a:rPr>
                        <a:t>J: =Time!J$45</a:t>
                      </a:r>
                    </a:p>
                  </a:txBody>
                  <a:tcPr marL="64008" marR="64008" marT="27432" marB="27432" anchor="ctr">
                    <a:solidFill>
                      <a:srgbClr val="F3F6F9"/>
                    </a:solidFill>
                  </a:tcPr>
                </a:tc>
              </a:tr>
              <a:tr h="329184">
                <a:tc>
                  <a:txBody>
                    <a:bodyPr wrap="square"/>
                    <a:lstStyle/>
                    <a:p>
                      <a:r>
                        <a:rPr b="1" sz="1200" i="0">
                          <a:solidFill>
                            <a:srgbClr val="1A2233"/>
                          </a:solidFill>
                          <a:latin typeface="Calibri"/>
                        </a:rPr>
                        <a:t>41</a:t>
                      </a:r>
                    </a:p>
                  </a:txBody>
                  <a:tcPr marL="64008" marR="64008" marT="27432" marB="27432" anchor="ctr">
                    <a:solidFill>
                      <a:srgbClr val="FFFFFF"/>
                    </a:solidFill>
                  </a:tcPr>
                </a:tc>
                <a:tc>
                  <a:txBody>
                    <a:bodyPr wrap="square"/>
                    <a:lstStyle/>
                    <a:p>
                      <a:r>
                        <a:rPr b="0" sz="1200" i="0">
                          <a:solidFill>
                            <a:srgbClr val="1A2233"/>
                          </a:solidFill>
                          <a:latin typeface="Calibri"/>
                        </a:rPr>
                        <a:t>Senior debt balance BEG</a:t>
                      </a:r>
                    </a:p>
                  </a:txBody>
                  <a:tcPr marL="64008" marR="64008" marT="27432" marB="27432" anchor="ctr">
                    <a:solidFill>
                      <a:srgbClr val="FFFFFF"/>
                    </a:solidFill>
                  </a:tcPr>
                </a:tc>
                <a:tc>
                  <a:txBody>
                    <a:bodyPr wrap="square"/>
                    <a:lstStyle/>
                    <a:p>
                      <a:r>
                        <a:rPr b="0" sz="1200" i="0">
                          <a:solidFill>
                            <a:srgbClr val="1A2233"/>
                          </a:solidFill>
                          <a:latin typeface="Consolas"/>
                        </a:rPr>
                        <a:t>J: =I44</a:t>
                      </a:r>
                    </a:p>
                  </a:txBody>
                  <a:tcPr marL="64008" marR="64008" marT="27432" marB="27432" anchor="ctr">
                    <a:solidFill>
                      <a:srgbClr val="FFFFFF"/>
                    </a:solidFill>
                  </a:tcPr>
                </a:tc>
              </a:tr>
              <a:tr h="329184">
                <a:tc>
                  <a:txBody>
                    <a:bodyPr wrap="square"/>
                    <a:lstStyle/>
                    <a:p>
                      <a:r>
                        <a:rPr b="1" sz="1200" i="0">
                          <a:solidFill>
                            <a:srgbClr val="1A2233"/>
                          </a:solidFill>
                          <a:latin typeface="Calibri"/>
                        </a:rPr>
                        <a:t>42</a:t>
                      </a:r>
                    </a:p>
                  </a:txBody>
                  <a:tcPr marL="64008" marR="64008" marT="27432" marB="27432" anchor="ctr">
                    <a:solidFill>
                      <a:srgbClr val="F3F6F9"/>
                    </a:solidFill>
                  </a:tcPr>
                </a:tc>
                <a:tc>
                  <a:txBody>
                    <a:bodyPr wrap="square"/>
                    <a:lstStyle/>
                    <a:p>
                      <a:r>
                        <a:rPr b="0" sz="1200" i="0">
                          <a:solidFill>
                            <a:srgbClr val="1A2233"/>
                          </a:solidFill>
                          <a:latin typeface="Calibri"/>
                        </a:rPr>
                        <a:t>Senior debt - additional drawdown</a:t>
                      </a:r>
                    </a:p>
                  </a:txBody>
                  <a:tcPr marL="64008" marR="64008" marT="27432" marB="27432" anchor="ctr">
                    <a:solidFill>
                      <a:srgbClr val="F3F6F9"/>
                    </a:solidFill>
                  </a:tcPr>
                </a:tc>
                <a:tc>
                  <a:txBody>
                    <a:bodyPr wrap="square"/>
                    <a:lstStyle/>
                    <a:p>
                      <a:r>
                        <a:rPr b="0" sz="1200" i="0">
                          <a:solidFill>
                            <a:srgbClr val="1A2233"/>
                          </a:solidFill>
                          <a:latin typeface="Consolas"/>
                        </a:rPr>
                        <a:t>J: =InpS!J$22</a:t>
                      </a:r>
                    </a:p>
                  </a:txBody>
                  <a:tcPr marL="64008" marR="64008" marT="27432" marB="27432" anchor="ctr">
                    <a:solidFill>
                      <a:srgbClr val="F3F6F9"/>
                    </a:solidFill>
                  </a:tcPr>
                </a:tc>
              </a:tr>
              <a:tr h="329184">
                <a:tc>
                  <a:txBody>
                    <a:bodyPr wrap="square"/>
                    <a:lstStyle/>
                    <a:p>
                      <a:r>
                        <a:rPr b="1" sz="1200" i="0">
                          <a:solidFill>
                            <a:srgbClr val="1A2233"/>
                          </a:solidFill>
                          <a:latin typeface="Calibri"/>
                        </a:rPr>
                        <a:t>43</a:t>
                      </a:r>
                    </a:p>
                  </a:txBody>
                  <a:tcPr marL="64008" marR="64008" marT="27432" marB="27432" anchor="ctr">
                    <a:solidFill>
                      <a:srgbClr val="FFFFFF"/>
                    </a:solidFill>
                  </a:tcPr>
                </a:tc>
                <a:tc>
                  <a:txBody>
                    <a:bodyPr wrap="square"/>
                    <a:lstStyle/>
                    <a:p>
                      <a:r>
                        <a:rPr b="0" sz="1200" i="0">
                          <a:solidFill>
                            <a:srgbClr val="1A2233"/>
                          </a:solidFill>
                          <a:latin typeface="Calibri"/>
                        </a:rPr>
                        <a:t>Senior debt principal repayment POS</a:t>
                      </a:r>
                    </a:p>
                  </a:txBody>
                  <a:tcPr marL="64008" marR="64008" marT="27432" marB="27432" anchor="ctr">
                    <a:solidFill>
                      <a:srgbClr val="FFFFFF"/>
                    </a:solidFill>
                  </a:tcPr>
                </a:tc>
                <a:tc>
                  <a:txBody>
                    <a:bodyPr wrap="square"/>
                    <a:lstStyle/>
                    <a:p>
                      <a:r>
                        <a:rPr b="0" sz="1200" i="0">
                          <a:solidFill>
                            <a:srgbClr val="1A2233"/>
                          </a:solidFill>
                          <a:latin typeface="Consolas"/>
                        </a:rPr>
                        <a:t>J: =J$21</a:t>
                      </a:r>
                    </a:p>
                  </a:txBody>
                  <a:tcPr marL="64008" marR="64008" marT="27432" marB="27432" anchor="ctr">
                    <a:solidFill>
                      <a:srgbClr val="FFFFFF"/>
                    </a:solidFill>
                  </a:tcPr>
                </a:tc>
              </a:tr>
              <a:tr h="329184">
                <a:tc>
                  <a:txBody>
                    <a:bodyPr wrap="square"/>
                    <a:lstStyle/>
                    <a:p>
                      <a:r>
                        <a:rPr b="1" sz="1200" i="0">
                          <a:solidFill>
                            <a:srgbClr val="1A2233"/>
                          </a:solidFill>
                          <a:latin typeface="Calibri"/>
                        </a:rPr>
                        <a:t>44</a:t>
                      </a:r>
                    </a:p>
                  </a:txBody>
                  <a:tcPr marL="64008" marR="64008" marT="27432" marB="27432" anchor="ctr">
                    <a:solidFill>
                      <a:srgbClr val="F3F6F9"/>
                    </a:solidFill>
                  </a:tcPr>
                </a:tc>
                <a:tc>
                  <a:txBody>
                    <a:bodyPr wrap="square"/>
                    <a:lstStyle/>
                    <a:p>
                      <a:r>
                        <a:rPr b="0" sz="1200" i="0">
                          <a:solidFill>
                            <a:srgbClr val="1A2233"/>
                          </a:solidFill>
                          <a:latin typeface="Calibri"/>
                        </a:rPr>
                        <a:t>Senior debt balance</a:t>
                      </a:r>
                    </a:p>
                  </a:txBody>
                  <a:tcPr marL="64008" marR="64008" marT="27432" marB="27432" anchor="ctr">
                    <a:solidFill>
                      <a:srgbClr val="F3F6F9"/>
                    </a:solidFill>
                  </a:tcPr>
                </a:tc>
                <a:tc>
                  <a:txBody>
                    <a:bodyPr wrap="square"/>
                    <a:lstStyle/>
                    <a:p>
                      <a:r>
                        <a:rPr b="0" sz="1200" i="0">
                          <a:solidFill>
                            <a:srgbClr val="1A2233"/>
                          </a:solidFill>
                          <a:latin typeface="Consolas"/>
                        </a:rPr>
                        <a:t>J: =IF(J39=1,$F38,J41+J42-J43)</a:t>
                      </a:r>
                    </a:p>
                  </a:txBody>
                  <a:tcPr marL="64008" marR="64008" marT="27432" marB="27432" anchor="ctr">
                    <a:solidFill>
                      <a:srgbClr val="F3F6F9"/>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Debt!J44: senior debt balance (BS)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Debt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J44  (to CO44)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=IF(J39=1,$F38,J41+J42-J43)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200" i="0">
                <a:solidFill>
                  <a:srgbClr val="1A2233"/>
                </a:solidFill>
                <a:latin typeface="Calibri"/>
              </a:rPr>
              <a:t>▪ At the acquisition date: the initial balance (F38). Otherwise: opening + additional drawdown (row 42, fed from InpS row 22) − principal</a:t>
            </a:r>
          </a:p>
          <a:p>
            <a:pPr algn="l"/>
            <a:r>
              <a:rPr b="0" sz="1200" i="0">
                <a:solidFill>
                  <a:srgbClr val="1A2233"/>
                </a:solidFill>
                <a:latin typeface="Calibri"/>
              </a:rPr>
              <a:t>▪ Row 42 pulls InpS row 22 (additional drawdown): zero in the base case; construction drawdowns arrive on Day 6</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F38 = F$11</a:t>
            </a:r>
          </a:p>
          <a:p>
            <a:pPr algn="l"/>
            <a:r>
              <a:rPr b="0" sz="1300" i="0">
                <a:solidFill>
                  <a:srgbClr val="1A2233"/>
                </a:solidFill>
                <a:latin typeface="Consolas"/>
              </a:rPr>
              <a:t>J39 = Time!J$45</a:t>
            </a:r>
          </a:p>
          <a:p>
            <a:pPr algn="l"/>
            <a:r>
              <a:rPr b="0" sz="1300" i="0">
                <a:solidFill>
                  <a:srgbClr val="1A2233"/>
                </a:solidFill>
                <a:latin typeface="Consolas"/>
              </a:rPr>
              <a:t>J41 = I44</a:t>
            </a:r>
          </a:p>
          <a:p>
            <a:pPr algn="l"/>
            <a:r>
              <a:rPr b="0" sz="1300" i="0">
                <a:solidFill>
                  <a:srgbClr val="1A2233"/>
                </a:solidFill>
                <a:latin typeface="Consolas"/>
              </a:rPr>
              <a:t>J43 = J$21</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J44:CO44,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J44:CO44,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J44 → CO44</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L44 = 60,000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Roll-forward once more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5.3a: Build Debt and test profile 2 and 3</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Rebuild Debt rows 9 to 44. Then change InpC!J74 to 2 and 3 and note total interest (Debt!H32).</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Initial debt and the active profile (11, 17)</a:t>
            </a:r>
          </a:p>
          <a:p>
            <a:pPr>
              <a:spcAft>
                <a:spcPts val="300"/>
              </a:spcAft>
            </a:pPr>
            <a:r>
              <a:rPr b="0" sz="1500" i="0">
                <a:solidFill>
                  <a:srgbClr val="1A2233"/>
                </a:solidFill>
                <a:latin typeface="Calibri"/>
              </a:rPr>
              <a:t>2.  Principal (21, 22)</a:t>
            </a:r>
          </a:p>
          <a:p>
            <a:pPr>
              <a:spcAft>
                <a:spcPts val="300"/>
              </a:spcAft>
            </a:pPr>
            <a:r>
              <a:rPr b="0" sz="1500" i="0">
                <a:solidFill>
                  <a:srgbClr val="1A2233"/>
                </a:solidFill>
                <a:latin typeface="Calibri"/>
              </a:rPr>
              <a:t>3.  Interest (28, 32, 33)</a:t>
            </a:r>
          </a:p>
          <a:p>
            <a:pPr>
              <a:spcAft>
                <a:spcPts val="300"/>
              </a:spcAft>
            </a:pPr>
            <a:r>
              <a:rPr b="0" sz="1500" i="0">
                <a:solidFill>
                  <a:srgbClr val="1A2233"/>
                </a:solidFill>
                <a:latin typeface="Calibri"/>
              </a:rPr>
              <a:t>4.  Balance (41 to 44)</a:t>
            </a:r>
          </a:p>
          <a:p>
            <a:pPr>
              <a:spcAft>
                <a:spcPts val="300"/>
              </a:spcAft>
            </a:pPr>
            <a:r>
              <a:rPr b="0" sz="1500" i="0">
                <a:solidFill>
                  <a:srgbClr val="1A2233"/>
                </a:solidFill>
                <a:latin typeface="Calibri"/>
              </a:rPr>
              <a:t>5.  Switch the profile and record total interest</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Checkpoints: Debt (profile 1)</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536192"/>
        </p:xfrm>
        <a:graphic>
          <a:graphicData uri="http://schemas.openxmlformats.org/drawingml/2006/table">
            <a:tbl>
              <a:tblPr firstRow="1" bandRow="1">
                <a:tableStyleId>{5C22544A-7EE6-4342-B048-85BDC9FD1C3A}</a:tableStyleId>
              </a:tblPr>
              <a:tblGrid>
                <a:gridCol w="914400"/>
                <a:gridCol w="4572000"/>
                <a:gridCol w="2743200"/>
                <a:gridCol w="2834640"/>
              </a:tblGrid>
              <a:tr h="384048">
                <a:tc>
                  <a:txBody>
                    <a:bodyPr wrap="square"/>
                    <a:lstStyle/>
                    <a:p>
                      <a:r>
                        <a:rPr b="1" sz="1300" i="0">
                          <a:solidFill>
                            <a:srgbClr val="FFFFFF"/>
                          </a:solidFill>
                          <a:latin typeface="Calibri"/>
                        </a:rPr>
                        <a:t>Row</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H (total)</a:t>
                      </a:r>
                    </a:p>
                  </a:txBody>
                  <a:tcPr marL="64008" marR="64008" marT="27432" marB="27432" anchor="ctr">
                    <a:solidFill>
                      <a:srgbClr val="141B4D"/>
                    </a:solidFill>
                  </a:tcPr>
                </a:tc>
                <a:tc>
                  <a:txBody>
                    <a:bodyPr wrap="square"/>
                    <a:lstStyle/>
                    <a:p>
                      <a:r>
                        <a:rPr b="1" sz="1300" i="0">
                          <a:solidFill>
                            <a:srgbClr val="FFFFFF"/>
                          </a:solidFill>
                          <a:latin typeface="Calibri"/>
                        </a:rPr>
                        <a:t>L (2022-03-31)</a:t>
                      </a:r>
                    </a:p>
                  </a:txBody>
                  <a:tcPr marL="64008" marR="64008" marT="27432" marB="27432" anchor="ctr">
                    <a:solidFill>
                      <a:srgbClr val="141B4D"/>
                    </a:solidFill>
                  </a:tcPr>
                </a:tc>
              </a:tr>
              <a:tr h="384048">
                <a:tc>
                  <a:txBody>
                    <a:bodyPr wrap="square"/>
                    <a:lstStyle/>
                    <a:p>
                      <a:r>
                        <a:rPr b="1" sz="1300" i="0">
                          <a:solidFill>
                            <a:srgbClr val="1A2233"/>
                          </a:solidFill>
                          <a:latin typeface="Calibri"/>
                        </a:rPr>
                        <a:t>21</a:t>
                      </a:r>
                    </a:p>
                  </a:txBody>
                  <a:tcPr marL="64008" marR="64008" marT="27432" marB="27432" anchor="ctr">
                    <a:solidFill>
                      <a:srgbClr val="FFFFFF"/>
                    </a:solidFill>
                  </a:tcPr>
                </a:tc>
                <a:tc>
                  <a:txBody>
                    <a:bodyPr wrap="square"/>
                    <a:lstStyle/>
                    <a:p>
                      <a:r>
                        <a:rPr b="0" sz="1300" i="0">
                          <a:solidFill>
                            <a:srgbClr val="1A2233"/>
                          </a:solidFill>
                          <a:latin typeface="Calibri"/>
                        </a:rPr>
                        <a:t>Principal POS</a:t>
                      </a:r>
                    </a:p>
                  </a:txBody>
                  <a:tcPr marL="64008" marR="64008" marT="27432" marB="27432" anchor="ctr">
                    <a:solidFill>
                      <a:srgbClr val="FFFFFF"/>
                    </a:solidFill>
                  </a:tcPr>
                </a:tc>
                <a:tc>
                  <a:txBody>
                    <a:bodyPr wrap="square"/>
                    <a:lstStyle/>
                    <a:p>
                      <a:r>
                        <a:rPr b="0" sz="1300" i="0">
                          <a:solidFill>
                            <a:srgbClr val="1A2233"/>
                          </a:solidFill>
                          <a:latin typeface="Calibri"/>
                        </a:rPr>
                        <a:t>60,000</a:t>
                      </a:r>
                    </a:p>
                  </a:txBody>
                  <a:tcPr marL="64008" marR="64008" marT="27432" marB="27432" anchor="ctr">
                    <a:solidFill>
                      <a:srgbClr val="FFFFFF"/>
                    </a:solidFill>
                  </a:tcPr>
                </a:tc>
                <a:tc>
                  <a:txBody>
                    <a:bodyPr wrap="square"/>
                    <a:lstStyle/>
                    <a:p>
                      <a:r>
                        <a:rPr b="0" sz="1300" i="0">
                          <a:solidFill>
                            <a:srgbClr val="1A2233"/>
                          </a:solidFill>
                          <a:latin typeface="Calibri"/>
                        </a:rPr>
                        <a:t>0</a:t>
                      </a:r>
                    </a:p>
                  </a:txBody>
                  <a:tcPr marL="64008" marR="64008" marT="27432" marB="27432" anchor="ctr">
                    <a:solidFill>
                      <a:srgbClr val="FFFFFF"/>
                    </a:solidFill>
                  </a:tcPr>
                </a:tc>
              </a:tr>
              <a:tr h="384048">
                <a:tc>
                  <a:txBody>
                    <a:bodyPr wrap="square"/>
                    <a:lstStyle/>
                    <a:p>
                      <a:r>
                        <a:rPr b="1" sz="1300" i="0">
                          <a:solidFill>
                            <a:srgbClr val="1A2233"/>
                          </a:solidFill>
                          <a:latin typeface="Calibri"/>
                        </a:rPr>
                        <a:t>32</a:t>
                      </a:r>
                    </a:p>
                  </a:txBody>
                  <a:tcPr marL="64008" marR="64008" marT="27432" marB="27432" anchor="ctr">
                    <a:solidFill>
                      <a:srgbClr val="F3F6F9"/>
                    </a:solidFill>
                  </a:tcPr>
                </a:tc>
                <a:tc>
                  <a:txBody>
                    <a:bodyPr wrap="square"/>
                    <a:lstStyle/>
                    <a:p>
                      <a:r>
                        <a:rPr b="0" sz="1300" i="0">
                          <a:solidFill>
                            <a:srgbClr val="1A2233"/>
                          </a:solidFill>
                          <a:latin typeface="Calibri"/>
                        </a:rPr>
                        <a:t>Interest POS</a:t>
                      </a:r>
                    </a:p>
                  </a:txBody>
                  <a:tcPr marL="64008" marR="64008" marT="27432" marB="27432" anchor="ctr">
                    <a:solidFill>
                      <a:srgbClr val="F3F6F9"/>
                    </a:solidFill>
                  </a:tcPr>
                </a:tc>
                <a:tc>
                  <a:txBody>
                    <a:bodyPr wrap="square"/>
                    <a:lstStyle/>
                    <a:p>
                      <a:r>
                        <a:rPr b="0" sz="1300" i="0">
                          <a:solidFill>
                            <a:srgbClr val="1A2233"/>
                          </a:solidFill>
                          <a:latin typeface="Calibri"/>
                        </a:rPr>
                        <a:t>18,291</a:t>
                      </a:r>
                    </a:p>
                  </a:txBody>
                  <a:tcPr marL="64008" marR="64008" marT="27432" marB="27432" anchor="ctr">
                    <a:solidFill>
                      <a:srgbClr val="F3F6F9"/>
                    </a:solidFill>
                  </a:tcPr>
                </a:tc>
                <a:tc>
                  <a:txBody>
                    <a:bodyPr wrap="square"/>
                    <a:lstStyle/>
                    <a:p>
                      <a:r>
                        <a:rPr b="0" sz="1300" i="0">
                          <a:solidFill>
                            <a:srgbClr val="1A2233"/>
                          </a:solidFill>
                          <a:latin typeface="Calibri"/>
                        </a:rPr>
                        <a:t>975</a:t>
                      </a:r>
                    </a:p>
                  </a:txBody>
                  <a:tcPr marL="64008" marR="64008" marT="27432" marB="27432" anchor="ctr">
                    <a:solidFill>
                      <a:srgbClr val="F3F6F9"/>
                    </a:solidFill>
                  </a:tcPr>
                </a:tc>
              </a:tr>
              <a:tr h="384048">
                <a:tc>
                  <a:txBody>
                    <a:bodyPr wrap="square"/>
                    <a:lstStyle/>
                    <a:p>
                      <a:r>
                        <a:rPr b="1" sz="1300" i="0">
                          <a:solidFill>
                            <a:srgbClr val="1A2233"/>
                          </a:solidFill>
                          <a:latin typeface="Calibri"/>
                        </a:rPr>
                        <a:t>44</a:t>
                      </a:r>
                    </a:p>
                  </a:txBody>
                  <a:tcPr marL="64008" marR="64008" marT="27432" marB="27432" anchor="ctr">
                    <a:solidFill>
                      <a:srgbClr val="FFFFFF"/>
                    </a:solidFill>
                  </a:tcPr>
                </a:tc>
                <a:tc>
                  <a:txBody>
                    <a:bodyPr wrap="square"/>
                    <a:lstStyle/>
                    <a:p>
                      <a:r>
                        <a:rPr b="0" sz="1300" i="0">
                          <a:solidFill>
                            <a:srgbClr val="1A2233"/>
                          </a:solidFill>
                          <a:latin typeface="Calibri"/>
                        </a:rPr>
                        <a:t>Debt balance (end)</a:t>
                      </a:r>
                    </a:p>
                  </a:txBody>
                  <a:tcPr marL="64008" marR="64008" marT="27432" marB="27432" anchor="ctr">
                    <a:solidFill>
                      <a:srgbClr val="FFFFFF"/>
                    </a:solidFill>
                  </a:tcPr>
                </a:tc>
                <a:tc>
                  <a:txBody>
                    <a:bodyPr wrap="square"/>
                    <a:lstStyle/>
                    <a:p>
                      <a:r>
                        <a:rPr b="0" sz="1300" i="0">
                          <a:solidFill>
                            <a:srgbClr val="1A2233"/>
                          </a:solidFill>
                          <a:latin typeface="Calibri"/>
                        </a:rPr>
                        <a:t>n/a</a:t>
                      </a:r>
                    </a:p>
                  </a:txBody>
                  <a:tcPr marL="64008" marR="64008" marT="27432" marB="27432" anchor="ctr">
                    <a:solidFill>
                      <a:srgbClr val="FFFFFF"/>
                    </a:solidFill>
                  </a:tcPr>
                </a:tc>
                <a:tc>
                  <a:txBody>
                    <a:bodyPr wrap="square"/>
                    <a:lstStyle/>
                    <a:p>
                      <a:r>
                        <a:rPr b="0" sz="1300" i="0">
                          <a:solidFill>
                            <a:srgbClr val="1A2233"/>
                          </a:solidFill>
                          <a:latin typeface="Calibri"/>
                        </a:rPr>
                        <a:t>60,000</a:t>
                      </a:r>
                    </a:p>
                  </a:txBody>
                  <a:tcPr marL="64008" marR="64008" marT="27432" marB="27432"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41</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11.30 – 12.30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4: Equity</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Share capital, dividends and retained balances.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Who gets the cash left over?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After operating costs, tax, capex and lenders are paid, what remains belongs to shareholders. The model pays it out as dividends, but only if two tests allow it: there is cash in hand, and there are accumulated profits (retained earnings) to distribute.</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Dividend = MIN(cash available, earnings available)</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Dividend = the smaller of (cash available) and (earnings available)</a:t>
            </a:r>
          </a:p>
          <a:p>
            <a:pPr algn="l"/>
            <a:r>
              <a:rPr b="0" sz="1600" i="0">
                <a:solidFill>
                  <a:srgbClr val="1A2233"/>
                </a:solidFill>
                <a:latin typeface="Calibri"/>
              </a:rPr>
              <a:t>Anything not paid out stays in 'retained cash' and 'retained earnings'</a:t>
            </a:r>
          </a:p>
          <a:p>
            <a:pPr algn="l"/>
            <a:r>
              <a:rPr b="0" sz="1600" i="0">
                <a:solidFill>
                  <a:srgbClr val="1A2233"/>
                </a:solidFill>
                <a:latin typeface="Calibri"/>
              </a:rPr>
              <a:t>Share capital is repaid in full in the last forecast period</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Mirrors real company law: dividends cannot exceed distributable profits.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 block 1: share capital redemption (rows 8 to 11)</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64592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8</a:t>
                      </a:r>
                    </a:p>
                  </a:txBody>
                  <a:tcPr marL="64008" marR="64008" marT="27432" marB="27432" anchor="ctr">
                    <a:solidFill>
                      <a:srgbClr val="FFFFFF"/>
                    </a:solidFill>
                  </a:tcPr>
                </a:tc>
                <a:tc>
                  <a:txBody>
                    <a:bodyPr wrap="square"/>
                    <a:lstStyle/>
                    <a:p>
                      <a:r>
                        <a:rPr b="0" sz="1200" i="0">
                          <a:solidFill>
                            <a:srgbClr val="1A2233"/>
                          </a:solidFill>
                          <a:latin typeface="Calibri"/>
                        </a:rPr>
                        <a:t>Share capital balance BEG</a:t>
                      </a:r>
                    </a:p>
                  </a:txBody>
                  <a:tcPr marL="64008" marR="64008" marT="27432" marB="27432" anchor="ctr">
                    <a:solidFill>
                      <a:srgbClr val="FFFFFF"/>
                    </a:solidFill>
                  </a:tcPr>
                </a:tc>
                <a:tc>
                  <a:txBody>
                    <a:bodyPr wrap="square"/>
                    <a:lstStyle/>
                    <a:p>
                      <a:r>
                        <a:rPr b="0" sz="1200" i="0">
                          <a:solidFill>
                            <a:srgbClr val="1A2233"/>
                          </a:solidFill>
                          <a:latin typeface="Consolas"/>
                        </a:rPr>
                        <a:t>J: =J$21</a:t>
                      </a:r>
                    </a:p>
                  </a:txBody>
                  <a:tcPr marL="64008" marR="64008" marT="27432" marB="27432" anchor="ctr">
                    <a:solidFill>
                      <a:srgbClr val="FFFFFF"/>
                    </a:solidFill>
                  </a:tcPr>
                </a:tc>
              </a:tr>
              <a:tr h="329184">
                <a:tc>
                  <a:txBody>
                    <a:bodyPr wrap="square"/>
                    <a:lstStyle/>
                    <a:p>
                      <a:r>
                        <a:rPr b="1" sz="1200" i="0">
                          <a:solidFill>
                            <a:srgbClr val="1A2233"/>
                          </a:solidFill>
                          <a:latin typeface="Calibri"/>
                        </a:rPr>
                        <a:t>9</a:t>
                      </a:r>
                    </a:p>
                  </a:txBody>
                  <a:tcPr marL="64008" marR="64008" marT="27432" marB="27432" anchor="ctr">
                    <a:solidFill>
                      <a:srgbClr val="F3F6F9"/>
                    </a:solidFill>
                  </a:tcPr>
                </a:tc>
                <a:tc>
                  <a:txBody>
                    <a:bodyPr wrap="square"/>
                    <a:lstStyle/>
                    <a:p>
                      <a:r>
                        <a:rPr b="0" sz="1200" i="0">
                          <a:solidFill>
                            <a:srgbClr val="1A2233"/>
                          </a:solidFill>
                          <a:latin typeface="Calibri"/>
                        </a:rPr>
                        <a:t>Last forecast period flag</a:t>
                      </a:r>
                    </a:p>
                  </a:txBody>
                  <a:tcPr marL="64008" marR="64008" marT="27432" marB="27432" anchor="ctr">
                    <a:solidFill>
                      <a:srgbClr val="F3F6F9"/>
                    </a:solidFill>
                  </a:tcPr>
                </a:tc>
                <a:tc>
                  <a:txBody>
                    <a:bodyPr wrap="square"/>
                    <a:lstStyle/>
                    <a:p>
                      <a:r>
                        <a:rPr b="0" sz="1200" i="0">
                          <a:solidFill>
                            <a:srgbClr val="1A2233"/>
                          </a:solidFill>
                          <a:latin typeface="Consolas"/>
                        </a:rPr>
                        <a:t>J: =Time!J$75</a:t>
                      </a:r>
                    </a:p>
                  </a:txBody>
                  <a:tcPr marL="64008" marR="64008" marT="27432" marB="27432" anchor="ctr">
                    <a:solidFill>
                      <a:srgbClr val="F3F6F9"/>
                    </a:solidFill>
                  </a:tcPr>
                </a:tc>
              </a:tr>
              <a:tr h="329184">
                <a:tc>
                  <a:txBody>
                    <a:bodyPr wrap="square"/>
                    <a:lstStyle/>
                    <a:p>
                      <a:r>
                        <a:rPr b="1" sz="1200" i="0">
                          <a:solidFill>
                            <a:srgbClr val="1A2233"/>
                          </a:solidFill>
                          <a:latin typeface="Calibri"/>
                        </a:rPr>
                        <a:t>10</a:t>
                      </a:r>
                    </a:p>
                  </a:txBody>
                  <a:tcPr marL="64008" marR="64008" marT="27432" marB="27432" anchor="ctr">
                    <a:solidFill>
                      <a:srgbClr val="FFFFFF"/>
                    </a:solidFill>
                  </a:tcPr>
                </a:tc>
                <a:tc>
                  <a:txBody>
                    <a:bodyPr wrap="square"/>
                    <a:lstStyle/>
                    <a:p>
                      <a:r>
                        <a:rPr b="0" sz="1200" i="0">
                          <a:solidFill>
                            <a:srgbClr val="1A2233"/>
                          </a:solidFill>
                          <a:latin typeface="Calibri"/>
                        </a:rPr>
                        <a:t>Share capital redemption POS</a:t>
                      </a:r>
                    </a:p>
                  </a:txBody>
                  <a:tcPr marL="64008" marR="64008" marT="27432" marB="27432" anchor="ctr">
                    <a:solidFill>
                      <a:srgbClr val="FFFFFF"/>
                    </a:solidFill>
                  </a:tcPr>
                </a:tc>
                <a:tc>
                  <a:txBody>
                    <a:bodyPr wrap="square"/>
                    <a:lstStyle/>
                    <a:p>
                      <a:r>
                        <a:rPr b="0" sz="1200" i="0">
                          <a:solidFill>
                            <a:srgbClr val="1A2233"/>
                          </a:solidFill>
                          <a:latin typeface="Consolas"/>
                        </a:rPr>
                        <a:t>J: =J8*J9</a:t>
                      </a:r>
                    </a:p>
                  </a:txBody>
                  <a:tcPr marL="64008" marR="64008" marT="27432" marB="27432" anchor="ctr">
                    <a:solidFill>
                      <a:srgbClr val="FFFFFF"/>
                    </a:solidFill>
                  </a:tcPr>
                </a:tc>
              </a:tr>
              <a:tr h="329184">
                <a:tc>
                  <a:txBody>
                    <a:bodyPr wrap="square"/>
                    <a:lstStyle/>
                    <a:p>
                      <a:r>
                        <a:rPr b="1" sz="1200" i="0">
                          <a:solidFill>
                            <a:srgbClr val="1A2233"/>
                          </a:solidFill>
                          <a:latin typeface="Calibri"/>
                        </a:rPr>
                        <a:t>11</a:t>
                      </a:r>
                    </a:p>
                  </a:txBody>
                  <a:tcPr marL="64008" marR="64008" marT="27432" marB="27432" anchor="ctr">
                    <a:solidFill>
                      <a:srgbClr val="F3F6F9"/>
                    </a:solidFill>
                  </a:tcPr>
                </a:tc>
                <a:tc>
                  <a:txBody>
                    <a:bodyPr wrap="square"/>
                    <a:lstStyle/>
                    <a:p>
                      <a:r>
                        <a:rPr b="0" sz="1200" i="0">
                          <a:solidFill>
                            <a:srgbClr val="1A2233"/>
                          </a:solidFill>
                          <a:latin typeface="Calibri"/>
                        </a:rPr>
                        <a:t>Share capital redemption</a:t>
                      </a:r>
                    </a:p>
                  </a:txBody>
                  <a:tcPr marL="64008" marR="64008" marT="27432" marB="27432" anchor="ctr">
                    <a:solidFill>
                      <a:srgbClr val="F3F6F9"/>
                    </a:solidFill>
                  </a:tcPr>
                </a:tc>
                <a:tc>
                  <a:txBody>
                    <a:bodyPr wrap="square"/>
                    <a:lstStyle/>
                    <a:p>
                      <a:r>
                        <a:rPr b="0" sz="1200" i="0">
                          <a:solidFill>
                            <a:srgbClr val="1A2233"/>
                          </a:solidFill>
                          <a:latin typeface="Consolas"/>
                        </a:rPr>
                        <a:t>J: =-1*J10</a:t>
                      </a:r>
                    </a:p>
                  </a:txBody>
                  <a:tcPr marL="64008" marR="64008" marT="27432" marB="27432" anchor="ctr">
                    <a:solidFill>
                      <a:srgbClr val="F3F6F9"/>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Equity!J10: share capital redemption POS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Equity</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J10  (to CO10)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 capital redemption POS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=J8*J9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Share capital balance BEG × last-forecast-period flag</a:t>
            </a:r>
          </a:p>
          <a:p>
            <a:pPr algn="l"/>
            <a:r>
              <a:rPr b="0" sz="1500" i="0">
                <a:solidFill>
                  <a:srgbClr val="1A2233"/>
                </a:solidFill>
                <a:latin typeface="Calibri"/>
              </a:rPr>
              <a:t>▪ Zero in every period except the last, when the whole balance is repaid to shareholders</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J8 = J$21 (share capital BEG)</a:t>
            </a:r>
          </a:p>
          <a:p>
            <a:pPr algn="l"/>
            <a:r>
              <a:rPr b="0" sz="1300" i="0">
                <a:solidFill>
                  <a:srgbClr val="1A2233"/>
                </a:solidFill>
                <a:latin typeface="Consolas"/>
              </a:rPr>
              <a:t>J9 = Time!J$75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J10:CO10,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J10:CO10,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J10 → CO10</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H10 = 40,000;  L10 = 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Returns capital at the end of the project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 block 2: share capital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14</a:t>
                      </a:r>
                    </a:p>
                  </a:txBody>
                  <a:tcPr marL="64008" marR="64008" marT="27432" marB="27432" anchor="ctr">
                    <a:solidFill>
                      <a:srgbClr val="FFFFFF"/>
                    </a:solidFill>
                  </a:tcPr>
                </a:tc>
                <a:tc>
                  <a:txBody>
                    <a:bodyPr wrap="square"/>
                    <a:lstStyle/>
                    <a:p>
                      <a:r>
                        <a:rPr b="0" sz="1200" i="0">
                          <a:solidFill>
                            <a:srgbClr val="1A2233"/>
                          </a:solidFill>
                          <a:latin typeface="Calibri"/>
                        </a:rPr>
                        <a:t>Non current asset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=InpC!F$64</a:t>
                      </a:r>
                    </a:p>
                  </a:txBody>
                  <a:tcPr marL="64008" marR="64008" marT="27432" marB="27432" anchor="ctr">
                    <a:solidFill>
                      <a:srgbClr val="FFFFFF"/>
                    </a:solidFill>
                  </a:tcPr>
                </a:tc>
              </a:tr>
              <a:tr h="329184">
                <a:tc>
                  <a:txBody>
                    <a:bodyPr wrap="square"/>
                    <a:lstStyle/>
                    <a:p>
                      <a:r>
                        <a:rPr b="1" sz="1200" i="0">
                          <a:solidFill>
                            <a:srgbClr val="1A2233"/>
                          </a:solidFill>
                          <a:latin typeface="Calibri"/>
                        </a:rPr>
                        <a:t>15</a:t>
                      </a:r>
                    </a:p>
                  </a:txBody>
                  <a:tcPr marL="64008" marR="64008" marT="27432" marB="27432" anchor="ctr">
                    <a:solidFill>
                      <a:srgbClr val="F3F6F9"/>
                    </a:solidFill>
                  </a:tcPr>
                </a:tc>
                <a:tc>
                  <a:txBody>
                    <a:bodyPr wrap="square"/>
                    <a:lstStyle/>
                    <a:p>
                      <a:r>
                        <a:rPr b="0" sz="1200" i="0">
                          <a:solidFill>
                            <a:srgbClr val="1A2233"/>
                          </a:solidFill>
                          <a:latin typeface="Calibri"/>
                        </a:rPr>
                        <a:t>% of NCA financed with debt</a:t>
                      </a:r>
                    </a:p>
                  </a:txBody>
                  <a:tcPr marL="64008" marR="64008" marT="27432" marB="27432" anchor="ctr">
                    <a:solidFill>
                      <a:srgbClr val="F3F6F9"/>
                    </a:solidFill>
                  </a:tcPr>
                </a:tc>
                <a:tc>
                  <a:txBody>
                    <a:bodyPr wrap="square"/>
                    <a:lstStyle/>
                    <a:p>
                      <a:r>
                        <a:rPr b="0" sz="1200" i="0">
                          <a:solidFill>
                            <a:srgbClr val="1A2233"/>
                          </a:solidFill>
                          <a:latin typeface="Consolas"/>
                        </a:rPr>
                        <a:t>F: =InpC!F$72</a:t>
                      </a:r>
                    </a:p>
                  </a:txBody>
                  <a:tcPr marL="64008" marR="64008" marT="27432" marB="27432" anchor="ctr">
                    <a:solidFill>
                      <a:srgbClr val="F3F6F9"/>
                    </a:solidFill>
                  </a:tcPr>
                </a:tc>
              </a:tr>
              <a:tr h="329184">
                <a:tc>
                  <a:txBody>
                    <a:bodyPr wrap="square"/>
                    <a:lstStyle/>
                    <a:p>
                      <a:r>
                        <a:rPr b="1" sz="1200" i="0">
                          <a:solidFill>
                            <a:srgbClr val="1A2233"/>
                          </a:solidFill>
                          <a:latin typeface="Calibri"/>
                        </a:rPr>
                        <a:t>16</a:t>
                      </a:r>
                    </a:p>
                  </a:txBody>
                  <a:tcPr marL="64008" marR="64008" marT="27432" marB="27432" anchor="ctr">
                    <a:solidFill>
                      <a:srgbClr val="FFFFFF"/>
                    </a:solidFill>
                  </a:tcPr>
                </a:tc>
                <a:tc>
                  <a:txBody>
                    <a:bodyPr wrap="square"/>
                    <a:lstStyle/>
                    <a:p>
                      <a:r>
                        <a:rPr b="0" sz="1200" i="0">
                          <a:solidFill>
                            <a:srgbClr val="1A2233"/>
                          </a:solidFill>
                          <a:latin typeface="Calibri"/>
                        </a:rPr>
                        <a:t>Share capital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=F14*(1-F15)</a:t>
                      </a:r>
                    </a:p>
                  </a:txBody>
                  <a:tcPr marL="64008" marR="64008" marT="27432" marB="27432" anchor="ctr">
                    <a:solidFill>
                      <a:srgbClr val="FFFFFF"/>
                    </a:solidFill>
                  </a:tcPr>
                </a:tc>
              </a:tr>
              <a:tr h="329184">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Share capital - Initial balance</a:t>
                      </a:r>
                    </a:p>
                  </a:txBody>
                  <a:tcPr marL="64008" marR="64008" marT="27432" marB="27432" anchor="ctr">
                    <a:solidFill>
                      <a:srgbClr val="F3F6F9"/>
                    </a:solidFill>
                  </a:tcPr>
                </a:tc>
                <a:tc>
                  <a:txBody>
                    <a:bodyPr wrap="square"/>
                    <a:lstStyle/>
                    <a:p>
                      <a:r>
                        <a:rPr b="0" sz="1200" i="0">
                          <a:solidFill>
                            <a:srgbClr val="1A2233"/>
                          </a:solidFill>
                          <a:latin typeface="Consolas"/>
                        </a:rPr>
                        <a:t>F: =F$16</a:t>
                      </a:r>
                    </a:p>
                  </a:txBody>
                  <a:tcPr marL="64008" marR="64008" marT="27432" marB="27432" anchor="ctr">
                    <a:solidFill>
                      <a:srgbClr val="F3F6F9"/>
                    </a:solidFill>
                  </a:tcPr>
                </a:tc>
              </a:tr>
              <a:tr h="329184">
                <a:tc>
                  <a:txBody>
                    <a:bodyPr wrap="square"/>
                    <a:lstStyle/>
                    <a:p>
                      <a:r>
                        <a:rPr b="1" sz="1200" i="0">
                          <a:solidFill>
                            <a:srgbClr val="1A2233"/>
                          </a:solidFill>
                          <a:latin typeface="Calibri"/>
                        </a:rPr>
                        <a:t>19</a:t>
                      </a:r>
                    </a:p>
                  </a:txBody>
                  <a:tcPr marL="64008" marR="64008" marT="27432" marB="27432" anchor="ctr">
                    <a:solidFill>
                      <a:srgbClr val="FFFFFF"/>
                    </a:solidFill>
                  </a:tcPr>
                </a:tc>
                <a:tc>
                  <a:txBody>
                    <a:bodyPr wrap="square"/>
                    <a:lstStyle/>
                    <a:p>
                      <a:r>
                        <a:rPr b="0" sz="1200" i="0">
                          <a:solidFill>
                            <a:srgbClr val="1A2233"/>
                          </a:solidFill>
                          <a:latin typeface="Calibri"/>
                        </a:rPr>
                        <a:t>Acquisition / initial balance date flag</a:t>
                      </a:r>
                    </a:p>
                  </a:txBody>
                  <a:tcPr marL="64008" marR="64008" marT="27432" marB="27432" anchor="ctr">
                    <a:solidFill>
                      <a:srgbClr val="FFFFFF"/>
                    </a:solidFill>
                  </a:tcPr>
                </a:tc>
                <a:tc>
                  <a:txBody>
                    <a:bodyPr wrap="square"/>
                    <a:lstStyle/>
                    <a:p>
                      <a:r>
                        <a:rPr b="0" sz="1200" i="0">
                          <a:solidFill>
                            <a:srgbClr val="1A2233"/>
                          </a:solidFill>
                          <a:latin typeface="Consolas"/>
                        </a:rPr>
                        <a:t>J: =Time!J$45</a:t>
                      </a:r>
                    </a:p>
                  </a:txBody>
                  <a:tcPr marL="64008" marR="64008" marT="27432" marB="27432" anchor="ctr">
                    <a:solidFill>
                      <a:srgbClr val="FFFFFF"/>
                    </a:solidFill>
                  </a:tcPr>
                </a:tc>
              </a:tr>
              <a:tr h="329184">
                <a:tc>
                  <a:txBody>
                    <a:bodyPr wrap="square"/>
                    <a:lstStyle/>
                    <a:p>
                      <a:r>
                        <a:rPr b="1" sz="1200" i="0">
                          <a:solidFill>
                            <a:srgbClr val="1A2233"/>
                          </a:solidFill>
                          <a:latin typeface="Calibri"/>
                        </a:rPr>
                        <a:t>21</a:t>
                      </a:r>
                    </a:p>
                  </a:txBody>
                  <a:tcPr marL="64008" marR="64008" marT="27432" marB="27432" anchor="ctr">
                    <a:solidFill>
                      <a:srgbClr val="F3F6F9"/>
                    </a:solidFill>
                  </a:tcPr>
                </a:tc>
                <a:tc>
                  <a:txBody>
                    <a:bodyPr wrap="square"/>
                    <a:lstStyle/>
                    <a:p>
                      <a:r>
                        <a:rPr b="0" sz="1200" i="0">
                          <a:solidFill>
                            <a:srgbClr val="1A2233"/>
                          </a:solidFill>
                          <a:latin typeface="Calibri"/>
                        </a:rPr>
                        <a:t>Share capital balance BEG</a:t>
                      </a:r>
                    </a:p>
                  </a:txBody>
                  <a:tcPr marL="64008" marR="64008" marT="27432" marB="27432" anchor="ctr">
                    <a:solidFill>
                      <a:srgbClr val="F3F6F9"/>
                    </a:solidFill>
                  </a:tcPr>
                </a:tc>
                <a:tc>
                  <a:txBody>
                    <a:bodyPr wrap="square"/>
                    <a:lstStyle/>
                    <a:p>
                      <a:r>
                        <a:rPr b="0" sz="1200" i="0">
                          <a:solidFill>
                            <a:srgbClr val="1A2233"/>
                          </a:solidFill>
                          <a:latin typeface="Consolas"/>
                        </a:rPr>
                        <a:t>J: =I24</a:t>
                      </a:r>
                    </a:p>
                  </a:txBody>
                  <a:tcPr marL="64008" marR="64008" marT="27432" marB="27432" anchor="ctr">
                    <a:solidFill>
                      <a:srgbClr val="F3F6F9"/>
                    </a:solidFill>
                  </a:tcPr>
                </a:tc>
              </a:tr>
              <a:tr h="329184">
                <a:tc>
                  <a:txBody>
                    <a:bodyPr wrap="square"/>
                    <a:lstStyle/>
                    <a:p>
                      <a:r>
                        <a:rPr b="1" sz="1200" i="0">
                          <a:solidFill>
                            <a:srgbClr val="1A2233"/>
                          </a:solidFill>
                          <a:latin typeface="Calibri"/>
                        </a:rPr>
                        <a:t>22</a:t>
                      </a:r>
                    </a:p>
                  </a:txBody>
                  <a:tcPr marL="64008" marR="64008" marT="27432" marB="27432" anchor="ctr">
                    <a:solidFill>
                      <a:srgbClr val="FFFFFF"/>
                    </a:solidFill>
                  </a:tcPr>
                </a:tc>
                <a:tc>
                  <a:txBody>
                    <a:bodyPr wrap="square"/>
                    <a:lstStyle/>
                    <a:p>
                      <a:r>
                        <a:rPr b="0" sz="1200" i="0">
                          <a:solidFill>
                            <a:srgbClr val="1A2233"/>
                          </a:solidFill>
                          <a:latin typeface="Calibri"/>
                        </a:rPr>
                        <a:t>Share capital - additional injection</a:t>
                      </a:r>
                    </a:p>
                  </a:txBody>
                  <a:tcPr marL="64008" marR="64008" marT="27432" marB="27432" anchor="ctr">
                    <a:solidFill>
                      <a:srgbClr val="FFFFFF"/>
                    </a:solidFill>
                  </a:tcPr>
                </a:tc>
                <a:tc>
                  <a:txBody>
                    <a:bodyPr wrap="square"/>
                    <a:lstStyle/>
                    <a:p>
                      <a:r>
                        <a:rPr b="0" sz="1200" i="0">
                          <a:solidFill>
                            <a:srgbClr val="1A2233"/>
                          </a:solidFill>
                          <a:latin typeface="Consolas"/>
                        </a:rPr>
                        <a:t>J: =InpS!J$23</a:t>
                      </a:r>
                    </a:p>
                  </a:txBody>
                  <a:tcPr marL="64008" marR="64008" marT="27432" marB="27432" anchor="ctr">
                    <a:solidFill>
                      <a:srgbClr val="FFFFFF"/>
                    </a:solidFill>
                  </a:tcPr>
                </a:tc>
              </a:tr>
              <a:tr h="329184">
                <a:tc>
                  <a:txBody>
                    <a:bodyPr wrap="square"/>
                    <a:lstStyle/>
                    <a:p>
                      <a:r>
                        <a:rPr b="1" sz="1200" i="0">
                          <a:solidFill>
                            <a:srgbClr val="1A2233"/>
                          </a:solidFill>
                          <a:latin typeface="Calibri"/>
                        </a:rPr>
                        <a:t>23</a:t>
                      </a:r>
                    </a:p>
                  </a:txBody>
                  <a:tcPr marL="64008" marR="64008" marT="27432" marB="27432" anchor="ctr">
                    <a:solidFill>
                      <a:srgbClr val="F3F6F9"/>
                    </a:solidFill>
                  </a:tcPr>
                </a:tc>
                <a:tc>
                  <a:txBody>
                    <a:bodyPr wrap="square"/>
                    <a:lstStyle/>
                    <a:p>
                      <a:r>
                        <a:rPr b="0" sz="1200" i="0">
                          <a:solidFill>
                            <a:srgbClr val="1A2233"/>
                          </a:solidFill>
                          <a:latin typeface="Calibri"/>
                        </a:rPr>
                        <a:t>Share capital redemption POS</a:t>
                      </a:r>
                    </a:p>
                  </a:txBody>
                  <a:tcPr marL="64008" marR="64008" marT="27432" marB="27432" anchor="ctr">
                    <a:solidFill>
                      <a:srgbClr val="F3F6F9"/>
                    </a:solidFill>
                  </a:tcPr>
                </a:tc>
                <a:tc>
                  <a:txBody>
                    <a:bodyPr wrap="square"/>
                    <a:lstStyle/>
                    <a:p>
                      <a:r>
                        <a:rPr b="0" sz="1200" i="0">
                          <a:solidFill>
                            <a:srgbClr val="1A2233"/>
                          </a:solidFill>
                          <a:latin typeface="Consolas"/>
                        </a:rPr>
                        <a:t>J: =J$10</a:t>
                      </a:r>
                    </a:p>
                  </a:txBody>
                  <a:tcPr marL="64008" marR="64008" marT="27432" marB="27432" anchor="ctr">
                    <a:solidFill>
                      <a:srgbClr val="F3F6F9"/>
                    </a:solidFill>
                  </a:tcPr>
                </a:tc>
              </a:tr>
              <a:tr h="329184">
                <a:tc>
                  <a:txBody>
                    <a:bodyPr wrap="square"/>
                    <a:lstStyle/>
                    <a:p>
                      <a:r>
                        <a:rPr b="1" sz="1200" i="0">
                          <a:solidFill>
                            <a:srgbClr val="1A2233"/>
                          </a:solidFill>
                          <a:latin typeface="Calibri"/>
                        </a:rPr>
                        <a:t>24</a:t>
                      </a:r>
                    </a:p>
                  </a:txBody>
                  <a:tcPr marL="64008" marR="64008" marT="27432" marB="27432" anchor="ctr">
                    <a:solidFill>
                      <a:srgbClr val="FFFFFF"/>
                    </a:solidFill>
                  </a:tcPr>
                </a:tc>
                <a:tc>
                  <a:txBody>
                    <a:bodyPr wrap="square"/>
                    <a:lstStyle/>
                    <a:p>
                      <a:r>
                        <a:rPr b="0" sz="1200" i="0">
                          <a:solidFill>
                            <a:srgbClr val="1A2233"/>
                          </a:solidFill>
                          <a:latin typeface="Calibri"/>
                        </a:rPr>
                        <a:t>Share capital balance</a:t>
                      </a:r>
                    </a:p>
                  </a:txBody>
                  <a:tcPr marL="64008" marR="64008" marT="27432" marB="27432" anchor="ctr">
                    <a:solidFill>
                      <a:srgbClr val="FFFFFF"/>
                    </a:solidFill>
                  </a:tcPr>
                </a:tc>
                <a:tc>
                  <a:txBody>
                    <a:bodyPr wrap="square"/>
                    <a:lstStyle/>
                    <a:p>
                      <a:r>
                        <a:rPr b="0" sz="1200" i="0">
                          <a:solidFill>
                            <a:srgbClr val="1A2233"/>
                          </a:solidFill>
                          <a:latin typeface="Consolas"/>
                        </a:rPr>
                        <a:t>J: =IF(J19=1,$F18,J21+J22-J23)</a:t>
                      </a:r>
                    </a:p>
                  </a:txBody>
                  <a:tcPr marL="64008" marR="64008" marT="27432" marB="27432"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Equity!J24: share capital balance (BS)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Equity</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J24  (to CO24)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 capital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=IF(J19=1,$F18,J21+J22-J23)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Opening share capital on the acquisition date = F18 (40,000 = 100,000 × 40%)</a:t>
            </a:r>
          </a:p>
          <a:p>
            <a:pPr algn="l"/>
            <a:r>
              <a:rPr b="0" sz="1500" i="0">
                <a:solidFill>
                  <a:srgbClr val="1A2233"/>
                </a:solidFill>
                <a:latin typeface="Calibri"/>
              </a:rPr>
              <a:t>▪ Otherwise BEG + increases (row 22, fed from InpS row 23) − redemption</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F16 = F14*(1-F15)</a:t>
            </a:r>
          </a:p>
          <a:p>
            <a:pPr algn="l"/>
            <a:r>
              <a:rPr b="0" sz="1300" i="0">
                <a:solidFill>
                  <a:srgbClr val="1A2233"/>
                </a:solidFill>
                <a:latin typeface="Consolas"/>
              </a:rPr>
              <a:t>J19 = Time!J$45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J24:CO24,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J24:CO24,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J24 → CO24</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K24 = 40,000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Equity funds the part of the asset base the lender does not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 block 3: dividends (rows 29 to 40)</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62102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29</a:t>
                      </a:r>
                    </a:p>
                  </a:txBody>
                  <a:tcPr marL="64008" marR="64008" marT="27432" marB="27432" anchor="ctr">
                    <a:solidFill>
                      <a:srgbClr val="FFFFFF"/>
                    </a:solidFill>
                  </a:tcPr>
                </a:tc>
                <a:tc>
                  <a:txBody>
                    <a:bodyPr wrap="square"/>
                    <a:lstStyle/>
                    <a:p>
                      <a:r>
                        <a:rPr b="0" sz="1200" i="0">
                          <a:solidFill>
                            <a:srgbClr val="1A2233"/>
                          </a:solidFill>
                          <a:latin typeface="Calibri"/>
                        </a:rPr>
                        <a:t>Retained cash balance BEG</a:t>
                      </a:r>
                    </a:p>
                  </a:txBody>
                  <a:tcPr marL="64008" marR="64008" marT="27432" marB="27432" anchor="ctr">
                    <a:solidFill>
                      <a:srgbClr val="FFFFFF"/>
                    </a:solidFill>
                  </a:tcPr>
                </a:tc>
                <a:tc>
                  <a:txBody>
                    <a:bodyPr wrap="square"/>
                    <a:lstStyle/>
                    <a:p>
                      <a:r>
                        <a:rPr b="0" sz="1200" i="0">
                          <a:solidFill>
                            <a:srgbClr val="1A2233"/>
                          </a:solidFill>
                          <a:latin typeface="Consolas"/>
                        </a:rPr>
                        <a:t>J: =J$47</a:t>
                      </a:r>
                    </a:p>
                  </a:txBody>
                  <a:tcPr marL="64008" marR="64008" marT="27432" marB="27432" anchor="ctr">
                    <a:solidFill>
                      <a:srgbClr val="FFFFFF"/>
                    </a:solidFill>
                  </a:tcPr>
                </a:tc>
              </a:tr>
              <a:tr h="329184">
                <a:tc>
                  <a:txBody>
                    <a:bodyPr wrap="square"/>
                    <a:lstStyle/>
                    <a:p>
                      <a:r>
                        <a:rPr b="1" sz="1200" i="0">
                          <a:solidFill>
                            <a:srgbClr val="1A2233"/>
                          </a:solidFill>
                          <a:latin typeface="Calibri"/>
                        </a:rPr>
                        <a:t>30</a:t>
                      </a:r>
                    </a:p>
                  </a:txBody>
                  <a:tcPr marL="64008" marR="64008" marT="27432" marB="27432" anchor="ctr">
                    <a:solidFill>
                      <a:srgbClr val="F3F6F9"/>
                    </a:solidFill>
                  </a:tcPr>
                </a:tc>
                <a:tc>
                  <a:txBody>
                    <a:bodyPr wrap="square"/>
                    <a:lstStyle/>
                    <a:p>
                      <a:r>
                        <a:rPr b="0" sz="1200" i="0">
                          <a:solidFill>
                            <a:srgbClr val="1A2233"/>
                          </a:solidFill>
                          <a:latin typeface="Calibri"/>
                        </a:rPr>
                        <a:t>Cash flow available for dividends</a:t>
                      </a:r>
                    </a:p>
                  </a:txBody>
                  <a:tcPr marL="64008" marR="64008" marT="27432" marB="27432" anchor="ctr">
                    <a:solidFill>
                      <a:srgbClr val="F3F6F9"/>
                    </a:solidFill>
                  </a:tcPr>
                </a:tc>
                <a:tc>
                  <a:txBody>
                    <a:bodyPr wrap="square"/>
                    <a:lstStyle/>
                    <a:p>
                      <a:r>
                        <a:rPr b="0" sz="1200" i="0">
                          <a:solidFill>
                            <a:srgbClr val="1A2233"/>
                          </a:solidFill>
                          <a:latin typeface="Consolas"/>
                        </a:rPr>
                        <a:t>J: =FinStat!J$45</a:t>
                      </a:r>
                    </a:p>
                  </a:txBody>
                  <a:tcPr marL="64008" marR="64008" marT="27432" marB="27432" anchor="ctr">
                    <a:solidFill>
                      <a:srgbClr val="F3F6F9"/>
                    </a:solidFill>
                  </a:tcPr>
                </a:tc>
              </a:tr>
              <a:tr h="329184">
                <a:tc>
                  <a:txBody>
                    <a:bodyPr wrap="square"/>
                    <a:lstStyle/>
                    <a:p>
                      <a:r>
                        <a:rPr b="1" sz="1200" i="0">
                          <a:solidFill>
                            <a:srgbClr val="1A2233"/>
                          </a:solidFill>
                          <a:latin typeface="Calibri"/>
                        </a:rPr>
                        <a:t>31</a:t>
                      </a:r>
                    </a:p>
                  </a:txBody>
                  <a:tcPr marL="64008" marR="64008" marT="27432" marB="27432" anchor="ctr">
                    <a:solidFill>
                      <a:srgbClr val="FFFFFF"/>
                    </a:solidFill>
                  </a:tcPr>
                </a:tc>
                <a:tc>
                  <a:txBody>
                    <a:bodyPr wrap="square"/>
                    <a:lstStyle/>
                    <a:p>
                      <a:r>
                        <a:rPr b="0" sz="1200" i="0">
                          <a:solidFill>
                            <a:srgbClr val="1A2233"/>
                          </a:solidFill>
                          <a:latin typeface="Calibri"/>
                        </a:rPr>
                        <a:t>Aggregate cash available for dividend</a:t>
                      </a:r>
                    </a:p>
                  </a:txBody>
                  <a:tcPr marL="64008" marR="64008" marT="27432" marB="27432" anchor="ctr">
                    <a:solidFill>
                      <a:srgbClr val="FFFFFF"/>
                    </a:solidFill>
                  </a:tcPr>
                </a:tc>
                <a:tc>
                  <a:txBody>
                    <a:bodyPr wrap="square"/>
                    <a:lstStyle/>
                    <a:p>
                      <a:r>
                        <a:rPr b="0" sz="1200" i="0">
                          <a:solidFill>
                            <a:srgbClr val="1A2233"/>
                          </a:solidFill>
                          <a:latin typeface="Consolas"/>
                        </a:rPr>
                        <a:t>J: =MAX(SUM(J29:J30),0)</a:t>
                      </a:r>
                    </a:p>
                  </a:txBody>
                  <a:tcPr marL="64008" marR="64008" marT="27432" marB="27432" anchor="ctr">
                    <a:solidFill>
                      <a:srgbClr val="FFFFFF"/>
                    </a:solidFill>
                  </a:tcPr>
                </a:tc>
              </a:tr>
              <a:tr h="329184">
                <a:tc>
                  <a:txBody>
                    <a:bodyPr wrap="square"/>
                    <a:lstStyle/>
                    <a:p>
                      <a:r>
                        <a:rPr b="1" sz="1200" i="0">
                          <a:solidFill>
                            <a:srgbClr val="1A2233"/>
                          </a:solidFill>
                          <a:latin typeface="Calibri"/>
                        </a:rPr>
                        <a:t>33</a:t>
                      </a:r>
                    </a:p>
                  </a:txBody>
                  <a:tcPr marL="64008" marR="64008" marT="27432" marB="27432" anchor="ctr">
                    <a:solidFill>
                      <a:srgbClr val="F3F6F9"/>
                    </a:solidFill>
                  </a:tcPr>
                </a:tc>
                <a:tc>
                  <a:txBody>
                    <a:bodyPr wrap="square"/>
                    <a:lstStyle/>
                    <a:p>
                      <a:r>
                        <a:rPr b="0" sz="1200" i="0">
                          <a:solidFill>
                            <a:srgbClr val="1A2233"/>
                          </a:solidFill>
                          <a:latin typeface="Calibri"/>
                        </a:rPr>
                        <a:t>Retained earnings balance BEG</a:t>
                      </a:r>
                    </a:p>
                  </a:txBody>
                  <a:tcPr marL="64008" marR="64008" marT="27432" marB="27432" anchor="ctr">
                    <a:solidFill>
                      <a:srgbClr val="F3F6F9"/>
                    </a:solidFill>
                  </a:tcPr>
                </a:tc>
                <a:tc>
                  <a:txBody>
                    <a:bodyPr wrap="square"/>
                    <a:lstStyle/>
                    <a:p>
                      <a:r>
                        <a:rPr b="0" sz="1200" i="0">
                          <a:solidFill>
                            <a:srgbClr val="1A2233"/>
                          </a:solidFill>
                          <a:latin typeface="Consolas"/>
                        </a:rPr>
                        <a:t>J: =J$58</a:t>
                      </a:r>
                    </a:p>
                  </a:txBody>
                  <a:tcPr marL="64008" marR="64008" marT="27432" marB="27432" anchor="ctr">
                    <a:solidFill>
                      <a:srgbClr val="F3F6F9"/>
                    </a:solidFill>
                  </a:tcPr>
                </a:tc>
              </a:tr>
              <a:tr h="329184">
                <a:tc>
                  <a:txBody>
                    <a:bodyPr wrap="square"/>
                    <a:lstStyle/>
                    <a:p>
                      <a:r>
                        <a:rPr b="1" sz="1200" i="0">
                          <a:solidFill>
                            <a:srgbClr val="1A2233"/>
                          </a:solidFill>
                          <a:latin typeface="Calibri"/>
                        </a:rPr>
                        <a:t>34</a:t>
                      </a:r>
                    </a:p>
                  </a:txBody>
                  <a:tcPr marL="64008" marR="64008" marT="27432" marB="27432" anchor="ctr">
                    <a:solidFill>
                      <a:srgbClr val="FFFFFF"/>
                    </a:solidFill>
                  </a:tcPr>
                </a:tc>
                <a:tc>
                  <a:txBody>
                    <a:bodyPr wrap="square"/>
                    <a:lstStyle/>
                    <a:p>
                      <a:r>
                        <a:rPr b="0" sz="1200" i="0">
                          <a:solidFill>
                            <a:srgbClr val="1A2233"/>
                          </a:solidFill>
                          <a:latin typeface="Calibri"/>
                        </a:rPr>
                        <a:t>Profit after tax</a:t>
                      </a:r>
                    </a:p>
                  </a:txBody>
                  <a:tcPr marL="64008" marR="64008" marT="27432" marB="27432" anchor="ctr">
                    <a:solidFill>
                      <a:srgbClr val="FFFFFF"/>
                    </a:solidFill>
                  </a:tcPr>
                </a:tc>
                <a:tc>
                  <a:txBody>
                    <a:bodyPr wrap="square"/>
                    <a:lstStyle/>
                    <a:p>
                      <a:r>
                        <a:rPr b="0" sz="1200" i="0">
                          <a:solidFill>
                            <a:srgbClr val="1A2233"/>
                          </a:solidFill>
                          <a:latin typeface="Consolas"/>
                        </a:rPr>
                        <a:t>J: =FinStat!J$18</a:t>
                      </a:r>
                    </a:p>
                  </a:txBody>
                  <a:tcPr marL="64008" marR="64008" marT="27432" marB="27432" anchor="ctr">
                    <a:solidFill>
                      <a:srgbClr val="FFFFFF"/>
                    </a:solidFill>
                  </a:tcPr>
                </a:tc>
              </a:tr>
              <a:tr h="329184">
                <a:tc>
                  <a:txBody>
                    <a:bodyPr wrap="square"/>
                    <a:lstStyle/>
                    <a:p>
                      <a:r>
                        <a:rPr b="1" sz="1200" i="0">
                          <a:solidFill>
                            <a:srgbClr val="1A2233"/>
                          </a:solidFill>
                          <a:latin typeface="Calibri"/>
                        </a:rPr>
                        <a:t>35</a:t>
                      </a:r>
                    </a:p>
                  </a:txBody>
                  <a:tcPr marL="64008" marR="64008" marT="27432" marB="27432" anchor="ctr">
                    <a:solidFill>
                      <a:srgbClr val="F3F6F9"/>
                    </a:solidFill>
                  </a:tcPr>
                </a:tc>
                <a:tc>
                  <a:txBody>
                    <a:bodyPr wrap="square"/>
                    <a:lstStyle/>
                    <a:p>
                      <a:r>
                        <a:rPr b="0" sz="1200" i="0">
                          <a:solidFill>
                            <a:srgbClr val="1A2233"/>
                          </a:solidFill>
                          <a:latin typeface="Calibri"/>
                        </a:rPr>
                        <a:t>Aggregate earnings available for dividend</a:t>
                      </a:r>
                    </a:p>
                  </a:txBody>
                  <a:tcPr marL="64008" marR="64008" marT="27432" marB="27432" anchor="ctr">
                    <a:solidFill>
                      <a:srgbClr val="F3F6F9"/>
                    </a:solidFill>
                  </a:tcPr>
                </a:tc>
                <a:tc>
                  <a:txBody>
                    <a:bodyPr wrap="square"/>
                    <a:lstStyle/>
                    <a:p>
                      <a:r>
                        <a:rPr b="0" sz="1200" i="0">
                          <a:solidFill>
                            <a:srgbClr val="1A2233"/>
                          </a:solidFill>
                          <a:latin typeface="Consolas"/>
                        </a:rPr>
                        <a:t>J: =MAX(SUM(J33:J34),0)</a:t>
                      </a:r>
                    </a:p>
                  </a:txBody>
                  <a:tcPr marL="64008" marR="64008" marT="27432" marB="27432" anchor="ctr">
                    <a:solidFill>
                      <a:srgbClr val="F3F6F9"/>
                    </a:solidFill>
                  </a:tcPr>
                </a:tc>
              </a:tr>
              <a:tr h="329184">
                <a:tc>
                  <a:txBody>
                    <a:bodyPr wrap="square"/>
                    <a:lstStyle/>
                    <a:p>
                      <a:r>
                        <a:rPr b="1" sz="1200" i="0">
                          <a:solidFill>
                            <a:srgbClr val="1A2233"/>
                          </a:solidFill>
                          <a:latin typeface="Calibri"/>
                        </a:rPr>
                        <a:t>37</a:t>
                      </a:r>
                    </a:p>
                  </a:txBody>
                  <a:tcPr marL="64008" marR="64008" marT="27432" marB="27432" anchor="ctr">
                    <a:solidFill>
                      <a:srgbClr val="FFFFFF"/>
                    </a:solidFill>
                  </a:tcPr>
                </a:tc>
                <a:tc>
                  <a:txBody>
                    <a:bodyPr wrap="square"/>
                    <a:lstStyle/>
                    <a:p>
                      <a:r>
                        <a:rPr b="0" sz="1200" i="0">
                          <a:solidFill>
                            <a:srgbClr val="1A2233"/>
                          </a:solidFill>
                          <a:latin typeface="Calibri"/>
                        </a:rPr>
                        <a:t>Aggregate cash available for dividend</a:t>
                      </a:r>
                    </a:p>
                  </a:txBody>
                  <a:tcPr marL="64008" marR="64008" marT="27432" marB="27432" anchor="ctr">
                    <a:solidFill>
                      <a:srgbClr val="FFFFFF"/>
                    </a:solidFill>
                  </a:tcPr>
                </a:tc>
                <a:tc>
                  <a:txBody>
                    <a:bodyPr wrap="square"/>
                    <a:lstStyle/>
                    <a:p>
                      <a:r>
                        <a:rPr b="0" sz="1200" i="0">
                          <a:solidFill>
                            <a:srgbClr val="1A2233"/>
                          </a:solidFill>
                          <a:latin typeface="Consolas"/>
                        </a:rPr>
                        <a:t>J: =J$31</a:t>
                      </a:r>
                    </a:p>
                  </a:txBody>
                  <a:tcPr marL="64008" marR="64008" marT="27432" marB="27432" anchor="ctr">
                    <a:solidFill>
                      <a:srgbClr val="FFFFFF"/>
                    </a:solidFill>
                  </a:tcPr>
                </a:tc>
              </a:tr>
              <a:tr h="329184">
                <a:tc>
                  <a:txBody>
                    <a:bodyPr wrap="square"/>
                    <a:lstStyle/>
                    <a:p>
                      <a:r>
                        <a:rPr b="1" sz="1200" i="0">
                          <a:solidFill>
                            <a:srgbClr val="1A2233"/>
                          </a:solidFill>
                          <a:latin typeface="Calibri"/>
                        </a:rPr>
                        <a:t>38</a:t>
                      </a:r>
                    </a:p>
                  </a:txBody>
                  <a:tcPr marL="64008" marR="64008" marT="27432" marB="27432" anchor="ctr">
                    <a:solidFill>
                      <a:srgbClr val="F3F6F9"/>
                    </a:solidFill>
                  </a:tcPr>
                </a:tc>
                <a:tc>
                  <a:txBody>
                    <a:bodyPr wrap="square"/>
                    <a:lstStyle/>
                    <a:p>
                      <a:r>
                        <a:rPr b="0" sz="1200" i="0">
                          <a:solidFill>
                            <a:srgbClr val="1A2233"/>
                          </a:solidFill>
                          <a:latin typeface="Calibri"/>
                        </a:rPr>
                        <a:t>Aggregate earnings available for dividend</a:t>
                      </a:r>
                    </a:p>
                  </a:txBody>
                  <a:tcPr marL="64008" marR="64008" marT="27432" marB="27432" anchor="ctr">
                    <a:solidFill>
                      <a:srgbClr val="F3F6F9"/>
                    </a:solidFill>
                  </a:tcPr>
                </a:tc>
                <a:tc>
                  <a:txBody>
                    <a:bodyPr wrap="square"/>
                    <a:lstStyle/>
                    <a:p>
                      <a:r>
                        <a:rPr b="0" sz="1200" i="0">
                          <a:solidFill>
                            <a:srgbClr val="1A2233"/>
                          </a:solidFill>
                          <a:latin typeface="Consolas"/>
                        </a:rPr>
                        <a:t>J: =J$35</a:t>
                      </a:r>
                    </a:p>
                  </a:txBody>
                  <a:tcPr marL="64008" marR="64008" marT="27432" marB="27432" anchor="ctr">
                    <a:solidFill>
                      <a:srgbClr val="F3F6F9"/>
                    </a:solidFill>
                  </a:tcPr>
                </a:tc>
              </a:tr>
              <a:tr h="329184">
                <a:tc>
                  <a:txBody>
                    <a:bodyPr wrap="square"/>
                    <a:lstStyle/>
                    <a:p>
                      <a:r>
                        <a:rPr b="1" sz="1200" i="0">
                          <a:solidFill>
                            <a:srgbClr val="1A2233"/>
                          </a:solidFill>
                          <a:latin typeface="Calibri"/>
                        </a:rPr>
                        <a:t>39</a:t>
                      </a:r>
                    </a:p>
                  </a:txBody>
                  <a:tcPr marL="64008" marR="64008" marT="27432" marB="27432" anchor="ctr">
                    <a:solidFill>
                      <a:srgbClr val="FFFFFF"/>
                    </a:solidFill>
                  </a:tcPr>
                </a:tc>
                <a:tc>
                  <a:txBody>
                    <a:bodyPr wrap="square"/>
                    <a:lstStyle/>
                    <a:p>
                      <a:r>
                        <a:rPr b="0" sz="1200" i="0">
                          <a:solidFill>
                            <a:srgbClr val="1A2233"/>
                          </a:solidFill>
                          <a:latin typeface="Calibri"/>
                        </a:rPr>
                        <a:t>Dividend declared and paid POS</a:t>
                      </a:r>
                    </a:p>
                  </a:txBody>
                  <a:tcPr marL="64008" marR="64008" marT="27432" marB="27432" anchor="ctr">
                    <a:solidFill>
                      <a:srgbClr val="FFFFFF"/>
                    </a:solidFill>
                  </a:tcPr>
                </a:tc>
                <a:tc>
                  <a:txBody>
                    <a:bodyPr wrap="square"/>
                    <a:lstStyle/>
                    <a:p>
                      <a:r>
                        <a:rPr b="0" sz="1200" i="0">
                          <a:solidFill>
                            <a:srgbClr val="1A2233"/>
                          </a:solidFill>
                          <a:latin typeface="Consolas"/>
                        </a:rPr>
                        <a:t>J: =MIN(J37:J38)</a:t>
                      </a:r>
                    </a:p>
                  </a:txBody>
                  <a:tcPr marL="64008" marR="64008" marT="27432" marB="27432" anchor="ctr">
                    <a:solidFill>
                      <a:srgbClr val="FFFFFF"/>
                    </a:solidFill>
                  </a:tcPr>
                </a:tc>
              </a:tr>
              <a:tr h="329184">
                <a:tc>
                  <a:txBody>
                    <a:bodyPr wrap="square"/>
                    <a:lstStyle/>
                    <a:p>
                      <a:r>
                        <a:rPr b="1" sz="1200" i="0">
                          <a:solidFill>
                            <a:srgbClr val="1A2233"/>
                          </a:solidFill>
                          <a:latin typeface="Calibri"/>
                        </a:rPr>
                        <a:t>40</a:t>
                      </a:r>
                    </a:p>
                  </a:txBody>
                  <a:tcPr marL="64008" marR="64008" marT="27432" marB="27432" anchor="ctr">
                    <a:solidFill>
                      <a:srgbClr val="F3F6F9"/>
                    </a:solidFill>
                  </a:tcPr>
                </a:tc>
                <a:tc>
                  <a:txBody>
                    <a:bodyPr wrap="square"/>
                    <a:lstStyle/>
                    <a:p>
                      <a:r>
                        <a:rPr b="0" sz="1200" i="0">
                          <a:solidFill>
                            <a:srgbClr val="1A2233"/>
                          </a:solidFill>
                          <a:latin typeface="Calibri"/>
                        </a:rPr>
                        <a:t>Dividend declared and paid</a:t>
                      </a:r>
                    </a:p>
                  </a:txBody>
                  <a:tcPr marL="64008" marR="64008" marT="27432" marB="27432" anchor="ctr">
                    <a:solidFill>
                      <a:srgbClr val="F3F6F9"/>
                    </a:solidFill>
                  </a:tcPr>
                </a:tc>
                <a:tc>
                  <a:txBody>
                    <a:bodyPr wrap="square"/>
                    <a:lstStyle/>
                    <a:p>
                      <a:r>
                        <a:rPr b="0" sz="1200" i="0">
                          <a:solidFill>
                            <a:srgbClr val="1A2233"/>
                          </a:solidFill>
                          <a:latin typeface="Consolas"/>
                        </a:rPr>
                        <a:t>J: =-1*J39</a:t>
                      </a:r>
                    </a:p>
                  </a:txBody>
                  <a:tcPr marL="64008" marR="64008" marT="27432" marB="27432" anchor="ctr">
                    <a:solidFill>
                      <a:srgbClr val="F3F6F9"/>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Equity!J31: aggregate cash available for dividend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Equity</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J31  (to CO31)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Aggregate cash available for dividend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=MAX(SUM(J29:J30),0)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Cash available = retained cash BEG + this period's cash flow available for dividends (FinStat row 45)</a:t>
            </a:r>
          </a:p>
          <a:p>
            <a:pPr algn="l"/>
            <a:r>
              <a:rPr b="0" sz="1500" i="0">
                <a:solidFill>
                  <a:srgbClr val="1A2233"/>
                </a:solidFill>
                <a:latin typeface="Calibri"/>
              </a:rPr>
              <a:t>▪ MAX(…, 0): never negative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J29 = J$47 (retained cash BEG)</a:t>
            </a:r>
          </a:p>
          <a:p>
            <a:pPr algn="l"/>
            <a:r>
              <a:rPr b="0" sz="1300" i="0">
                <a:solidFill>
                  <a:srgbClr val="1A2233"/>
                </a:solidFill>
                <a:latin typeface="Consolas"/>
              </a:rPr>
              <a:t>J30 = FinStat!J$45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J31:CO31,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J31:CO31,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J31 → CO31</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H31 = 1,858,024;  L31 = 4,318</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Test 1: is there cash?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Equity!J35: aggregate earnings available for dividend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Equity</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J35  (to CO35)</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Aggregate earnings available for dividend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=MAX(SUM(J33:J34),0)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Earnings available = retained earnings BEG + profit after tax (FinStat row 18)</a:t>
            </a:r>
          </a:p>
          <a:p>
            <a:pPr algn="l"/>
            <a:r>
              <a:rPr b="0" sz="1500" i="0">
                <a:solidFill>
                  <a:srgbClr val="1A2233"/>
                </a:solidFill>
                <a:latin typeface="Calibri"/>
              </a:rPr>
              <a:t>▪ MAX(…, 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J33 = J$58 (retained earnings BEG)</a:t>
            </a:r>
          </a:p>
          <a:p>
            <a:pPr algn="l"/>
            <a:r>
              <a:rPr b="0" sz="1300" i="0">
                <a:solidFill>
                  <a:srgbClr val="1A2233"/>
                </a:solidFill>
                <a:latin typeface="Consolas"/>
              </a:rPr>
              <a:t>J34 = FinStat!J$18</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J35:CO35,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J35:CO35,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J35 → CO35</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H35 = 467,583;  L35 = 2,101</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Test 2: are there profits to distribute?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Equity!J39: dividend declared and paid POS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Equity</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J39  (to CO39)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Dividend declared and paid POS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=MIN(J37:J38)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Dividend = the smaller of the two tests: </a:t>
            </a:r>
            <a:r>
              <a:rPr b="0" sz="1500" i="0">
                <a:solidFill>
                  <a:srgbClr val="0B5E82"/>
                </a:solidFill>
                <a:latin typeface="Consolas"/>
              </a:rPr>
              <a:t>=MIN(J37:J38)</a:t>
            </a:r>
          </a:p>
          <a:p>
            <a:pPr algn="l"/>
            <a:r>
              <a:rPr b="0" sz="1500" i="0">
                <a:solidFill>
                  <a:srgbClr val="1A2233"/>
                </a:solidFill>
                <a:latin typeface="Calibri"/>
              </a:rPr>
              <a:t>▪ Rows 37 and 38 pull the two available amounts</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J39:CO39,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J39:CO39,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J39 → CO39</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H39 = 464,033;  L39 = 2,101</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Cash and distributable profit both constrain the payout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 block 4: retained cash and retained earnings (1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44</a:t>
                      </a:r>
                    </a:p>
                  </a:txBody>
                  <a:tcPr marL="64008" marR="64008" marT="27432" marB="27432" anchor="ctr">
                    <a:solidFill>
                      <a:srgbClr val="FFFFFF"/>
                    </a:solidFill>
                  </a:tcPr>
                </a:tc>
                <a:tc>
                  <a:txBody>
                    <a:bodyPr wrap="square"/>
                    <a:lstStyle/>
                    <a:p>
                      <a:r>
                        <a:rPr b="0" sz="1200" i="0">
                          <a:solidFill>
                            <a:srgbClr val="1A2233"/>
                          </a:solidFill>
                          <a:latin typeface="Calibri"/>
                        </a:rPr>
                        <a:t>Retained cash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0</a:t>
                      </a:r>
                    </a:p>
                  </a:txBody>
                  <a:tcPr marL="64008" marR="64008" marT="27432" marB="27432" anchor="ctr">
                    <a:solidFill>
                      <a:srgbClr val="FFFFFF"/>
                    </a:solidFill>
                  </a:tcPr>
                </a:tc>
              </a:tr>
              <a:tr h="329184">
                <a:tc>
                  <a:txBody>
                    <a:bodyPr wrap="square"/>
                    <a:lstStyle/>
                    <a:p>
                      <a:r>
                        <a:rPr b="1" sz="1200" i="0">
                          <a:solidFill>
                            <a:srgbClr val="1A2233"/>
                          </a:solidFill>
                          <a:latin typeface="Calibri"/>
                        </a:rPr>
                        <a:t>45</a:t>
                      </a:r>
                    </a:p>
                  </a:txBody>
                  <a:tcPr marL="64008" marR="64008" marT="27432" marB="27432" anchor="ctr">
                    <a:solidFill>
                      <a:srgbClr val="F3F6F9"/>
                    </a:solidFill>
                  </a:tcPr>
                </a:tc>
                <a:tc>
                  <a:txBody>
                    <a:bodyPr wrap="square"/>
                    <a:lstStyle/>
                    <a:p>
                      <a:r>
                        <a:rPr b="0" sz="1200" i="0">
                          <a:solidFill>
                            <a:srgbClr val="1A2233"/>
                          </a:solidFill>
                          <a:latin typeface="Calibri"/>
                        </a:rPr>
                        <a:t>Acquisition / initial balance date flag</a:t>
                      </a:r>
                    </a:p>
                  </a:txBody>
                  <a:tcPr marL="64008" marR="64008" marT="27432" marB="27432" anchor="ctr">
                    <a:solidFill>
                      <a:srgbClr val="F3F6F9"/>
                    </a:solidFill>
                  </a:tcPr>
                </a:tc>
                <a:tc>
                  <a:txBody>
                    <a:bodyPr wrap="square"/>
                    <a:lstStyle/>
                    <a:p>
                      <a:r>
                        <a:rPr b="0" sz="1200" i="0">
                          <a:solidFill>
                            <a:srgbClr val="1A2233"/>
                          </a:solidFill>
                          <a:latin typeface="Consolas"/>
                        </a:rPr>
                        <a:t>J: =Time!J$45</a:t>
                      </a:r>
                    </a:p>
                  </a:txBody>
                  <a:tcPr marL="64008" marR="64008" marT="27432" marB="27432" anchor="ctr">
                    <a:solidFill>
                      <a:srgbClr val="F3F6F9"/>
                    </a:solidFill>
                  </a:tcPr>
                </a:tc>
              </a:tr>
              <a:tr h="329184">
                <a:tc>
                  <a:txBody>
                    <a:bodyPr wrap="square"/>
                    <a:lstStyle/>
                    <a:p>
                      <a:r>
                        <a:rPr b="1" sz="1200" i="0">
                          <a:solidFill>
                            <a:srgbClr val="1A2233"/>
                          </a:solidFill>
                          <a:latin typeface="Calibri"/>
                        </a:rPr>
                        <a:t>47</a:t>
                      </a:r>
                    </a:p>
                  </a:txBody>
                  <a:tcPr marL="64008" marR="64008" marT="27432" marB="27432" anchor="ctr">
                    <a:solidFill>
                      <a:srgbClr val="FFFFFF"/>
                    </a:solidFill>
                  </a:tcPr>
                </a:tc>
                <a:tc>
                  <a:txBody>
                    <a:bodyPr wrap="square"/>
                    <a:lstStyle/>
                    <a:p>
                      <a:r>
                        <a:rPr b="0" sz="1200" i="0">
                          <a:solidFill>
                            <a:srgbClr val="1A2233"/>
                          </a:solidFill>
                          <a:latin typeface="Calibri"/>
                        </a:rPr>
                        <a:t>Retained cash balance BEG</a:t>
                      </a:r>
                    </a:p>
                  </a:txBody>
                  <a:tcPr marL="64008" marR="64008" marT="27432" marB="27432" anchor="ctr">
                    <a:solidFill>
                      <a:srgbClr val="FFFFFF"/>
                    </a:solidFill>
                  </a:tcPr>
                </a:tc>
                <a:tc>
                  <a:txBody>
                    <a:bodyPr wrap="square"/>
                    <a:lstStyle/>
                    <a:p>
                      <a:r>
                        <a:rPr b="0" sz="1200" i="0">
                          <a:solidFill>
                            <a:srgbClr val="1A2233"/>
                          </a:solidFill>
                          <a:latin typeface="Consolas"/>
                        </a:rPr>
                        <a:t>J: =I50</a:t>
                      </a:r>
                    </a:p>
                  </a:txBody>
                  <a:tcPr marL="64008" marR="64008" marT="27432" marB="27432" anchor="ctr">
                    <a:solidFill>
                      <a:srgbClr val="FFFFFF"/>
                    </a:solidFill>
                  </a:tcPr>
                </a:tc>
              </a:tr>
              <a:tr h="329184">
                <a:tc>
                  <a:txBody>
                    <a:bodyPr wrap="square"/>
                    <a:lstStyle/>
                    <a:p>
                      <a:r>
                        <a:rPr b="1" sz="1200" i="0">
                          <a:solidFill>
                            <a:srgbClr val="1A2233"/>
                          </a:solidFill>
                          <a:latin typeface="Calibri"/>
                        </a:rPr>
                        <a:t>48</a:t>
                      </a:r>
                    </a:p>
                  </a:txBody>
                  <a:tcPr marL="64008" marR="64008" marT="27432" marB="27432" anchor="ctr">
                    <a:solidFill>
                      <a:srgbClr val="F3F6F9"/>
                    </a:solidFill>
                  </a:tcPr>
                </a:tc>
                <a:tc>
                  <a:txBody>
                    <a:bodyPr wrap="square"/>
                    <a:lstStyle/>
                    <a:p>
                      <a:r>
                        <a:rPr b="0" sz="1200" i="0">
                          <a:solidFill>
                            <a:srgbClr val="1A2233"/>
                          </a:solidFill>
                          <a:latin typeface="Calibri"/>
                        </a:rPr>
                        <a:t>Cash flow available for dividends</a:t>
                      </a:r>
                    </a:p>
                  </a:txBody>
                  <a:tcPr marL="64008" marR="64008" marT="27432" marB="27432" anchor="ctr">
                    <a:solidFill>
                      <a:srgbClr val="F3F6F9"/>
                    </a:solidFill>
                  </a:tcPr>
                </a:tc>
                <a:tc>
                  <a:txBody>
                    <a:bodyPr wrap="square"/>
                    <a:lstStyle/>
                    <a:p>
                      <a:r>
                        <a:rPr b="0" sz="1200" i="0">
                          <a:solidFill>
                            <a:srgbClr val="1A2233"/>
                          </a:solidFill>
                          <a:latin typeface="Consolas"/>
                        </a:rPr>
                        <a:t>J: =FinStat!J$45</a:t>
                      </a:r>
                    </a:p>
                  </a:txBody>
                  <a:tcPr marL="64008" marR="64008" marT="27432" marB="27432" anchor="ctr">
                    <a:solidFill>
                      <a:srgbClr val="F3F6F9"/>
                    </a:solidFill>
                  </a:tcPr>
                </a:tc>
              </a:tr>
              <a:tr h="329184">
                <a:tc>
                  <a:txBody>
                    <a:bodyPr wrap="square"/>
                    <a:lstStyle/>
                    <a:p>
                      <a:r>
                        <a:rPr b="1" sz="1200" i="0">
                          <a:solidFill>
                            <a:srgbClr val="1A2233"/>
                          </a:solidFill>
                          <a:latin typeface="Calibri"/>
                        </a:rPr>
                        <a:t>49</a:t>
                      </a:r>
                    </a:p>
                  </a:txBody>
                  <a:tcPr marL="64008" marR="64008" marT="27432" marB="27432" anchor="ctr">
                    <a:solidFill>
                      <a:srgbClr val="FFFFFF"/>
                    </a:solidFill>
                  </a:tcPr>
                </a:tc>
                <a:tc>
                  <a:txBody>
                    <a:bodyPr wrap="square"/>
                    <a:lstStyle/>
                    <a:p>
                      <a:r>
                        <a:rPr b="0" sz="1200" i="0">
                          <a:solidFill>
                            <a:srgbClr val="1A2233"/>
                          </a:solidFill>
                          <a:latin typeface="Calibri"/>
                        </a:rPr>
                        <a:t>Dividend declared and paid POS</a:t>
                      </a:r>
                    </a:p>
                  </a:txBody>
                  <a:tcPr marL="64008" marR="64008" marT="27432" marB="27432" anchor="ctr">
                    <a:solidFill>
                      <a:srgbClr val="FFFFFF"/>
                    </a:solidFill>
                  </a:tcPr>
                </a:tc>
                <a:tc>
                  <a:txBody>
                    <a:bodyPr wrap="square"/>
                    <a:lstStyle/>
                    <a:p>
                      <a:r>
                        <a:rPr b="0" sz="1200" i="0">
                          <a:solidFill>
                            <a:srgbClr val="1A2233"/>
                          </a:solidFill>
                          <a:latin typeface="Consolas"/>
                        </a:rPr>
                        <a:t>J: =J$39</a:t>
                      </a:r>
                    </a:p>
                  </a:txBody>
                  <a:tcPr marL="64008" marR="64008" marT="27432" marB="27432" anchor="ctr">
                    <a:solidFill>
                      <a:srgbClr val="FFFFFF"/>
                    </a:solidFill>
                  </a:tcPr>
                </a:tc>
              </a:tr>
              <a:tr h="329184">
                <a:tc>
                  <a:txBody>
                    <a:bodyPr wrap="square"/>
                    <a:lstStyle/>
                    <a:p>
                      <a:r>
                        <a:rPr b="1" sz="1200" i="0">
                          <a:solidFill>
                            <a:srgbClr val="1A2233"/>
                          </a:solidFill>
                          <a:latin typeface="Calibri"/>
                        </a:rPr>
                        <a:t>50</a:t>
                      </a:r>
                    </a:p>
                  </a:txBody>
                  <a:tcPr marL="64008" marR="64008" marT="27432" marB="27432" anchor="ctr">
                    <a:solidFill>
                      <a:srgbClr val="F3F6F9"/>
                    </a:solidFill>
                  </a:tcPr>
                </a:tc>
                <a:tc>
                  <a:txBody>
                    <a:bodyPr wrap="square"/>
                    <a:lstStyle/>
                    <a:p>
                      <a:r>
                        <a:rPr b="0" sz="1200" i="0">
                          <a:solidFill>
                            <a:srgbClr val="1A2233"/>
                          </a:solidFill>
                          <a:latin typeface="Calibri"/>
                        </a:rPr>
                        <a:t>Retained cash balance</a:t>
                      </a:r>
                    </a:p>
                  </a:txBody>
                  <a:tcPr marL="64008" marR="64008" marT="27432" marB="27432" anchor="ctr">
                    <a:solidFill>
                      <a:srgbClr val="F3F6F9"/>
                    </a:solidFill>
                  </a:tcPr>
                </a:tc>
                <a:tc>
                  <a:txBody>
                    <a:bodyPr wrap="square"/>
                    <a:lstStyle/>
                    <a:p>
                      <a:r>
                        <a:rPr b="0" sz="1200" i="0">
                          <a:solidFill>
                            <a:srgbClr val="1A2233"/>
                          </a:solidFill>
                          <a:latin typeface="Consolas"/>
                        </a:rPr>
                        <a:t>J: =IF(J45=1,$F44,J47+J48-J49)</a:t>
                      </a:r>
                    </a:p>
                  </a:txBody>
                  <a:tcPr marL="64008" marR="64008" marT="27432" marB="27432" anchor="ctr">
                    <a:solidFill>
                      <a:srgbClr val="F3F6F9"/>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 block 4: retained cash and retained earnings (2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55</a:t>
                      </a:r>
                    </a:p>
                  </a:txBody>
                  <a:tcPr marL="64008" marR="64008" marT="27432" marB="27432" anchor="ctr">
                    <a:solidFill>
                      <a:srgbClr val="FFFFFF"/>
                    </a:solidFill>
                  </a:tcPr>
                </a:tc>
                <a:tc>
                  <a:txBody>
                    <a:bodyPr wrap="square"/>
                    <a:lstStyle/>
                    <a:p>
                      <a:r>
                        <a:rPr b="0" sz="1200" i="0">
                          <a:solidFill>
                            <a:srgbClr val="1A2233"/>
                          </a:solidFill>
                          <a:latin typeface="Calibri"/>
                        </a:rPr>
                        <a:t>Retained earnings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0</a:t>
                      </a:r>
                    </a:p>
                  </a:txBody>
                  <a:tcPr marL="64008" marR="64008" marT="27432" marB="27432" anchor="ctr">
                    <a:solidFill>
                      <a:srgbClr val="FFFFFF"/>
                    </a:solidFill>
                  </a:tcPr>
                </a:tc>
              </a:tr>
              <a:tr h="329184">
                <a:tc>
                  <a:txBody>
                    <a:bodyPr wrap="square"/>
                    <a:lstStyle/>
                    <a:p>
                      <a:r>
                        <a:rPr b="1" sz="1200" i="0">
                          <a:solidFill>
                            <a:srgbClr val="1A2233"/>
                          </a:solidFill>
                          <a:latin typeface="Calibri"/>
                        </a:rPr>
                        <a:t>56</a:t>
                      </a:r>
                    </a:p>
                  </a:txBody>
                  <a:tcPr marL="64008" marR="64008" marT="27432" marB="27432" anchor="ctr">
                    <a:solidFill>
                      <a:srgbClr val="F3F6F9"/>
                    </a:solidFill>
                  </a:tcPr>
                </a:tc>
                <a:tc>
                  <a:txBody>
                    <a:bodyPr wrap="square"/>
                    <a:lstStyle/>
                    <a:p>
                      <a:r>
                        <a:rPr b="0" sz="1200" i="0">
                          <a:solidFill>
                            <a:srgbClr val="1A2233"/>
                          </a:solidFill>
                          <a:latin typeface="Calibri"/>
                        </a:rPr>
                        <a:t>Acquisition / initial balance date flag</a:t>
                      </a:r>
                    </a:p>
                  </a:txBody>
                  <a:tcPr marL="64008" marR="64008" marT="27432" marB="27432" anchor="ctr">
                    <a:solidFill>
                      <a:srgbClr val="F3F6F9"/>
                    </a:solidFill>
                  </a:tcPr>
                </a:tc>
                <a:tc>
                  <a:txBody>
                    <a:bodyPr wrap="square"/>
                    <a:lstStyle/>
                    <a:p>
                      <a:r>
                        <a:rPr b="0" sz="1200" i="0">
                          <a:solidFill>
                            <a:srgbClr val="1A2233"/>
                          </a:solidFill>
                          <a:latin typeface="Consolas"/>
                        </a:rPr>
                        <a:t>J: =Time!J$45</a:t>
                      </a:r>
                    </a:p>
                  </a:txBody>
                  <a:tcPr marL="64008" marR="64008" marT="27432" marB="27432" anchor="ctr">
                    <a:solidFill>
                      <a:srgbClr val="F3F6F9"/>
                    </a:solidFill>
                  </a:tcPr>
                </a:tc>
              </a:tr>
              <a:tr h="329184">
                <a:tc>
                  <a:txBody>
                    <a:bodyPr wrap="square"/>
                    <a:lstStyle/>
                    <a:p>
                      <a:r>
                        <a:rPr b="1" sz="1200" i="0">
                          <a:solidFill>
                            <a:srgbClr val="1A2233"/>
                          </a:solidFill>
                          <a:latin typeface="Calibri"/>
                        </a:rPr>
                        <a:t>58</a:t>
                      </a:r>
                    </a:p>
                  </a:txBody>
                  <a:tcPr marL="64008" marR="64008" marT="27432" marB="27432" anchor="ctr">
                    <a:solidFill>
                      <a:srgbClr val="FFFFFF"/>
                    </a:solidFill>
                  </a:tcPr>
                </a:tc>
                <a:tc>
                  <a:txBody>
                    <a:bodyPr wrap="square"/>
                    <a:lstStyle/>
                    <a:p>
                      <a:r>
                        <a:rPr b="0" sz="1200" i="0">
                          <a:solidFill>
                            <a:srgbClr val="1A2233"/>
                          </a:solidFill>
                          <a:latin typeface="Calibri"/>
                        </a:rPr>
                        <a:t>Retained earnings balance BEG</a:t>
                      </a:r>
                    </a:p>
                  </a:txBody>
                  <a:tcPr marL="64008" marR="64008" marT="27432" marB="27432" anchor="ctr">
                    <a:solidFill>
                      <a:srgbClr val="FFFFFF"/>
                    </a:solidFill>
                  </a:tcPr>
                </a:tc>
                <a:tc>
                  <a:txBody>
                    <a:bodyPr wrap="square"/>
                    <a:lstStyle/>
                    <a:p>
                      <a:r>
                        <a:rPr b="0" sz="1200" i="0">
                          <a:solidFill>
                            <a:srgbClr val="1A2233"/>
                          </a:solidFill>
                          <a:latin typeface="Consolas"/>
                        </a:rPr>
                        <a:t>J: =I61</a:t>
                      </a:r>
                    </a:p>
                  </a:txBody>
                  <a:tcPr marL="64008" marR="64008" marT="27432" marB="27432" anchor="ctr">
                    <a:solidFill>
                      <a:srgbClr val="FFFFFF"/>
                    </a:solidFill>
                  </a:tcPr>
                </a:tc>
              </a:tr>
              <a:tr h="329184">
                <a:tc>
                  <a:txBody>
                    <a:bodyPr wrap="square"/>
                    <a:lstStyle/>
                    <a:p>
                      <a:r>
                        <a:rPr b="1" sz="1200" i="0">
                          <a:solidFill>
                            <a:srgbClr val="1A2233"/>
                          </a:solidFill>
                          <a:latin typeface="Calibri"/>
                        </a:rPr>
                        <a:t>59</a:t>
                      </a:r>
                    </a:p>
                  </a:txBody>
                  <a:tcPr marL="64008" marR="64008" marT="27432" marB="27432" anchor="ctr">
                    <a:solidFill>
                      <a:srgbClr val="F3F6F9"/>
                    </a:solidFill>
                  </a:tcPr>
                </a:tc>
                <a:tc>
                  <a:txBody>
                    <a:bodyPr wrap="square"/>
                    <a:lstStyle/>
                    <a:p>
                      <a:r>
                        <a:rPr b="0" sz="1200" i="0">
                          <a:solidFill>
                            <a:srgbClr val="1A2233"/>
                          </a:solidFill>
                          <a:latin typeface="Calibri"/>
                        </a:rPr>
                        <a:t>Profit after tax</a:t>
                      </a:r>
                    </a:p>
                  </a:txBody>
                  <a:tcPr marL="64008" marR="64008" marT="27432" marB="27432" anchor="ctr">
                    <a:solidFill>
                      <a:srgbClr val="F3F6F9"/>
                    </a:solidFill>
                  </a:tcPr>
                </a:tc>
                <a:tc>
                  <a:txBody>
                    <a:bodyPr wrap="square"/>
                    <a:lstStyle/>
                    <a:p>
                      <a:r>
                        <a:rPr b="0" sz="1200" i="0">
                          <a:solidFill>
                            <a:srgbClr val="1A2233"/>
                          </a:solidFill>
                          <a:latin typeface="Consolas"/>
                        </a:rPr>
                        <a:t>J: =FinStat!J$18</a:t>
                      </a:r>
                    </a:p>
                  </a:txBody>
                  <a:tcPr marL="64008" marR="64008" marT="27432" marB="27432" anchor="ctr">
                    <a:solidFill>
                      <a:srgbClr val="F3F6F9"/>
                    </a:solidFill>
                  </a:tcPr>
                </a:tc>
              </a:tr>
              <a:tr h="329184">
                <a:tc>
                  <a:txBody>
                    <a:bodyPr wrap="square"/>
                    <a:lstStyle/>
                    <a:p>
                      <a:r>
                        <a:rPr b="1" sz="1200" i="0">
                          <a:solidFill>
                            <a:srgbClr val="1A2233"/>
                          </a:solidFill>
                          <a:latin typeface="Calibri"/>
                        </a:rPr>
                        <a:t>60</a:t>
                      </a:r>
                    </a:p>
                  </a:txBody>
                  <a:tcPr marL="64008" marR="64008" marT="27432" marB="27432" anchor="ctr">
                    <a:solidFill>
                      <a:srgbClr val="FFFFFF"/>
                    </a:solidFill>
                  </a:tcPr>
                </a:tc>
                <a:tc>
                  <a:txBody>
                    <a:bodyPr wrap="square"/>
                    <a:lstStyle/>
                    <a:p>
                      <a:r>
                        <a:rPr b="0" sz="1200" i="0">
                          <a:solidFill>
                            <a:srgbClr val="1A2233"/>
                          </a:solidFill>
                          <a:latin typeface="Calibri"/>
                        </a:rPr>
                        <a:t>Dividend declared and paid POS</a:t>
                      </a:r>
                    </a:p>
                  </a:txBody>
                  <a:tcPr marL="64008" marR="64008" marT="27432" marB="27432" anchor="ctr">
                    <a:solidFill>
                      <a:srgbClr val="FFFFFF"/>
                    </a:solidFill>
                  </a:tcPr>
                </a:tc>
                <a:tc>
                  <a:txBody>
                    <a:bodyPr wrap="square"/>
                    <a:lstStyle/>
                    <a:p>
                      <a:r>
                        <a:rPr b="0" sz="1200" i="0">
                          <a:solidFill>
                            <a:srgbClr val="1A2233"/>
                          </a:solidFill>
                          <a:latin typeface="Consolas"/>
                        </a:rPr>
                        <a:t>J: =J$39</a:t>
                      </a:r>
                    </a:p>
                  </a:txBody>
                  <a:tcPr marL="64008" marR="64008" marT="27432" marB="27432" anchor="ctr">
                    <a:solidFill>
                      <a:srgbClr val="FFFFFF"/>
                    </a:solidFill>
                  </a:tcPr>
                </a:tc>
              </a:tr>
              <a:tr h="329184">
                <a:tc>
                  <a:txBody>
                    <a:bodyPr wrap="square"/>
                    <a:lstStyle/>
                    <a:p>
                      <a:r>
                        <a:rPr b="1" sz="1200" i="0">
                          <a:solidFill>
                            <a:srgbClr val="1A2233"/>
                          </a:solidFill>
                          <a:latin typeface="Calibri"/>
                        </a:rPr>
                        <a:t>61</a:t>
                      </a:r>
                    </a:p>
                  </a:txBody>
                  <a:tcPr marL="64008" marR="64008" marT="27432" marB="27432" anchor="ctr">
                    <a:solidFill>
                      <a:srgbClr val="F3F6F9"/>
                    </a:solidFill>
                  </a:tcPr>
                </a:tc>
                <a:tc>
                  <a:txBody>
                    <a:bodyPr wrap="square"/>
                    <a:lstStyle/>
                    <a:p>
                      <a:r>
                        <a:rPr b="0" sz="1200" i="0">
                          <a:solidFill>
                            <a:srgbClr val="1A2233"/>
                          </a:solidFill>
                          <a:latin typeface="Calibri"/>
                        </a:rPr>
                        <a:t>Retained earnings balance</a:t>
                      </a:r>
                    </a:p>
                  </a:txBody>
                  <a:tcPr marL="64008" marR="64008" marT="27432" marB="27432" anchor="ctr">
                    <a:solidFill>
                      <a:srgbClr val="F3F6F9"/>
                    </a:solidFill>
                  </a:tcPr>
                </a:tc>
                <a:tc>
                  <a:txBody>
                    <a:bodyPr wrap="square"/>
                    <a:lstStyle/>
                    <a:p>
                      <a:r>
                        <a:rPr b="0" sz="1200" i="0">
                          <a:solidFill>
                            <a:srgbClr val="1A2233"/>
                          </a:solidFill>
                          <a:latin typeface="Consolas"/>
                        </a:rPr>
                        <a:t>J: =IF(J56=1,$F55,J58+J59-J60)</a:t>
                      </a:r>
                    </a:p>
                  </a:txBody>
                  <a:tcPr marL="64008" marR="64008" marT="27432" marB="27432" anchor="ctr">
                    <a:solidFill>
                      <a:srgbClr val="F3F6F9"/>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Equity!J50: retained cash balance (BS)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Equity</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J50  (to CO50)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Retained cash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=IF(J45=1,$F44,J47+J48-J49)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Retained cash = opening + cash flow available for dividends − dividends paid</a:t>
            </a:r>
          </a:p>
          <a:p>
            <a:pPr algn="l"/>
            <a:r>
              <a:rPr b="0" sz="1500" i="0">
                <a:solidFill>
                  <a:srgbClr val="1A2233"/>
                </a:solidFill>
                <a:latin typeface="Calibri"/>
              </a:rPr>
              <a:t>▪ Opening on the acquisition date = F44 (0)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J48 = FinStat!J$45</a:t>
            </a:r>
          </a:p>
          <a:p>
            <a:pPr algn="l"/>
            <a:r>
              <a:rPr b="0" sz="1300" i="0">
                <a:solidFill>
                  <a:srgbClr val="1A2233"/>
                </a:solidFill>
                <a:latin typeface="Consolas"/>
              </a:rPr>
              <a:t>J49 = J$39</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J50:CO50,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J50:CO50,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J50 → CO50</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L50 = 2,217</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Cash the company keeps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Equity!J61: retained earnings balance (BS)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Equity</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J61  (to CO61)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Retained earnings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=IF(J56=1,$F55,J58+J59-J60)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Retained earnings = opening + profit after tax − dividends</a:t>
            </a:r>
          </a:p>
          <a:p>
            <a:pPr algn="l"/>
            <a:r>
              <a:rPr b="0" sz="1500" i="0">
                <a:solidFill>
                  <a:srgbClr val="1A2233"/>
                </a:solidFill>
                <a:latin typeface="Calibri"/>
              </a:rPr>
              <a:t>▪ Opening on the acquisition date = F55 (0)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J59 = FinStat!J$18</a:t>
            </a:r>
          </a:p>
          <a:p>
            <a:pPr algn="l"/>
            <a:r>
              <a:rPr b="0" sz="1300" i="0">
                <a:solidFill>
                  <a:srgbClr val="1A2233"/>
                </a:solidFill>
                <a:latin typeface="Consolas"/>
              </a:rPr>
              <a:t>J60 = J$39</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J61:CO61,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J61:CO61,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J61 → CO61</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L61 = 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Accumulated profit not yet distributed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5.3b: Build Equity and watch the dividend tests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Rebuild Equity rows 8 to 61 and answer: in which quarters is the dividend limited by EARNINGS rather than CASH?</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Share capital redemption and balance</a:t>
            </a:r>
          </a:p>
          <a:p>
            <a:pPr>
              <a:spcAft>
                <a:spcPts val="300"/>
              </a:spcAft>
            </a:pPr>
            <a:r>
              <a:rPr b="0" sz="1500" i="0">
                <a:solidFill>
                  <a:srgbClr val="1A2233"/>
                </a:solidFill>
                <a:latin typeface="Calibri"/>
              </a:rPr>
              <a:t>2.  Cash and earnings tests (31, 35)</a:t>
            </a:r>
          </a:p>
          <a:p>
            <a:pPr>
              <a:spcAft>
                <a:spcPts val="300"/>
              </a:spcAft>
            </a:pPr>
            <a:r>
              <a:rPr b="0" sz="1500" i="0">
                <a:solidFill>
                  <a:srgbClr val="1A2233"/>
                </a:solidFill>
                <a:latin typeface="Calibri"/>
              </a:rPr>
              <a:t>3.  Dividends (39)</a:t>
            </a:r>
          </a:p>
          <a:p>
            <a:pPr>
              <a:spcAft>
                <a:spcPts val="300"/>
              </a:spcAft>
            </a:pPr>
            <a:r>
              <a:rPr b="0" sz="1500" i="0">
                <a:solidFill>
                  <a:srgbClr val="1A2233"/>
                </a:solidFill>
                <a:latin typeface="Calibri"/>
              </a:rPr>
              <a:t>4.  Retained cash and earnings (50, 61)</a:t>
            </a:r>
          </a:p>
          <a:p>
            <a:pPr>
              <a:spcAft>
                <a:spcPts val="300"/>
              </a:spcAft>
            </a:pPr>
            <a:r>
              <a:rPr b="0" sz="1500" i="0">
                <a:solidFill>
                  <a:srgbClr val="1A2233"/>
                </a:solidFill>
                <a:latin typeface="Calibri"/>
              </a:rPr>
              <a:t>5.  Compare row 31 with row 35 across the timeline</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56</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12.30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5: Complete the three statements (FinStat)</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Pull everything together and make the checks zero.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 income statement (rows 9 to 18)</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962656"/>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Operating revenue</a:t>
                      </a:r>
                    </a:p>
                  </a:txBody>
                  <a:tcPr marL="64008" marR="64008" marT="27432" marB="27432" anchor="ctr">
                    <a:solidFill>
                      <a:srgbClr val="FFFFFF"/>
                    </a:solidFill>
                  </a:tcPr>
                </a:tc>
                <a:tc>
                  <a:txBody>
                    <a:bodyPr wrap="square"/>
                    <a:lstStyle/>
                    <a:p>
                      <a:r>
                        <a:rPr b="0" sz="1200" i="0">
                          <a:solidFill>
                            <a:srgbClr val="1A2233"/>
                          </a:solidFill>
                          <a:latin typeface="Consolas"/>
                        </a:rPr>
                        <a:t>J: =OpRev!J$42</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Operating cost</a:t>
                      </a:r>
                    </a:p>
                  </a:txBody>
                  <a:tcPr marL="64008" marR="64008" marT="27432" marB="27432" anchor="ctr">
                    <a:solidFill>
                      <a:srgbClr val="F3F6F9"/>
                    </a:solidFill>
                  </a:tcPr>
                </a:tc>
                <a:tc>
                  <a:txBody>
                    <a:bodyPr wrap="square"/>
                    <a:lstStyle/>
                    <a:p>
                      <a:r>
                        <a:rPr b="0" sz="1200" i="0">
                          <a:solidFill>
                            <a:srgbClr val="1A2233"/>
                          </a:solidFill>
                          <a:latin typeface="Consolas"/>
                        </a:rPr>
                        <a:t>J: =OpCost!J$39</a:t>
                      </a:r>
                    </a:p>
                  </a:txBody>
                  <a:tcPr marL="64008" marR="64008" marT="27432" marB="27432" anchor="ctr">
                    <a:solidFill>
                      <a:srgbClr val="F3F6F9"/>
                    </a:solidFill>
                  </a:tcPr>
                </a:tc>
              </a:tr>
              <a:tr h="329184">
                <a:tc>
                  <a:txBody>
                    <a:bodyPr wrap="square"/>
                    <a:lstStyle/>
                    <a:p>
                      <a:r>
                        <a:rPr b="1" sz="1200" i="0">
                          <a:solidFill>
                            <a:srgbClr val="1A2233"/>
                          </a:solidFill>
                          <a:latin typeface="Calibri"/>
                        </a:rPr>
                        <a:t>11</a:t>
                      </a:r>
                    </a:p>
                  </a:txBody>
                  <a:tcPr marL="64008" marR="64008" marT="27432" marB="27432" anchor="ctr">
                    <a:solidFill>
                      <a:srgbClr val="FFFFFF"/>
                    </a:solidFill>
                  </a:tcPr>
                </a:tc>
                <a:tc>
                  <a:txBody>
                    <a:bodyPr wrap="square"/>
                    <a:lstStyle/>
                    <a:p>
                      <a:r>
                        <a:rPr b="0" sz="1200" i="0">
                          <a:solidFill>
                            <a:srgbClr val="1A2233"/>
                          </a:solidFill>
                          <a:latin typeface="Calibri"/>
                        </a:rPr>
                        <a:t>EBITDA</a:t>
                      </a:r>
                    </a:p>
                  </a:txBody>
                  <a:tcPr marL="64008" marR="64008" marT="27432" marB="27432" anchor="ctr">
                    <a:solidFill>
                      <a:srgbClr val="FFFFFF"/>
                    </a:solidFill>
                  </a:tcPr>
                </a:tc>
                <a:tc>
                  <a:txBody>
                    <a:bodyPr wrap="square"/>
                    <a:lstStyle/>
                    <a:p>
                      <a:r>
                        <a:rPr b="0" sz="1200" i="0">
                          <a:solidFill>
                            <a:srgbClr val="1A2233"/>
                          </a:solidFill>
                          <a:latin typeface="Consolas"/>
                        </a:rPr>
                        <a:t>J: =SUM(J9:J10)</a:t>
                      </a:r>
                    </a:p>
                  </a:txBody>
                  <a:tcPr marL="64008" marR="64008" marT="27432" marB="27432" anchor="ctr">
                    <a:solidFill>
                      <a:srgbClr val="FFFFFF"/>
                    </a:solidFill>
                  </a:tcPr>
                </a:tc>
              </a:tr>
              <a:tr h="329184">
                <a:tc>
                  <a:txBody>
                    <a:bodyPr wrap="square"/>
                    <a:lstStyle/>
                    <a:p>
                      <a:r>
                        <a:rPr b="1" sz="1200" i="0">
                          <a:solidFill>
                            <a:srgbClr val="1A2233"/>
                          </a:solidFill>
                          <a:latin typeface="Calibri"/>
                        </a:rPr>
                        <a:t>13</a:t>
                      </a:r>
                    </a:p>
                  </a:txBody>
                  <a:tcPr marL="64008" marR="64008" marT="27432" marB="27432" anchor="ctr">
                    <a:solidFill>
                      <a:srgbClr val="F3F6F9"/>
                    </a:solidFill>
                  </a:tcPr>
                </a:tc>
                <a:tc>
                  <a:txBody>
                    <a:bodyPr wrap="square"/>
                    <a:lstStyle/>
                    <a:p>
                      <a:r>
                        <a:rPr b="0" sz="1200" i="0">
                          <a:solidFill>
                            <a:srgbClr val="1A2233"/>
                          </a:solidFill>
                          <a:latin typeface="Calibri"/>
                        </a:rPr>
                        <a:t>Accounting depreciation</a:t>
                      </a:r>
                    </a:p>
                  </a:txBody>
                  <a:tcPr marL="64008" marR="64008" marT="27432" marB="27432" anchor="ctr">
                    <a:solidFill>
                      <a:srgbClr val="F3F6F9"/>
                    </a:solidFill>
                  </a:tcPr>
                </a:tc>
                <a:tc>
                  <a:txBody>
                    <a:bodyPr wrap="square"/>
                    <a:lstStyle/>
                    <a:p>
                      <a:r>
                        <a:rPr b="0" sz="1200" i="0">
                          <a:solidFill>
                            <a:srgbClr val="1A2233"/>
                          </a:solidFill>
                          <a:latin typeface="Consolas"/>
                        </a:rPr>
                        <a:t>J: =NCA!J$54</a:t>
                      </a:r>
                    </a:p>
                  </a:txBody>
                  <a:tcPr marL="64008" marR="64008" marT="27432" marB="27432" anchor="ctr">
                    <a:solidFill>
                      <a:srgbClr val="F3F6F9"/>
                    </a:solidFill>
                  </a:tcPr>
                </a:tc>
              </a:tr>
              <a:tr h="329184">
                <a:tc>
                  <a:txBody>
                    <a:bodyPr wrap="square"/>
                    <a:lstStyle/>
                    <a:p>
                      <a:r>
                        <a:rPr b="1" sz="1200" i="0">
                          <a:solidFill>
                            <a:srgbClr val="1A2233"/>
                          </a:solidFill>
                          <a:latin typeface="Calibri"/>
                        </a:rPr>
                        <a:t>14</a:t>
                      </a:r>
                    </a:p>
                  </a:txBody>
                  <a:tcPr marL="64008" marR="64008" marT="27432" marB="27432" anchor="ctr">
                    <a:solidFill>
                      <a:srgbClr val="FFFFFF"/>
                    </a:solidFill>
                  </a:tcPr>
                </a:tc>
                <a:tc>
                  <a:txBody>
                    <a:bodyPr wrap="square"/>
                    <a:lstStyle/>
                    <a:p>
                      <a:r>
                        <a:rPr b="0" sz="1200" i="0">
                          <a:solidFill>
                            <a:srgbClr val="1A2233"/>
                          </a:solidFill>
                          <a:latin typeface="Calibri"/>
                        </a:rPr>
                        <a:t>Senior debt interest payment</a:t>
                      </a:r>
                    </a:p>
                  </a:txBody>
                  <a:tcPr marL="64008" marR="64008" marT="27432" marB="27432" anchor="ctr">
                    <a:solidFill>
                      <a:srgbClr val="FFFFFF"/>
                    </a:solidFill>
                  </a:tcPr>
                </a:tc>
                <a:tc>
                  <a:txBody>
                    <a:bodyPr wrap="square"/>
                    <a:lstStyle/>
                    <a:p>
                      <a:r>
                        <a:rPr b="0" sz="1200" i="0">
                          <a:solidFill>
                            <a:srgbClr val="1A2233"/>
                          </a:solidFill>
                          <a:latin typeface="Consolas"/>
                        </a:rPr>
                        <a:t>J: =Debt!J$33</a:t>
                      </a:r>
                    </a:p>
                  </a:txBody>
                  <a:tcPr marL="64008" marR="64008" marT="27432" marB="27432" anchor="ctr">
                    <a:solidFill>
                      <a:srgbClr val="FFFFFF"/>
                    </a:solidFill>
                  </a:tcPr>
                </a:tc>
              </a:tr>
              <a:tr h="329184">
                <a:tc>
                  <a:txBody>
                    <a:bodyPr wrap="square"/>
                    <a:lstStyle/>
                    <a:p>
                      <a:r>
                        <a:rPr b="1" sz="1200" i="0">
                          <a:solidFill>
                            <a:srgbClr val="1A2233"/>
                          </a:solidFill>
                          <a:latin typeface="Calibri"/>
                        </a:rPr>
                        <a:t>15</a:t>
                      </a:r>
                    </a:p>
                  </a:txBody>
                  <a:tcPr marL="64008" marR="64008" marT="27432" marB="27432" anchor="ctr">
                    <a:solidFill>
                      <a:srgbClr val="F3F6F9"/>
                    </a:solidFill>
                  </a:tcPr>
                </a:tc>
                <a:tc>
                  <a:txBody>
                    <a:bodyPr wrap="square"/>
                    <a:lstStyle/>
                    <a:p>
                      <a:r>
                        <a:rPr b="0" sz="1200" i="0">
                          <a:solidFill>
                            <a:srgbClr val="1A2233"/>
                          </a:solidFill>
                          <a:latin typeface="Calibri"/>
                        </a:rPr>
                        <a:t>Profit before tax</a:t>
                      </a:r>
                    </a:p>
                  </a:txBody>
                  <a:tcPr marL="64008" marR="64008" marT="27432" marB="27432" anchor="ctr">
                    <a:solidFill>
                      <a:srgbClr val="F3F6F9"/>
                    </a:solidFill>
                  </a:tcPr>
                </a:tc>
                <a:tc>
                  <a:txBody>
                    <a:bodyPr wrap="square"/>
                    <a:lstStyle/>
                    <a:p>
                      <a:r>
                        <a:rPr b="0" sz="1200" i="0">
                          <a:solidFill>
                            <a:srgbClr val="1A2233"/>
                          </a:solidFill>
                          <a:latin typeface="Consolas"/>
                        </a:rPr>
                        <a:t>J: =J11+SUM(J13:J14)</a:t>
                      </a:r>
                    </a:p>
                  </a:txBody>
                  <a:tcPr marL="64008" marR="64008" marT="27432" marB="27432" anchor="ctr">
                    <a:solidFill>
                      <a:srgbClr val="F3F6F9"/>
                    </a:solidFill>
                  </a:tcPr>
                </a:tc>
              </a:tr>
              <a:tr h="329184">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Tax expense</a:t>
                      </a:r>
                    </a:p>
                  </a:txBody>
                  <a:tcPr marL="64008" marR="64008" marT="27432" marB="27432" anchor="ctr">
                    <a:solidFill>
                      <a:srgbClr val="FFFFFF"/>
                    </a:solidFill>
                  </a:tcPr>
                </a:tc>
                <a:tc>
                  <a:txBody>
                    <a:bodyPr wrap="square"/>
                    <a:lstStyle/>
                    <a:p>
                      <a:r>
                        <a:rPr b="0" sz="1200" i="0">
                          <a:solidFill>
                            <a:srgbClr val="1A2233"/>
                          </a:solidFill>
                          <a:latin typeface="Consolas"/>
                        </a:rPr>
                        <a:t>J: =Tax!J$38</a:t>
                      </a:r>
                    </a:p>
                  </a:txBody>
                  <a:tcPr marL="64008" marR="64008" marT="27432" marB="27432" anchor="ctr">
                    <a:solidFill>
                      <a:srgbClr val="FFFFFF"/>
                    </a:solidFill>
                  </a:tcPr>
                </a:tc>
              </a:tr>
              <a:tr h="329184">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Profit after tax</a:t>
                      </a:r>
                    </a:p>
                  </a:txBody>
                  <a:tcPr marL="64008" marR="64008" marT="27432" marB="27432" anchor="ctr">
                    <a:solidFill>
                      <a:srgbClr val="F3F6F9"/>
                    </a:solidFill>
                  </a:tcPr>
                </a:tc>
                <a:tc>
                  <a:txBody>
                    <a:bodyPr wrap="square"/>
                    <a:lstStyle/>
                    <a:p>
                      <a:r>
                        <a:rPr b="0" sz="1200" i="0">
                          <a:solidFill>
                            <a:srgbClr val="1A2233"/>
                          </a:solidFill>
                          <a:latin typeface="Consolas"/>
                        </a:rPr>
                        <a:t>J: =J15+J17</a:t>
                      </a:r>
                    </a:p>
                  </a:txBody>
                  <a:tcPr marL="64008" marR="64008" marT="27432" marB="27432" anchor="ctr">
                    <a:solidFill>
                      <a:srgbClr val="F3F6F9"/>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FinStat!J11: EBITDA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J11  (to CO11)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EBITDA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=SUM(J9:J10)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EBITDA = revenue + operating cost (cost is negative)</a:t>
            </a:r>
          </a:p>
          <a:p>
            <a:pPr algn="l"/>
            <a:r>
              <a:rPr b="0" sz="1500" i="0">
                <a:solidFill>
                  <a:srgbClr val="1A2233"/>
                </a:solidFill>
                <a:latin typeface="Calibri"/>
              </a:rPr>
              <a:t>▪ SUM(J9:J10)</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J11:CO11,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J11:CO11,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J11 → CO11</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H11 = 789,195;  L11 = 5,643</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Earnings before interest, tax, depreciation and amortisation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FinStat!J15: profit before tax</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J15  (to CO15)</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Profit before tax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=J11+SUM(J13:J14)</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Profit before tax = EBITDA + depreciation + interest (both negative)</a:t>
            </a:r>
          </a:p>
          <a:p>
            <a:pPr algn="l"/>
            <a:r>
              <a:rPr b="0" sz="1500" i="0">
                <a:solidFill>
                  <a:srgbClr val="1A2233"/>
                </a:solidFill>
                <a:latin typeface="Calibri"/>
              </a:rPr>
              <a:t>▪ </a:t>
            </a:r>
            <a:r>
              <a:rPr b="0" sz="1500" i="0">
                <a:solidFill>
                  <a:srgbClr val="0B5E82"/>
                </a:solidFill>
                <a:latin typeface="Consolas"/>
              </a:rPr>
              <a:t>=J11+SUM(J13:J14)</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J15:CO15,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J15:CO15,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J15 → CO15</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H15 = 662,904;  L15 = 3,001</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Using SUM with a range lets you insert extra rows later (e.g. shareholder-loan interest)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FinStat!J18: profit after tax</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J18  (to CO18)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Profit after tax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=J15+J17</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Profit after tax = profit before tax + tax expense (negative)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J17 = Tax!J$38</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J18:CO18,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J18:CO18,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J18 → CO18</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H18 = 464,033;  L18 = 2,101</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Feeds dividends (earnings test) and retained earnings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 cash flow payment cascade (rows 30 to 48) (1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33472"/>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30</a:t>
                      </a:r>
                    </a:p>
                  </a:txBody>
                  <a:tcPr marL="64008" marR="64008" marT="27432" marB="27432" anchor="ctr">
                    <a:solidFill>
                      <a:srgbClr val="FFFFFF"/>
                    </a:solidFill>
                  </a:tcPr>
                </a:tc>
                <a:tc>
                  <a:txBody>
                    <a:bodyPr wrap="square"/>
                    <a:lstStyle/>
                    <a:p>
                      <a:r>
                        <a:rPr b="0" sz="1200" i="0">
                          <a:solidFill>
                            <a:srgbClr val="1A2233"/>
                          </a:solidFill>
                          <a:latin typeface="Calibri"/>
                        </a:rPr>
                        <a:t>Operating revenue received </a:t>
                      </a:r>
                    </a:p>
                  </a:txBody>
                  <a:tcPr marL="64008" marR="64008" marT="27432" marB="27432" anchor="ctr">
                    <a:solidFill>
                      <a:srgbClr val="FFFFFF"/>
                    </a:solidFill>
                  </a:tcPr>
                </a:tc>
                <a:tc>
                  <a:txBody>
                    <a:bodyPr wrap="square"/>
                    <a:lstStyle/>
                    <a:p>
                      <a:r>
                        <a:rPr b="0" sz="1200" i="0">
                          <a:solidFill>
                            <a:srgbClr val="1A2233"/>
                          </a:solidFill>
                          <a:latin typeface="Consolas"/>
                        </a:rPr>
                        <a:t>J: =OpRev!J$54</a:t>
                      </a:r>
                    </a:p>
                  </a:txBody>
                  <a:tcPr marL="64008" marR="64008" marT="27432" marB="27432" anchor="ctr">
                    <a:solidFill>
                      <a:srgbClr val="FFFFFF"/>
                    </a:solidFill>
                  </a:tcPr>
                </a:tc>
              </a:tr>
              <a:tr h="329184">
                <a:tc>
                  <a:txBody>
                    <a:bodyPr wrap="square"/>
                    <a:lstStyle/>
                    <a:p>
                      <a:r>
                        <a:rPr b="1" sz="1200" i="0">
                          <a:solidFill>
                            <a:srgbClr val="1A2233"/>
                          </a:solidFill>
                          <a:latin typeface="Calibri"/>
                        </a:rPr>
                        <a:t>31</a:t>
                      </a:r>
                    </a:p>
                  </a:txBody>
                  <a:tcPr marL="64008" marR="64008" marT="27432" marB="27432" anchor="ctr">
                    <a:solidFill>
                      <a:srgbClr val="F3F6F9"/>
                    </a:solidFill>
                  </a:tcPr>
                </a:tc>
                <a:tc>
                  <a:txBody>
                    <a:bodyPr wrap="square"/>
                    <a:lstStyle/>
                    <a:p>
                      <a:r>
                        <a:rPr b="0" sz="1200" i="0">
                          <a:solidFill>
                            <a:srgbClr val="1A2233"/>
                          </a:solidFill>
                          <a:latin typeface="Calibri"/>
                        </a:rPr>
                        <a:t>Operating cost paid</a:t>
                      </a:r>
                    </a:p>
                  </a:txBody>
                  <a:tcPr marL="64008" marR="64008" marT="27432" marB="27432" anchor="ctr">
                    <a:solidFill>
                      <a:srgbClr val="F3F6F9"/>
                    </a:solidFill>
                  </a:tcPr>
                </a:tc>
                <a:tc>
                  <a:txBody>
                    <a:bodyPr wrap="square"/>
                    <a:lstStyle/>
                    <a:p>
                      <a:r>
                        <a:rPr b="0" sz="1200" i="0">
                          <a:solidFill>
                            <a:srgbClr val="1A2233"/>
                          </a:solidFill>
                          <a:latin typeface="Consolas"/>
                        </a:rPr>
                        <a:t>J: =OpCost!J$51</a:t>
                      </a:r>
                    </a:p>
                  </a:txBody>
                  <a:tcPr marL="64008" marR="64008" marT="27432" marB="27432" anchor="ctr">
                    <a:solidFill>
                      <a:srgbClr val="F3F6F9"/>
                    </a:solidFill>
                  </a:tcPr>
                </a:tc>
              </a:tr>
              <a:tr h="329184">
                <a:tc>
                  <a:txBody>
                    <a:bodyPr wrap="square"/>
                    <a:lstStyle/>
                    <a:p>
                      <a:r>
                        <a:rPr b="1" sz="1200" i="0">
                          <a:solidFill>
                            <a:srgbClr val="1A2233"/>
                          </a:solidFill>
                          <a:latin typeface="Calibri"/>
                        </a:rPr>
                        <a:t>32</a:t>
                      </a:r>
                    </a:p>
                  </a:txBody>
                  <a:tcPr marL="64008" marR="64008" marT="27432" marB="27432" anchor="ctr">
                    <a:solidFill>
                      <a:srgbClr val="FFFFFF"/>
                    </a:solidFill>
                  </a:tcPr>
                </a:tc>
                <a:tc>
                  <a:txBody>
                    <a:bodyPr wrap="square"/>
                    <a:lstStyle/>
                    <a:p>
                      <a:r>
                        <a:rPr b="0" sz="1200" i="0">
                          <a:solidFill>
                            <a:srgbClr val="1A2233"/>
                          </a:solidFill>
                          <a:latin typeface="Calibri"/>
                        </a:rPr>
                        <a:t>Operating cash flow</a:t>
                      </a:r>
                    </a:p>
                  </a:txBody>
                  <a:tcPr marL="64008" marR="64008" marT="27432" marB="27432" anchor="ctr">
                    <a:solidFill>
                      <a:srgbClr val="FFFFFF"/>
                    </a:solidFill>
                  </a:tcPr>
                </a:tc>
                <a:tc>
                  <a:txBody>
                    <a:bodyPr wrap="square"/>
                    <a:lstStyle/>
                    <a:p>
                      <a:r>
                        <a:rPr b="0" sz="1200" i="0">
                          <a:solidFill>
                            <a:srgbClr val="1A2233"/>
                          </a:solidFill>
                          <a:latin typeface="Consolas"/>
                        </a:rPr>
                        <a:t>J: =SUM(J30:J31)</a:t>
                      </a:r>
                    </a:p>
                  </a:txBody>
                  <a:tcPr marL="64008" marR="64008" marT="27432" marB="27432" anchor="ctr">
                    <a:solidFill>
                      <a:srgbClr val="FFFFFF"/>
                    </a:solidFill>
                  </a:tcPr>
                </a:tc>
              </a:tr>
              <a:tr h="329184">
                <a:tc>
                  <a:txBody>
                    <a:bodyPr wrap="square"/>
                    <a:lstStyle/>
                    <a:p>
                      <a:r>
                        <a:rPr b="1" sz="1200" i="0">
                          <a:solidFill>
                            <a:srgbClr val="1A2233"/>
                          </a:solidFill>
                          <a:latin typeface="Calibri"/>
                        </a:rPr>
                        <a:t>34</a:t>
                      </a:r>
                    </a:p>
                  </a:txBody>
                  <a:tcPr marL="64008" marR="64008" marT="27432" marB="27432" anchor="ctr">
                    <a:solidFill>
                      <a:srgbClr val="F3F6F9"/>
                    </a:solidFill>
                  </a:tcPr>
                </a:tc>
                <a:tc>
                  <a:txBody>
                    <a:bodyPr wrap="square"/>
                    <a:lstStyle/>
                    <a:p>
                      <a:r>
                        <a:rPr b="0" sz="1200" i="0">
                          <a:solidFill>
                            <a:srgbClr val="1A2233"/>
                          </a:solidFill>
                          <a:latin typeface="Calibri"/>
                        </a:rPr>
                        <a:t>Capital expenditure</a:t>
                      </a:r>
                    </a:p>
                  </a:txBody>
                  <a:tcPr marL="64008" marR="64008" marT="27432" marB="27432" anchor="ctr">
                    <a:solidFill>
                      <a:srgbClr val="F3F6F9"/>
                    </a:solidFill>
                  </a:tcPr>
                </a:tc>
                <a:tc>
                  <a:txBody>
                    <a:bodyPr wrap="square"/>
                    <a:lstStyle/>
                    <a:p>
                      <a:r>
                        <a:rPr b="0" sz="1200" i="0">
                          <a:solidFill>
                            <a:srgbClr val="1A2233"/>
                          </a:solidFill>
                          <a:latin typeface="Consolas"/>
                        </a:rPr>
                        <a:t>J: =NCA!J$19</a:t>
                      </a:r>
                    </a:p>
                  </a:txBody>
                  <a:tcPr marL="64008" marR="64008" marT="27432" marB="27432" anchor="ctr">
                    <a:solidFill>
                      <a:srgbClr val="F3F6F9"/>
                    </a:solidFill>
                  </a:tcPr>
                </a:tc>
              </a:tr>
              <a:tr h="329184">
                <a:tc>
                  <a:txBody>
                    <a:bodyPr wrap="square"/>
                    <a:lstStyle/>
                    <a:p>
                      <a:r>
                        <a:rPr b="1" sz="1200" i="0">
                          <a:solidFill>
                            <a:srgbClr val="1A2233"/>
                          </a:solidFill>
                          <a:latin typeface="Calibri"/>
                        </a:rPr>
                        <a:t>35</a:t>
                      </a:r>
                    </a:p>
                  </a:txBody>
                  <a:tcPr marL="64008" marR="64008" marT="27432" marB="27432" anchor="ctr">
                    <a:solidFill>
                      <a:srgbClr val="FFFFFF"/>
                    </a:solidFill>
                  </a:tcPr>
                </a:tc>
                <a:tc>
                  <a:txBody>
                    <a:bodyPr wrap="square"/>
                    <a:lstStyle/>
                    <a:p>
                      <a:r>
                        <a:rPr b="0" sz="1200" i="0">
                          <a:solidFill>
                            <a:srgbClr val="1A2233"/>
                          </a:solidFill>
                          <a:latin typeface="Calibri"/>
                        </a:rPr>
                        <a:t>Pre tax pre financing cash flow</a:t>
                      </a:r>
                    </a:p>
                  </a:txBody>
                  <a:tcPr marL="64008" marR="64008" marT="27432" marB="27432" anchor="ctr">
                    <a:solidFill>
                      <a:srgbClr val="FFFFFF"/>
                    </a:solidFill>
                  </a:tcPr>
                </a:tc>
                <a:tc>
                  <a:txBody>
                    <a:bodyPr wrap="square"/>
                    <a:lstStyle/>
                    <a:p>
                      <a:r>
                        <a:rPr b="0" sz="1200" i="0">
                          <a:solidFill>
                            <a:srgbClr val="1A2233"/>
                          </a:solidFill>
                          <a:latin typeface="Consolas"/>
                        </a:rPr>
                        <a:t>J: =J32+SUM(J34:J34)</a:t>
                      </a:r>
                    </a:p>
                  </a:txBody>
                  <a:tcPr marL="64008" marR="64008" marT="27432" marB="27432" anchor="ctr">
                    <a:solidFill>
                      <a:srgbClr val="FFFFFF"/>
                    </a:solidFill>
                  </a:tcPr>
                </a:tc>
              </a:tr>
              <a:tr h="329184">
                <a:tc>
                  <a:txBody>
                    <a:bodyPr wrap="square"/>
                    <a:lstStyle/>
                    <a:p>
                      <a:r>
                        <a:rPr b="1" sz="1200" i="0">
                          <a:solidFill>
                            <a:srgbClr val="1A2233"/>
                          </a:solidFill>
                          <a:latin typeface="Calibri"/>
                        </a:rPr>
                        <a:t>37</a:t>
                      </a:r>
                    </a:p>
                  </a:txBody>
                  <a:tcPr marL="64008" marR="64008" marT="27432" marB="27432" anchor="ctr">
                    <a:solidFill>
                      <a:srgbClr val="F3F6F9"/>
                    </a:solidFill>
                  </a:tcPr>
                </a:tc>
                <a:tc>
                  <a:txBody>
                    <a:bodyPr wrap="square"/>
                    <a:lstStyle/>
                    <a:p>
                      <a:r>
                        <a:rPr b="0" sz="1200" i="0">
                          <a:solidFill>
                            <a:srgbClr val="1A2233"/>
                          </a:solidFill>
                          <a:latin typeface="Calibri"/>
                        </a:rPr>
                        <a:t>Tax paid</a:t>
                      </a:r>
                    </a:p>
                  </a:txBody>
                  <a:tcPr marL="64008" marR="64008" marT="27432" marB="27432" anchor="ctr">
                    <a:solidFill>
                      <a:srgbClr val="F3F6F9"/>
                    </a:solidFill>
                  </a:tcPr>
                </a:tc>
                <a:tc>
                  <a:txBody>
                    <a:bodyPr wrap="square"/>
                    <a:lstStyle/>
                    <a:p>
                      <a:r>
                        <a:rPr b="0" sz="1200" i="0">
                          <a:solidFill>
                            <a:srgbClr val="1A2233"/>
                          </a:solidFill>
                          <a:latin typeface="Consolas"/>
                        </a:rPr>
                        <a:t>J: =Tax!J$32</a:t>
                      </a:r>
                    </a:p>
                  </a:txBody>
                  <a:tcPr marL="64008" marR="64008" marT="27432" marB="27432" anchor="ctr">
                    <a:solidFill>
                      <a:srgbClr val="F3F6F9"/>
                    </a:solidFill>
                  </a:tcPr>
                </a:tc>
              </a:tr>
              <a:tr h="329184">
                <a:tc>
                  <a:txBody>
                    <a:bodyPr wrap="square"/>
                    <a:lstStyle/>
                    <a:p>
                      <a:r>
                        <a:rPr b="1" sz="1200" i="0">
                          <a:solidFill>
                            <a:srgbClr val="1A2233"/>
                          </a:solidFill>
                          <a:latin typeface="Calibri"/>
                        </a:rPr>
                        <a:t>38</a:t>
                      </a:r>
                    </a:p>
                  </a:txBody>
                  <a:tcPr marL="64008" marR="64008" marT="27432" marB="27432" anchor="ctr">
                    <a:solidFill>
                      <a:srgbClr val="FFFFFF"/>
                    </a:solidFill>
                  </a:tcPr>
                </a:tc>
                <a:tc>
                  <a:txBody>
                    <a:bodyPr wrap="square"/>
                    <a:lstStyle/>
                    <a:p>
                      <a:r>
                        <a:rPr b="0" sz="1200" i="0">
                          <a:solidFill>
                            <a:srgbClr val="1A2233"/>
                          </a:solidFill>
                          <a:latin typeface="Calibri"/>
                        </a:rPr>
                        <a:t>Cash flow available for debt service (CFADS)</a:t>
                      </a:r>
                    </a:p>
                  </a:txBody>
                  <a:tcPr marL="64008" marR="64008" marT="27432" marB="27432" anchor="ctr">
                    <a:solidFill>
                      <a:srgbClr val="FFFFFF"/>
                    </a:solidFill>
                  </a:tcPr>
                </a:tc>
                <a:tc>
                  <a:txBody>
                    <a:bodyPr wrap="square"/>
                    <a:lstStyle/>
                    <a:p>
                      <a:r>
                        <a:rPr b="0" sz="1200" i="0">
                          <a:solidFill>
                            <a:srgbClr val="1A2233"/>
                          </a:solidFill>
                          <a:latin typeface="Consolas"/>
                        </a:rPr>
                        <a:t>J: =J35+SUM(J37:J37)</a:t>
                      </a:r>
                    </a:p>
                  </a:txBody>
                  <a:tcPr marL="64008" marR="64008" marT="27432" marB="27432" anchor="ctr">
                    <a:solidFill>
                      <a:srgbClr val="FFFF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 cash flow payment cascade (rows 30 to 48) (2 of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33472"/>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40</a:t>
                      </a:r>
                    </a:p>
                  </a:txBody>
                  <a:tcPr marL="64008" marR="64008" marT="27432" marB="27432" anchor="ctr">
                    <a:solidFill>
                      <a:srgbClr val="FFFFFF"/>
                    </a:solidFill>
                  </a:tcPr>
                </a:tc>
                <a:tc>
                  <a:txBody>
                    <a:bodyPr wrap="square"/>
                    <a:lstStyle/>
                    <a:p>
                      <a:r>
                        <a:rPr b="0" sz="1200" i="0">
                          <a:solidFill>
                            <a:srgbClr val="1A2233"/>
                          </a:solidFill>
                          <a:latin typeface="Calibri"/>
                        </a:rPr>
                        <a:t>Senior debt interest payment</a:t>
                      </a:r>
                    </a:p>
                  </a:txBody>
                  <a:tcPr marL="64008" marR="64008" marT="27432" marB="27432" anchor="ctr">
                    <a:solidFill>
                      <a:srgbClr val="FFFFFF"/>
                    </a:solidFill>
                  </a:tcPr>
                </a:tc>
                <a:tc>
                  <a:txBody>
                    <a:bodyPr wrap="square"/>
                    <a:lstStyle/>
                    <a:p>
                      <a:r>
                        <a:rPr b="0" sz="1200" i="0">
                          <a:solidFill>
                            <a:srgbClr val="1A2233"/>
                          </a:solidFill>
                          <a:latin typeface="Consolas"/>
                        </a:rPr>
                        <a:t>J: =Debt!J$33</a:t>
                      </a:r>
                    </a:p>
                  </a:txBody>
                  <a:tcPr marL="64008" marR="64008" marT="27432" marB="27432" anchor="ctr">
                    <a:solidFill>
                      <a:srgbClr val="FFFFFF"/>
                    </a:solidFill>
                  </a:tcPr>
                </a:tc>
              </a:tr>
              <a:tr h="329184">
                <a:tc>
                  <a:txBody>
                    <a:bodyPr wrap="square"/>
                    <a:lstStyle/>
                    <a:p>
                      <a:r>
                        <a:rPr b="1" sz="1200" i="0">
                          <a:solidFill>
                            <a:srgbClr val="1A2233"/>
                          </a:solidFill>
                          <a:latin typeface="Calibri"/>
                        </a:rPr>
                        <a:t>41</a:t>
                      </a:r>
                    </a:p>
                  </a:txBody>
                  <a:tcPr marL="64008" marR="64008" marT="27432" marB="27432" anchor="ctr">
                    <a:solidFill>
                      <a:srgbClr val="F3F6F9"/>
                    </a:solidFill>
                  </a:tcPr>
                </a:tc>
                <a:tc>
                  <a:txBody>
                    <a:bodyPr wrap="square"/>
                    <a:lstStyle/>
                    <a:p>
                      <a:r>
                        <a:rPr b="0" sz="1200" i="0">
                          <a:solidFill>
                            <a:srgbClr val="1A2233"/>
                          </a:solidFill>
                          <a:latin typeface="Calibri"/>
                        </a:rPr>
                        <a:t>Senior debt principal repayment</a:t>
                      </a:r>
                    </a:p>
                  </a:txBody>
                  <a:tcPr marL="64008" marR="64008" marT="27432" marB="27432" anchor="ctr">
                    <a:solidFill>
                      <a:srgbClr val="F3F6F9"/>
                    </a:solidFill>
                  </a:tcPr>
                </a:tc>
                <a:tc>
                  <a:txBody>
                    <a:bodyPr wrap="square"/>
                    <a:lstStyle/>
                    <a:p>
                      <a:r>
                        <a:rPr b="0" sz="1200" i="0">
                          <a:solidFill>
                            <a:srgbClr val="1A2233"/>
                          </a:solidFill>
                          <a:latin typeface="Consolas"/>
                        </a:rPr>
                        <a:t>J: =Debt!J$22</a:t>
                      </a:r>
                    </a:p>
                  </a:txBody>
                  <a:tcPr marL="64008" marR="64008" marT="27432" marB="27432" anchor="ctr">
                    <a:solidFill>
                      <a:srgbClr val="F3F6F9"/>
                    </a:solidFill>
                  </a:tcPr>
                </a:tc>
              </a:tr>
              <a:tr h="329184">
                <a:tc>
                  <a:txBody>
                    <a:bodyPr wrap="square"/>
                    <a:lstStyle/>
                    <a:p>
                      <a:r>
                        <a:rPr b="1" sz="1200" i="0">
                          <a:solidFill>
                            <a:srgbClr val="1A2233"/>
                          </a:solidFill>
                          <a:latin typeface="Calibri"/>
                        </a:rPr>
                        <a:t>42</a:t>
                      </a:r>
                    </a:p>
                  </a:txBody>
                  <a:tcPr marL="64008" marR="64008" marT="27432" marB="27432" anchor="ctr">
                    <a:solidFill>
                      <a:srgbClr val="FFFFFF"/>
                    </a:solidFill>
                  </a:tcPr>
                </a:tc>
                <a:tc>
                  <a:txBody>
                    <a:bodyPr wrap="square"/>
                    <a:lstStyle/>
                    <a:p>
                      <a:r>
                        <a:rPr b="0" sz="1200" i="0">
                          <a:solidFill>
                            <a:srgbClr val="1A2233"/>
                          </a:solidFill>
                          <a:latin typeface="Calibri"/>
                        </a:rPr>
                        <a:t>Cash flow available to shareholders</a:t>
                      </a:r>
                    </a:p>
                  </a:txBody>
                  <a:tcPr marL="64008" marR="64008" marT="27432" marB="27432" anchor="ctr">
                    <a:solidFill>
                      <a:srgbClr val="FFFFFF"/>
                    </a:solidFill>
                  </a:tcPr>
                </a:tc>
                <a:tc>
                  <a:txBody>
                    <a:bodyPr wrap="square"/>
                    <a:lstStyle/>
                    <a:p>
                      <a:r>
                        <a:rPr b="0" sz="1200" i="0">
                          <a:solidFill>
                            <a:srgbClr val="1A2233"/>
                          </a:solidFill>
                          <a:latin typeface="Consolas"/>
                        </a:rPr>
                        <a:t>J: =J38+SUM(J39:J41)</a:t>
                      </a:r>
                    </a:p>
                  </a:txBody>
                  <a:tcPr marL="64008" marR="64008" marT="27432" marB="27432" anchor="ctr">
                    <a:solidFill>
                      <a:srgbClr val="FFFFFF"/>
                    </a:solidFill>
                  </a:tcPr>
                </a:tc>
              </a:tr>
              <a:tr h="329184">
                <a:tc>
                  <a:txBody>
                    <a:bodyPr wrap="square"/>
                    <a:lstStyle/>
                    <a:p>
                      <a:r>
                        <a:rPr b="1" sz="1200" i="0">
                          <a:solidFill>
                            <a:srgbClr val="1A2233"/>
                          </a:solidFill>
                          <a:latin typeface="Calibri"/>
                        </a:rPr>
                        <a:t>44</a:t>
                      </a:r>
                    </a:p>
                  </a:txBody>
                  <a:tcPr marL="64008" marR="64008" marT="27432" marB="27432" anchor="ctr">
                    <a:solidFill>
                      <a:srgbClr val="F3F6F9"/>
                    </a:solidFill>
                  </a:tcPr>
                </a:tc>
                <a:tc>
                  <a:txBody>
                    <a:bodyPr wrap="square"/>
                    <a:lstStyle/>
                    <a:p>
                      <a:r>
                        <a:rPr b="0" sz="1200" i="0">
                          <a:solidFill>
                            <a:srgbClr val="1A2233"/>
                          </a:solidFill>
                          <a:latin typeface="Calibri"/>
                        </a:rPr>
                        <a:t>Share capital redemption</a:t>
                      </a:r>
                    </a:p>
                  </a:txBody>
                  <a:tcPr marL="64008" marR="64008" marT="27432" marB="27432" anchor="ctr">
                    <a:solidFill>
                      <a:srgbClr val="F3F6F9"/>
                    </a:solidFill>
                  </a:tcPr>
                </a:tc>
                <a:tc>
                  <a:txBody>
                    <a:bodyPr wrap="square"/>
                    <a:lstStyle/>
                    <a:p>
                      <a:r>
                        <a:rPr b="0" sz="1200" i="0">
                          <a:solidFill>
                            <a:srgbClr val="1A2233"/>
                          </a:solidFill>
                          <a:latin typeface="Consolas"/>
                        </a:rPr>
                        <a:t>J: =Equity!J$11</a:t>
                      </a:r>
                    </a:p>
                  </a:txBody>
                  <a:tcPr marL="64008" marR="64008" marT="27432" marB="27432" anchor="ctr">
                    <a:solidFill>
                      <a:srgbClr val="F3F6F9"/>
                    </a:solidFill>
                  </a:tcPr>
                </a:tc>
              </a:tr>
              <a:tr h="329184">
                <a:tc>
                  <a:txBody>
                    <a:bodyPr wrap="square"/>
                    <a:lstStyle/>
                    <a:p>
                      <a:r>
                        <a:rPr b="1" sz="1200" i="0">
                          <a:solidFill>
                            <a:srgbClr val="1A2233"/>
                          </a:solidFill>
                          <a:latin typeface="Calibri"/>
                        </a:rPr>
                        <a:t>45</a:t>
                      </a:r>
                    </a:p>
                  </a:txBody>
                  <a:tcPr marL="64008" marR="64008" marT="27432" marB="27432" anchor="ctr">
                    <a:solidFill>
                      <a:srgbClr val="FFFFFF"/>
                    </a:solidFill>
                  </a:tcPr>
                </a:tc>
                <a:tc>
                  <a:txBody>
                    <a:bodyPr wrap="square"/>
                    <a:lstStyle/>
                    <a:p>
                      <a:r>
                        <a:rPr b="0" sz="1200" i="0">
                          <a:solidFill>
                            <a:srgbClr val="1A2233"/>
                          </a:solidFill>
                          <a:latin typeface="Calibri"/>
                        </a:rPr>
                        <a:t>Cash flow available for dividends</a:t>
                      </a:r>
                    </a:p>
                  </a:txBody>
                  <a:tcPr marL="64008" marR="64008" marT="27432" marB="27432" anchor="ctr">
                    <a:solidFill>
                      <a:srgbClr val="FFFFFF"/>
                    </a:solidFill>
                  </a:tcPr>
                </a:tc>
                <a:tc>
                  <a:txBody>
                    <a:bodyPr wrap="square"/>
                    <a:lstStyle/>
                    <a:p>
                      <a:r>
                        <a:rPr b="0" sz="1200" i="0">
                          <a:solidFill>
                            <a:srgbClr val="1A2233"/>
                          </a:solidFill>
                          <a:latin typeface="Consolas"/>
                        </a:rPr>
                        <a:t>J: =J42+SUM(J43:J44)</a:t>
                      </a:r>
                    </a:p>
                  </a:txBody>
                  <a:tcPr marL="64008" marR="64008" marT="27432" marB="27432" anchor="ctr">
                    <a:solidFill>
                      <a:srgbClr val="FFFFFF"/>
                    </a:solidFill>
                  </a:tcPr>
                </a:tc>
              </a:tr>
              <a:tr h="329184">
                <a:tc>
                  <a:txBody>
                    <a:bodyPr wrap="square"/>
                    <a:lstStyle/>
                    <a:p>
                      <a:r>
                        <a:rPr b="1" sz="1200" i="0">
                          <a:solidFill>
                            <a:srgbClr val="1A2233"/>
                          </a:solidFill>
                          <a:latin typeface="Calibri"/>
                        </a:rPr>
                        <a:t>47</a:t>
                      </a:r>
                    </a:p>
                  </a:txBody>
                  <a:tcPr marL="64008" marR="64008" marT="27432" marB="27432" anchor="ctr">
                    <a:solidFill>
                      <a:srgbClr val="F3F6F9"/>
                    </a:solidFill>
                  </a:tcPr>
                </a:tc>
                <a:tc>
                  <a:txBody>
                    <a:bodyPr wrap="square"/>
                    <a:lstStyle/>
                    <a:p>
                      <a:r>
                        <a:rPr b="0" sz="1200" i="0">
                          <a:solidFill>
                            <a:srgbClr val="1A2233"/>
                          </a:solidFill>
                          <a:latin typeface="Calibri"/>
                        </a:rPr>
                        <a:t>Dividend declared and paid</a:t>
                      </a:r>
                    </a:p>
                  </a:txBody>
                  <a:tcPr marL="64008" marR="64008" marT="27432" marB="27432" anchor="ctr">
                    <a:solidFill>
                      <a:srgbClr val="F3F6F9"/>
                    </a:solidFill>
                  </a:tcPr>
                </a:tc>
                <a:tc>
                  <a:txBody>
                    <a:bodyPr wrap="square"/>
                    <a:lstStyle/>
                    <a:p>
                      <a:r>
                        <a:rPr b="0" sz="1200" i="0">
                          <a:solidFill>
                            <a:srgbClr val="1A2233"/>
                          </a:solidFill>
                          <a:latin typeface="Consolas"/>
                        </a:rPr>
                        <a:t>J: =Equity!J$40</a:t>
                      </a:r>
                    </a:p>
                  </a:txBody>
                  <a:tcPr marL="64008" marR="64008" marT="27432" marB="27432" anchor="ctr">
                    <a:solidFill>
                      <a:srgbClr val="F3F6F9"/>
                    </a:solidFill>
                  </a:tcPr>
                </a:tc>
              </a:tr>
              <a:tr h="329184">
                <a:tc>
                  <a:txBody>
                    <a:bodyPr wrap="square"/>
                    <a:lstStyle/>
                    <a:p>
                      <a:r>
                        <a:rPr b="1" sz="1200" i="0">
                          <a:solidFill>
                            <a:srgbClr val="1A2233"/>
                          </a:solidFill>
                          <a:latin typeface="Calibri"/>
                        </a:rPr>
                        <a:t>48</a:t>
                      </a:r>
                    </a:p>
                  </a:txBody>
                  <a:tcPr marL="64008" marR="64008" marT="27432" marB="27432" anchor="ctr">
                    <a:solidFill>
                      <a:srgbClr val="FFFFFF"/>
                    </a:solidFill>
                  </a:tcPr>
                </a:tc>
                <a:tc>
                  <a:txBody>
                    <a:bodyPr wrap="square"/>
                    <a:lstStyle/>
                    <a:p>
                      <a:r>
                        <a:rPr b="0" sz="1200" i="0">
                          <a:solidFill>
                            <a:srgbClr val="1A2233"/>
                          </a:solidFill>
                          <a:latin typeface="Calibri"/>
                        </a:rPr>
                        <a:t>Net cash flow</a:t>
                      </a:r>
                    </a:p>
                  </a:txBody>
                  <a:tcPr marL="64008" marR="64008" marT="27432" marB="27432" anchor="ctr">
                    <a:solidFill>
                      <a:srgbClr val="FFFFFF"/>
                    </a:solidFill>
                  </a:tcPr>
                </a:tc>
                <a:tc>
                  <a:txBody>
                    <a:bodyPr wrap="square"/>
                    <a:lstStyle/>
                    <a:p>
                      <a:r>
                        <a:rPr b="0" sz="1200" i="0">
                          <a:solidFill>
                            <a:srgbClr val="1A2233"/>
                          </a:solidFill>
                          <a:latin typeface="Consolas"/>
                        </a:rPr>
                        <a:t>J: =J45+SUM(J47:J47)</a:t>
                      </a:r>
                    </a:p>
                  </a:txBody>
                  <a:tcPr marL="64008" marR="64008" marT="27432" marB="27432" anchor="ctr">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FinStat!J38: CFADS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J38  (to CO38)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Cash flow available for debt service (CFADS)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=J35+SUM(J37:J37)</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CFADS = pre-tax pre-financing cash flow + tax paid (negative)</a:t>
            </a:r>
          </a:p>
          <a:p>
            <a:pPr algn="l"/>
            <a:r>
              <a:rPr b="0" sz="1500" i="0">
                <a:solidFill>
                  <a:srgbClr val="1A2233"/>
                </a:solidFill>
                <a:latin typeface="Calibri"/>
              </a:rPr>
              <a:t>▪ </a:t>
            </a:r>
            <a:r>
              <a:rPr b="0" sz="1500" i="0">
                <a:solidFill>
                  <a:srgbClr val="0B5E82"/>
                </a:solidFill>
                <a:latin typeface="Consolas"/>
              </a:rPr>
              <a:t>=J35+SUM(J37:J37)</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J38:CO38,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J38:CO38,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J38 → CO38</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H38 = 582,324;  L38 = 5,293</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key lender number: cash available for debt service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FinStat!J42: cash flow available to shareholders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J42  (to CO42)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Cash flow available to shareholders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=J38+SUM(J39:J41)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Cash flow available to shareholders = CFADS + interest + principal (both negative)</a:t>
            </a:r>
          </a:p>
          <a:p>
            <a:pPr algn="l"/>
            <a:r>
              <a:rPr b="0" sz="1500" i="0">
                <a:solidFill>
                  <a:srgbClr val="1A2233"/>
                </a:solidFill>
                <a:latin typeface="Calibri"/>
              </a:rPr>
              <a:t>▪ </a:t>
            </a:r>
            <a:r>
              <a:rPr b="0" sz="1500" i="0">
                <a:solidFill>
                  <a:srgbClr val="0B5E82"/>
                </a:solidFill>
                <a:latin typeface="Consolas"/>
              </a:rPr>
              <a:t>=J38+SUM(J40:J41)</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J42:CO42,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J42:CO42,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J42 → CO42</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H42 = 504,033;  L42 = 4,318</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What is left after paying lenders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FinStat!J45: cash flow available for dividends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J45  (to CO45)</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Cash flow available for dividends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=J42+SUM(J43:J44)</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Cash flow available for dividends = previous line + share capital redemption (negative)</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J45:CO45,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J45:CO45,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J45 → CO45</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H45 = 464,033;  L45 = 4,318</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Row used by the dividend test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 balance sheet (rows 58 to 69)</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62102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58</a:t>
                      </a:r>
                    </a:p>
                  </a:txBody>
                  <a:tcPr marL="64008" marR="64008" marT="27432" marB="27432" anchor="ctr">
                    <a:solidFill>
                      <a:srgbClr val="FFFFFF"/>
                    </a:solidFill>
                  </a:tcPr>
                </a:tc>
                <a:tc>
                  <a:txBody>
                    <a:bodyPr wrap="square"/>
                    <a:lstStyle/>
                    <a:p>
                      <a:r>
                        <a:rPr b="0" sz="1200" i="0">
                          <a:solidFill>
                            <a:srgbClr val="1A2233"/>
                          </a:solidFill>
                          <a:latin typeface="Calibri"/>
                        </a:rPr>
                        <a:t>Non current asset balance</a:t>
                      </a:r>
                    </a:p>
                  </a:txBody>
                  <a:tcPr marL="64008" marR="64008" marT="27432" marB="27432" anchor="ctr">
                    <a:solidFill>
                      <a:srgbClr val="FFFFFF"/>
                    </a:solidFill>
                  </a:tcPr>
                </a:tc>
                <a:tc>
                  <a:txBody>
                    <a:bodyPr wrap="square"/>
                    <a:lstStyle/>
                    <a:p>
                      <a:r>
                        <a:rPr b="0" sz="1200" i="0">
                          <a:solidFill>
                            <a:srgbClr val="1A2233"/>
                          </a:solidFill>
                          <a:latin typeface="Consolas"/>
                        </a:rPr>
                        <a:t>J: =NCA!J$64</a:t>
                      </a:r>
                    </a:p>
                  </a:txBody>
                  <a:tcPr marL="64008" marR="64008" marT="27432" marB="27432" anchor="ctr">
                    <a:solidFill>
                      <a:srgbClr val="FFFFFF"/>
                    </a:solidFill>
                  </a:tcPr>
                </a:tc>
              </a:tr>
              <a:tr h="329184">
                <a:tc>
                  <a:txBody>
                    <a:bodyPr wrap="square"/>
                    <a:lstStyle/>
                    <a:p>
                      <a:r>
                        <a:rPr b="1" sz="1200" i="0">
                          <a:solidFill>
                            <a:srgbClr val="1A2233"/>
                          </a:solidFill>
                          <a:latin typeface="Calibri"/>
                        </a:rPr>
                        <a:t>59</a:t>
                      </a:r>
                    </a:p>
                  </a:txBody>
                  <a:tcPr marL="64008" marR="64008" marT="27432" marB="27432" anchor="ctr">
                    <a:solidFill>
                      <a:srgbClr val="F3F6F9"/>
                    </a:solidFill>
                  </a:tcPr>
                </a:tc>
                <a:tc>
                  <a:txBody>
                    <a:bodyPr wrap="square"/>
                    <a:lstStyle/>
                    <a:p>
                      <a:r>
                        <a:rPr b="0" sz="1200" i="0">
                          <a:solidFill>
                            <a:srgbClr val="1A2233"/>
                          </a:solidFill>
                          <a:latin typeface="Calibri"/>
                        </a:rPr>
                        <a:t>Account receivables balance</a:t>
                      </a:r>
                    </a:p>
                  </a:txBody>
                  <a:tcPr marL="64008" marR="64008" marT="27432" marB="27432" anchor="ctr">
                    <a:solidFill>
                      <a:srgbClr val="F3F6F9"/>
                    </a:solidFill>
                  </a:tcPr>
                </a:tc>
                <a:tc>
                  <a:txBody>
                    <a:bodyPr wrap="square"/>
                    <a:lstStyle/>
                    <a:p>
                      <a:r>
                        <a:rPr b="0" sz="1200" i="0">
                          <a:solidFill>
                            <a:srgbClr val="1A2233"/>
                          </a:solidFill>
                          <a:latin typeface="Consolas"/>
                        </a:rPr>
                        <a:t>J: =OpRev!J$65</a:t>
                      </a:r>
                    </a:p>
                  </a:txBody>
                  <a:tcPr marL="64008" marR="64008" marT="27432" marB="27432" anchor="ctr">
                    <a:solidFill>
                      <a:srgbClr val="F3F6F9"/>
                    </a:solidFill>
                  </a:tcPr>
                </a:tc>
              </a:tr>
              <a:tr h="329184">
                <a:tc>
                  <a:txBody>
                    <a:bodyPr wrap="square"/>
                    <a:lstStyle/>
                    <a:p>
                      <a:r>
                        <a:rPr b="1" sz="1200" i="0">
                          <a:solidFill>
                            <a:srgbClr val="1A2233"/>
                          </a:solidFill>
                          <a:latin typeface="Calibri"/>
                        </a:rPr>
                        <a:t>60</a:t>
                      </a:r>
                    </a:p>
                  </a:txBody>
                  <a:tcPr marL="64008" marR="64008" marT="27432" marB="27432" anchor="ctr">
                    <a:solidFill>
                      <a:srgbClr val="FFFFFF"/>
                    </a:solidFill>
                  </a:tcPr>
                </a:tc>
                <a:tc>
                  <a:txBody>
                    <a:bodyPr wrap="square"/>
                    <a:lstStyle/>
                    <a:p>
                      <a:r>
                        <a:rPr b="0" sz="1200" i="0">
                          <a:solidFill>
                            <a:srgbClr val="1A2233"/>
                          </a:solidFill>
                          <a:latin typeface="Calibri"/>
                        </a:rPr>
                        <a:t>Retained cash balance</a:t>
                      </a:r>
                    </a:p>
                  </a:txBody>
                  <a:tcPr marL="64008" marR="64008" marT="27432" marB="27432" anchor="ctr">
                    <a:solidFill>
                      <a:srgbClr val="FFFFFF"/>
                    </a:solidFill>
                  </a:tcPr>
                </a:tc>
                <a:tc>
                  <a:txBody>
                    <a:bodyPr wrap="square"/>
                    <a:lstStyle/>
                    <a:p>
                      <a:r>
                        <a:rPr b="0" sz="1200" i="0">
                          <a:solidFill>
                            <a:srgbClr val="1A2233"/>
                          </a:solidFill>
                          <a:latin typeface="Consolas"/>
                        </a:rPr>
                        <a:t>J: =Equity!J$50</a:t>
                      </a:r>
                    </a:p>
                  </a:txBody>
                  <a:tcPr marL="64008" marR="64008" marT="27432" marB="27432" anchor="ctr">
                    <a:solidFill>
                      <a:srgbClr val="FFFFFF"/>
                    </a:solidFill>
                  </a:tcPr>
                </a:tc>
              </a:tr>
              <a:tr h="329184">
                <a:tc>
                  <a:txBody>
                    <a:bodyPr wrap="square"/>
                    <a:lstStyle/>
                    <a:p>
                      <a:r>
                        <a:rPr b="1" sz="1200" i="0">
                          <a:solidFill>
                            <a:srgbClr val="1A2233"/>
                          </a:solidFill>
                          <a:latin typeface="Calibri"/>
                        </a:rPr>
                        <a:t>61</a:t>
                      </a:r>
                    </a:p>
                  </a:txBody>
                  <a:tcPr marL="64008" marR="64008" marT="27432" marB="27432" anchor="ctr">
                    <a:solidFill>
                      <a:srgbClr val="F3F6F9"/>
                    </a:solidFill>
                  </a:tcPr>
                </a:tc>
                <a:tc>
                  <a:txBody>
                    <a:bodyPr wrap="square"/>
                    <a:lstStyle/>
                    <a:p>
                      <a:r>
                        <a:rPr b="0" sz="1200" i="0">
                          <a:solidFill>
                            <a:srgbClr val="1A2233"/>
                          </a:solidFill>
                          <a:latin typeface="Calibri"/>
                        </a:rPr>
                        <a:t>Total assets</a:t>
                      </a:r>
                    </a:p>
                  </a:txBody>
                  <a:tcPr marL="64008" marR="64008" marT="27432" marB="27432" anchor="ctr">
                    <a:solidFill>
                      <a:srgbClr val="F3F6F9"/>
                    </a:solidFill>
                  </a:tcPr>
                </a:tc>
                <a:tc>
                  <a:txBody>
                    <a:bodyPr wrap="square"/>
                    <a:lstStyle/>
                    <a:p>
                      <a:r>
                        <a:rPr b="0" sz="1200" i="0">
                          <a:solidFill>
                            <a:srgbClr val="1A2233"/>
                          </a:solidFill>
                          <a:latin typeface="Consolas"/>
                        </a:rPr>
                        <a:t>J: =SUM(J58:J60)</a:t>
                      </a:r>
                    </a:p>
                  </a:txBody>
                  <a:tcPr marL="64008" marR="64008" marT="27432" marB="27432" anchor="ctr">
                    <a:solidFill>
                      <a:srgbClr val="F3F6F9"/>
                    </a:solidFill>
                  </a:tcPr>
                </a:tc>
              </a:tr>
              <a:tr h="329184">
                <a:tc>
                  <a:txBody>
                    <a:bodyPr wrap="square"/>
                    <a:lstStyle/>
                    <a:p>
                      <a:r>
                        <a:rPr b="1" sz="1200" i="0">
                          <a:solidFill>
                            <a:srgbClr val="1A2233"/>
                          </a:solidFill>
                          <a:latin typeface="Calibri"/>
                        </a:rPr>
                        <a:t>64</a:t>
                      </a:r>
                    </a:p>
                  </a:txBody>
                  <a:tcPr marL="64008" marR="64008" marT="27432" marB="27432" anchor="ctr">
                    <a:solidFill>
                      <a:srgbClr val="FFFFFF"/>
                    </a:solidFill>
                  </a:tcPr>
                </a:tc>
                <a:tc>
                  <a:txBody>
                    <a:bodyPr wrap="square"/>
                    <a:lstStyle/>
                    <a:p>
                      <a:r>
                        <a:rPr b="0" sz="1200" i="0">
                          <a:solidFill>
                            <a:srgbClr val="1A2233"/>
                          </a:solidFill>
                          <a:latin typeface="Calibri"/>
                        </a:rPr>
                        <a:t>Account payables balance</a:t>
                      </a:r>
                    </a:p>
                  </a:txBody>
                  <a:tcPr marL="64008" marR="64008" marT="27432" marB="27432" anchor="ctr">
                    <a:solidFill>
                      <a:srgbClr val="FFFFFF"/>
                    </a:solidFill>
                  </a:tcPr>
                </a:tc>
                <a:tc>
                  <a:txBody>
                    <a:bodyPr wrap="square"/>
                    <a:lstStyle/>
                    <a:p>
                      <a:r>
                        <a:rPr b="0" sz="1200" i="0">
                          <a:solidFill>
                            <a:srgbClr val="1A2233"/>
                          </a:solidFill>
                          <a:latin typeface="Consolas"/>
                        </a:rPr>
                        <a:t>J: =OpCost!J$62</a:t>
                      </a:r>
                    </a:p>
                  </a:txBody>
                  <a:tcPr marL="64008" marR="64008" marT="27432" marB="27432" anchor="ctr">
                    <a:solidFill>
                      <a:srgbClr val="FFFFFF"/>
                    </a:solidFill>
                  </a:tcPr>
                </a:tc>
              </a:tr>
              <a:tr h="329184">
                <a:tc>
                  <a:txBody>
                    <a:bodyPr wrap="square"/>
                    <a:lstStyle/>
                    <a:p>
                      <a:r>
                        <a:rPr b="1" sz="1200" i="0">
                          <a:solidFill>
                            <a:srgbClr val="1A2233"/>
                          </a:solidFill>
                          <a:latin typeface="Calibri"/>
                        </a:rPr>
                        <a:t>65</a:t>
                      </a:r>
                    </a:p>
                  </a:txBody>
                  <a:tcPr marL="64008" marR="64008" marT="27432" marB="27432" anchor="ctr">
                    <a:solidFill>
                      <a:srgbClr val="F3F6F9"/>
                    </a:solidFill>
                  </a:tcPr>
                </a:tc>
                <a:tc>
                  <a:txBody>
                    <a:bodyPr wrap="square"/>
                    <a:lstStyle/>
                    <a:p>
                      <a:r>
                        <a:rPr b="0" sz="1200" i="0">
                          <a:solidFill>
                            <a:srgbClr val="1A2233"/>
                          </a:solidFill>
                          <a:latin typeface="Calibri"/>
                        </a:rPr>
                        <a:t>Senior debt balance</a:t>
                      </a:r>
                    </a:p>
                  </a:txBody>
                  <a:tcPr marL="64008" marR="64008" marT="27432" marB="27432" anchor="ctr">
                    <a:solidFill>
                      <a:srgbClr val="F3F6F9"/>
                    </a:solidFill>
                  </a:tcPr>
                </a:tc>
                <a:tc>
                  <a:txBody>
                    <a:bodyPr wrap="square"/>
                    <a:lstStyle/>
                    <a:p>
                      <a:r>
                        <a:rPr b="0" sz="1200" i="0">
                          <a:solidFill>
                            <a:srgbClr val="1A2233"/>
                          </a:solidFill>
                          <a:latin typeface="Consolas"/>
                        </a:rPr>
                        <a:t>J: =Debt!J$44</a:t>
                      </a:r>
                    </a:p>
                  </a:txBody>
                  <a:tcPr marL="64008" marR="64008" marT="27432" marB="27432" anchor="ctr">
                    <a:solidFill>
                      <a:srgbClr val="F3F6F9"/>
                    </a:solidFill>
                  </a:tcPr>
                </a:tc>
              </a:tr>
              <a:tr h="329184">
                <a:tc>
                  <a:txBody>
                    <a:bodyPr wrap="square"/>
                    <a:lstStyle/>
                    <a:p>
                      <a:r>
                        <a:rPr b="1" sz="1200" i="0">
                          <a:solidFill>
                            <a:srgbClr val="1A2233"/>
                          </a:solidFill>
                          <a:latin typeface="Calibri"/>
                        </a:rPr>
                        <a:t>66</a:t>
                      </a:r>
                    </a:p>
                  </a:txBody>
                  <a:tcPr marL="64008" marR="64008" marT="27432" marB="27432" anchor="ctr">
                    <a:solidFill>
                      <a:srgbClr val="FFFFFF"/>
                    </a:solidFill>
                  </a:tcPr>
                </a:tc>
                <a:tc>
                  <a:txBody>
                    <a:bodyPr wrap="square"/>
                    <a:lstStyle/>
                    <a:p>
                      <a:r>
                        <a:rPr b="0" sz="1200" i="0">
                          <a:solidFill>
                            <a:srgbClr val="1A2233"/>
                          </a:solidFill>
                          <a:latin typeface="Calibri"/>
                        </a:rPr>
                        <a:t>Deferred tax balance</a:t>
                      </a:r>
                    </a:p>
                  </a:txBody>
                  <a:tcPr marL="64008" marR="64008" marT="27432" marB="27432" anchor="ctr">
                    <a:solidFill>
                      <a:srgbClr val="FFFFFF"/>
                    </a:solidFill>
                  </a:tcPr>
                </a:tc>
                <a:tc>
                  <a:txBody>
                    <a:bodyPr wrap="square"/>
                    <a:lstStyle/>
                    <a:p>
                      <a:r>
                        <a:rPr b="0" sz="1200" i="0">
                          <a:solidFill>
                            <a:srgbClr val="1A2233"/>
                          </a:solidFill>
                          <a:latin typeface="Consolas"/>
                        </a:rPr>
                        <a:t>J: =Tax!J$49</a:t>
                      </a:r>
                    </a:p>
                  </a:txBody>
                  <a:tcPr marL="64008" marR="64008" marT="27432" marB="27432" anchor="ctr">
                    <a:solidFill>
                      <a:srgbClr val="FFFFFF"/>
                    </a:solidFill>
                  </a:tcPr>
                </a:tc>
              </a:tr>
              <a:tr h="329184">
                <a:tc>
                  <a:txBody>
                    <a:bodyPr wrap="square"/>
                    <a:lstStyle/>
                    <a:p>
                      <a:r>
                        <a:rPr b="1" sz="1200" i="0">
                          <a:solidFill>
                            <a:srgbClr val="1A2233"/>
                          </a:solidFill>
                          <a:latin typeface="Calibri"/>
                        </a:rPr>
                        <a:t>67</a:t>
                      </a:r>
                    </a:p>
                  </a:txBody>
                  <a:tcPr marL="64008" marR="64008" marT="27432" marB="27432" anchor="ctr">
                    <a:solidFill>
                      <a:srgbClr val="F3F6F9"/>
                    </a:solidFill>
                  </a:tcPr>
                </a:tc>
                <a:tc>
                  <a:txBody>
                    <a:bodyPr wrap="square"/>
                    <a:lstStyle/>
                    <a:p>
                      <a:r>
                        <a:rPr b="0" sz="1200" i="0">
                          <a:solidFill>
                            <a:srgbClr val="1A2233"/>
                          </a:solidFill>
                          <a:latin typeface="Calibri"/>
                        </a:rPr>
                        <a:t>Share capital balance</a:t>
                      </a:r>
                    </a:p>
                  </a:txBody>
                  <a:tcPr marL="64008" marR="64008" marT="27432" marB="27432" anchor="ctr">
                    <a:solidFill>
                      <a:srgbClr val="F3F6F9"/>
                    </a:solidFill>
                  </a:tcPr>
                </a:tc>
                <a:tc>
                  <a:txBody>
                    <a:bodyPr wrap="square"/>
                    <a:lstStyle/>
                    <a:p>
                      <a:r>
                        <a:rPr b="0" sz="1200" i="0">
                          <a:solidFill>
                            <a:srgbClr val="1A2233"/>
                          </a:solidFill>
                          <a:latin typeface="Consolas"/>
                        </a:rPr>
                        <a:t>J: =Equity!J$24</a:t>
                      </a:r>
                    </a:p>
                  </a:txBody>
                  <a:tcPr marL="64008" marR="64008" marT="27432" marB="27432" anchor="ctr">
                    <a:solidFill>
                      <a:srgbClr val="F3F6F9"/>
                    </a:solidFill>
                  </a:tcPr>
                </a:tc>
              </a:tr>
              <a:tr h="329184">
                <a:tc>
                  <a:txBody>
                    <a:bodyPr wrap="square"/>
                    <a:lstStyle/>
                    <a:p>
                      <a:r>
                        <a:rPr b="1" sz="1200" i="0">
                          <a:solidFill>
                            <a:srgbClr val="1A2233"/>
                          </a:solidFill>
                          <a:latin typeface="Calibri"/>
                        </a:rPr>
                        <a:t>68</a:t>
                      </a:r>
                    </a:p>
                  </a:txBody>
                  <a:tcPr marL="64008" marR="64008" marT="27432" marB="27432" anchor="ctr">
                    <a:solidFill>
                      <a:srgbClr val="FFFFFF"/>
                    </a:solidFill>
                  </a:tcPr>
                </a:tc>
                <a:tc>
                  <a:txBody>
                    <a:bodyPr wrap="square"/>
                    <a:lstStyle/>
                    <a:p>
                      <a:r>
                        <a:rPr b="0" sz="1200" i="0">
                          <a:solidFill>
                            <a:srgbClr val="1A2233"/>
                          </a:solidFill>
                          <a:latin typeface="Calibri"/>
                        </a:rPr>
                        <a:t>Retained earnings balance</a:t>
                      </a:r>
                    </a:p>
                  </a:txBody>
                  <a:tcPr marL="64008" marR="64008" marT="27432" marB="27432" anchor="ctr">
                    <a:solidFill>
                      <a:srgbClr val="FFFFFF"/>
                    </a:solidFill>
                  </a:tcPr>
                </a:tc>
                <a:tc>
                  <a:txBody>
                    <a:bodyPr wrap="square"/>
                    <a:lstStyle/>
                    <a:p>
                      <a:r>
                        <a:rPr b="0" sz="1200" i="0">
                          <a:solidFill>
                            <a:srgbClr val="1A2233"/>
                          </a:solidFill>
                          <a:latin typeface="Consolas"/>
                        </a:rPr>
                        <a:t>J: =Equity!J$61</a:t>
                      </a:r>
                    </a:p>
                  </a:txBody>
                  <a:tcPr marL="64008" marR="64008" marT="27432" marB="27432" anchor="ctr">
                    <a:solidFill>
                      <a:srgbClr val="FFFFFF"/>
                    </a:solidFill>
                  </a:tcPr>
                </a:tc>
              </a:tr>
              <a:tr h="329184">
                <a:tc>
                  <a:txBody>
                    <a:bodyPr wrap="square"/>
                    <a:lstStyle/>
                    <a:p>
                      <a:r>
                        <a:rPr b="1" sz="1200" i="0">
                          <a:solidFill>
                            <a:srgbClr val="1A2233"/>
                          </a:solidFill>
                          <a:latin typeface="Calibri"/>
                        </a:rPr>
                        <a:t>69</a:t>
                      </a:r>
                    </a:p>
                  </a:txBody>
                  <a:tcPr marL="64008" marR="64008" marT="27432" marB="27432" anchor="ctr">
                    <a:solidFill>
                      <a:srgbClr val="F3F6F9"/>
                    </a:solidFill>
                  </a:tcPr>
                </a:tc>
                <a:tc>
                  <a:txBody>
                    <a:bodyPr wrap="square"/>
                    <a:lstStyle/>
                    <a:p>
                      <a:r>
                        <a:rPr b="0" sz="1200" i="0">
                          <a:solidFill>
                            <a:srgbClr val="1A2233"/>
                          </a:solidFill>
                          <a:latin typeface="Calibri"/>
                        </a:rPr>
                        <a:t>Total liabilities and shareholder funds</a:t>
                      </a:r>
                    </a:p>
                  </a:txBody>
                  <a:tcPr marL="64008" marR="64008" marT="27432" marB="27432" anchor="ctr">
                    <a:solidFill>
                      <a:srgbClr val="F3F6F9"/>
                    </a:solidFill>
                  </a:tcPr>
                </a:tc>
                <a:tc>
                  <a:txBody>
                    <a:bodyPr wrap="square"/>
                    <a:lstStyle/>
                    <a:p>
                      <a:r>
                        <a:rPr b="0" sz="1200" i="0">
                          <a:solidFill>
                            <a:srgbClr val="1A2233"/>
                          </a:solidFill>
                          <a:latin typeface="Consolas"/>
                        </a:rPr>
                        <a:t>J: =SUM(J64:J68)</a:t>
                      </a:r>
                    </a:p>
                  </a:txBody>
                  <a:tcPr marL="64008" marR="64008" marT="27432" marB="27432" anchor="ctr">
                    <a:solidFill>
                      <a:srgbClr val="F3F6F9"/>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FinStat!J61: total assets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J61  (to CO61)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Total assets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=SUM(J58:J60)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Total assets = non-current assets + receivables + retained cash</a:t>
            </a:r>
          </a:p>
          <a:p>
            <a:pPr algn="l"/>
            <a:r>
              <a:rPr b="0" sz="1500" i="0">
                <a:solidFill>
                  <a:srgbClr val="1A2233"/>
                </a:solidFill>
                <a:latin typeface="Calibri"/>
              </a:rPr>
              <a:t>▪ SUM(J58:J60)</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J61:CO61,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J61:CO61,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J61 → CO61</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L61 = 104,912</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Assets side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FinStat!J69: total liabilities and shareholder funds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J69  (to CO69)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Total liabilities and shareholder funds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=SUM(J64:J68)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Total liabilities and shareholder funds = payables + senior debt + deferred tax + share capital + retained earnings</a:t>
            </a:r>
          </a:p>
          <a:p>
            <a:pPr algn="l"/>
            <a:r>
              <a:rPr b="0" sz="1500" i="0">
                <a:solidFill>
                  <a:srgbClr val="1A2233"/>
                </a:solidFill>
                <a:latin typeface="Calibri"/>
              </a:rPr>
              <a:t>▪ SUM(J64:J68)</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J69:CO69,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J69:CO69,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J69 → CO69</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L69 = 104,912</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Funding side: must equal total assets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 the three checks (rows 72 to 81)</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74</a:t>
                      </a:r>
                    </a:p>
                  </a:txBody>
                  <a:tcPr marL="64008" marR="64008" marT="27432" marB="27432" anchor="ctr">
                    <a:solidFill>
                      <a:srgbClr val="FFFFFF"/>
                    </a:solidFill>
                  </a:tcPr>
                </a:tc>
                <a:tc>
                  <a:txBody>
                    <a:bodyPr wrap="square"/>
                    <a:lstStyle/>
                    <a:p>
                      <a:r>
                        <a:rPr b="0" sz="1200" i="0">
                          <a:solidFill>
                            <a:srgbClr val="1A2233"/>
                          </a:solidFill>
                          <a:latin typeface="Calibri"/>
                        </a:rPr>
                        <a:t>FinStat - income statement check</a:t>
                      </a:r>
                    </a:p>
                  </a:txBody>
                  <a:tcPr marL="64008" marR="64008" marT="27432" marB="27432" anchor="ctr">
                    <a:solidFill>
                      <a:srgbClr val="FFFFFF"/>
                    </a:solidFill>
                  </a:tcPr>
                </a:tc>
                <a:tc>
                  <a:txBody>
                    <a:bodyPr wrap="square"/>
                    <a:lstStyle/>
                    <a:p>
                      <a:r>
                        <a:rPr b="0" sz="1200" i="0">
                          <a:solidFill>
                            <a:srgbClr val="1A2233"/>
                          </a:solidFill>
                          <a:latin typeface="Consolas"/>
                        </a:rPr>
                        <a:t>J: =IF(ABS(J25-J68)&gt;CHK_TOL,1,0)</a:t>
                      </a:r>
                    </a:p>
                  </a:txBody>
                  <a:tcPr marL="64008" marR="64008" marT="27432" marB="27432" anchor="ctr">
                    <a:solidFill>
                      <a:srgbClr val="FFFFFF"/>
                    </a:solidFill>
                  </a:tcPr>
                </a:tc>
              </a:tr>
              <a:tr h="329184">
                <a:tc>
                  <a:txBody>
                    <a:bodyPr wrap="square"/>
                    <a:lstStyle/>
                    <a:p>
                      <a:r>
                        <a:rPr b="1" sz="1200" i="0">
                          <a:solidFill>
                            <a:srgbClr val="1A2233"/>
                          </a:solidFill>
                          <a:latin typeface="Calibri"/>
                        </a:rPr>
                        <a:t>75</a:t>
                      </a:r>
                    </a:p>
                  </a:txBody>
                  <a:tcPr marL="64008" marR="64008" marT="27432" marB="27432" anchor="ctr">
                    <a:solidFill>
                      <a:srgbClr val="F3F6F9"/>
                    </a:solidFill>
                  </a:tcPr>
                </a:tc>
                <a:tc>
                  <a:txBody>
                    <a:bodyPr wrap="square"/>
                    <a:lstStyle/>
                    <a:p>
                      <a:r>
                        <a:rPr b="0" sz="1200" i="0">
                          <a:solidFill>
                            <a:srgbClr val="1A2233"/>
                          </a:solidFill>
                          <a:latin typeface="Calibri"/>
                        </a:rPr>
                        <a:t>FinStat - income statement difference</a:t>
                      </a:r>
                    </a:p>
                  </a:txBody>
                  <a:tcPr marL="64008" marR="64008" marT="27432" marB="27432" anchor="ctr">
                    <a:solidFill>
                      <a:srgbClr val="F3F6F9"/>
                    </a:solidFill>
                  </a:tcPr>
                </a:tc>
                <a:tc>
                  <a:txBody>
                    <a:bodyPr wrap="square"/>
                    <a:lstStyle/>
                    <a:p>
                      <a:r>
                        <a:rPr b="0" sz="1200" i="0">
                          <a:solidFill>
                            <a:srgbClr val="1A2233"/>
                          </a:solidFill>
                          <a:latin typeface="Consolas"/>
                        </a:rPr>
                        <a:t>J: =J25-J68</a:t>
                      </a:r>
                    </a:p>
                  </a:txBody>
                  <a:tcPr marL="64008" marR="64008" marT="27432" marB="27432" anchor="ctr">
                    <a:solidFill>
                      <a:srgbClr val="F3F6F9"/>
                    </a:solidFill>
                  </a:tcPr>
                </a:tc>
              </a:tr>
              <a:tr h="329184">
                <a:tc>
                  <a:txBody>
                    <a:bodyPr wrap="square"/>
                    <a:lstStyle/>
                    <a:p>
                      <a:r>
                        <a:rPr b="1" sz="1200" i="0">
                          <a:solidFill>
                            <a:srgbClr val="1A2233"/>
                          </a:solidFill>
                          <a:latin typeface="Calibri"/>
                        </a:rPr>
                        <a:t>77</a:t>
                      </a:r>
                    </a:p>
                  </a:txBody>
                  <a:tcPr marL="64008" marR="64008" marT="27432" marB="27432" anchor="ctr">
                    <a:solidFill>
                      <a:srgbClr val="FFFFFF"/>
                    </a:solidFill>
                  </a:tcPr>
                </a:tc>
                <a:tc>
                  <a:txBody>
                    <a:bodyPr wrap="square"/>
                    <a:lstStyle/>
                    <a:p>
                      <a:r>
                        <a:rPr b="0" sz="1200" i="0">
                          <a:solidFill>
                            <a:srgbClr val="1A2233"/>
                          </a:solidFill>
                          <a:latin typeface="Calibri"/>
                        </a:rPr>
                        <a:t>FinStat - cash flow check</a:t>
                      </a:r>
                    </a:p>
                  </a:txBody>
                  <a:tcPr marL="64008" marR="64008" marT="27432" marB="27432" anchor="ctr">
                    <a:solidFill>
                      <a:srgbClr val="FFFFFF"/>
                    </a:solidFill>
                  </a:tcPr>
                </a:tc>
                <a:tc>
                  <a:txBody>
                    <a:bodyPr wrap="square"/>
                    <a:lstStyle/>
                    <a:p>
                      <a:r>
                        <a:rPr b="0" sz="1200" i="0">
                          <a:solidFill>
                            <a:srgbClr val="1A2233"/>
                          </a:solidFill>
                          <a:latin typeface="Consolas"/>
                        </a:rPr>
                        <a:t>J: =IF(ABS(J60-J52)&gt;CHK_TOL,1,0)</a:t>
                      </a:r>
                    </a:p>
                  </a:txBody>
                  <a:tcPr marL="64008" marR="64008" marT="27432" marB="27432" anchor="ctr">
                    <a:solidFill>
                      <a:srgbClr val="FFFFFF"/>
                    </a:solidFill>
                  </a:tcPr>
                </a:tc>
              </a:tr>
              <a:tr h="329184">
                <a:tc>
                  <a:txBody>
                    <a:bodyPr wrap="square"/>
                    <a:lstStyle/>
                    <a:p>
                      <a:r>
                        <a:rPr b="1" sz="1200" i="0">
                          <a:solidFill>
                            <a:srgbClr val="1A2233"/>
                          </a:solidFill>
                          <a:latin typeface="Calibri"/>
                        </a:rPr>
                        <a:t>78</a:t>
                      </a:r>
                    </a:p>
                  </a:txBody>
                  <a:tcPr marL="64008" marR="64008" marT="27432" marB="27432" anchor="ctr">
                    <a:solidFill>
                      <a:srgbClr val="F3F6F9"/>
                    </a:solidFill>
                  </a:tcPr>
                </a:tc>
                <a:tc>
                  <a:txBody>
                    <a:bodyPr wrap="square"/>
                    <a:lstStyle/>
                    <a:p>
                      <a:r>
                        <a:rPr b="0" sz="1200" i="0">
                          <a:solidFill>
                            <a:srgbClr val="1A2233"/>
                          </a:solidFill>
                          <a:latin typeface="Calibri"/>
                        </a:rPr>
                        <a:t>FinStat - cash flow difference</a:t>
                      </a:r>
                    </a:p>
                  </a:txBody>
                  <a:tcPr marL="64008" marR="64008" marT="27432" marB="27432" anchor="ctr">
                    <a:solidFill>
                      <a:srgbClr val="F3F6F9"/>
                    </a:solidFill>
                  </a:tcPr>
                </a:tc>
                <a:tc>
                  <a:txBody>
                    <a:bodyPr wrap="square"/>
                    <a:lstStyle/>
                    <a:p>
                      <a:r>
                        <a:rPr b="0" sz="1200" i="0">
                          <a:solidFill>
                            <a:srgbClr val="1A2233"/>
                          </a:solidFill>
                          <a:latin typeface="Consolas"/>
                        </a:rPr>
                        <a:t>J: =J60-J52</a:t>
                      </a:r>
                    </a:p>
                  </a:txBody>
                  <a:tcPr marL="64008" marR="64008" marT="27432" marB="27432" anchor="ctr">
                    <a:solidFill>
                      <a:srgbClr val="F3F6F9"/>
                    </a:solidFill>
                  </a:tcPr>
                </a:tc>
              </a:tr>
              <a:tr h="329184">
                <a:tc>
                  <a:txBody>
                    <a:bodyPr wrap="square"/>
                    <a:lstStyle/>
                    <a:p>
                      <a:r>
                        <a:rPr b="1" sz="1200" i="0">
                          <a:solidFill>
                            <a:srgbClr val="1A2233"/>
                          </a:solidFill>
                          <a:latin typeface="Calibri"/>
                        </a:rPr>
                        <a:t>80</a:t>
                      </a:r>
                    </a:p>
                  </a:txBody>
                  <a:tcPr marL="64008" marR="64008" marT="27432" marB="27432" anchor="ctr">
                    <a:solidFill>
                      <a:srgbClr val="FFFFFF"/>
                    </a:solidFill>
                  </a:tcPr>
                </a:tc>
                <a:tc>
                  <a:txBody>
                    <a:bodyPr wrap="square"/>
                    <a:lstStyle/>
                    <a:p>
                      <a:r>
                        <a:rPr b="0" sz="1200" i="0">
                          <a:solidFill>
                            <a:srgbClr val="1A2233"/>
                          </a:solidFill>
                          <a:latin typeface="Calibri"/>
                        </a:rPr>
                        <a:t>FinStat - balance sheet check</a:t>
                      </a:r>
                    </a:p>
                  </a:txBody>
                  <a:tcPr marL="64008" marR="64008" marT="27432" marB="27432" anchor="ctr">
                    <a:solidFill>
                      <a:srgbClr val="FFFFFF"/>
                    </a:solidFill>
                  </a:tcPr>
                </a:tc>
                <a:tc>
                  <a:txBody>
                    <a:bodyPr wrap="square"/>
                    <a:lstStyle/>
                    <a:p>
                      <a:r>
                        <a:rPr b="0" sz="1200" i="0">
                          <a:solidFill>
                            <a:srgbClr val="1A2233"/>
                          </a:solidFill>
                          <a:latin typeface="Consolas"/>
                        </a:rPr>
                        <a:t>J: =IF(ABS(J61-J69)&gt;CHK_TOL,1,0)</a:t>
                      </a:r>
                    </a:p>
                  </a:txBody>
                  <a:tcPr marL="64008" marR="64008" marT="27432" marB="27432" anchor="ctr">
                    <a:solidFill>
                      <a:srgbClr val="FFFFFF"/>
                    </a:solidFill>
                  </a:tcPr>
                </a:tc>
              </a:tr>
              <a:tr h="329184">
                <a:tc>
                  <a:txBody>
                    <a:bodyPr wrap="square"/>
                    <a:lstStyle/>
                    <a:p>
                      <a:r>
                        <a:rPr b="1" sz="1200" i="0">
                          <a:solidFill>
                            <a:srgbClr val="1A2233"/>
                          </a:solidFill>
                          <a:latin typeface="Calibri"/>
                        </a:rPr>
                        <a:t>81</a:t>
                      </a:r>
                    </a:p>
                  </a:txBody>
                  <a:tcPr marL="64008" marR="64008" marT="27432" marB="27432" anchor="ctr">
                    <a:solidFill>
                      <a:srgbClr val="F3F6F9"/>
                    </a:solidFill>
                  </a:tcPr>
                </a:tc>
                <a:tc>
                  <a:txBody>
                    <a:bodyPr wrap="square"/>
                    <a:lstStyle/>
                    <a:p>
                      <a:r>
                        <a:rPr b="0" sz="1200" i="0">
                          <a:solidFill>
                            <a:srgbClr val="1A2233"/>
                          </a:solidFill>
                          <a:latin typeface="Calibri"/>
                        </a:rPr>
                        <a:t>FinStat - balance sheet difference</a:t>
                      </a:r>
                    </a:p>
                  </a:txBody>
                  <a:tcPr marL="64008" marR="64008" marT="27432" marB="27432" anchor="ctr">
                    <a:solidFill>
                      <a:srgbClr val="F3F6F9"/>
                    </a:solidFill>
                  </a:tcPr>
                </a:tc>
                <a:tc>
                  <a:txBody>
                    <a:bodyPr wrap="square"/>
                    <a:lstStyle/>
                    <a:p>
                      <a:r>
                        <a:rPr b="0" sz="1200" i="0">
                          <a:solidFill>
                            <a:srgbClr val="1A2233"/>
                          </a:solidFill>
                          <a:latin typeface="Consolas"/>
                        </a:rPr>
                        <a:t>J: =J61-J69</a:t>
                      </a:r>
                    </a:p>
                  </a:txBody>
                  <a:tcPr marL="64008" marR="64008" marT="27432" marB="27432" anchor="ctr">
                    <a:solidFill>
                      <a:srgbClr val="F3F6F9"/>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FinStat!J80: balance sheet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FinStat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J80  (to CO80)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FinStat - balance sheet check  (check)</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=IF(ABS(J61-J69)&gt;CHK_TOL,1,0)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400" i="0">
                <a:solidFill>
                  <a:srgbClr val="1A2233"/>
                </a:solidFill>
                <a:latin typeface="Calibri"/>
              </a:rPr>
              <a:t>▪ Flag 1 if the balance sheet does not balance (assets − liabilities beyond the tolerance 0.001)</a:t>
            </a:r>
          </a:p>
          <a:p>
            <a:pPr algn="l"/>
            <a:r>
              <a:rPr b="0" sz="1400" i="0">
                <a:solidFill>
                  <a:srgbClr val="1A2233"/>
                </a:solidFill>
                <a:latin typeface="Calibri"/>
              </a:rPr>
              <a:t>▪ ABS() ignores direction; CHK_TOL is the named tolerance</a:t>
            </a:r>
          </a:p>
          <a:p>
            <a:pPr algn="l"/>
            <a:r>
              <a:rPr b="0" sz="1400" i="0">
                <a:solidFill>
                  <a:srgbClr val="1A2233"/>
                </a:solidFill>
                <a:latin typeface="Calibri"/>
              </a:rPr>
              <a:t>▪ F80 sums the flags: 0 means all columns balance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CHK_TOL = InpC!F101 = 0.001</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J80:CO80,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J80:CO80,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J80 → CO80</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F80 = 0; H81 = 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One red cell tells you if anything upstream is wrong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DEBUGGING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When a check is not zero: where to look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813052"/>
        </p:xfrm>
        <a:graphic>
          <a:graphicData uri="http://schemas.openxmlformats.org/drawingml/2006/table">
            <a:tbl>
              <a:tblPr firstRow="1" bandRow="1">
                <a:tableStyleId>{5C22544A-7EE6-4342-B048-85BDC9FD1C3A}</a:tableStyleId>
              </a:tblPr>
              <a:tblGrid>
                <a:gridCol w="2743200"/>
                <a:gridCol w="4114800"/>
                <a:gridCol w="4206240"/>
              </a:tblGrid>
              <a:tr h="384048">
                <a:tc>
                  <a:txBody>
                    <a:bodyPr wrap="square"/>
                    <a:lstStyle/>
                    <a:p>
                      <a:r>
                        <a:rPr b="1" sz="1300" i="0">
                          <a:solidFill>
                            <a:srgbClr val="FFFFFF"/>
                          </a:solidFill>
                          <a:latin typeface="Calibri"/>
                        </a:rPr>
                        <a:t>Check</a:t>
                      </a:r>
                    </a:p>
                  </a:txBody>
                  <a:tcPr marL="64008" marR="64008" marT="27432" marB="27432" anchor="ctr">
                    <a:solidFill>
                      <a:srgbClr val="141B4D"/>
                    </a:solidFill>
                  </a:tcPr>
                </a:tc>
                <a:tc>
                  <a:txBody>
                    <a:bodyPr wrap="square"/>
                    <a:lstStyle/>
                    <a:p>
                      <a:r>
                        <a:rPr b="1" sz="1300" i="0">
                          <a:solidFill>
                            <a:srgbClr val="FFFFFF"/>
                          </a:solidFill>
                          <a:latin typeface="Calibri"/>
                        </a:rPr>
                        <a:t>Meaning</a:t>
                      </a:r>
                    </a:p>
                  </a:txBody>
                  <a:tcPr marL="64008" marR="64008" marT="27432" marB="27432" anchor="ctr">
                    <a:solidFill>
                      <a:srgbClr val="141B4D"/>
                    </a:solidFill>
                  </a:tcPr>
                </a:tc>
                <a:tc>
                  <a:txBody>
                    <a:bodyPr wrap="square"/>
                    <a:lstStyle/>
                    <a:p>
                      <a:r>
                        <a:rPr b="1" sz="1300" i="0">
                          <a:solidFill>
                            <a:srgbClr val="FFFFFF"/>
                          </a:solidFill>
                          <a:latin typeface="Calibri"/>
                        </a:rPr>
                        <a:t>Usual cause</a:t>
                      </a:r>
                    </a:p>
                  </a:txBody>
                  <a:tcPr marL="64008" marR="64008" marT="27432" marB="27432" anchor="ctr">
                    <a:solidFill>
                      <a:srgbClr val="141B4D"/>
                    </a:solidFill>
                  </a:tcPr>
                </a:tc>
              </a:tr>
              <a:tr h="522478">
                <a:tc>
                  <a:txBody>
                    <a:bodyPr wrap="square"/>
                    <a:lstStyle/>
                    <a:p>
                      <a:r>
                        <a:rPr b="1" sz="1300" i="0">
                          <a:solidFill>
                            <a:srgbClr val="1A2233"/>
                          </a:solidFill>
                          <a:latin typeface="Calibri"/>
                        </a:rPr>
                        <a:t>Income statement (74)</a:t>
                      </a:r>
                    </a:p>
                  </a:txBody>
                  <a:tcPr marL="64008" marR="64008" marT="27432" marB="27432" anchor="ctr">
                    <a:solidFill>
                      <a:srgbClr val="FFFFFF"/>
                    </a:solidFill>
                  </a:tcPr>
                </a:tc>
                <a:tc>
                  <a:txBody>
                    <a:bodyPr wrap="square"/>
                    <a:lstStyle/>
                    <a:p>
                      <a:r>
                        <a:rPr b="0" sz="1300" i="0">
                          <a:solidFill>
                            <a:srgbClr val="1A2233"/>
                          </a:solidFill>
                          <a:latin typeface="Calibri"/>
                        </a:rPr>
                        <a:t>Retained earnings per statement ≠ Equity sheet</a:t>
                      </a:r>
                    </a:p>
                  </a:txBody>
                  <a:tcPr marL="64008" marR="64008" marT="27432" marB="27432" anchor="ctr">
                    <a:solidFill>
                      <a:srgbClr val="FFFFFF"/>
                    </a:solidFill>
                  </a:tcPr>
                </a:tc>
                <a:tc>
                  <a:txBody>
                    <a:bodyPr wrap="square"/>
                    <a:lstStyle/>
                    <a:p>
                      <a:r>
                        <a:rPr b="0" sz="1300" i="0">
                          <a:solidFill>
                            <a:srgbClr val="1A2233"/>
                          </a:solidFill>
                          <a:latin typeface="Calibri"/>
                        </a:rPr>
                        <a:t>Dividend or profit link wrong</a:t>
                      </a:r>
                    </a:p>
                  </a:txBody>
                  <a:tcPr marL="64008" marR="64008" marT="27432" marB="27432" anchor="ctr">
                    <a:solidFill>
                      <a:srgbClr val="FFFFFF"/>
                    </a:solidFill>
                  </a:tcPr>
                </a:tc>
              </a:tr>
              <a:tr h="384048">
                <a:tc>
                  <a:txBody>
                    <a:bodyPr wrap="square"/>
                    <a:lstStyle/>
                    <a:p>
                      <a:r>
                        <a:rPr b="1" sz="1300" i="0">
                          <a:solidFill>
                            <a:srgbClr val="1A2233"/>
                          </a:solidFill>
                          <a:latin typeface="Calibri"/>
                        </a:rPr>
                        <a:t>Cash flow (77)</a:t>
                      </a:r>
                    </a:p>
                  </a:txBody>
                  <a:tcPr marL="64008" marR="64008" marT="27432" marB="27432" anchor="ctr">
                    <a:solidFill>
                      <a:srgbClr val="F3F6F9"/>
                    </a:solidFill>
                  </a:tcPr>
                </a:tc>
                <a:tc>
                  <a:txBody>
                    <a:bodyPr wrap="square"/>
                    <a:lstStyle/>
                    <a:p>
                      <a:r>
                        <a:rPr b="0" sz="1300" i="0">
                          <a:solidFill>
                            <a:srgbClr val="1A2233"/>
                          </a:solidFill>
                          <a:latin typeface="Calibri"/>
                        </a:rPr>
                        <a:t>Retained cash per statement ≠ Equity sheet</a:t>
                      </a:r>
                    </a:p>
                  </a:txBody>
                  <a:tcPr marL="64008" marR="64008" marT="27432" marB="27432" anchor="ctr">
                    <a:solidFill>
                      <a:srgbClr val="F3F6F9"/>
                    </a:solidFill>
                  </a:tcPr>
                </a:tc>
                <a:tc>
                  <a:txBody>
                    <a:bodyPr wrap="square"/>
                    <a:lstStyle/>
                    <a:p>
                      <a:r>
                        <a:rPr b="0" sz="1300" i="0">
                          <a:solidFill>
                            <a:srgbClr val="1A2233"/>
                          </a:solidFill>
                          <a:latin typeface="Calibri"/>
                        </a:rPr>
                        <a:t>A cash flow row missing from the cascade</a:t>
                      </a:r>
                    </a:p>
                  </a:txBody>
                  <a:tcPr marL="64008" marR="64008" marT="27432" marB="27432" anchor="ctr">
                    <a:solidFill>
                      <a:srgbClr val="F3F6F9"/>
                    </a:solidFill>
                  </a:tcPr>
                </a:tc>
              </a:tr>
              <a:tr h="522478">
                <a:tc>
                  <a:txBody>
                    <a:bodyPr wrap="square"/>
                    <a:lstStyle/>
                    <a:p>
                      <a:r>
                        <a:rPr b="1" sz="1300" i="0">
                          <a:solidFill>
                            <a:srgbClr val="1A2233"/>
                          </a:solidFill>
                          <a:latin typeface="Calibri"/>
                        </a:rPr>
                        <a:t>Balance sheet (80)</a:t>
                      </a:r>
                    </a:p>
                  </a:txBody>
                  <a:tcPr marL="64008" marR="64008" marT="27432" marB="27432" anchor="ctr">
                    <a:solidFill>
                      <a:srgbClr val="FFFFFF"/>
                    </a:solidFill>
                  </a:tcPr>
                </a:tc>
                <a:tc>
                  <a:txBody>
                    <a:bodyPr wrap="square"/>
                    <a:lstStyle/>
                    <a:p>
                      <a:r>
                        <a:rPr b="0" sz="1300" i="0">
                          <a:solidFill>
                            <a:srgbClr val="1A2233"/>
                          </a:solidFill>
                          <a:latin typeface="Calibri"/>
                        </a:rPr>
                        <a:t>Assets ≠ liabilities + equity</a:t>
                      </a:r>
                    </a:p>
                  </a:txBody>
                  <a:tcPr marL="64008" marR="64008" marT="27432" marB="27432" anchor="ctr">
                    <a:solidFill>
                      <a:srgbClr val="FFFFFF"/>
                    </a:solidFill>
                  </a:tcPr>
                </a:tc>
                <a:tc>
                  <a:txBody>
                    <a:bodyPr wrap="square"/>
                    <a:lstStyle/>
                    <a:p>
                      <a:r>
                        <a:rPr b="0" sz="1300" i="0">
                          <a:solidFill>
                            <a:srgbClr val="1A2233"/>
                          </a:solidFill>
                          <a:latin typeface="Calibri"/>
                        </a:rPr>
                        <a:t>A balance sheet row missing or wrong sign; opening balance not equal to funding</a:t>
                      </a:r>
                    </a:p>
                  </a:txBody>
                  <a:tcPr marL="64008" marR="64008" marT="27432" marB="27432" anchor="ctr">
                    <a:solidFill>
                      <a:srgbClr val="FFFFFF"/>
                    </a:solidFill>
                  </a:tcPr>
                </a:tc>
              </a:tr>
            </a:tbl>
          </a:graphicData>
        </a:graphic>
      </p:graphicFrame>
      <p:sp>
        <p:nvSpPr>
          <p:cNvPr id="12" name="Rectangle 11"/>
          <p:cNvSpPr/>
          <p:nvPr/>
        </p:nvSpPr>
        <p:spPr>
          <a:xfrm>
            <a:off x="548640" y="3931920"/>
            <a:ext cx="1106424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3192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3192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Method: find the first column where the check is 1, then compare the movements in that column against the balance sheet row by row.</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5.3c: Make FinStat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Complete FinStat and bring F74, F77 and F80 to zero.</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Link rows 9, 10, 13, 14, 17, 20 (income statement)</a:t>
            </a:r>
          </a:p>
          <a:p>
            <a:pPr>
              <a:spcAft>
                <a:spcPts val="300"/>
              </a:spcAft>
            </a:pPr>
            <a:r>
              <a:rPr b="0" sz="1500" i="0">
                <a:solidFill>
                  <a:srgbClr val="1A2233"/>
                </a:solidFill>
                <a:latin typeface="Calibri"/>
              </a:rPr>
              <a:t>2.  Link cash rows 30, 31, 34, 37, 40, 41, 44, 47</a:t>
            </a:r>
          </a:p>
          <a:p>
            <a:pPr>
              <a:spcAft>
                <a:spcPts val="300"/>
              </a:spcAft>
            </a:pPr>
            <a:r>
              <a:rPr b="0" sz="1500" i="0">
                <a:solidFill>
                  <a:srgbClr val="1A2233"/>
                </a:solidFill>
                <a:latin typeface="Calibri"/>
              </a:rPr>
              <a:t>3.  Link balance sheet rows 58 to 60 and 64 to 68</a:t>
            </a:r>
          </a:p>
          <a:p>
            <a:pPr>
              <a:spcAft>
                <a:spcPts val="300"/>
              </a:spcAft>
            </a:pPr>
            <a:r>
              <a:rPr b="0" sz="1500" i="0">
                <a:solidFill>
                  <a:srgbClr val="1A2233"/>
                </a:solidFill>
                <a:latin typeface="Calibri"/>
              </a:rPr>
              <a:t>4.  Add the check formulas</a:t>
            </a:r>
          </a:p>
          <a:p>
            <a:pPr>
              <a:spcAft>
                <a:spcPts val="300"/>
              </a:spcAft>
            </a:pPr>
            <a:r>
              <a:rPr b="0" sz="1500" i="0">
                <a:solidFill>
                  <a:srgbClr val="1A2233"/>
                </a:solidFill>
                <a:latin typeface="Calibri"/>
              </a:rPr>
              <a:t>5.  Compare H totals with the checkpoint table</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35 min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73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13.00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6: Scenarios and the Track sheet</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Store runs, compare them and keep a record.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store scenario results?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A model shows one scenario at a time. Lenders compare several: Base, Downside, Upside.</a:t>
            </a:r>
          </a:p>
          <a:p>
            <a:pPr>
              <a:spcAft>
                <a:spcPts val="700"/>
              </a:spcAft>
            </a:pPr>
            <a:r>
              <a:rPr b="0" sz="2000" i="0">
                <a:solidFill>
                  <a:srgbClr val="1A2233"/>
                </a:solidFill>
                <a:latin typeface="Calibri"/>
              </a:rPr>
              <a:t>▪ To compare, you must </a:t>
            </a:r>
            <a:r>
              <a:rPr b="1" sz="2000" i="0">
                <a:solidFill>
                  <a:srgbClr val="1A2233"/>
                </a:solidFill>
                <a:latin typeface="Calibri"/>
              </a:rPr>
              <a:t>freeze</a:t>
            </a:r>
            <a:r>
              <a:rPr b="0" sz="2000" i="0">
                <a:solidFill>
                  <a:srgbClr val="1A2233"/>
                </a:solidFill>
                <a:latin typeface="Calibri"/>
              </a:rPr>
              <a:t> each run's results as values (formulas would change when you switch scenario).</a:t>
            </a:r>
          </a:p>
          <a:p>
            <a:pPr>
              <a:spcAft>
                <a:spcPts val="700"/>
              </a:spcAft>
            </a:pPr>
            <a:r>
              <a:rPr b="0" sz="2000" i="0">
                <a:solidFill>
                  <a:srgbClr val="1A2233"/>
                </a:solidFill>
                <a:latin typeface="Calibri"/>
              </a:rPr>
              <a:t>▪ Track holds the live results in column H and frozen runs in columns M to O; K and L show the difference and % difference.</a:t>
            </a:r>
          </a:p>
          <a:p>
            <a:pPr>
              <a:spcAft>
                <a:spcPts val="700"/>
              </a:spcAft>
            </a:pPr>
            <a:r>
              <a:rPr b="0" sz="2000" i="0">
                <a:solidFill>
                  <a:srgbClr val="1A2233"/>
                </a:solidFill>
                <a:latin typeface="Calibri"/>
              </a:rPr>
              <a:t>▪ J flags (1) every row that changed; J2 counts them.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TRACK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Track contains in this file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058670"/>
        </p:xfrm>
        <a:graphic>
          <a:graphicData uri="http://schemas.openxmlformats.org/drawingml/2006/table">
            <a:tbl>
              <a:tblPr firstRow="1" bandRow="1">
                <a:tableStyleId>{5C22544A-7EE6-4342-B048-85BDC9FD1C3A}</a:tableStyleId>
              </a:tblPr>
              <a:tblGrid>
                <a:gridCol w="2011680"/>
                <a:gridCol w="2011680"/>
                <a:gridCol w="7040880"/>
              </a:tblGrid>
              <a:tr h="384048">
                <a:tc>
                  <a:txBody>
                    <a:bodyPr wrap="square"/>
                    <a:lstStyle/>
                    <a:p>
                      <a:r>
                        <a:rPr b="1" sz="1300" i="0">
                          <a:solidFill>
                            <a:srgbClr val="FFFFFF"/>
                          </a:solidFill>
                          <a:latin typeface="Calibri"/>
                        </a:rPr>
                        <a:t>Part</a:t>
                      </a:r>
                    </a:p>
                  </a:txBody>
                  <a:tcPr marL="64008" marR="64008" marT="27432" marB="27432" anchor="ctr">
                    <a:solidFill>
                      <a:srgbClr val="141B4D"/>
                    </a:solidFill>
                  </a:tcPr>
                </a:tc>
                <a:tc>
                  <a:txBody>
                    <a:bodyPr wrap="square"/>
                    <a:lstStyle/>
                    <a:p>
                      <a:r>
                        <a:rPr b="1" sz="1300" i="0">
                          <a:solidFill>
                            <a:srgbClr val="FFFFFF"/>
                          </a:solidFill>
                          <a:latin typeface="Calibri"/>
                        </a:rPr>
                        <a:t>Cells</a:t>
                      </a:r>
                    </a:p>
                  </a:txBody>
                  <a:tcPr marL="64008" marR="64008" marT="27432" marB="27432" anchor="ctr">
                    <a:solidFill>
                      <a:srgbClr val="141B4D"/>
                    </a:solidFill>
                  </a:tcPr>
                </a:tc>
                <a:tc>
                  <a:txBody>
                    <a:bodyPr wrap="square"/>
                    <a:lstStyle/>
                    <a:p>
                      <a:r>
                        <a:rPr b="1" sz="1300" i="0">
                          <a:solidFill>
                            <a:srgbClr val="FFFFFF"/>
                          </a:solidFill>
                          <a:latin typeface="Calibri"/>
                        </a:rPr>
                        <a:t>Content</a:t>
                      </a:r>
                    </a:p>
                  </a:txBody>
                  <a:tcPr marL="64008" marR="64008" marT="27432" marB="27432" anchor="ctr">
                    <a:solidFill>
                      <a:srgbClr val="141B4D"/>
                    </a:solidFill>
                  </a:tcPr>
                </a:tc>
              </a:tr>
              <a:tr h="384048">
                <a:tc>
                  <a:txBody>
                    <a:bodyPr wrap="square"/>
                    <a:lstStyle/>
                    <a:p>
                      <a:r>
                        <a:rPr b="1" sz="1300" i="0">
                          <a:solidFill>
                            <a:srgbClr val="1A2233"/>
                          </a:solidFill>
                          <a:latin typeface="Calibri"/>
                        </a:rPr>
                        <a:t>Live results</a:t>
                      </a:r>
                    </a:p>
                  </a:txBody>
                  <a:tcPr marL="64008" marR="64008" marT="27432" marB="27432" anchor="ctr">
                    <a:solidFill>
                      <a:srgbClr val="FFFFFF"/>
                    </a:solidFill>
                  </a:tcPr>
                </a:tc>
                <a:tc>
                  <a:txBody>
                    <a:bodyPr wrap="square"/>
                    <a:lstStyle/>
                    <a:p>
                      <a:r>
                        <a:rPr b="0" sz="1300" i="0">
                          <a:solidFill>
                            <a:srgbClr val="1A2233"/>
                          </a:solidFill>
                          <a:latin typeface="Calibri"/>
                        </a:rPr>
                        <a:t>H8:H69</a:t>
                      </a:r>
                    </a:p>
                  </a:txBody>
                  <a:tcPr marL="64008" marR="64008" marT="27432" marB="27432" anchor="ctr">
                    <a:solidFill>
                      <a:srgbClr val="FFFFFF"/>
                    </a:solidFill>
                  </a:tcPr>
                </a:tc>
                <a:tc>
                  <a:txBody>
                    <a:bodyPr wrap="square"/>
                    <a:lstStyle/>
                    <a:p>
                      <a:r>
                        <a:rPr b="0" sz="1300" i="0">
                          <a:solidFill>
                            <a:srgbClr val="1A2233"/>
                          </a:solidFill>
                          <a:latin typeface="Consolas"/>
                        </a:rPr>
                        <a:t>Built in the completed model: you rebuild it today</a:t>
                      </a:r>
                    </a:p>
                  </a:txBody>
                  <a:tcPr marL="64008" marR="64008" marT="27432" marB="27432" anchor="ctr">
                    <a:solidFill>
                      <a:srgbClr val="FFFFFF"/>
                    </a:solidFill>
                  </a:tcPr>
                </a:tc>
              </a:tr>
              <a:tr h="384048">
                <a:tc>
                  <a:txBody>
                    <a:bodyPr wrap="square"/>
                    <a:lstStyle/>
                    <a:p>
                      <a:r>
                        <a:rPr b="1" sz="1300" i="0">
                          <a:solidFill>
                            <a:srgbClr val="1A2233"/>
                          </a:solidFill>
                          <a:latin typeface="Calibri"/>
                        </a:rPr>
                        <a:t>Stored runs</a:t>
                      </a:r>
                    </a:p>
                  </a:txBody>
                  <a:tcPr marL="64008" marR="64008" marT="27432" marB="27432" anchor="ctr">
                    <a:solidFill>
                      <a:srgbClr val="F3F6F9"/>
                    </a:solidFill>
                  </a:tcPr>
                </a:tc>
                <a:tc>
                  <a:txBody>
                    <a:bodyPr wrap="square"/>
                    <a:lstStyle/>
                    <a:p>
                      <a:r>
                        <a:rPr b="0" sz="1300" i="0">
                          <a:solidFill>
                            <a:srgbClr val="1A2233"/>
                          </a:solidFill>
                          <a:latin typeface="Calibri"/>
                        </a:rPr>
                        <a:t>M8:O69</a:t>
                      </a:r>
                    </a:p>
                  </a:txBody>
                  <a:tcPr marL="64008" marR="64008" marT="27432" marB="27432" anchor="ctr">
                    <a:solidFill>
                      <a:srgbClr val="F3F6F9"/>
                    </a:solidFill>
                  </a:tcPr>
                </a:tc>
                <a:tc>
                  <a:txBody>
                    <a:bodyPr wrap="square"/>
                    <a:lstStyle/>
                    <a:p>
                      <a:r>
                        <a:rPr b="0" sz="1300" i="0">
                          <a:solidFill>
                            <a:srgbClr val="1A2233"/>
                          </a:solidFill>
                          <a:latin typeface="Consolas"/>
                        </a:rPr>
                        <a:t>Frozen values for three cases (M, N, O labelled in row 5)</a:t>
                      </a:r>
                    </a:p>
                  </a:txBody>
                  <a:tcPr marL="64008" marR="64008" marT="27432" marB="27432" anchor="ctr">
                    <a:solidFill>
                      <a:srgbClr val="F3F6F9"/>
                    </a:solidFill>
                  </a:tcPr>
                </a:tc>
              </a:tr>
              <a:tr h="522478">
                <a:tc>
                  <a:txBody>
                    <a:bodyPr wrap="square"/>
                    <a:lstStyle/>
                    <a:p>
                      <a:r>
                        <a:rPr b="1" sz="1300" i="0">
                          <a:solidFill>
                            <a:srgbClr val="1A2233"/>
                          </a:solidFill>
                          <a:latin typeface="Calibri"/>
                        </a:rPr>
                        <a:t>Comparison</a:t>
                      </a:r>
                    </a:p>
                  </a:txBody>
                  <a:tcPr marL="64008" marR="64008" marT="27432" marB="27432" anchor="ctr">
                    <a:solidFill>
                      <a:srgbClr val="FFFFFF"/>
                    </a:solidFill>
                  </a:tcPr>
                </a:tc>
                <a:tc>
                  <a:txBody>
                    <a:bodyPr wrap="square"/>
                    <a:lstStyle/>
                    <a:p>
                      <a:r>
                        <a:rPr b="0" sz="1300" i="0">
                          <a:solidFill>
                            <a:srgbClr val="1A2233"/>
                          </a:solidFill>
                          <a:latin typeface="Calibri"/>
                        </a:rPr>
                        <a:t>J, K, L</a:t>
                      </a:r>
                    </a:p>
                  </a:txBody>
                  <a:tcPr marL="64008" marR="64008" marT="27432" marB="27432" anchor="ctr">
                    <a:solidFill>
                      <a:srgbClr val="FFFFFF"/>
                    </a:solidFill>
                  </a:tcPr>
                </a:tc>
                <a:tc>
                  <a:txBody>
                    <a:bodyPr wrap="square"/>
                    <a:lstStyle/>
                    <a:p>
                      <a:r>
                        <a:rPr b="0" sz="1300" i="0">
                          <a:solidFill>
                            <a:srgbClr val="0B5E82"/>
                          </a:solidFill>
                          <a:latin typeface="Consolas"/>
                        </a:rPr>
                        <a:t>J8 =IF(ABS(K8)&gt;0.001,1,0)</a:t>
                      </a:r>
                      <a:r>
                        <a:rPr b="0" sz="1300" i="0">
                          <a:solidFill>
                            <a:srgbClr val="1A2233"/>
                          </a:solidFill>
                          <a:latin typeface="Consolas"/>
                        </a:rPr>
                        <a:t>; </a:t>
                      </a:r>
                      <a:r>
                        <a:rPr b="0" sz="1300" i="0">
                          <a:solidFill>
                            <a:srgbClr val="0B5E82"/>
                          </a:solidFill>
                          <a:latin typeface="Consolas"/>
                        </a:rPr>
                        <a:t>K8 =H8-INDEX(M8:O8,$J$5)</a:t>
                      </a:r>
                      <a:r>
                        <a:rPr b="0" sz="1300" i="0">
                          <a:solidFill>
                            <a:srgbClr val="1A2233"/>
                          </a:solidFill>
                          <a:latin typeface="Consolas"/>
                        </a:rPr>
                        <a:t>; </a:t>
                      </a:r>
                      <a:r>
                        <a:rPr b="0" sz="1300" i="0">
                          <a:solidFill>
                            <a:srgbClr val="0B5E82"/>
                          </a:solidFill>
                          <a:latin typeface="Consolas"/>
                        </a:rPr>
                        <a:t>L8</a:t>
                      </a:r>
                      <a:r>
                        <a:rPr b="0" sz="1300" i="0">
                          <a:solidFill>
                            <a:srgbClr val="1A2233"/>
                          </a:solidFill>
                          <a:latin typeface="Consolas"/>
                        </a:rPr>
                        <a:t> % difference</a:t>
                      </a:r>
                    </a:p>
                  </a:txBody>
                  <a:tcPr marL="64008" marR="64008" marT="27432" marB="27432" anchor="ctr">
                    <a:solidFill>
                      <a:srgbClr val="FFFFFF"/>
                    </a:solidFill>
                  </a:tcPr>
                </a:tc>
              </a:tr>
              <a:tr h="384048">
                <a:tc>
                  <a:txBody>
                    <a:bodyPr wrap="square"/>
                    <a:lstStyle/>
                    <a:p>
                      <a:r>
                        <a:rPr b="1" sz="1300" i="0">
                          <a:solidFill>
                            <a:srgbClr val="1A2233"/>
                          </a:solidFill>
                          <a:latin typeface="Calibri"/>
                        </a:rPr>
                        <a:t>Case selector</a:t>
                      </a:r>
                    </a:p>
                  </a:txBody>
                  <a:tcPr marL="64008" marR="64008" marT="27432" marB="27432" anchor="ctr">
                    <a:solidFill>
                      <a:srgbClr val="F3F6F9"/>
                    </a:solidFill>
                  </a:tcPr>
                </a:tc>
                <a:tc>
                  <a:txBody>
                    <a:bodyPr wrap="square"/>
                    <a:lstStyle/>
                    <a:p>
                      <a:r>
                        <a:rPr b="0" sz="1300" i="0">
                          <a:solidFill>
                            <a:srgbClr val="1A2233"/>
                          </a:solidFill>
                          <a:latin typeface="Calibri"/>
                        </a:rPr>
                        <a:t>H5, J5</a:t>
                      </a:r>
                    </a:p>
                  </a:txBody>
                  <a:tcPr marL="64008" marR="64008" marT="27432" marB="27432" anchor="ctr">
                    <a:solidFill>
                      <a:srgbClr val="F3F6F9"/>
                    </a:solidFill>
                  </a:tcPr>
                </a:tc>
                <a:tc>
                  <a:txBody>
                    <a:bodyPr wrap="square"/>
                    <a:lstStyle/>
                    <a:p>
                      <a:r>
                        <a:rPr b="0" sz="1300" i="0">
                          <a:solidFill>
                            <a:srgbClr val="1A2233"/>
                          </a:solidFill>
                          <a:latin typeface="Consolas"/>
                        </a:rPr>
                        <a:t>H5 names the case to compare with; </a:t>
                      </a:r>
                      <a:r>
                        <a:rPr b="0" sz="1300" i="0">
                          <a:solidFill>
                            <a:srgbClr val="0B5E82"/>
                          </a:solidFill>
                          <a:latin typeface="Consolas"/>
                        </a:rPr>
                        <a:t>J5 =MATCH($H$5,M5:O5,0)</a:t>
                      </a:r>
                    </a:p>
                  </a:txBody>
                  <a:tcPr marL="64008" marR="64008" marT="27432" marB="27432" anchor="ctr">
                    <a:solidFill>
                      <a:srgbClr val="F3F6F9"/>
                    </a:solidFill>
                  </a:tcPr>
                </a:tc>
              </a:tr>
            </a:tbl>
          </a:graphicData>
        </a:graphic>
      </p:graphicFrame>
      <p:sp>
        <p:nvSpPr>
          <p:cNvPr id="12" name="Rectangle 11"/>
          <p:cNvSpPr/>
          <p:nvPr/>
        </p:nvSpPr>
        <p:spPr>
          <a:xfrm>
            <a:off x="548640" y="4206240"/>
            <a:ext cx="11064240" cy="822960"/>
          </a:xfrm>
          <a:prstGeom prst="rect">
            <a:avLst/>
          </a:prstGeom>
          <a:solidFill>
            <a:srgbClr val="FCE8E6"/>
          </a:solidFill>
          <a:ln w="1524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06240"/>
            <a:ext cx="82296" cy="82296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0624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In the original file the names LIVE_RESULTS, TRACK_ACTIVE and TRK_COMMENT showed #REF! and column H was empty. The corrected model repairs the names and builds the links; check yours in Name Manager (Ctrl+F3).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TRACK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Track live links to build (column H and labels in 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4224528"/>
        </p:xfrm>
        <a:graphic>
          <a:graphicData uri="http://schemas.openxmlformats.org/drawingml/2006/table">
            <a:tbl>
              <a:tblPr firstRow="1" bandRow="1">
                <a:tableStyleId>{5C22544A-7EE6-4342-B048-85BDC9FD1C3A}</a:tableStyleId>
              </a:tblPr>
              <a:tblGrid>
                <a:gridCol w="1097280"/>
                <a:gridCol w="4754880"/>
                <a:gridCol w="5212080"/>
              </a:tblGrid>
              <a:tr h="301752">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Label (type in E)</a:t>
                      </a:r>
                    </a:p>
                  </a:txBody>
                  <a:tcPr marL="64008" marR="64008" marT="27432" marB="27432" anchor="ctr">
                    <a:solidFill>
                      <a:srgbClr val="141B4D"/>
                    </a:solidFill>
                  </a:tcPr>
                </a:tc>
                <a:tc>
                  <a:txBody>
                    <a:bodyPr wrap="square"/>
                    <a:lstStyle/>
                    <a:p>
                      <a:r>
                        <a:rPr b="1" sz="1200" i="0">
                          <a:solidFill>
                            <a:srgbClr val="FFFFFF"/>
                          </a:solidFill>
                          <a:latin typeface="Calibri"/>
                        </a:rPr>
                        <a:t>H formula</a:t>
                      </a:r>
                    </a:p>
                  </a:txBody>
                  <a:tcPr marL="64008" marR="64008" marT="27432" marB="27432" anchor="ctr">
                    <a:solidFill>
                      <a:srgbClr val="141B4D"/>
                    </a:solidFill>
                  </a:tcPr>
                </a:tc>
              </a:tr>
              <a:tr h="301752">
                <a:tc>
                  <a:txBody>
                    <a:bodyPr wrap="square"/>
                    <a:lstStyle/>
                    <a:p>
                      <a:r>
                        <a:rPr b="1" sz="1200" i="0">
                          <a:solidFill>
                            <a:srgbClr val="1A2233"/>
                          </a:solidFill>
                          <a:latin typeface="Calibri"/>
                        </a:rPr>
                        <a:t>8</a:t>
                      </a:r>
                    </a:p>
                  </a:txBody>
                  <a:tcPr marL="64008" marR="64008" marT="27432" marB="27432" anchor="ctr">
                    <a:solidFill>
                      <a:srgbClr val="FFFFFF"/>
                    </a:solidFill>
                  </a:tcPr>
                </a:tc>
                <a:tc>
                  <a:txBody>
                    <a:bodyPr wrap="square"/>
                    <a:lstStyle/>
                    <a:p>
                      <a:r>
                        <a:rPr b="0" sz="1200" i="0">
                          <a:solidFill>
                            <a:srgbClr val="1A2233"/>
                          </a:solidFill>
                          <a:latin typeface="Calibri"/>
                        </a:rPr>
                        <a:t>NPV of shareholder cash flow</a:t>
                      </a:r>
                    </a:p>
                  </a:txBody>
                  <a:tcPr marL="64008" marR="64008" marT="27432" marB="27432" anchor="ctr">
                    <a:solidFill>
                      <a:srgbClr val="FFFFFF"/>
                    </a:solidFill>
                  </a:tcPr>
                </a:tc>
                <a:tc>
                  <a:txBody>
                    <a:bodyPr wrap="square"/>
                    <a:lstStyle/>
                    <a:p>
                      <a:r>
                        <a:rPr b="0" sz="1200" i="0">
                          <a:solidFill>
                            <a:srgbClr val="1A2233"/>
                          </a:solidFill>
                          <a:latin typeface="Consolas"/>
                        </a:rPr>
                        <a:t>=Val!F39</a:t>
                      </a:r>
                    </a:p>
                  </a:txBody>
                  <a:tcPr marL="64008" marR="64008" marT="27432" marB="27432" anchor="ctr">
                    <a:solidFill>
                      <a:srgbClr val="FFFFFF"/>
                    </a:solidFill>
                  </a:tcPr>
                </a:tc>
              </a:tr>
              <a:tr h="301752">
                <a:tc>
                  <a:txBody>
                    <a:bodyPr wrap="square"/>
                    <a:lstStyle/>
                    <a:p>
                      <a:r>
                        <a:rPr b="1" sz="1200" i="0">
                          <a:solidFill>
                            <a:srgbClr val="1A2233"/>
                          </a:solidFill>
                          <a:latin typeface="Calibri"/>
                        </a:rPr>
                        <a:t>9</a:t>
                      </a:r>
                    </a:p>
                  </a:txBody>
                  <a:tcPr marL="64008" marR="64008" marT="27432" marB="27432" anchor="ctr">
                    <a:solidFill>
                      <a:srgbClr val="F3F6F9"/>
                    </a:solidFill>
                  </a:tcPr>
                </a:tc>
                <a:tc>
                  <a:txBody>
                    <a:bodyPr wrap="square"/>
                    <a:lstStyle/>
                    <a:p>
                      <a:r>
                        <a:rPr b="0" sz="1200" i="0">
                          <a:solidFill>
                            <a:srgbClr val="1A2233"/>
                          </a:solidFill>
                          <a:latin typeface="Calibri"/>
                        </a:rPr>
                        <a:t>Shareholder IRR</a:t>
                      </a:r>
                    </a:p>
                  </a:txBody>
                  <a:tcPr marL="64008" marR="64008" marT="27432" marB="27432" anchor="ctr">
                    <a:solidFill>
                      <a:srgbClr val="F3F6F9"/>
                    </a:solidFill>
                  </a:tcPr>
                </a:tc>
                <a:tc>
                  <a:txBody>
                    <a:bodyPr wrap="square"/>
                    <a:lstStyle/>
                    <a:p>
                      <a:r>
                        <a:rPr b="0" sz="1200" i="0">
                          <a:solidFill>
                            <a:srgbClr val="1A2233"/>
                          </a:solidFill>
                          <a:latin typeface="Consolas"/>
                        </a:rPr>
                        <a:t>=Val!F49</a:t>
                      </a:r>
                    </a:p>
                  </a:txBody>
                  <a:tcPr marL="64008" marR="64008" marT="27432" marB="27432" anchor="ctr">
                    <a:solidFill>
                      <a:srgbClr val="F3F6F9"/>
                    </a:solidFill>
                  </a:tcPr>
                </a:tc>
              </a:tr>
              <a:tr h="301752">
                <a:tc>
                  <a:txBody>
                    <a:bodyPr wrap="square"/>
                    <a:lstStyle/>
                    <a:p>
                      <a:r>
                        <a:rPr b="1" sz="1200" i="0">
                          <a:solidFill>
                            <a:srgbClr val="1A2233"/>
                          </a:solidFill>
                          <a:latin typeface="Calibri"/>
                        </a:rPr>
                        <a:t>10</a:t>
                      </a:r>
                    </a:p>
                  </a:txBody>
                  <a:tcPr marL="64008" marR="64008" marT="27432" marB="27432" anchor="ctr">
                    <a:solidFill>
                      <a:srgbClr val="FFFFFF"/>
                    </a:solidFill>
                  </a:tcPr>
                </a:tc>
                <a:tc>
                  <a:txBody>
                    <a:bodyPr wrap="square"/>
                    <a:lstStyle/>
                    <a:p>
                      <a:r>
                        <a:rPr b="0" sz="1200" i="0">
                          <a:solidFill>
                            <a:srgbClr val="1A2233"/>
                          </a:solidFill>
                          <a:latin typeface="Calibri"/>
                        </a:rPr>
                        <a:t>Total CFADS</a:t>
                      </a:r>
                    </a:p>
                  </a:txBody>
                  <a:tcPr marL="64008" marR="64008" marT="27432" marB="27432" anchor="ctr">
                    <a:solidFill>
                      <a:srgbClr val="FFFFFF"/>
                    </a:solidFill>
                  </a:tcPr>
                </a:tc>
                <a:tc>
                  <a:txBody>
                    <a:bodyPr wrap="square"/>
                    <a:lstStyle/>
                    <a:p>
                      <a:r>
                        <a:rPr b="0" sz="1200" i="0">
                          <a:solidFill>
                            <a:srgbClr val="1A2233"/>
                          </a:solidFill>
                          <a:latin typeface="Consolas"/>
                        </a:rPr>
                        <a:t>=FinStat!H38</a:t>
                      </a:r>
                    </a:p>
                  </a:txBody>
                  <a:tcPr marL="64008" marR="64008" marT="27432" marB="27432" anchor="ctr">
                    <a:solidFill>
                      <a:srgbClr val="FFFFFF"/>
                    </a:solidFill>
                  </a:tcPr>
                </a:tc>
              </a:tr>
              <a:tr h="301752">
                <a:tc>
                  <a:txBody>
                    <a:bodyPr wrap="square"/>
                    <a:lstStyle/>
                    <a:p>
                      <a:r>
                        <a:rPr b="1" sz="1200" i="0">
                          <a:solidFill>
                            <a:srgbClr val="1A2233"/>
                          </a:solidFill>
                          <a:latin typeface="Calibri"/>
                        </a:rPr>
                        <a:t>11</a:t>
                      </a:r>
                    </a:p>
                  </a:txBody>
                  <a:tcPr marL="64008" marR="64008" marT="27432" marB="27432" anchor="ctr">
                    <a:solidFill>
                      <a:srgbClr val="F3F6F9"/>
                    </a:solidFill>
                  </a:tcPr>
                </a:tc>
                <a:tc>
                  <a:txBody>
                    <a:bodyPr wrap="square"/>
                    <a:lstStyle/>
                    <a:p>
                      <a:r>
                        <a:rPr b="0" sz="1200" i="0">
                          <a:solidFill>
                            <a:srgbClr val="1A2233"/>
                          </a:solidFill>
                          <a:latin typeface="Calibri"/>
                        </a:rPr>
                        <a:t>Total dividends</a:t>
                      </a:r>
                    </a:p>
                  </a:txBody>
                  <a:tcPr marL="64008" marR="64008" marT="27432" marB="27432" anchor="ctr">
                    <a:solidFill>
                      <a:srgbClr val="F3F6F9"/>
                    </a:solidFill>
                  </a:tcPr>
                </a:tc>
                <a:tc>
                  <a:txBody>
                    <a:bodyPr wrap="square"/>
                    <a:lstStyle/>
                    <a:p>
                      <a:r>
                        <a:rPr b="0" sz="1200" i="0">
                          <a:solidFill>
                            <a:srgbClr val="1A2233"/>
                          </a:solidFill>
                          <a:latin typeface="Consolas"/>
                        </a:rPr>
                        <a:t>=Equity!H39</a:t>
                      </a:r>
                    </a:p>
                  </a:txBody>
                  <a:tcPr marL="64008" marR="64008" marT="27432" marB="27432" anchor="ctr">
                    <a:solidFill>
                      <a:srgbClr val="F3F6F9"/>
                    </a:solidFill>
                  </a:tcPr>
                </a:tc>
              </a:tr>
              <a:tr h="301752">
                <a:tc>
                  <a:txBody>
                    <a:bodyPr wrap="square"/>
                    <a:lstStyle/>
                    <a:p>
                      <a:r>
                        <a:rPr b="1" sz="1200" i="0">
                          <a:solidFill>
                            <a:srgbClr val="1A2233"/>
                          </a:solidFill>
                          <a:latin typeface="Calibri"/>
                        </a:rPr>
                        <a:t>12</a:t>
                      </a:r>
                    </a:p>
                  </a:txBody>
                  <a:tcPr marL="64008" marR="64008" marT="27432" marB="27432" anchor="ctr">
                    <a:solidFill>
                      <a:srgbClr val="FFFFFF"/>
                    </a:solidFill>
                  </a:tcPr>
                </a:tc>
                <a:tc>
                  <a:txBody>
                    <a:bodyPr wrap="square"/>
                    <a:lstStyle/>
                    <a:p>
                      <a:r>
                        <a:rPr b="0" sz="1200" i="0">
                          <a:solidFill>
                            <a:srgbClr val="1A2233"/>
                          </a:solidFill>
                          <a:latin typeface="Calibri"/>
                        </a:rPr>
                        <a:t>Initial senior debt</a:t>
                      </a:r>
                    </a:p>
                  </a:txBody>
                  <a:tcPr marL="64008" marR="64008" marT="27432" marB="27432" anchor="ctr">
                    <a:solidFill>
                      <a:srgbClr val="FFFFFF"/>
                    </a:solidFill>
                  </a:tcPr>
                </a:tc>
                <a:tc>
                  <a:txBody>
                    <a:bodyPr wrap="square"/>
                    <a:lstStyle/>
                    <a:p>
                      <a:r>
                        <a:rPr b="0" sz="1200" i="0">
                          <a:solidFill>
                            <a:srgbClr val="1A2233"/>
                          </a:solidFill>
                          <a:latin typeface="Consolas"/>
                        </a:rPr>
                        <a:t>=Debt!F11</a:t>
                      </a:r>
                    </a:p>
                  </a:txBody>
                  <a:tcPr marL="64008" marR="64008" marT="27432" marB="27432" anchor="ctr">
                    <a:solidFill>
                      <a:srgbClr val="FFFFFF"/>
                    </a:solidFill>
                  </a:tcPr>
                </a:tc>
              </a:tr>
              <a:tr h="301752">
                <a:tc>
                  <a:txBody>
                    <a:bodyPr wrap="square"/>
                    <a:lstStyle/>
                    <a:p>
                      <a:r>
                        <a:rPr b="1" sz="1200" i="0">
                          <a:solidFill>
                            <a:srgbClr val="1A2233"/>
                          </a:solidFill>
                          <a:latin typeface="Calibri"/>
                        </a:rPr>
                        <a:t>14</a:t>
                      </a:r>
                    </a:p>
                  </a:txBody>
                  <a:tcPr marL="64008" marR="64008" marT="27432" marB="27432" anchor="ctr">
                    <a:solidFill>
                      <a:srgbClr val="F3F6F9"/>
                    </a:solidFill>
                  </a:tcPr>
                </a:tc>
                <a:tc>
                  <a:txBody>
                    <a:bodyPr wrap="square"/>
                    <a:lstStyle/>
                    <a:p>
                      <a:r>
                        <a:rPr b="0" sz="1200" i="0">
                          <a:solidFill>
                            <a:srgbClr val="1A2233"/>
                          </a:solidFill>
                          <a:latin typeface="Calibri"/>
                        </a:rPr>
                        <a:t>Operating revenue</a:t>
                      </a:r>
                    </a:p>
                  </a:txBody>
                  <a:tcPr marL="64008" marR="64008" marT="27432" marB="27432" anchor="ctr">
                    <a:solidFill>
                      <a:srgbClr val="F3F6F9"/>
                    </a:solidFill>
                  </a:tcPr>
                </a:tc>
                <a:tc>
                  <a:txBody>
                    <a:bodyPr wrap="square"/>
                    <a:lstStyle/>
                    <a:p>
                      <a:r>
                        <a:rPr b="0" sz="1200" i="0">
                          <a:solidFill>
                            <a:srgbClr val="1A2233"/>
                          </a:solidFill>
                          <a:latin typeface="Consolas"/>
                        </a:rPr>
                        <a:t>=FinStat!H9</a:t>
                      </a:r>
                    </a:p>
                  </a:txBody>
                  <a:tcPr marL="64008" marR="64008" marT="27432" marB="27432" anchor="ctr">
                    <a:solidFill>
                      <a:srgbClr val="F3F6F9"/>
                    </a:solidFill>
                  </a:tcPr>
                </a:tc>
              </a:tr>
              <a:tr h="301752">
                <a:tc>
                  <a:txBody>
                    <a:bodyPr wrap="square"/>
                    <a:lstStyle/>
                    <a:p>
                      <a:r>
                        <a:rPr b="1"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alibri"/>
                        </a:rPr>
                        <a:t>Operating cost</a:t>
                      </a:r>
                    </a:p>
                  </a:txBody>
                  <a:tcPr marL="64008" marR="64008" marT="27432" marB="27432" anchor="ctr">
                    <a:solidFill>
                      <a:srgbClr val="FFFFFF"/>
                    </a:solidFill>
                  </a:tcPr>
                </a:tc>
                <a:tc>
                  <a:txBody>
                    <a:bodyPr wrap="square"/>
                    <a:lstStyle/>
                    <a:p>
                      <a:r>
                        <a:rPr b="0" sz="1200" i="0">
                          <a:solidFill>
                            <a:srgbClr val="1A2233"/>
                          </a:solidFill>
                          <a:latin typeface="Consolas"/>
                        </a:rPr>
                        <a:t>=FinStat!H10</a:t>
                      </a:r>
                    </a:p>
                  </a:txBody>
                  <a:tcPr marL="64008" marR="64008" marT="27432" marB="27432" anchor="ctr">
                    <a:solidFill>
                      <a:srgbClr val="FFFFFF"/>
                    </a:solidFill>
                  </a:tcPr>
                </a:tc>
              </a:tr>
              <a:tr h="301752">
                <a:tc>
                  <a:txBody>
                    <a:bodyPr wrap="square"/>
                    <a:lstStyle/>
                    <a:p>
                      <a:r>
                        <a:rPr b="1"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alibri"/>
                        </a:rPr>
                        <a:t>EBITDA</a:t>
                      </a:r>
                    </a:p>
                  </a:txBody>
                  <a:tcPr marL="64008" marR="64008" marT="27432" marB="27432" anchor="ctr">
                    <a:solidFill>
                      <a:srgbClr val="F3F6F9"/>
                    </a:solidFill>
                  </a:tcPr>
                </a:tc>
                <a:tc>
                  <a:txBody>
                    <a:bodyPr wrap="square"/>
                    <a:lstStyle/>
                    <a:p>
                      <a:r>
                        <a:rPr b="0" sz="1200" i="0">
                          <a:solidFill>
                            <a:srgbClr val="1A2233"/>
                          </a:solidFill>
                          <a:latin typeface="Consolas"/>
                        </a:rPr>
                        <a:t>=FinStat!H11</a:t>
                      </a:r>
                    </a:p>
                  </a:txBody>
                  <a:tcPr marL="64008" marR="64008" marT="27432" marB="27432" anchor="ctr">
                    <a:solidFill>
                      <a:srgbClr val="F3F6F9"/>
                    </a:solidFill>
                  </a:tcPr>
                </a:tc>
              </a:tr>
              <a:tr h="301752">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Depreciation</a:t>
                      </a:r>
                    </a:p>
                  </a:txBody>
                  <a:tcPr marL="64008" marR="64008" marT="27432" marB="27432" anchor="ctr">
                    <a:solidFill>
                      <a:srgbClr val="FFFFFF"/>
                    </a:solidFill>
                  </a:tcPr>
                </a:tc>
                <a:tc>
                  <a:txBody>
                    <a:bodyPr wrap="square"/>
                    <a:lstStyle/>
                    <a:p>
                      <a:r>
                        <a:rPr b="0" sz="1200" i="0">
                          <a:solidFill>
                            <a:srgbClr val="1A2233"/>
                          </a:solidFill>
                          <a:latin typeface="Consolas"/>
                        </a:rPr>
                        <a:t>=FinStat!H13</a:t>
                      </a:r>
                    </a:p>
                  </a:txBody>
                  <a:tcPr marL="64008" marR="64008" marT="27432" marB="27432" anchor="ctr">
                    <a:solidFill>
                      <a:srgbClr val="FFFFFF"/>
                    </a:solidFill>
                  </a:tcPr>
                </a:tc>
              </a:tr>
              <a:tr h="301752">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Interest</a:t>
                      </a:r>
                    </a:p>
                  </a:txBody>
                  <a:tcPr marL="64008" marR="64008" marT="27432" marB="27432" anchor="ctr">
                    <a:solidFill>
                      <a:srgbClr val="F3F6F9"/>
                    </a:solidFill>
                  </a:tcPr>
                </a:tc>
                <a:tc>
                  <a:txBody>
                    <a:bodyPr wrap="square"/>
                    <a:lstStyle/>
                    <a:p>
                      <a:r>
                        <a:rPr b="0" sz="1200" i="0">
                          <a:solidFill>
                            <a:srgbClr val="1A2233"/>
                          </a:solidFill>
                          <a:latin typeface="Consolas"/>
                        </a:rPr>
                        <a:t>=FinStat!H14</a:t>
                      </a:r>
                    </a:p>
                  </a:txBody>
                  <a:tcPr marL="64008" marR="64008" marT="27432" marB="27432" anchor="ctr">
                    <a:solidFill>
                      <a:srgbClr val="F3F6F9"/>
                    </a:solidFill>
                  </a:tcPr>
                </a:tc>
              </a:tr>
              <a:tr h="301752">
                <a:tc>
                  <a:txBody>
                    <a:bodyPr wrap="square"/>
                    <a:lstStyle/>
                    <a:p>
                      <a:r>
                        <a:rPr b="1" sz="1200" i="0">
                          <a:solidFill>
                            <a:srgbClr val="1A2233"/>
                          </a:solidFill>
                          <a:latin typeface="Calibri"/>
                        </a:rPr>
                        <a:t>19</a:t>
                      </a:r>
                    </a:p>
                  </a:txBody>
                  <a:tcPr marL="64008" marR="64008" marT="27432" marB="27432" anchor="ctr">
                    <a:solidFill>
                      <a:srgbClr val="FFFFFF"/>
                    </a:solidFill>
                  </a:tcPr>
                </a:tc>
                <a:tc>
                  <a:txBody>
                    <a:bodyPr wrap="square"/>
                    <a:lstStyle/>
                    <a:p>
                      <a:r>
                        <a:rPr b="0" sz="1200" i="0">
                          <a:solidFill>
                            <a:srgbClr val="1A2233"/>
                          </a:solidFill>
                          <a:latin typeface="Calibri"/>
                        </a:rPr>
                        <a:t>Profit before tax</a:t>
                      </a:r>
                    </a:p>
                  </a:txBody>
                  <a:tcPr marL="64008" marR="64008" marT="27432" marB="27432" anchor="ctr">
                    <a:solidFill>
                      <a:srgbClr val="FFFFFF"/>
                    </a:solidFill>
                  </a:tcPr>
                </a:tc>
                <a:tc>
                  <a:txBody>
                    <a:bodyPr wrap="square"/>
                    <a:lstStyle/>
                    <a:p>
                      <a:r>
                        <a:rPr b="0" sz="1200" i="0">
                          <a:solidFill>
                            <a:srgbClr val="1A2233"/>
                          </a:solidFill>
                          <a:latin typeface="Consolas"/>
                        </a:rPr>
                        <a:t>=FinStat!H15</a:t>
                      </a:r>
                    </a:p>
                  </a:txBody>
                  <a:tcPr marL="64008" marR="64008" marT="27432" marB="27432" anchor="ctr">
                    <a:solidFill>
                      <a:srgbClr val="FFFFFF"/>
                    </a:solidFill>
                  </a:tcPr>
                </a:tc>
              </a:tr>
              <a:tr h="301752">
                <a:tc>
                  <a:txBody>
                    <a:bodyPr wrap="square"/>
                    <a:lstStyle/>
                    <a:p>
                      <a:r>
                        <a:rPr b="1" sz="1200" i="0">
                          <a:solidFill>
                            <a:srgbClr val="1A2233"/>
                          </a:solidFill>
                          <a:latin typeface="Calibri"/>
                        </a:rPr>
                        <a:t>20</a:t>
                      </a:r>
                    </a:p>
                  </a:txBody>
                  <a:tcPr marL="64008" marR="64008" marT="27432" marB="27432" anchor="ctr">
                    <a:solidFill>
                      <a:srgbClr val="F3F6F9"/>
                    </a:solidFill>
                  </a:tcPr>
                </a:tc>
                <a:tc>
                  <a:txBody>
                    <a:bodyPr wrap="square"/>
                    <a:lstStyle/>
                    <a:p>
                      <a:r>
                        <a:rPr b="0" sz="1200" i="0">
                          <a:solidFill>
                            <a:srgbClr val="1A2233"/>
                          </a:solidFill>
                          <a:latin typeface="Calibri"/>
                        </a:rPr>
                        <a:t>Tax expense</a:t>
                      </a:r>
                    </a:p>
                  </a:txBody>
                  <a:tcPr marL="64008" marR="64008" marT="27432" marB="27432" anchor="ctr">
                    <a:solidFill>
                      <a:srgbClr val="F3F6F9"/>
                    </a:solidFill>
                  </a:tcPr>
                </a:tc>
                <a:tc>
                  <a:txBody>
                    <a:bodyPr wrap="square"/>
                    <a:lstStyle/>
                    <a:p>
                      <a:r>
                        <a:rPr b="0" sz="1200" i="0">
                          <a:solidFill>
                            <a:srgbClr val="1A2233"/>
                          </a:solidFill>
                          <a:latin typeface="Consolas"/>
                        </a:rPr>
                        <a:t>=FinStat!H17</a:t>
                      </a:r>
                    </a:p>
                  </a:txBody>
                  <a:tcPr marL="64008" marR="64008" marT="27432" marB="27432" anchor="ctr">
                    <a:solidFill>
                      <a:srgbClr val="F3F6F9"/>
                    </a:solidFill>
                  </a:tcPr>
                </a:tc>
              </a:tr>
              <a:tr h="301752">
                <a:tc>
                  <a:txBody>
                    <a:bodyPr wrap="square"/>
                    <a:lstStyle/>
                    <a:p>
                      <a:r>
                        <a:rPr b="1" sz="1200" i="0">
                          <a:solidFill>
                            <a:srgbClr val="1A2233"/>
                          </a:solidFill>
                          <a:latin typeface="Calibri"/>
                        </a:rPr>
                        <a:t>21</a:t>
                      </a:r>
                    </a:p>
                  </a:txBody>
                  <a:tcPr marL="64008" marR="64008" marT="27432" marB="27432" anchor="ctr">
                    <a:solidFill>
                      <a:srgbClr val="FFFFFF"/>
                    </a:solidFill>
                  </a:tcPr>
                </a:tc>
                <a:tc>
                  <a:txBody>
                    <a:bodyPr wrap="square"/>
                    <a:lstStyle/>
                    <a:p>
                      <a:r>
                        <a:rPr b="0" sz="1200" i="0">
                          <a:solidFill>
                            <a:srgbClr val="1A2233"/>
                          </a:solidFill>
                          <a:latin typeface="Calibri"/>
                        </a:rPr>
                        <a:t>Profit after tax</a:t>
                      </a:r>
                    </a:p>
                  </a:txBody>
                  <a:tcPr marL="64008" marR="64008" marT="27432" marB="27432" anchor="ctr">
                    <a:solidFill>
                      <a:srgbClr val="FFFFFF"/>
                    </a:solidFill>
                  </a:tcPr>
                </a:tc>
                <a:tc>
                  <a:txBody>
                    <a:bodyPr wrap="square"/>
                    <a:lstStyle/>
                    <a:p>
                      <a:r>
                        <a:rPr b="0" sz="1200" i="0">
                          <a:solidFill>
                            <a:srgbClr val="1A2233"/>
                          </a:solidFill>
                          <a:latin typeface="Consolas"/>
                        </a:rPr>
                        <a:t>=FinStat!H18</a:t>
                      </a:r>
                    </a:p>
                  </a:txBody>
                  <a:tcPr marL="64008" marR="64008" marT="27432" marB="27432" anchor="ctr">
                    <a:solidFill>
                      <a:srgbClr val="FFFFFF"/>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TRACK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Store a scenario run: step by step</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Set the scenario on InpC!F3 (e.g. Base). Press F9 (Fn+F9 on Mac) and confirm FinStat checks = 0.</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Select the live column: </a:t>
            </a:r>
            <a:r>
              <a:rPr b="0" sz="1600" i="0">
                <a:solidFill>
                  <a:srgbClr val="0B5E82"/>
                </a:solidFill>
                <a:latin typeface="Consolas"/>
              </a:rPr>
              <a:t>Ctrl+G</a:t>
            </a:r>
            <a:r>
              <a:rPr b="0" sz="1600" i="0">
                <a:solidFill>
                  <a:srgbClr val="1A2233"/>
                </a:solidFill>
                <a:latin typeface="Calibri"/>
              </a:rPr>
              <a:t>, type </a:t>
            </a:r>
            <a:r>
              <a:rPr b="0" sz="1600" i="0">
                <a:solidFill>
                  <a:srgbClr val="0B5E82"/>
                </a:solidFill>
                <a:latin typeface="Consolas"/>
              </a:rPr>
              <a:t>H8:H69</a:t>
            </a:r>
            <a:r>
              <a:rPr b="0" sz="1600" i="0">
                <a:solidFill>
                  <a:srgbClr val="1A2233"/>
                </a:solidFill>
                <a:latin typeface="Calibri"/>
              </a:rPr>
              <a:t>, Enter, </a:t>
            </a:r>
            <a:r>
              <a:rPr b="0" sz="1600" i="0">
                <a:solidFill>
                  <a:srgbClr val="0B5E82"/>
                </a:solidFill>
                <a:latin typeface="Consolas"/>
              </a:rPr>
              <a:t>Ctrl+C</a:t>
            </a:r>
            <a:r>
              <a:rPr b="0" sz="1600" i="0">
                <a:solidFill>
                  <a:srgbClr val="1A2233"/>
                </a:solidFill>
                <a:latin typeface="Calibri"/>
              </a:rPr>
              <a:t> (Cmd+C).</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Select the first stored column: </a:t>
            </a:r>
            <a:r>
              <a:rPr b="0" sz="1600" i="0">
                <a:solidFill>
                  <a:srgbClr val="0B5E82"/>
                </a:solidFill>
                <a:latin typeface="Consolas"/>
              </a:rPr>
              <a:t>Ctrl+G</a:t>
            </a:r>
            <a:r>
              <a:rPr b="0" sz="1600" i="0">
                <a:solidFill>
                  <a:srgbClr val="1A2233"/>
                </a:solidFill>
                <a:latin typeface="Calibri"/>
              </a:rPr>
              <a:t>, </a:t>
            </a:r>
            <a:r>
              <a:rPr b="0" sz="1600" i="0">
                <a:solidFill>
                  <a:srgbClr val="0B5E82"/>
                </a:solidFill>
                <a:latin typeface="Consolas"/>
              </a:rPr>
              <a:t>M8</a:t>
            </a:r>
            <a:r>
              <a:rPr b="0" sz="1600" i="0">
                <a:solidFill>
                  <a:srgbClr val="1A2233"/>
                </a:solidFill>
                <a:latin typeface="Calibri"/>
              </a:rPr>
              <a:t>, Enter.</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Paste values only: </a:t>
            </a:r>
            <a:r>
              <a:rPr b="0" sz="1600" i="0">
                <a:solidFill>
                  <a:srgbClr val="0B5E82"/>
                </a:solidFill>
                <a:latin typeface="Consolas"/>
              </a:rPr>
              <a:t>Ctrl+Alt+V</a:t>
            </a:r>
            <a:r>
              <a:rPr b="0" sz="1600" i="0">
                <a:solidFill>
                  <a:srgbClr val="1A2233"/>
                </a:solidFill>
                <a:latin typeface="Calibri"/>
              </a:rPr>
              <a:t> then </a:t>
            </a:r>
            <a:r>
              <a:rPr b="0" sz="1600" i="0">
                <a:solidFill>
                  <a:srgbClr val="0B5E82"/>
                </a:solidFill>
                <a:latin typeface="Consolas"/>
              </a:rPr>
              <a:t>V</a:t>
            </a:r>
            <a:r>
              <a:rPr b="0" sz="1600" i="0">
                <a:solidFill>
                  <a:srgbClr val="1A2233"/>
                </a:solidFill>
                <a:latin typeface="Calibri"/>
              </a:rPr>
              <a:t> then Enter (Windows) / </a:t>
            </a:r>
            <a:r>
              <a:rPr b="0" sz="1600" i="0">
                <a:solidFill>
                  <a:srgbClr val="0B5E82"/>
                </a:solidFill>
                <a:latin typeface="Consolas"/>
              </a:rPr>
              <a:t>Cmd+Ctrl+V</a:t>
            </a:r>
            <a:r>
              <a:rPr b="0" sz="1600" i="0">
                <a:solidFill>
                  <a:srgbClr val="1A2233"/>
                </a:solidFill>
                <a:latin typeface="Calibri"/>
              </a:rPr>
              <a:t> then Values (Mac); or </a:t>
            </a:r>
            <a:r>
              <a:rPr b="0" sz="1600" i="0">
                <a:solidFill>
                  <a:srgbClr val="0B5E82"/>
                </a:solidFill>
                <a:latin typeface="Consolas"/>
              </a:rPr>
              <a:t>Ctrl+Shift+V</a:t>
            </a:r>
            <a:r>
              <a:rPr b="0" sz="1600" i="0">
                <a:solidFill>
                  <a:srgbClr val="1A2233"/>
                </a:solidFill>
                <a:latin typeface="Calibri"/>
              </a:rPr>
              <a:t> / </a:t>
            </a:r>
            <a:r>
              <a:rPr b="0" sz="1600" i="0">
                <a:solidFill>
                  <a:srgbClr val="0B5E82"/>
                </a:solidFill>
                <a:latin typeface="Consolas"/>
              </a:rPr>
              <a:t>Cmd+Shift+V</a:t>
            </a:r>
            <a:r>
              <a:rPr b="0" sz="1600" i="0">
                <a:solidFill>
                  <a:srgbClr val="1A2233"/>
                </a:solidFill>
                <a:latin typeface="Calibri"/>
              </a:rPr>
              <a:t> in newer builds.</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Type the case name in </a:t>
            </a:r>
            <a:r>
              <a:rPr b="0" sz="1600" i="0">
                <a:solidFill>
                  <a:srgbClr val="0B5E82"/>
                </a:solidFill>
                <a:latin typeface="Consolas"/>
              </a:rPr>
              <a:t>M5</a:t>
            </a:r>
            <a:r>
              <a:rPr b="0" sz="1600" i="0">
                <a:solidFill>
                  <a:srgbClr val="1A2233"/>
                </a:solidFill>
                <a:latin typeface="Calibri"/>
              </a:rPr>
              <a:t>. Repeat for N (Downside) and O (Upside).</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Choose the comparison case in </a:t>
            </a:r>
            <a:r>
              <a:rPr b="0" sz="1600" i="0">
                <a:solidFill>
                  <a:srgbClr val="0B5E82"/>
                </a:solidFill>
                <a:latin typeface="Consolas"/>
              </a:rPr>
              <a:t>H5</a:t>
            </a:r>
            <a:r>
              <a:rPr b="0" sz="1600" i="0">
                <a:solidFill>
                  <a:srgbClr val="1A2233"/>
                </a:solidFill>
                <a:latin typeface="Calibri"/>
              </a:rPr>
              <a:t>; read the differences in K and L, flags in J.</a:t>
            </a:r>
          </a:p>
        </p:txBody>
      </p:sp>
      <p:sp>
        <p:nvSpPr>
          <p:cNvPr id="23" name="Rectangle 22"/>
          <p:cNvSpPr/>
          <p:nvPr/>
        </p:nvSpPr>
        <p:spPr>
          <a:xfrm>
            <a:off x="548640" y="5486400"/>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Always paste VALUES, never formulas: a pasted formula would change when you switch scenarios.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5.4: Run and compare three scenarios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Create the Track links, store Base, Downside and Upside, and compare.</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Type labels and H links for rows 8 to 21</a:t>
            </a:r>
          </a:p>
          <a:p>
            <a:pPr>
              <a:spcAft>
                <a:spcPts val="300"/>
              </a:spcAft>
            </a:pPr>
            <a:r>
              <a:rPr b="0" sz="1500" i="0">
                <a:solidFill>
                  <a:srgbClr val="1A2233"/>
                </a:solidFill>
                <a:latin typeface="Calibri"/>
              </a:rPr>
              <a:t>2.  Run Base (InpC!F3 = Base) and paste values into M</a:t>
            </a:r>
          </a:p>
          <a:p>
            <a:pPr>
              <a:spcAft>
                <a:spcPts val="300"/>
              </a:spcAft>
            </a:pPr>
            <a:r>
              <a:rPr b="0" sz="1500" i="0">
                <a:solidFill>
                  <a:srgbClr val="1A2233"/>
                </a:solidFill>
                <a:latin typeface="Calibri"/>
              </a:rPr>
              <a:t>3.  Run Downside → N; Upside → O</a:t>
            </a:r>
          </a:p>
          <a:p>
            <a:pPr>
              <a:spcAft>
                <a:spcPts val="300"/>
              </a:spcAft>
            </a:pPr>
            <a:r>
              <a:rPr b="0" sz="1500" i="0">
                <a:solidFill>
                  <a:srgbClr val="1A2233"/>
                </a:solidFill>
                <a:latin typeface="Calibri"/>
              </a:rPr>
              <a:t>4.  Set H5 to Base and read K and L for the Upside run</a:t>
            </a:r>
          </a:p>
          <a:p>
            <a:pPr>
              <a:spcAft>
                <a:spcPts val="300"/>
              </a:spcAft>
            </a:pPr>
            <a:r>
              <a:rPr b="0" sz="1500" i="0">
                <a:solidFill>
                  <a:srgbClr val="1A2233"/>
                </a:solidFill>
                <a:latin typeface="Calibri"/>
              </a:rPr>
              <a:t>5.  Which scenario fails the 25.25% shareholder hurdle, and why?</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79</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14.45 – 15.45</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7: Sensitivity and ratio analysis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One input at a time, then ratios lenders watch.</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Sensitivity versus scenario</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A scenario changes many inputs together to tell a story (recession, boom). A sensitivity changes one input at a time to find which assumptions matter most.</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Fare −10% (all else equal): shareholder IRR falls from 33.7% to 22.9% and NPV falls from 17,609 to -5,114</a:t>
            </a:r>
          </a:p>
          <a:p>
            <a:pPr algn="l"/>
            <a:r>
              <a:rPr b="0" sz="1600" i="0">
                <a:solidFill>
                  <a:srgbClr val="1A2233"/>
                </a:solidFill>
                <a:latin typeface="Calibri"/>
              </a:rPr>
              <a:t>Interest rate +1 point: IRR falls from 33.7% to 33.1%: much smaller</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model is far more exposed to traffic and fares than to interest rates: lenders and sponsors should focus on demand.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RESULTS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Sensitivity results: shareholder NPV, IRR and total EBITDA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4023360"/>
                <a:gridCol w="2560320"/>
                <a:gridCol w="1828800"/>
                <a:gridCol w="2651760"/>
              </a:tblGrid>
              <a:tr h="329184">
                <a:tc>
                  <a:txBody>
                    <a:bodyPr wrap="square"/>
                    <a:lstStyle/>
                    <a:p>
                      <a:r>
                        <a:rPr b="1" sz="1300" i="0">
                          <a:solidFill>
                            <a:srgbClr val="FFFFFF"/>
                          </a:solidFill>
                          <a:latin typeface="Calibri"/>
                        </a:rPr>
                        <a:t>Case</a:t>
                      </a:r>
                    </a:p>
                  </a:txBody>
                  <a:tcPr marL="64008" marR="64008" marT="27432" marB="27432" anchor="ctr">
                    <a:solidFill>
                      <a:srgbClr val="141B4D"/>
                    </a:solidFill>
                  </a:tcPr>
                </a:tc>
                <a:tc>
                  <a:txBody>
                    <a:bodyPr wrap="square"/>
                    <a:lstStyle/>
                    <a:p>
                      <a:r>
                        <a:rPr b="1" sz="1300" i="0">
                          <a:solidFill>
                            <a:srgbClr val="FFFFFF"/>
                          </a:solidFill>
                          <a:latin typeface="Calibri"/>
                        </a:rPr>
                        <a:t>NPV @ 25.25% ($000s)</a:t>
                      </a:r>
                    </a:p>
                  </a:txBody>
                  <a:tcPr marL="64008" marR="64008" marT="27432" marB="27432" anchor="ctr">
                    <a:solidFill>
                      <a:srgbClr val="141B4D"/>
                    </a:solidFill>
                  </a:tcPr>
                </a:tc>
                <a:tc>
                  <a:txBody>
                    <a:bodyPr wrap="square"/>
                    <a:lstStyle/>
                    <a:p>
                      <a:r>
                        <a:rPr b="1" sz="1300" i="0">
                          <a:solidFill>
                            <a:srgbClr val="FFFFFF"/>
                          </a:solidFill>
                          <a:latin typeface="Calibri"/>
                        </a:rPr>
                        <a:t>XIRR</a:t>
                      </a:r>
                    </a:p>
                  </a:txBody>
                  <a:tcPr marL="64008" marR="64008" marT="27432" marB="27432" anchor="ctr">
                    <a:solidFill>
                      <a:srgbClr val="141B4D"/>
                    </a:solidFill>
                  </a:tcPr>
                </a:tc>
                <a:tc>
                  <a:txBody>
                    <a:bodyPr wrap="square"/>
                    <a:lstStyle/>
                    <a:p>
                      <a:r>
                        <a:rPr b="1" sz="1300" i="0">
                          <a:solidFill>
                            <a:srgbClr val="FFFFFF"/>
                          </a:solidFill>
                          <a:latin typeface="Calibri"/>
                        </a:rPr>
                        <a:t>EBITDA 20 yrs ($000s)</a:t>
                      </a:r>
                    </a:p>
                  </a:txBody>
                  <a:tcPr marL="64008" marR="64008" marT="27432" marB="27432" anchor="ctr">
                    <a:solidFill>
                      <a:srgbClr val="141B4D"/>
                    </a:solidFill>
                  </a:tcPr>
                </a:tc>
              </a:tr>
              <a:tr h="329184">
                <a:tc>
                  <a:txBody>
                    <a:bodyPr wrap="square"/>
                    <a:lstStyle/>
                    <a:p>
                      <a:r>
                        <a:rPr b="1" sz="1300" i="0">
                          <a:solidFill>
                            <a:srgbClr val="1A2233"/>
                          </a:solidFill>
                          <a:latin typeface="Calibri"/>
                        </a:rPr>
                        <a:t>Fare / occupancy −10%</a:t>
                      </a:r>
                    </a:p>
                  </a:txBody>
                  <a:tcPr marL="64008" marR="64008" marT="27432" marB="27432" anchor="ctr">
                    <a:solidFill>
                      <a:srgbClr val="FFFFFF"/>
                    </a:solidFill>
                  </a:tcPr>
                </a:tc>
                <a:tc>
                  <a:txBody>
                    <a:bodyPr wrap="square"/>
                    <a:lstStyle/>
                    <a:p>
                      <a:r>
                        <a:rPr b="0" sz="1300" i="0">
                          <a:solidFill>
                            <a:srgbClr val="1A2233"/>
                          </a:solidFill>
                          <a:latin typeface="Calibri"/>
                        </a:rPr>
                        <a:t>-5,113.6</a:t>
                      </a:r>
                    </a:p>
                  </a:txBody>
                  <a:tcPr marL="64008" marR="64008" marT="27432" marB="27432" anchor="ctr">
                    <a:solidFill>
                      <a:srgbClr val="FFFFFF"/>
                    </a:solidFill>
                  </a:tcPr>
                </a:tc>
                <a:tc>
                  <a:txBody>
                    <a:bodyPr wrap="square"/>
                    <a:lstStyle/>
                    <a:p>
                      <a:r>
                        <a:rPr b="0" sz="1300" i="0">
                          <a:solidFill>
                            <a:srgbClr val="1A2233"/>
                          </a:solidFill>
                          <a:latin typeface="Calibri"/>
                        </a:rPr>
                        <a:t>22.93%</a:t>
                      </a:r>
                    </a:p>
                  </a:txBody>
                  <a:tcPr marL="64008" marR="64008" marT="27432" marB="27432" anchor="ctr">
                    <a:solidFill>
                      <a:srgbClr val="FFFFFF"/>
                    </a:solidFill>
                  </a:tcPr>
                </a:tc>
                <a:tc>
                  <a:txBody>
                    <a:bodyPr wrap="square"/>
                    <a:lstStyle/>
                    <a:p>
                      <a:r>
                        <a:rPr b="0" sz="1300" i="0">
                          <a:solidFill>
                            <a:srgbClr val="1A2233"/>
                          </a:solidFill>
                          <a:latin typeface="Calibri"/>
                        </a:rPr>
                        <a:t>595,038</a:t>
                      </a:r>
                    </a:p>
                  </a:txBody>
                  <a:tcPr marL="64008" marR="64008" marT="27432" marB="27432" anchor="ctr">
                    <a:solidFill>
                      <a:srgbClr val="FFFFFF"/>
                    </a:solidFill>
                  </a:tcPr>
                </a:tc>
              </a:tr>
              <a:tr h="329184">
                <a:tc>
                  <a:txBody>
                    <a:bodyPr wrap="square"/>
                    <a:lstStyle/>
                    <a:p>
                      <a:r>
                        <a:rPr b="1" sz="1300" i="0">
                          <a:solidFill>
                            <a:srgbClr val="1A2233"/>
                          </a:solidFill>
                          <a:latin typeface="Calibri"/>
                        </a:rPr>
                        <a:t>Fare / occupancy −5%</a:t>
                      </a:r>
                    </a:p>
                  </a:txBody>
                  <a:tcPr marL="64008" marR="64008" marT="27432" marB="27432" anchor="ctr">
                    <a:solidFill>
                      <a:srgbClr val="F3F6F9"/>
                    </a:solidFill>
                  </a:tcPr>
                </a:tc>
                <a:tc>
                  <a:txBody>
                    <a:bodyPr wrap="square"/>
                    <a:lstStyle/>
                    <a:p>
                      <a:r>
                        <a:rPr b="0" sz="1300" i="0">
                          <a:solidFill>
                            <a:srgbClr val="1A2233"/>
                          </a:solidFill>
                          <a:latin typeface="Calibri"/>
                        </a:rPr>
                        <a:t>6,247.7</a:t>
                      </a:r>
                    </a:p>
                  </a:txBody>
                  <a:tcPr marL="64008" marR="64008" marT="27432" marB="27432" anchor="ctr">
                    <a:solidFill>
                      <a:srgbClr val="F3F6F9"/>
                    </a:solidFill>
                  </a:tcPr>
                </a:tc>
                <a:tc>
                  <a:txBody>
                    <a:bodyPr wrap="square"/>
                    <a:lstStyle/>
                    <a:p>
                      <a:r>
                        <a:rPr b="0" sz="1300" i="0">
                          <a:solidFill>
                            <a:srgbClr val="1A2233"/>
                          </a:solidFill>
                          <a:latin typeface="Calibri"/>
                        </a:rPr>
                        <a:t>28.16%</a:t>
                      </a:r>
                    </a:p>
                  </a:txBody>
                  <a:tcPr marL="64008" marR="64008" marT="27432" marB="27432" anchor="ctr">
                    <a:solidFill>
                      <a:srgbClr val="F3F6F9"/>
                    </a:solidFill>
                  </a:tcPr>
                </a:tc>
                <a:tc>
                  <a:txBody>
                    <a:bodyPr wrap="square"/>
                    <a:lstStyle/>
                    <a:p>
                      <a:r>
                        <a:rPr b="0" sz="1300" i="0">
                          <a:solidFill>
                            <a:srgbClr val="1A2233"/>
                          </a:solidFill>
                          <a:latin typeface="Calibri"/>
                        </a:rPr>
                        <a:t>692,117</a:t>
                      </a:r>
                    </a:p>
                  </a:txBody>
                  <a:tcPr marL="64008" marR="64008" marT="27432" marB="27432" anchor="ctr">
                    <a:solidFill>
                      <a:srgbClr val="F3F6F9"/>
                    </a:solidFill>
                  </a:tcPr>
                </a:tc>
              </a:tr>
              <a:tr h="329184">
                <a:tc>
                  <a:txBody>
                    <a:bodyPr wrap="square"/>
                    <a:lstStyle/>
                    <a:p>
                      <a:r>
                        <a:rPr b="1" sz="1300" i="0">
                          <a:solidFill>
                            <a:srgbClr val="1A2233"/>
                          </a:solidFill>
                          <a:latin typeface="Calibri"/>
                        </a:rPr>
                        <a:t>Base</a:t>
                      </a:r>
                    </a:p>
                  </a:txBody>
                  <a:tcPr marL="64008" marR="64008" marT="27432" marB="27432" anchor="ctr">
                    <a:solidFill>
                      <a:srgbClr val="FFFFFF"/>
                    </a:solidFill>
                  </a:tcPr>
                </a:tc>
                <a:tc>
                  <a:txBody>
                    <a:bodyPr wrap="square"/>
                    <a:lstStyle/>
                    <a:p>
                      <a:r>
                        <a:rPr b="0" sz="1300" i="0">
                          <a:solidFill>
                            <a:srgbClr val="1A2233"/>
                          </a:solidFill>
                          <a:latin typeface="Calibri"/>
                        </a:rPr>
                        <a:t>17,609.0</a:t>
                      </a:r>
                    </a:p>
                  </a:txBody>
                  <a:tcPr marL="64008" marR="64008" marT="27432" marB="27432" anchor="ctr">
                    <a:solidFill>
                      <a:srgbClr val="FFFFFF"/>
                    </a:solidFill>
                  </a:tcPr>
                </a:tc>
                <a:tc>
                  <a:txBody>
                    <a:bodyPr wrap="square"/>
                    <a:lstStyle/>
                    <a:p>
                      <a:r>
                        <a:rPr b="0" sz="1300" i="0">
                          <a:solidFill>
                            <a:srgbClr val="1A2233"/>
                          </a:solidFill>
                          <a:latin typeface="Calibri"/>
                        </a:rPr>
                        <a:t>33.72%</a:t>
                      </a:r>
                    </a:p>
                  </a:txBody>
                  <a:tcPr marL="64008" marR="64008" marT="27432" marB="27432" anchor="ctr">
                    <a:solidFill>
                      <a:srgbClr val="FFFFFF"/>
                    </a:solidFill>
                  </a:tcPr>
                </a:tc>
                <a:tc>
                  <a:txBody>
                    <a:bodyPr wrap="square"/>
                    <a:lstStyle/>
                    <a:p>
                      <a:r>
                        <a:rPr b="0" sz="1300" i="0">
                          <a:solidFill>
                            <a:srgbClr val="1A2233"/>
                          </a:solidFill>
                          <a:latin typeface="Calibri"/>
                        </a:rPr>
                        <a:t>789,195</a:t>
                      </a:r>
                    </a:p>
                  </a:txBody>
                  <a:tcPr marL="64008" marR="64008" marT="27432" marB="27432" anchor="ctr">
                    <a:solidFill>
                      <a:srgbClr val="FFFFFF"/>
                    </a:solidFill>
                  </a:tcPr>
                </a:tc>
              </a:tr>
              <a:tr h="329184">
                <a:tc>
                  <a:txBody>
                    <a:bodyPr wrap="square"/>
                    <a:lstStyle/>
                    <a:p>
                      <a:r>
                        <a:rPr b="1" sz="1300" i="0">
                          <a:solidFill>
                            <a:srgbClr val="1A2233"/>
                          </a:solidFill>
                          <a:latin typeface="Calibri"/>
                        </a:rPr>
                        <a:t>Fare / occupancy +5%</a:t>
                      </a:r>
                    </a:p>
                  </a:txBody>
                  <a:tcPr marL="64008" marR="64008" marT="27432" marB="27432" anchor="ctr">
                    <a:solidFill>
                      <a:srgbClr val="F3F6F9"/>
                    </a:solidFill>
                  </a:tcPr>
                </a:tc>
                <a:tc>
                  <a:txBody>
                    <a:bodyPr wrap="square"/>
                    <a:lstStyle/>
                    <a:p>
                      <a:r>
                        <a:rPr b="0" sz="1300" i="0">
                          <a:solidFill>
                            <a:srgbClr val="1A2233"/>
                          </a:solidFill>
                          <a:latin typeface="Calibri"/>
                        </a:rPr>
                        <a:t>28,970.3</a:t>
                      </a:r>
                    </a:p>
                  </a:txBody>
                  <a:tcPr marL="64008" marR="64008" marT="27432" marB="27432" anchor="ctr">
                    <a:solidFill>
                      <a:srgbClr val="F3F6F9"/>
                    </a:solidFill>
                  </a:tcPr>
                </a:tc>
                <a:tc>
                  <a:txBody>
                    <a:bodyPr wrap="square"/>
                    <a:lstStyle/>
                    <a:p>
                      <a:r>
                        <a:rPr b="0" sz="1300" i="0">
                          <a:solidFill>
                            <a:srgbClr val="1A2233"/>
                          </a:solidFill>
                          <a:latin typeface="Calibri"/>
                        </a:rPr>
                        <a:t>39.63%</a:t>
                      </a:r>
                    </a:p>
                  </a:txBody>
                  <a:tcPr marL="64008" marR="64008" marT="27432" marB="27432" anchor="ctr">
                    <a:solidFill>
                      <a:srgbClr val="F3F6F9"/>
                    </a:solidFill>
                  </a:tcPr>
                </a:tc>
                <a:tc>
                  <a:txBody>
                    <a:bodyPr wrap="square"/>
                    <a:lstStyle/>
                    <a:p>
                      <a:r>
                        <a:rPr b="0" sz="1300" i="0">
                          <a:solidFill>
                            <a:srgbClr val="1A2233"/>
                          </a:solidFill>
                          <a:latin typeface="Calibri"/>
                        </a:rPr>
                        <a:t>886,274</a:t>
                      </a:r>
                    </a:p>
                  </a:txBody>
                  <a:tcPr marL="64008" marR="64008" marT="27432" marB="27432" anchor="ctr">
                    <a:solidFill>
                      <a:srgbClr val="F3F6F9"/>
                    </a:solidFill>
                  </a:tcPr>
                </a:tc>
              </a:tr>
              <a:tr h="329184">
                <a:tc>
                  <a:txBody>
                    <a:bodyPr wrap="square"/>
                    <a:lstStyle/>
                    <a:p>
                      <a:r>
                        <a:rPr b="1" sz="1300" i="0">
                          <a:solidFill>
                            <a:srgbClr val="1A2233"/>
                          </a:solidFill>
                          <a:latin typeface="Calibri"/>
                        </a:rPr>
                        <a:t>Fare / occupancy +10%</a:t>
                      </a:r>
                    </a:p>
                  </a:txBody>
                  <a:tcPr marL="64008" marR="64008" marT="27432" marB="27432" anchor="ctr">
                    <a:solidFill>
                      <a:srgbClr val="FFFFFF"/>
                    </a:solidFill>
                  </a:tcPr>
                </a:tc>
                <a:tc>
                  <a:txBody>
                    <a:bodyPr wrap="square"/>
                    <a:lstStyle/>
                    <a:p>
                      <a:r>
                        <a:rPr b="0" sz="1300" i="0">
                          <a:solidFill>
                            <a:srgbClr val="1A2233"/>
                          </a:solidFill>
                          <a:latin typeface="Calibri"/>
                        </a:rPr>
                        <a:t>40,330.9</a:t>
                      </a:r>
                    </a:p>
                  </a:txBody>
                  <a:tcPr marL="64008" marR="64008" marT="27432" marB="27432" anchor="ctr">
                    <a:solidFill>
                      <a:srgbClr val="FFFFFF"/>
                    </a:solidFill>
                  </a:tcPr>
                </a:tc>
                <a:tc>
                  <a:txBody>
                    <a:bodyPr wrap="square"/>
                    <a:lstStyle/>
                    <a:p>
                      <a:r>
                        <a:rPr b="0" sz="1300" i="0">
                          <a:solidFill>
                            <a:srgbClr val="1A2233"/>
                          </a:solidFill>
                          <a:latin typeface="Calibri"/>
                        </a:rPr>
                        <a:t>45.91%</a:t>
                      </a:r>
                    </a:p>
                  </a:txBody>
                  <a:tcPr marL="64008" marR="64008" marT="27432" marB="27432" anchor="ctr">
                    <a:solidFill>
                      <a:srgbClr val="FFFFFF"/>
                    </a:solidFill>
                  </a:tcPr>
                </a:tc>
                <a:tc>
                  <a:txBody>
                    <a:bodyPr wrap="square"/>
                    <a:lstStyle/>
                    <a:p>
                      <a:r>
                        <a:rPr b="0" sz="1300" i="0">
                          <a:solidFill>
                            <a:srgbClr val="1A2233"/>
                          </a:solidFill>
                          <a:latin typeface="Calibri"/>
                        </a:rPr>
                        <a:t>983,352</a:t>
                      </a:r>
                    </a:p>
                  </a:txBody>
                  <a:tcPr marL="64008" marR="64008" marT="27432" marB="27432" anchor="ctr">
                    <a:solidFill>
                      <a:srgbClr val="FFFFFF"/>
                    </a:solidFill>
                  </a:tcPr>
                </a:tc>
              </a:tr>
              <a:tr h="329184">
                <a:tc>
                  <a:txBody>
                    <a:bodyPr wrap="square"/>
                    <a:lstStyle/>
                    <a:p>
                      <a:r>
                        <a:rPr b="1" sz="1300" i="0">
                          <a:solidFill>
                            <a:srgbClr val="1A2233"/>
                          </a:solidFill>
                          <a:latin typeface="Calibri"/>
                        </a:rPr>
                        <a:t>O&amp;M cost +10%</a:t>
                      </a:r>
                    </a:p>
                  </a:txBody>
                  <a:tcPr marL="64008" marR="64008" marT="27432" marB="27432" anchor="ctr">
                    <a:solidFill>
                      <a:srgbClr val="F3F6F9"/>
                    </a:solidFill>
                  </a:tcPr>
                </a:tc>
                <a:tc>
                  <a:txBody>
                    <a:bodyPr wrap="square"/>
                    <a:lstStyle/>
                    <a:p>
                      <a:r>
                        <a:rPr b="0" sz="1300" i="0">
                          <a:solidFill>
                            <a:srgbClr val="1A2233"/>
                          </a:solidFill>
                          <a:latin typeface="Calibri"/>
                        </a:rPr>
                        <a:t>16,309.2</a:t>
                      </a:r>
                    </a:p>
                  </a:txBody>
                  <a:tcPr marL="64008" marR="64008" marT="27432" marB="27432" anchor="ctr">
                    <a:solidFill>
                      <a:srgbClr val="F3F6F9"/>
                    </a:solidFill>
                  </a:tcPr>
                </a:tc>
                <a:tc>
                  <a:txBody>
                    <a:bodyPr wrap="square"/>
                    <a:lstStyle/>
                    <a:p>
                      <a:r>
                        <a:rPr b="0" sz="1300" i="0">
                          <a:solidFill>
                            <a:srgbClr val="1A2233"/>
                          </a:solidFill>
                          <a:latin typeface="Calibri"/>
                        </a:rPr>
                        <a:t>33.06%</a:t>
                      </a:r>
                    </a:p>
                  </a:txBody>
                  <a:tcPr marL="64008" marR="64008" marT="27432" marB="27432" anchor="ctr">
                    <a:solidFill>
                      <a:srgbClr val="F3F6F9"/>
                    </a:solidFill>
                  </a:tcPr>
                </a:tc>
                <a:tc>
                  <a:txBody>
                    <a:bodyPr wrap="square"/>
                    <a:lstStyle/>
                    <a:p>
                      <a:r>
                        <a:rPr b="0" sz="1300" i="0">
                          <a:solidFill>
                            <a:srgbClr val="1A2233"/>
                          </a:solidFill>
                          <a:latin typeface="Calibri"/>
                        </a:rPr>
                        <a:t>778,708</a:t>
                      </a:r>
                    </a:p>
                  </a:txBody>
                  <a:tcPr marL="64008" marR="64008" marT="27432" marB="27432" anchor="ctr">
                    <a:solidFill>
                      <a:srgbClr val="F3F6F9"/>
                    </a:solidFill>
                  </a:tcPr>
                </a:tc>
              </a:tr>
              <a:tr h="329184">
                <a:tc>
                  <a:txBody>
                    <a:bodyPr wrap="square"/>
                    <a:lstStyle/>
                    <a:p>
                      <a:r>
                        <a:rPr b="1" sz="1300" i="0">
                          <a:solidFill>
                            <a:srgbClr val="1A2233"/>
                          </a:solidFill>
                          <a:latin typeface="Calibri"/>
                        </a:rPr>
                        <a:t>All operating costs +10%</a:t>
                      </a:r>
                    </a:p>
                  </a:txBody>
                  <a:tcPr marL="64008" marR="64008" marT="27432" marB="27432" anchor="ctr">
                    <a:solidFill>
                      <a:srgbClr val="FFFFFF"/>
                    </a:solidFill>
                  </a:tcPr>
                </a:tc>
                <a:tc>
                  <a:txBody>
                    <a:bodyPr wrap="square"/>
                    <a:lstStyle/>
                    <a:p>
                      <a:r>
                        <a:rPr b="0" sz="1300" i="0">
                          <a:solidFill>
                            <a:srgbClr val="1A2233"/>
                          </a:solidFill>
                          <a:latin typeface="Calibri"/>
                        </a:rPr>
                        <a:t>3,401.8</a:t>
                      </a:r>
                    </a:p>
                  </a:txBody>
                  <a:tcPr marL="64008" marR="64008" marT="27432" marB="27432" anchor="ctr">
                    <a:solidFill>
                      <a:srgbClr val="FFFFFF"/>
                    </a:solidFill>
                  </a:tcPr>
                </a:tc>
                <a:tc>
                  <a:txBody>
                    <a:bodyPr wrap="square"/>
                    <a:lstStyle/>
                    <a:p>
                      <a:r>
                        <a:rPr b="0" sz="1300" i="0">
                          <a:solidFill>
                            <a:srgbClr val="1A2233"/>
                          </a:solidFill>
                          <a:latin typeface="Calibri"/>
                        </a:rPr>
                        <a:t>26.81%</a:t>
                      </a:r>
                    </a:p>
                  </a:txBody>
                  <a:tcPr marL="64008" marR="64008" marT="27432" marB="27432" anchor="ctr">
                    <a:solidFill>
                      <a:srgbClr val="FFFFFF"/>
                    </a:solidFill>
                  </a:tcPr>
                </a:tc>
                <a:tc>
                  <a:txBody>
                    <a:bodyPr wrap="square"/>
                    <a:lstStyle/>
                    <a:p>
                      <a:r>
                        <a:rPr b="0" sz="1300" i="0">
                          <a:solidFill>
                            <a:srgbClr val="1A2233"/>
                          </a:solidFill>
                          <a:latin typeface="Calibri"/>
                        </a:rPr>
                        <a:t>673,958</a:t>
                      </a:r>
                    </a:p>
                  </a:txBody>
                  <a:tcPr marL="64008" marR="64008" marT="27432" marB="27432" anchor="ctr">
                    <a:solidFill>
                      <a:srgbClr val="FFFFFF"/>
                    </a:solidFill>
                  </a:tcPr>
                </a:tc>
              </a:tr>
              <a:tr h="329184">
                <a:tc>
                  <a:txBody>
                    <a:bodyPr wrap="square"/>
                    <a:lstStyle/>
                    <a:p>
                      <a:r>
                        <a:rPr b="1" sz="1300" i="0">
                          <a:solidFill>
                            <a:srgbClr val="1A2233"/>
                          </a:solidFill>
                          <a:latin typeface="Calibri"/>
                        </a:rPr>
                        <a:t>Interest rate +1 point</a:t>
                      </a:r>
                    </a:p>
                  </a:txBody>
                  <a:tcPr marL="64008" marR="64008" marT="27432" marB="27432" anchor="ctr">
                    <a:solidFill>
                      <a:srgbClr val="F3F6F9"/>
                    </a:solidFill>
                  </a:tcPr>
                </a:tc>
                <a:tc>
                  <a:txBody>
                    <a:bodyPr wrap="square"/>
                    <a:lstStyle/>
                    <a:p>
                      <a:r>
                        <a:rPr b="0" sz="1300" i="0">
                          <a:solidFill>
                            <a:srgbClr val="1A2233"/>
                          </a:solidFill>
                          <a:latin typeface="Calibri"/>
                        </a:rPr>
                        <a:t>16,499.2</a:t>
                      </a:r>
                    </a:p>
                  </a:txBody>
                  <a:tcPr marL="64008" marR="64008" marT="27432" marB="27432" anchor="ctr">
                    <a:solidFill>
                      <a:srgbClr val="F3F6F9"/>
                    </a:solidFill>
                  </a:tcPr>
                </a:tc>
                <a:tc>
                  <a:txBody>
                    <a:bodyPr wrap="square"/>
                    <a:lstStyle/>
                    <a:p>
                      <a:r>
                        <a:rPr b="0" sz="1300" i="0">
                          <a:solidFill>
                            <a:srgbClr val="1A2233"/>
                          </a:solidFill>
                          <a:latin typeface="Calibri"/>
                        </a:rPr>
                        <a:t>33.08%</a:t>
                      </a:r>
                    </a:p>
                  </a:txBody>
                  <a:tcPr marL="64008" marR="64008" marT="27432" marB="27432" anchor="ctr">
                    <a:solidFill>
                      <a:srgbClr val="F3F6F9"/>
                    </a:solidFill>
                  </a:tcPr>
                </a:tc>
                <a:tc>
                  <a:txBody>
                    <a:bodyPr wrap="square"/>
                    <a:lstStyle/>
                    <a:p>
                      <a:r>
                        <a:rPr b="0" sz="1300" i="0">
                          <a:solidFill>
                            <a:srgbClr val="1A2233"/>
                          </a:solidFill>
                          <a:latin typeface="Calibri"/>
                        </a:rPr>
                        <a:t>789,195</a:t>
                      </a:r>
                    </a:p>
                  </a:txBody>
                  <a:tcPr marL="64008" marR="64008" marT="27432" marB="27432" anchor="ctr">
                    <a:solidFill>
                      <a:srgbClr val="F3F6F9"/>
                    </a:solidFill>
                  </a:tcPr>
                </a:tc>
              </a:tr>
              <a:tr h="329184">
                <a:tc>
                  <a:txBody>
                    <a:bodyPr wrap="square"/>
                    <a:lstStyle/>
                    <a:p>
                      <a:r>
                        <a:rPr b="1" sz="1300" i="0">
                          <a:solidFill>
                            <a:srgbClr val="1A2233"/>
                          </a:solidFill>
                          <a:latin typeface="Calibri"/>
                        </a:rPr>
                        <a:t>Interest rate −1 point</a:t>
                      </a:r>
                    </a:p>
                  </a:txBody>
                  <a:tcPr marL="64008" marR="64008" marT="27432" marB="27432" anchor="ctr">
                    <a:solidFill>
                      <a:srgbClr val="FFFFFF"/>
                    </a:solidFill>
                  </a:tcPr>
                </a:tc>
                <a:tc>
                  <a:txBody>
                    <a:bodyPr wrap="square"/>
                    <a:lstStyle/>
                    <a:p>
                      <a:r>
                        <a:rPr b="0" sz="1300" i="0">
                          <a:solidFill>
                            <a:srgbClr val="1A2233"/>
                          </a:solidFill>
                          <a:latin typeface="Calibri"/>
                        </a:rPr>
                        <a:t>18,718.8</a:t>
                      </a:r>
                    </a:p>
                  </a:txBody>
                  <a:tcPr marL="64008" marR="64008" marT="27432" marB="27432" anchor="ctr">
                    <a:solidFill>
                      <a:srgbClr val="FFFFFF"/>
                    </a:solidFill>
                  </a:tcPr>
                </a:tc>
                <a:tc>
                  <a:txBody>
                    <a:bodyPr wrap="square"/>
                    <a:lstStyle/>
                    <a:p>
                      <a:r>
                        <a:rPr b="0" sz="1300" i="0">
                          <a:solidFill>
                            <a:srgbClr val="1A2233"/>
                          </a:solidFill>
                          <a:latin typeface="Calibri"/>
                        </a:rPr>
                        <a:t>34.39%</a:t>
                      </a:r>
                    </a:p>
                  </a:txBody>
                  <a:tcPr marL="64008" marR="64008" marT="27432" marB="27432" anchor="ctr">
                    <a:solidFill>
                      <a:srgbClr val="FFFFFF"/>
                    </a:solidFill>
                  </a:tcPr>
                </a:tc>
                <a:tc>
                  <a:txBody>
                    <a:bodyPr wrap="square"/>
                    <a:lstStyle/>
                    <a:p>
                      <a:r>
                        <a:rPr b="0" sz="1300" i="0">
                          <a:solidFill>
                            <a:srgbClr val="1A2233"/>
                          </a:solidFill>
                          <a:latin typeface="Calibri"/>
                        </a:rPr>
                        <a:t>789,195</a:t>
                      </a:r>
                    </a:p>
                  </a:txBody>
                  <a:tcPr marL="64008" marR="64008" marT="27432" marB="27432" anchor="ctr">
                    <a:solidFill>
                      <a:srgbClr val="FFFFFF"/>
                    </a:solidFill>
                  </a:tcPr>
                </a:tc>
              </a:tr>
            </a:tbl>
          </a:graphicData>
        </a:graphic>
      </p:graphicFrame>
      <p:sp>
        <p:nvSpPr>
          <p:cNvPr id="12" name="Rectangle 11"/>
          <p:cNvSpPr/>
          <p:nvPr/>
        </p:nvSpPr>
        <p:spPr>
          <a:xfrm>
            <a:off x="548640" y="5303520"/>
            <a:ext cx="11064240" cy="64008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303520"/>
            <a:ext cx="82296" cy="64008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303520"/>
            <a:ext cx="10835640" cy="640080"/>
          </a:xfrm>
          <a:prstGeom prst="rect">
            <a:avLst/>
          </a:prstGeom>
          <a:noFill/>
        </p:spPr>
        <p:txBody>
          <a:bodyPr wrap="square" lIns="45720" rIns="45720" tIns="27432" bIns="27432" anchor="ctr">
            <a:spAutoFit/>
          </a:bodyPr>
          <a:lstStyle/>
          <a:p>
            <a:pPr algn="l"/>
            <a:r>
              <a:rPr b="0" sz="1400" i="0">
                <a:solidFill>
                  <a:srgbClr val="1A2233"/>
                </a:solidFill>
                <a:latin typeface="Calibri"/>
              </a:rPr>
              <a:t>Revenue-side shocks (fare, occupancy) are equivalent here because revenue = fare × passengers.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DATA TABLE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Data Table: one input, many results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81328"/>
            <a:ext cx="1005840"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1A2233"/>
                </a:solidFill>
                <a:latin typeface="Consolas"/>
              </a:rPr>
              <a:t>B2</a:t>
            </a:r>
          </a:p>
        </p:txBody>
      </p:sp>
      <p:sp>
        <p:nvSpPr>
          <p:cNvPr id="12" name="Rectangle 11"/>
          <p:cNvSpPr/>
          <p:nvPr/>
        </p:nvSpPr>
        <p:spPr>
          <a:xfrm>
            <a:off x="1600200" y="1481328"/>
            <a:ext cx="411480" cy="347472"/>
          </a:xfrm>
          <a:prstGeom prst="rect">
            <a:avLst/>
          </a:prstGeom>
          <a:solidFill>
            <a:srgbClr val="F3F6F9"/>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1">
                <a:solidFill>
                  <a:srgbClr val="5C6B7A"/>
                </a:solidFill>
                <a:latin typeface="Calibri"/>
              </a:rPr>
              <a:t>fx</a:t>
            </a:r>
          </a:p>
        </p:txBody>
      </p:sp>
      <p:sp>
        <p:nvSpPr>
          <p:cNvPr id="13" name="Rectangle 12"/>
          <p:cNvSpPr/>
          <p:nvPr/>
        </p:nvSpPr>
        <p:spPr>
          <a:xfrm>
            <a:off x="2057400" y="1481328"/>
            <a:ext cx="6355080"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0" sz="1300" i="0">
                <a:solidFill>
                  <a:srgbClr val="1A2233"/>
                </a:solidFill>
                <a:latin typeface="Consolas"/>
              </a:rPr>
              <a:t>{=TABLE(J35,)}</a:t>
            </a:r>
          </a:p>
        </p:txBody>
      </p:sp>
      <p:graphicFrame>
        <p:nvGraphicFramePr>
          <p:cNvPr id="14" name="Table 13"/>
          <p:cNvGraphicFramePr>
            <a:graphicFrameLocks noGrp="1"/>
          </p:cNvGraphicFramePr>
          <p:nvPr/>
        </p:nvGraphicFramePr>
        <p:xfrm>
          <a:off x="548640" y="1938528"/>
          <a:ext cx="7909560" cy="1243584"/>
        </p:xfrm>
        <a:graphic>
          <a:graphicData uri="http://schemas.openxmlformats.org/drawingml/2006/table">
            <a:tbl>
              <a:tblPr firstRow="1" bandRow="1">
                <a:tableStyleId>{5C22544A-7EE6-4342-B048-85BDC9FD1C3A}</a:tableStyleId>
              </a:tblPr>
              <a:tblGrid>
                <a:gridCol w="502920"/>
                <a:gridCol w="1234440"/>
                <a:gridCol w="1234440"/>
                <a:gridCol w="1234440"/>
                <a:gridCol w="1234440"/>
                <a:gridCol w="1234440"/>
                <a:gridCol w="1234440"/>
              </a:tblGrid>
              <a:tr h="310896">
                <a:tc>
                  <a:txBody>
                    <a:bodyPr/>
                    <a:lstStyle/>
                    <a:p>
                      <a:pPr algn="ctr"/>
                      <a:r>
                        <a:rPr sz="1200" b="0">
                          <a:solidFill>
                            <a:srgbClr val="1A2233"/>
                          </a:solidFill>
                          <a:latin typeface="Calibri"/>
                        </a:rPr>
                        <a:t/>
                      </a:r>
                    </a:p>
                  </a:txBody>
                  <a:tcPr marL="45720" marR="45720" marT="9144" marB="9144" anchor="ctr">
                    <a:solidFill>
                      <a:srgbClr val="D9DEE6"/>
                    </a:solidFill>
                  </a:tcPr>
                </a:tc>
                <a:tc>
                  <a:txBody>
                    <a:bodyPr/>
                    <a:lstStyle/>
                    <a:p>
                      <a:pPr algn="ctr"/>
                      <a:r>
                        <a:rPr sz="1200" b="1">
                          <a:solidFill>
                            <a:srgbClr val="1A2233"/>
                          </a:solidFill>
                          <a:latin typeface="Calibri"/>
                        </a:rPr>
                        <a:t>A</a:t>
                      </a:r>
                    </a:p>
                  </a:txBody>
                  <a:tcPr marL="45720" marR="45720" marT="9144" marB="9144" anchor="ctr">
                    <a:solidFill>
                      <a:srgbClr val="D9DEE6"/>
                    </a:solidFill>
                  </a:tcPr>
                </a:tc>
                <a:tc>
                  <a:txBody>
                    <a:bodyPr/>
                    <a:lstStyle/>
                    <a:p>
                      <a:pPr algn="ctr"/>
                      <a:r>
                        <a:rPr sz="1200" b="1">
                          <a:solidFill>
                            <a:srgbClr val="1A2233"/>
                          </a:solidFill>
                          <a:latin typeface="Calibri"/>
                        </a:rPr>
                        <a:t>B</a:t>
                      </a:r>
                    </a:p>
                  </a:txBody>
                  <a:tcPr marL="45720" marR="45720" marT="9144" marB="9144" anchor="ctr">
                    <a:solidFill>
                      <a:srgbClr val="D9DEE6"/>
                    </a:solidFill>
                  </a:tcPr>
                </a:tc>
                <a:tc>
                  <a:txBody>
                    <a:bodyPr/>
                    <a:lstStyle/>
                    <a:p>
                      <a:pPr algn="ctr"/>
                      <a:r>
                        <a:rPr sz="1200" b="1">
                          <a:solidFill>
                            <a:srgbClr val="1A2233"/>
                          </a:solidFill>
                          <a:latin typeface="Calibri"/>
                        </a:rPr>
                        <a:t>C</a:t>
                      </a:r>
                    </a:p>
                  </a:txBody>
                  <a:tcPr marL="45720" marR="45720" marT="9144" marB="9144" anchor="ctr">
                    <a:solidFill>
                      <a:srgbClr val="D9DEE6"/>
                    </a:solidFill>
                  </a:tcPr>
                </a:tc>
                <a:tc>
                  <a:txBody>
                    <a:bodyPr/>
                    <a:lstStyle/>
                    <a:p>
                      <a:pPr algn="ctr"/>
                      <a:r>
                        <a:rPr sz="1200" b="1">
                          <a:solidFill>
                            <a:srgbClr val="1A2233"/>
                          </a:solidFill>
                          <a:latin typeface="Calibri"/>
                        </a:rPr>
                        <a:t>D</a:t>
                      </a:r>
                    </a:p>
                  </a:txBody>
                  <a:tcPr marL="45720" marR="45720" marT="9144" marB="9144" anchor="ctr">
                    <a:solidFill>
                      <a:srgbClr val="D9DEE6"/>
                    </a:solidFill>
                  </a:tcPr>
                </a:tc>
                <a:tc>
                  <a:txBody>
                    <a:bodyPr/>
                    <a:lstStyle/>
                    <a:p>
                      <a:pPr algn="ctr"/>
                      <a:r>
                        <a:rPr sz="1200" b="1">
                          <a:solidFill>
                            <a:srgbClr val="1A2233"/>
                          </a:solidFill>
                          <a:latin typeface="Calibri"/>
                        </a:rPr>
                        <a:t>E</a:t>
                      </a:r>
                    </a:p>
                  </a:txBody>
                  <a:tcPr marL="45720" marR="45720" marT="9144" marB="9144" anchor="ctr">
                    <a:solidFill>
                      <a:srgbClr val="D9DEE6"/>
                    </a:solidFill>
                  </a:tcPr>
                </a:tc>
                <a:tc>
                  <a:txBody>
                    <a:bodyPr/>
                    <a:lstStyle/>
                    <a:p>
                      <a:pPr algn="ctr"/>
                      <a:r>
                        <a:rPr sz="1200" b="1">
                          <a:solidFill>
                            <a:srgbClr val="1A2233"/>
                          </a:solidFill>
                          <a:latin typeface="Calibri"/>
                        </a:rPr>
                        <a:t>F</a:t>
                      </a:r>
                    </a:p>
                  </a:txBody>
                  <a:tcPr marL="45720" marR="45720" marT="9144" marB="9144" anchor="ctr">
                    <a:solidFill>
                      <a:srgbClr val="D9DEE6"/>
                    </a:solidFill>
                  </a:tcPr>
                </a:tc>
              </a:tr>
              <a:tr h="310896">
                <a:tc>
                  <a:txBody>
                    <a:bodyPr/>
                    <a:lstStyle/>
                    <a:p>
                      <a:pPr algn="ctr"/>
                      <a:r>
                        <a:rPr sz="1200" b="1">
                          <a:solidFill>
                            <a:srgbClr val="1A2233"/>
                          </a:solidFill>
                          <a:latin typeface="Calibri"/>
                        </a:rPr>
                        <a:t>1</a:t>
                      </a:r>
                    </a:p>
                  </a:txBody>
                  <a:tcPr marL="45720" marR="45720" marT="9144" marB="9144" anchor="ctr">
                    <a:solidFill>
                      <a:srgbClr val="D9DEE6"/>
                    </a:solidFill>
                  </a:tcPr>
                </a:tc>
                <a:tc>
                  <a:txBody>
                    <a:bodyPr/>
                    <a:lstStyle/>
                    <a:p>
                      <a:pPr algn="l"/>
                      <a:r>
                        <a:rPr sz="1200" b="0">
                          <a:solidFill>
                            <a:srgbClr val="1A2233"/>
                          </a:solidFill>
                          <a:latin typeface="Calibri"/>
                        </a:rPr>
                        <a:t>Fare</a:t>
                      </a:r>
                    </a:p>
                  </a:txBody>
                  <a:tcPr marL="45720" marR="45720" marT="9144" marB="9144" anchor="ctr">
                    <a:solidFill>
                      <a:srgbClr val="FFFFFF"/>
                    </a:solidFill>
                  </a:tcPr>
                </a:tc>
                <a:tc>
                  <a:txBody>
                    <a:bodyPr/>
                    <a:lstStyle/>
                    <a:p>
                      <a:pPr algn="l"/>
                      <a:r>
                        <a:rPr sz="1200" b="0">
                          <a:solidFill>
                            <a:srgbClr val="1A2233"/>
                          </a:solidFill>
                          <a:latin typeface="Calibri"/>
                        </a:rPr>
                        <a:t>Fare ×0.90</a:t>
                      </a:r>
                    </a:p>
                  </a:txBody>
                  <a:tcPr marL="45720" marR="45720" marT="9144" marB="9144" anchor="ctr">
                    <a:solidFill>
                      <a:srgbClr val="FFFFFF"/>
                    </a:solidFill>
                  </a:tcPr>
                </a:tc>
                <a:tc>
                  <a:txBody>
                    <a:bodyPr/>
                    <a:lstStyle/>
                    <a:p>
                      <a:pPr algn="l"/>
                      <a:r>
                        <a:rPr sz="1200" b="0">
                          <a:solidFill>
                            <a:srgbClr val="1A2233"/>
                          </a:solidFill>
                          <a:latin typeface="Calibri"/>
                        </a:rPr>
                        <a:t>×0.95</a:t>
                      </a:r>
                    </a:p>
                  </a:txBody>
                  <a:tcPr marL="45720" marR="45720" marT="9144" marB="9144" anchor="ctr">
                    <a:solidFill>
                      <a:srgbClr val="FFFFFF"/>
                    </a:solidFill>
                  </a:tcPr>
                </a:tc>
                <a:tc>
                  <a:txBody>
                    <a:bodyPr/>
                    <a:lstStyle/>
                    <a:p>
                      <a:pPr algn="l"/>
                      <a:r>
                        <a:rPr sz="1200" b="0">
                          <a:solidFill>
                            <a:srgbClr val="1A2233"/>
                          </a:solidFill>
                          <a:latin typeface="Calibri"/>
                        </a:rPr>
                        <a:t>Base</a:t>
                      </a:r>
                    </a:p>
                  </a:txBody>
                  <a:tcPr marL="45720" marR="45720" marT="9144" marB="9144" anchor="ctr">
                    <a:solidFill>
                      <a:srgbClr val="FFFFFF"/>
                    </a:solidFill>
                  </a:tcPr>
                </a:tc>
                <a:tc>
                  <a:txBody>
                    <a:bodyPr/>
                    <a:lstStyle/>
                    <a:p>
                      <a:pPr algn="l"/>
                      <a:r>
                        <a:rPr sz="1200" b="0">
                          <a:solidFill>
                            <a:srgbClr val="1A2233"/>
                          </a:solidFill>
                          <a:latin typeface="Calibri"/>
                        </a:rPr>
                        <a:t>×1.05</a:t>
                      </a:r>
                    </a:p>
                  </a:txBody>
                  <a:tcPr marL="45720" marR="45720" marT="9144" marB="9144" anchor="ctr">
                    <a:solidFill>
                      <a:srgbClr val="FFFFFF"/>
                    </a:solidFill>
                  </a:tcPr>
                </a:tc>
                <a:tc>
                  <a:txBody>
                    <a:bodyPr/>
                    <a:lstStyle/>
                    <a:p>
                      <a:pPr algn="l"/>
                      <a:r>
                        <a:rPr sz="1200" b="0">
                          <a:solidFill>
                            <a:srgbClr val="1A2233"/>
                          </a:solidFill>
                          <a:latin typeface="Calibri"/>
                        </a:rPr>
                        <a:t>×1.10</a:t>
                      </a:r>
                    </a:p>
                  </a:txBody>
                  <a:tcPr marL="45720" marR="45720" marT="9144" marB="9144" anchor="ctr">
                    <a:solidFill>
                      <a:srgbClr val="FFFFFF"/>
                    </a:solidFill>
                  </a:tcPr>
                </a:tc>
              </a:tr>
              <a:tr h="310896">
                <a:tc>
                  <a:txBody>
                    <a:bodyPr/>
                    <a:lstStyle/>
                    <a:p>
                      <a:pPr algn="ctr"/>
                      <a:r>
                        <a:rPr sz="1200" b="1">
                          <a:solidFill>
                            <a:srgbClr val="1A2233"/>
                          </a:solidFill>
                          <a:latin typeface="Calibri"/>
                        </a:rPr>
                        <a:t>2</a:t>
                      </a:r>
                    </a:p>
                  </a:txBody>
                  <a:tcPr marL="45720" marR="45720" marT="9144" marB="9144" anchor="ctr">
                    <a:solidFill>
                      <a:srgbClr val="D9DEE6"/>
                    </a:solidFill>
                  </a:tcPr>
                </a:tc>
                <a:tc>
                  <a:txBody>
                    <a:bodyPr/>
                    <a:lstStyle/>
                    <a:p>
                      <a:pPr algn="l"/>
                      <a:r>
                        <a:rPr sz="1200" b="1">
                          <a:solidFill>
                            <a:srgbClr val="1A2233"/>
                          </a:solidFill>
                          <a:latin typeface="Consolas"/>
                        </a:rPr>
                        <a:t>=Val!F49</a:t>
                      </a:r>
                    </a:p>
                  </a:txBody>
                  <a:tcPr marL="45720" marR="45720" marT="9144" marB="9144" anchor="ctr">
                    <a:solidFill>
                      <a:srgbClr val="FBF0D9"/>
                    </a:solidFill>
                  </a:tcPr>
                </a:tc>
                <a:tc>
                  <a:txBody>
                    <a:bodyPr/>
                    <a:lstStyle/>
                    <a:p>
                      <a:pPr algn="l"/>
                      <a:r>
                        <a:rPr sz="1200" b="1">
                          <a:solidFill>
                            <a:srgbClr val="1A2233"/>
                          </a:solidFill>
                          <a:latin typeface="Calibri"/>
                        </a:rPr>
                        <a:t>…</a:t>
                      </a:r>
                    </a:p>
                  </a:txBody>
                  <a:tcPr marL="45720" marR="45720" marT="9144" marB="9144" anchor="ctr">
                    <a:solidFill>
                      <a:srgbClr val="FFE9B8"/>
                    </a:solidFill>
                  </a:tcPr>
                </a:tc>
                <a:tc>
                  <a:txBody>
                    <a:bodyPr/>
                    <a:lstStyle/>
                    <a:p>
                      <a:pPr algn="l"/>
                      <a:r>
                        <a:rPr sz="1200" b="0">
                          <a:solidFill>
                            <a:srgbClr val="1A2233"/>
                          </a:solidFill>
                          <a:latin typeface="Calibri"/>
                        </a:rPr>
                        <a:t>…</a:t>
                      </a:r>
                    </a:p>
                  </a:txBody>
                  <a:tcPr marL="45720" marR="45720" marT="9144" marB="9144" anchor="ctr">
                    <a:solidFill>
                      <a:srgbClr val="FFFFFF"/>
                    </a:solidFill>
                  </a:tcPr>
                </a:tc>
                <a:tc>
                  <a:txBody>
                    <a:bodyPr/>
                    <a:lstStyle/>
                    <a:p>
                      <a:pPr algn="l"/>
                      <a:r>
                        <a:rPr sz="1200" b="0">
                          <a:solidFill>
                            <a:srgbClr val="1A2233"/>
                          </a:solidFill>
                          <a:latin typeface="Calibri"/>
                        </a:rPr>
                        <a:t>…</a:t>
                      </a:r>
                    </a:p>
                  </a:txBody>
                  <a:tcPr marL="45720" marR="45720" marT="9144" marB="9144" anchor="ctr">
                    <a:solidFill>
                      <a:srgbClr val="FFFFFF"/>
                    </a:solidFill>
                  </a:tcPr>
                </a:tc>
                <a:tc>
                  <a:txBody>
                    <a:bodyPr/>
                    <a:lstStyle/>
                    <a:p>
                      <a:pPr algn="l"/>
                      <a:r>
                        <a:rPr sz="1200" b="0">
                          <a:solidFill>
                            <a:srgbClr val="1A2233"/>
                          </a:solidFill>
                          <a:latin typeface="Calibri"/>
                        </a:rPr>
                        <a:t>…</a:t>
                      </a:r>
                    </a:p>
                  </a:txBody>
                  <a:tcPr marL="45720" marR="45720" marT="9144" marB="9144" anchor="ctr">
                    <a:solidFill>
                      <a:srgbClr val="FFFFFF"/>
                    </a:solidFill>
                  </a:tcPr>
                </a:tc>
                <a:tc>
                  <a:txBody>
                    <a:bodyPr/>
                    <a:lstStyle/>
                    <a:p>
                      <a:pPr algn="l"/>
                      <a:r>
                        <a:rPr sz="1200" b="0">
                          <a:solidFill>
                            <a:srgbClr val="1A2233"/>
                          </a:solidFill>
                          <a:latin typeface="Calibri"/>
                        </a:rPr>
                        <a:t>…</a:t>
                      </a:r>
                    </a:p>
                  </a:txBody>
                  <a:tcPr marL="45720" marR="45720" marT="9144" marB="9144" anchor="ctr">
                    <a:solidFill>
                      <a:srgbClr val="FFFFFF"/>
                    </a:solidFill>
                  </a:tcPr>
                </a:tc>
              </a:tr>
              <a:tr h="310896">
                <a:tc>
                  <a:txBody>
                    <a:bodyPr/>
                    <a:lstStyle/>
                    <a:p>
                      <a:pPr algn="ctr"/>
                      <a:r>
                        <a:rPr sz="1200" b="1">
                          <a:solidFill>
                            <a:srgbClr val="1A2233"/>
                          </a:solidFill>
                          <a:latin typeface="Calibri"/>
                        </a:rPr>
                        <a:t>3</a:t>
                      </a:r>
                    </a:p>
                  </a:txBody>
                  <a:tcPr marL="45720" marR="45720" marT="9144" marB="9144" anchor="ctr">
                    <a:solidFill>
                      <a:srgbClr val="D9DEE6"/>
                    </a:solidFill>
                  </a:tcPr>
                </a:tc>
                <a:tc>
                  <a:txBody>
                    <a:bodyPr/>
                    <a:lstStyle/>
                    <a:p>
                      <a:pPr algn="l"/>
                      <a:r>
                        <a:rPr sz="1200" b="0">
                          <a:solidFill>
                            <a:srgbClr val="1A2233"/>
                          </a:solidFill>
                          <a:latin typeface="Calibri"/>
                        </a:rPr>
                        <a:t/>
                      </a:r>
                    </a:p>
                  </a:txBody>
                  <a:tcPr marL="45720" marR="45720" marT="9144" marB="9144" anchor="ctr">
                    <a:solidFill>
                      <a:srgbClr val="FFFFFF"/>
                    </a:solidFill>
                  </a:tcPr>
                </a:tc>
                <a:tc>
                  <a:txBody>
                    <a:bodyPr/>
                    <a:lstStyle/>
                    <a:p>
                      <a:pPr algn="l"/>
                      <a:r>
                        <a:rPr sz="1200" b="0">
                          <a:solidFill>
                            <a:srgbClr val="1A2233"/>
                          </a:solidFill>
                          <a:latin typeface="Calibri"/>
                        </a:rPr>
                        <a:t/>
                      </a:r>
                    </a:p>
                  </a:txBody>
                  <a:tcPr marL="45720" marR="45720" marT="9144" marB="9144" anchor="ctr">
                    <a:solidFill>
                      <a:srgbClr val="FFFFFF"/>
                    </a:solidFill>
                  </a:tcPr>
                </a:tc>
                <a:tc>
                  <a:txBody>
                    <a:bodyPr/>
                    <a:lstStyle/>
                    <a:p>
                      <a:pPr algn="l"/>
                      <a:r>
                        <a:rPr sz="1200" b="0">
                          <a:solidFill>
                            <a:srgbClr val="1A2233"/>
                          </a:solidFill>
                          <a:latin typeface="Calibri"/>
                        </a:rPr>
                        <a:t/>
                      </a:r>
                    </a:p>
                  </a:txBody>
                  <a:tcPr marL="45720" marR="45720" marT="9144" marB="9144" anchor="ctr">
                    <a:solidFill>
                      <a:srgbClr val="FFFFFF"/>
                    </a:solidFill>
                  </a:tcPr>
                </a:tc>
                <a:tc>
                  <a:txBody>
                    <a:bodyPr/>
                    <a:lstStyle/>
                    <a:p>
                      <a:pPr algn="l"/>
                      <a:r>
                        <a:rPr sz="1200" b="0">
                          <a:solidFill>
                            <a:srgbClr val="1A2233"/>
                          </a:solidFill>
                          <a:latin typeface="Calibri"/>
                        </a:rPr>
                        <a:t/>
                      </a:r>
                    </a:p>
                  </a:txBody>
                  <a:tcPr marL="45720" marR="45720" marT="9144" marB="9144" anchor="ctr">
                    <a:solidFill>
                      <a:srgbClr val="FFFFFF"/>
                    </a:solidFill>
                  </a:tcPr>
                </a:tc>
                <a:tc>
                  <a:txBody>
                    <a:bodyPr/>
                    <a:lstStyle/>
                    <a:p>
                      <a:pPr algn="l"/>
                      <a:r>
                        <a:rPr sz="1200" b="0">
                          <a:solidFill>
                            <a:srgbClr val="1A2233"/>
                          </a:solidFill>
                          <a:latin typeface="Calibri"/>
                        </a:rPr>
                        <a:t/>
                      </a:r>
                    </a:p>
                  </a:txBody>
                  <a:tcPr marL="45720" marR="45720" marT="9144" marB="9144" anchor="ctr">
                    <a:solidFill>
                      <a:srgbClr val="FFFFFF"/>
                    </a:solidFill>
                  </a:tcPr>
                </a:tc>
                <a:tc>
                  <a:txBody>
                    <a:bodyPr/>
                    <a:lstStyle/>
                    <a:p>
                      <a:pPr algn="l"/>
                      <a:r>
                        <a:rPr sz="1200" b="0">
                          <a:solidFill>
                            <a:srgbClr val="1A2233"/>
                          </a:solidFill>
                          <a:latin typeface="Calibri"/>
                        </a:rPr>
                        <a:t/>
                      </a:r>
                    </a:p>
                  </a:txBody>
                  <a:tcPr marL="45720" marR="45720" marT="9144" marB="9144" anchor="ctr">
                    <a:solidFill>
                      <a:srgbClr val="FFFFFF"/>
                    </a:solidFill>
                  </a:tcPr>
                </a:tc>
              </a:tr>
            </a:tbl>
          </a:graphicData>
        </a:graphic>
      </p:graphicFrame>
      <p:sp>
        <p:nvSpPr>
          <p:cNvPr id="15" name="TextBox 14"/>
          <p:cNvSpPr txBox="1"/>
          <p:nvPr/>
        </p:nvSpPr>
        <p:spPr>
          <a:xfrm>
            <a:off x="548640" y="3273552"/>
            <a:ext cx="7909560" cy="731520"/>
          </a:xfrm>
          <a:prstGeom prst="rect">
            <a:avLst/>
          </a:prstGeom>
          <a:noFill/>
        </p:spPr>
        <p:txBody>
          <a:bodyPr wrap="square" lIns="45720" rIns="45720" tIns="27432" bIns="27432" anchor="t">
            <a:spAutoFit/>
          </a:bodyPr>
          <a:lstStyle/>
          <a:p>
            <a:pPr algn="l"/>
            <a:r>
              <a:rPr b="0" sz="1300" i="1">
                <a:solidFill>
                  <a:srgbClr val="5C6B7A"/>
                </a:solidFill>
                <a:latin typeface="Calibri"/>
              </a:rPr>
              <a:t>Excel fills the grid; compare with the sensitivity table on the previous slide.</a:t>
            </a:r>
          </a:p>
        </p:txBody>
      </p:sp>
      <p:sp>
        <p:nvSpPr>
          <p:cNvPr id="16" name="Rectangle 15"/>
          <p:cNvSpPr/>
          <p:nvPr/>
        </p:nvSpPr>
        <p:spPr>
          <a:xfrm>
            <a:off x="8732520" y="1481328"/>
            <a:ext cx="2926079" cy="34747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FFFFFF"/>
                </a:solidFill>
                <a:latin typeface="Calibri"/>
              </a:rPr>
              <a:t>HOW IT WORKS</a:t>
            </a:r>
          </a:p>
        </p:txBody>
      </p:sp>
      <p:sp>
        <p:nvSpPr>
          <p:cNvPr id="17" name="TextBox 16"/>
          <p:cNvSpPr txBox="1"/>
          <p:nvPr/>
        </p:nvSpPr>
        <p:spPr>
          <a:xfrm>
            <a:off x="8732520" y="1920240"/>
            <a:ext cx="2926079" cy="4206240"/>
          </a:xfrm>
          <a:prstGeom prst="rect">
            <a:avLst/>
          </a:prstGeom>
          <a:noFill/>
        </p:spPr>
        <p:txBody>
          <a:bodyPr wrap="square">
            <a:spAutoFit/>
          </a:bodyPr>
          <a:lstStyle/>
          <a:p>
            <a:pPr>
              <a:spcAft>
                <a:spcPts val="600"/>
              </a:spcAft>
            </a:pPr>
            <a:r>
              <a:rPr b="0" sz="1400" i="0">
                <a:solidFill>
                  <a:srgbClr val="1A2233"/>
                </a:solidFill>
                <a:latin typeface="Calibri"/>
              </a:rPr>
              <a:t>▪ Place the table on </a:t>
            </a:r>
            <a:r>
              <a:rPr b="1" sz="1400" i="0">
                <a:solidFill>
                  <a:srgbClr val="1A2233"/>
                </a:solidFill>
                <a:latin typeface="Calibri"/>
              </a:rPr>
              <a:t>InpC</a:t>
            </a:r>
            <a:r>
              <a:rPr b="0" sz="1400" i="0">
                <a:solidFill>
                  <a:srgbClr val="1A2233"/>
                </a:solidFill>
                <a:latin typeface="Calibri"/>
              </a:rPr>
              <a:t> (an input cell must be on the same sheet as the table)</a:t>
            </a:r>
          </a:p>
          <a:p>
            <a:pPr>
              <a:spcAft>
                <a:spcPts val="600"/>
              </a:spcAft>
            </a:pPr>
            <a:r>
              <a:rPr b="0" sz="1400" i="0">
                <a:solidFill>
                  <a:srgbClr val="1A2233"/>
                </a:solidFill>
                <a:latin typeface="Calibri"/>
              </a:rPr>
              <a:t>▪ Row of input values above, the result link in the corner (</a:t>
            </a:r>
            <a:r>
              <a:rPr b="0" sz="1400" i="0">
                <a:solidFill>
                  <a:srgbClr val="0B5E82"/>
                </a:solidFill>
                <a:latin typeface="Consolas"/>
              </a:rPr>
              <a:t>=Val!F49</a:t>
            </a:r>
            <a:r>
              <a:rPr b="0" sz="1400" i="0">
                <a:solidFill>
                  <a:srgbClr val="1A2233"/>
                </a:solidFill>
                <a:latin typeface="Calibri"/>
              </a:rPr>
              <a:t>)</a:t>
            </a:r>
          </a:p>
          <a:p>
            <a:pPr>
              <a:spcAft>
                <a:spcPts val="600"/>
              </a:spcAft>
            </a:pPr>
            <a:r>
              <a:rPr b="0" sz="1400" i="0">
                <a:solidFill>
                  <a:srgbClr val="1A2233"/>
                </a:solidFill>
                <a:latin typeface="Calibri"/>
              </a:rPr>
              <a:t>▪ Select the block, then </a:t>
            </a:r>
            <a:r>
              <a:rPr b="1" sz="1400" i="0">
                <a:solidFill>
                  <a:srgbClr val="1A2233"/>
                </a:solidFill>
                <a:latin typeface="Calibri"/>
              </a:rPr>
              <a:t>Data ▸ What-If Analysis ▸ Data Table</a:t>
            </a:r>
            <a:r>
              <a:rPr b="0" sz="1400" i="0">
                <a:solidFill>
                  <a:srgbClr val="1A2233"/>
                </a:solidFill>
                <a:latin typeface="Calibri"/>
              </a:rPr>
              <a:t>: </a:t>
            </a:r>
            <a:r>
              <a:rPr b="0" sz="1400" i="0">
                <a:solidFill>
                  <a:srgbClr val="0B5E82"/>
                </a:solidFill>
                <a:latin typeface="Consolas"/>
              </a:rPr>
              <a:t>Alt+A, W, T</a:t>
            </a:r>
            <a:r>
              <a:rPr b="0" sz="1400" i="0">
                <a:solidFill>
                  <a:srgbClr val="1A2233"/>
                </a:solidFill>
                <a:latin typeface="Calibri"/>
              </a:rPr>
              <a:t> (Win) or the Data menu (Mac)</a:t>
            </a:r>
          </a:p>
          <a:p>
            <a:pPr>
              <a:spcAft>
                <a:spcPts val="600"/>
              </a:spcAft>
            </a:pPr>
            <a:r>
              <a:rPr b="0" sz="1400" i="0">
                <a:solidFill>
                  <a:srgbClr val="1A2233"/>
                </a:solidFill>
                <a:latin typeface="Calibri"/>
              </a:rPr>
              <a:t>▪ Row input cell: </a:t>
            </a:r>
            <a:r>
              <a:rPr b="0" sz="1400" i="0">
                <a:solidFill>
                  <a:srgbClr val="0B5E82"/>
                </a:solidFill>
                <a:latin typeface="Consolas"/>
              </a:rPr>
              <a:t>InpC!J35</a:t>
            </a:r>
            <a:r>
              <a:rPr b="0" sz="1400" i="0">
                <a:solidFill>
                  <a:srgbClr val="1A2233"/>
                </a:solidFill>
                <a:latin typeface="Calibri"/>
              </a:rPr>
              <a:t> (the Upside fare)</a:t>
            </a:r>
          </a:p>
          <a:p>
            <a:pPr>
              <a:spcAft>
                <a:spcPts val="600"/>
              </a:spcAft>
            </a:pPr>
            <a:r>
              <a:rPr b="0" sz="1400" i="0">
                <a:solidFill>
                  <a:srgbClr val="1A2233"/>
                </a:solidFill>
                <a:latin typeface="Calibri"/>
              </a:rPr>
              <a:t>▪ Excel fills the grid with </a:t>
            </a:r>
            <a:r>
              <a:rPr b="0" sz="1400" i="0">
                <a:solidFill>
                  <a:srgbClr val="0B5E82"/>
                </a:solidFill>
                <a:latin typeface="Consolas"/>
              </a:rPr>
              <a:t>{=TABLE(J35,)}</a:t>
            </a:r>
            <a:r>
              <a:rPr b="0" sz="1400" i="0">
                <a:solidFill>
                  <a:srgbClr val="1A2233"/>
                </a:solidFill>
                <a:latin typeface="Calibri"/>
              </a:rPr>
              <a:t>: do not type it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5.5: Run a one-way data table on fare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Create a data table of shareholder IRR for fares between −10% and +10%.</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On InpC, type fare values 6.435, 6.79, 7.15, 7.51, 7.865 across; link the corner cell to </a:t>
            </a:r>
            <a:r>
              <a:rPr b="0" sz="1500" i="0">
                <a:solidFill>
                  <a:srgbClr val="0B5E82"/>
                </a:solidFill>
                <a:latin typeface="Consolas"/>
              </a:rPr>
              <a:t>=Val!F49</a:t>
            </a:r>
          </a:p>
          <a:p>
            <a:pPr>
              <a:spcAft>
                <a:spcPts val="300"/>
              </a:spcAft>
            </a:pPr>
            <a:r>
              <a:rPr b="0" sz="1500" i="0">
                <a:solidFill>
                  <a:srgbClr val="1A2233"/>
                </a:solidFill>
                <a:latin typeface="Calibri"/>
              </a:rPr>
              <a:t>2.  Select the block and open Data Table</a:t>
            </a:r>
          </a:p>
          <a:p>
            <a:pPr>
              <a:spcAft>
                <a:spcPts val="300"/>
              </a:spcAft>
            </a:pPr>
            <a:r>
              <a:rPr b="0" sz="1500" i="0">
                <a:solidFill>
                  <a:srgbClr val="1A2233"/>
                </a:solidFill>
                <a:latin typeface="Calibri"/>
              </a:rPr>
              <a:t>3.  Row input cell = InpC!J35</a:t>
            </a:r>
          </a:p>
          <a:p>
            <a:pPr>
              <a:spcAft>
                <a:spcPts val="300"/>
              </a:spcAft>
            </a:pPr>
            <a:r>
              <a:rPr b="0" sz="1500" i="0">
                <a:solidFill>
                  <a:srgbClr val="1A2233"/>
                </a:solidFill>
                <a:latin typeface="Calibri"/>
              </a:rPr>
              <a:t>4.  Format the results as percent: Ctrl+Shift+%</a:t>
            </a:r>
          </a:p>
          <a:p>
            <a:pPr>
              <a:spcAft>
                <a:spcPts val="300"/>
              </a:spcAft>
            </a:pPr>
            <a:r>
              <a:rPr b="0" sz="1500" i="0">
                <a:solidFill>
                  <a:srgbClr val="1A2233"/>
                </a:solidFill>
                <a:latin typeface="Calibri"/>
              </a:rPr>
              <a:t>5.  Compare with the table on the previous slide</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20 min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RATIO</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DSCR: the lender's safety margin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DSCR is the cash available to pay the lender in a quarter divided by what the lender is owed that quarter. Above 1.0 the lender is covered; lenders usually ask for a minimum well above 1.</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DSCR = CFADS ÷ (interest + principal)</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Debt service = interest + principal</a:t>
            </a:r>
          </a:p>
          <a:p>
            <a:pPr algn="l"/>
            <a:r>
              <a:rPr b="0" sz="1600" i="0">
                <a:solidFill>
                  <a:srgbClr val="1A2233"/>
                </a:solidFill>
                <a:latin typeface="Calibri"/>
              </a:rPr>
              <a:t>DSCR = CFADS ÷ debt service (FinStat!J38 ÷ (Debt!J32 + Debt!J21))</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7.5-year profile has a minimum DSCR of 1.17x in this model: cover is thin in the weakest quarters. That is why Day 7 re-shapes repayments (sculpting).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RATIO</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DSCR by quarter for the three supplied profiles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Minimum / average DSCR: profile 1: 1.17x / 2.58x; profile 2: 1.40x / 3.29x; profile 3: 1.74x / 4.87x. Calculated from the model's CFADS and debt service.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5.5b: Add DSCR to FinStat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the DSCR row below the cash cascade and find the minimum.</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In a blank row type label 'DSCR'</a:t>
            </a:r>
          </a:p>
          <a:p>
            <a:pPr>
              <a:spcAft>
                <a:spcPts val="300"/>
              </a:spcAft>
            </a:pPr>
            <a:r>
              <a:rPr b="0" sz="1500" i="0">
                <a:solidFill>
                  <a:srgbClr val="1A2233"/>
                </a:solidFill>
                <a:latin typeface="Calibri"/>
              </a:rPr>
              <a:t>2.  </a:t>
            </a:r>
            <a:r>
              <a:rPr b="0" sz="1500" i="0">
                <a:solidFill>
                  <a:srgbClr val="0B5E82"/>
                </a:solidFill>
                <a:latin typeface="Consolas"/>
              </a:rPr>
              <a:t>=IF(J_ds&gt;0,J38/J_ds,0)</a:t>
            </a:r>
            <a:r>
              <a:rPr b="0" sz="1500" i="0">
                <a:solidFill>
                  <a:srgbClr val="1A2233"/>
                </a:solidFill>
                <a:latin typeface="Calibri"/>
              </a:rPr>
              <a:t> where J_ds is debt service: </a:t>
            </a:r>
            <a:r>
              <a:rPr b="0" sz="1500" i="0">
                <a:solidFill>
                  <a:srgbClr val="0B5E82"/>
                </a:solidFill>
                <a:latin typeface="Consolas"/>
              </a:rPr>
              <a:t>=Debt!J21+Debt!J32</a:t>
            </a:r>
            <a:r>
              <a:rPr b="0" sz="1500" i="0">
                <a:solidFill>
                  <a:srgbClr val="1A2233"/>
                </a:solidFill>
                <a:latin typeface="Calibri"/>
              </a:rPr>
              <a:t> in a row above</a:t>
            </a:r>
          </a:p>
          <a:p>
            <a:pPr>
              <a:spcAft>
                <a:spcPts val="300"/>
              </a:spcAft>
            </a:pPr>
            <a:r>
              <a:rPr b="0" sz="1500" i="0">
                <a:solidFill>
                  <a:srgbClr val="1A2233"/>
                </a:solidFill>
                <a:latin typeface="Calibri"/>
              </a:rPr>
              <a:t>3.  Minimum: </a:t>
            </a:r>
            <a:r>
              <a:rPr b="0" sz="1500" i="0">
                <a:solidFill>
                  <a:srgbClr val="0B5E82"/>
                </a:solidFill>
                <a:latin typeface="Consolas"/>
              </a:rPr>
              <a:t>=MINIFS(J_dscr:CO_dscr,J_ds:CO_ds,"&gt;0")</a:t>
            </a:r>
            <a:r>
              <a:rPr b="0" sz="1500" i="0">
                <a:solidFill>
                  <a:srgbClr val="1A2233"/>
                </a:solidFill>
                <a:latin typeface="Calibri"/>
              </a:rPr>
              <a:t> (Excel 2019+)</a:t>
            </a:r>
          </a:p>
          <a:p>
            <a:pPr>
              <a:spcAft>
                <a:spcPts val="300"/>
              </a:spcAft>
            </a:pPr>
            <a:r>
              <a:rPr b="0" sz="1500" i="0">
                <a:solidFill>
                  <a:srgbClr val="1A2233"/>
                </a:solidFill>
                <a:latin typeface="Calibri"/>
              </a:rPr>
              <a:t>4.  Average: </a:t>
            </a:r>
            <a:r>
              <a:rPr b="0" sz="1500" i="0">
                <a:solidFill>
                  <a:srgbClr val="0B5E82"/>
                </a:solidFill>
                <a:latin typeface="Consolas"/>
              </a:rPr>
              <a:t>=AVERAGEIFS(...)</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87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15.45 – 16.15</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8: Valuation: NPV, XIRR, project IRR, payback</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What are the shareholders' cash flows worth?</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NPV and IRR in plain English</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Money received later is worth less than money received now. NPV discounts every future cash flow back to today at the return shareholders require and adds them up. IRR is the discount rate at which the NPV would be exactly zero.</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NPV = Σ cash flow ÷ (1 + r)^(years from valuation date)</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Required return 25.25% p.a. (InpC!F93). NPV = 17,609.0 &gt; 0: the project earns more than required.</a:t>
            </a:r>
          </a:p>
          <a:p>
            <a:pPr algn="l"/>
            <a:r>
              <a:rPr b="0" sz="1600" i="0">
                <a:solidFill>
                  <a:srgbClr val="1A2233"/>
                </a:solidFill>
                <a:latin typeface="Calibri"/>
              </a:rPr>
              <a:t>IRR = 33.72% &gt; 25.25%: same conclusion</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Accept if NPV &gt; 0 or IRR &gt; required return (for conventional cash flows).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 block 1: discount factor (rows 10 to 17)</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33472"/>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10</a:t>
                      </a:r>
                    </a:p>
                  </a:txBody>
                  <a:tcPr marL="64008" marR="64008" marT="27432" marB="27432" anchor="ctr">
                    <a:solidFill>
                      <a:srgbClr val="FFFFFF"/>
                    </a:solidFill>
                  </a:tcPr>
                </a:tc>
                <a:tc>
                  <a:txBody>
                    <a:bodyPr wrap="square"/>
                    <a:lstStyle/>
                    <a:p>
                      <a:r>
                        <a:rPr b="0" sz="1200" i="0">
                          <a:solidFill>
                            <a:srgbClr val="1A2233"/>
                          </a:solidFill>
                          <a:latin typeface="Calibri"/>
                        </a:rPr>
                        <a:t>Shareholders valuation date</a:t>
                      </a:r>
                    </a:p>
                  </a:txBody>
                  <a:tcPr marL="64008" marR="64008" marT="27432" marB="27432" anchor="ctr">
                    <a:solidFill>
                      <a:srgbClr val="FFFFFF"/>
                    </a:solidFill>
                  </a:tcPr>
                </a:tc>
                <a:tc>
                  <a:txBody>
                    <a:bodyPr wrap="square"/>
                    <a:lstStyle/>
                    <a:p>
                      <a:r>
                        <a:rPr b="0" sz="1200" i="0">
                          <a:solidFill>
                            <a:srgbClr val="1A2233"/>
                          </a:solidFill>
                          <a:latin typeface="Consolas"/>
                        </a:rPr>
                        <a:t>F: =InpC!F$90</a:t>
                      </a:r>
                    </a:p>
                  </a:txBody>
                  <a:tcPr marL="64008" marR="64008" marT="27432" marB="27432" anchor="ctr">
                    <a:solidFill>
                      <a:srgbClr val="FFFFFF"/>
                    </a:solidFill>
                  </a:tcPr>
                </a:tc>
              </a:tr>
              <a:tr h="329184">
                <a:tc>
                  <a:txBody>
                    <a:bodyPr wrap="square"/>
                    <a:lstStyle/>
                    <a:p>
                      <a:r>
                        <a:rPr b="1" sz="1200" i="0">
                          <a:solidFill>
                            <a:srgbClr val="1A2233"/>
                          </a:solidFill>
                          <a:latin typeface="Calibri"/>
                        </a:rPr>
                        <a:t>11</a:t>
                      </a:r>
                    </a:p>
                  </a:txBody>
                  <a:tcPr marL="64008" marR="64008" marT="27432" marB="27432" anchor="ctr">
                    <a:solidFill>
                      <a:srgbClr val="F3F6F9"/>
                    </a:solidFill>
                  </a:tcPr>
                </a:tc>
                <a:tc>
                  <a:txBody>
                    <a:bodyPr wrap="square"/>
                    <a:lstStyle/>
                    <a:p>
                      <a:r>
                        <a:rPr b="0" sz="1200" i="0">
                          <a:solidFill>
                            <a:srgbClr val="1A2233"/>
                          </a:solidFill>
                          <a:latin typeface="Calibri"/>
                        </a:rPr>
                        <a:t>Days in shareholder discount year</a:t>
                      </a:r>
                    </a:p>
                  </a:txBody>
                  <a:tcPr marL="64008" marR="64008" marT="27432" marB="27432" anchor="ctr">
                    <a:solidFill>
                      <a:srgbClr val="F3F6F9"/>
                    </a:solidFill>
                  </a:tcPr>
                </a:tc>
                <a:tc>
                  <a:txBody>
                    <a:bodyPr wrap="square"/>
                    <a:lstStyle/>
                    <a:p>
                      <a:r>
                        <a:rPr b="0" sz="1200" i="0">
                          <a:solidFill>
                            <a:srgbClr val="1A2233"/>
                          </a:solidFill>
                          <a:latin typeface="Consolas"/>
                        </a:rPr>
                        <a:t>F: =InpC!F$91</a:t>
                      </a:r>
                    </a:p>
                  </a:txBody>
                  <a:tcPr marL="64008" marR="64008" marT="27432" marB="27432" anchor="ctr">
                    <a:solidFill>
                      <a:srgbClr val="F3F6F9"/>
                    </a:solidFill>
                  </a:tcPr>
                </a:tc>
              </a:tr>
              <a:tr h="329184">
                <a:tc>
                  <a:txBody>
                    <a:bodyPr wrap="square"/>
                    <a:lstStyle/>
                    <a:p>
                      <a:r>
                        <a:rPr b="1" sz="1200" i="0">
                          <a:solidFill>
                            <a:srgbClr val="1A2233"/>
                          </a:solidFill>
                          <a:latin typeface="Calibri"/>
                        </a:rPr>
                        <a:t>12</a:t>
                      </a:r>
                    </a:p>
                  </a:txBody>
                  <a:tcPr marL="64008" marR="64008" marT="27432" marB="27432" anchor="ctr">
                    <a:solidFill>
                      <a:srgbClr val="FFFFFF"/>
                    </a:solidFill>
                  </a:tcPr>
                </a:tc>
                <a:tc>
                  <a:txBody>
                    <a:bodyPr wrap="square"/>
                    <a:lstStyle/>
                    <a:p>
                      <a:r>
                        <a:rPr b="0" sz="1200" i="0">
                          <a:solidFill>
                            <a:srgbClr val="1A2233"/>
                          </a:solidFill>
                          <a:latin typeface="Calibri"/>
                        </a:rPr>
                        <a:t>Model period ending </a:t>
                      </a:r>
                    </a:p>
                  </a:txBody>
                  <a:tcPr marL="64008" marR="64008" marT="27432" marB="27432" anchor="ctr">
                    <a:solidFill>
                      <a:srgbClr val="FFFFFF"/>
                    </a:solidFill>
                  </a:tcPr>
                </a:tc>
                <a:tc>
                  <a:txBody>
                    <a:bodyPr wrap="square"/>
                    <a:lstStyle/>
                    <a:p>
                      <a:r>
                        <a:rPr b="0" sz="1200" i="0">
                          <a:solidFill>
                            <a:srgbClr val="1A2233"/>
                          </a:solidFill>
                          <a:latin typeface="Consolas"/>
                        </a:rPr>
                        <a:t>J: =Time!J$25</a:t>
                      </a:r>
                    </a:p>
                  </a:txBody>
                  <a:tcPr marL="64008" marR="64008" marT="27432" marB="27432" anchor="ctr">
                    <a:solidFill>
                      <a:srgbClr val="FFFFFF"/>
                    </a:solidFill>
                  </a:tcPr>
                </a:tc>
              </a:tr>
              <a:tr h="329184">
                <a:tc>
                  <a:txBody>
                    <a:bodyPr wrap="square"/>
                    <a:lstStyle/>
                    <a:p>
                      <a:r>
                        <a:rPr b="1" sz="1200" i="0">
                          <a:solidFill>
                            <a:srgbClr val="1A2233"/>
                          </a:solidFill>
                          <a:latin typeface="Calibri"/>
                        </a:rPr>
                        <a:t>13</a:t>
                      </a:r>
                    </a:p>
                  </a:txBody>
                  <a:tcPr marL="64008" marR="64008" marT="27432" marB="27432" anchor="ctr">
                    <a:solidFill>
                      <a:srgbClr val="F3F6F9"/>
                    </a:solidFill>
                  </a:tcPr>
                </a:tc>
                <a:tc>
                  <a:txBody>
                    <a:bodyPr wrap="square"/>
                    <a:lstStyle/>
                    <a:p>
                      <a:r>
                        <a:rPr b="0" sz="1200" i="0">
                          <a:solidFill>
                            <a:srgbClr val="1A2233"/>
                          </a:solidFill>
                          <a:latin typeface="Calibri"/>
                        </a:rPr>
                        <a:t>Years from shareholder valuation date</a:t>
                      </a:r>
                    </a:p>
                  </a:txBody>
                  <a:tcPr marL="64008" marR="64008" marT="27432" marB="27432" anchor="ctr">
                    <a:solidFill>
                      <a:srgbClr val="F3F6F9"/>
                    </a:solidFill>
                  </a:tcPr>
                </a:tc>
                <a:tc>
                  <a:txBody>
                    <a:bodyPr wrap="square"/>
                    <a:lstStyle/>
                    <a:p>
                      <a:r>
                        <a:rPr b="0" sz="1200" i="0">
                          <a:solidFill>
                            <a:srgbClr val="1A2233"/>
                          </a:solidFill>
                          <a:latin typeface="Consolas"/>
                        </a:rPr>
                        <a:t>J: =(J12-$F10)/$F11</a:t>
                      </a:r>
                    </a:p>
                  </a:txBody>
                  <a:tcPr marL="64008" marR="64008" marT="27432" marB="27432" anchor="ctr">
                    <a:solidFill>
                      <a:srgbClr val="F3F6F9"/>
                    </a:solidFill>
                  </a:tcPr>
                </a:tc>
              </a:tr>
              <a:tr h="329184">
                <a:tc>
                  <a:txBody>
                    <a:bodyPr wrap="square"/>
                    <a:lstStyle/>
                    <a:p>
                      <a:r>
                        <a:rPr b="1"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alibri"/>
                        </a:rPr>
                        <a:t>Shareholder required rate of return per annum</a:t>
                      </a:r>
                    </a:p>
                  </a:txBody>
                  <a:tcPr marL="64008" marR="64008" marT="27432" marB="27432" anchor="ctr">
                    <a:solidFill>
                      <a:srgbClr val="FFFFFF"/>
                    </a:solidFill>
                  </a:tcPr>
                </a:tc>
                <a:tc>
                  <a:txBody>
                    <a:bodyPr wrap="square"/>
                    <a:lstStyle/>
                    <a:p>
                      <a:r>
                        <a:rPr b="0" sz="1200" i="0">
                          <a:solidFill>
                            <a:srgbClr val="1A2233"/>
                          </a:solidFill>
                          <a:latin typeface="Consolas"/>
                        </a:rPr>
                        <a:t>F: =InpC!F$93</a:t>
                      </a:r>
                    </a:p>
                  </a:txBody>
                  <a:tcPr marL="64008" marR="64008" marT="27432" marB="27432" anchor="ctr">
                    <a:solidFill>
                      <a:srgbClr val="FFFFFF"/>
                    </a:solidFill>
                  </a:tcPr>
                </a:tc>
              </a:tr>
              <a:tr h="329184">
                <a:tc>
                  <a:txBody>
                    <a:bodyPr wrap="square"/>
                    <a:lstStyle/>
                    <a:p>
                      <a:r>
                        <a:rPr b="1"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alibri"/>
                        </a:rPr>
                        <a:t>Years from shareholder valuation date</a:t>
                      </a:r>
                    </a:p>
                  </a:txBody>
                  <a:tcPr marL="64008" marR="64008" marT="27432" marB="27432" anchor="ctr">
                    <a:solidFill>
                      <a:srgbClr val="F3F6F9"/>
                    </a:solidFill>
                  </a:tcPr>
                </a:tc>
                <a:tc>
                  <a:txBody>
                    <a:bodyPr wrap="square"/>
                    <a:lstStyle/>
                    <a:p>
                      <a:r>
                        <a:rPr b="0" sz="1200" i="0">
                          <a:solidFill>
                            <a:srgbClr val="1A2233"/>
                          </a:solidFill>
                          <a:latin typeface="Consolas"/>
                        </a:rPr>
                        <a:t>J: =J$13</a:t>
                      </a:r>
                    </a:p>
                  </a:txBody>
                  <a:tcPr marL="64008" marR="64008" marT="27432" marB="27432" anchor="ctr">
                    <a:solidFill>
                      <a:srgbClr val="F3F6F9"/>
                    </a:solidFill>
                  </a:tcPr>
                </a:tc>
              </a:tr>
              <a:tr h="329184">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Shareholder discount factor</a:t>
                      </a:r>
                    </a:p>
                  </a:txBody>
                  <a:tcPr marL="64008" marR="64008" marT="27432" marB="27432" anchor="ctr">
                    <a:solidFill>
                      <a:srgbClr val="FFFFFF"/>
                    </a:solidFill>
                  </a:tcPr>
                </a:tc>
                <a:tc>
                  <a:txBody>
                    <a:bodyPr wrap="square"/>
                    <a:lstStyle/>
                    <a:p>
                      <a:r>
                        <a:rPr b="0" sz="1200" i="0">
                          <a:solidFill>
                            <a:srgbClr val="1A2233"/>
                          </a:solidFill>
                          <a:latin typeface="Consolas"/>
                        </a:rPr>
                        <a:t>J: =1/(1+$F15)^J16</a:t>
                      </a:r>
                    </a:p>
                  </a:txBody>
                  <a:tcPr marL="64008" marR="64008" marT="27432" marB="27432" anchor="ctr">
                    <a:solidFill>
                      <a:srgbClr val="FFFFFF"/>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Val!J13: years from the shareholder valuation date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J13  (to CO13)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Years from shareholder valuation date  (years)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=(J12-$F10)/$F11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Days from the valuation date (31 Dec 21) to the period end, divided by 365</a:t>
            </a:r>
          </a:p>
          <a:p>
            <a:pPr algn="l"/>
            <a:r>
              <a:rPr b="0" sz="1500" i="0">
                <a:solidFill>
                  <a:srgbClr val="1A2233"/>
                </a:solidFill>
                <a:latin typeface="Calibri"/>
              </a:rPr>
              <a:t>▪ Actual dates make the quarterly timeline exact</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F10 = InpC!F$90 (valuation date)</a:t>
            </a:r>
          </a:p>
          <a:p>
            <a:pPr algn="l"/>
            <a:r>
              <a:rPr b="0" sz="1300" i="0">
                <a:solidFill>
                  <a:srgbClr val="1A2233"/>
                </a:solidFill>
                <a:latin typeface="Consolas"/>
              </a:rPr>
              <a:t>F11 = InpC!F$91 (365)</a:t>
            </a:r>
          </a:p>
          <a:p>
            <a:pPr algn="l"/>
            <a:r>
              <a:rPr b="0" sz="1300" i="0">
                <a:solidFill>
                  <a:srgbClr val="1A2233"/>
                </a:solidFill>
                <a:latin typeface="Consolas"/>
              </a:rPr>
              <a:t>J12 = Time!J$25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J13:CO13,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J13:CO13,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J13 → CO13</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H13 = empty;  L13 = 0.2466</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Years elapsed, fractional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Val!J17: shareholder discount factor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J17  (to CO17)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discount factor  (factor)</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=1/(1+$F15)^J16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1 ÷ (1 + required return) ^ years elapsed</a:t>
            </a:r>
          </a:p>
          <a:p>
            <a:pPr algn="l"/>
            <a:r>
              <a:rPr b="0" sz="1500" i="0">
                <a:solidFill>
                  <a:srgbClr val="1A2233"/>
                </a:solidFill>
                <a:latin typeface="Calibri"/>
              </a:rPr>
              <a:t>▪ At the valuation date the factor is 1</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F15 = InpC!F$93 (25.25%)</a:t>
            </a:r>
          </a:p>
          <a:p>
            <a:pPr algn="l"/>
            <a:r>
              <a:rPr b="0" sz="1300" i="0">
                <a:solidFill>
                  <a:srgbClr val="1A2233"/>
                </a:solidFill>
                <a:latin typeface="Consolas"/>
              </a:rPr>
              <a:t>J16 = J$13</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J17:CO17,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J17:CO17,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J17 → CO17</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H17 = empty;  L17 = 0.9460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Converts a future dollar to today's dollar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 block 2: shareholder cash flows (rows 21 to 31)</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21</a:t>
                      </a:r>
                    </a:p>
                  </a:txBody>
                  <a:tcPr marL="64008" marR="64008" marT="27432" marB="27432" anchor="ctr">
                    <a:solidFill>
                      <a:srgbClr val="FFFFFF"/>
                    </a:solidFill>
                  </a:tcPr>
                </a:tc>
                <a:tc>
                  <a:txBody>
                    <a:bodyPr wrap="square"/>
                    <a:lstStyle/>
                    <a:p>
                      <a:r>
                        <a:rPr b="0" sz="1200" i="0">
                          <a:solidFill>
                            <a:srgbClr val="1A2233"/>
                          </a:solidFill>
                          <a:latin typeface="Calibri"/>
                        </a:rPr>
                        <a:t>Dividend declared and paid POS</a:t>
                      </a:r>
                    </a:p>
                  </a:txBody>
                  <a:tcPr marL="64008" marR="64008" marT="27432" marB="27432" anchor="ctr">
                    <a:solidFill>
                      <a:srgbClr val="FFFFFF"/>
                    </a:solidFill>
                  </a:tcPr>
                </a:tc>
                <a:tc>
                  <a:txBody>
                    <a:bodyPr wrap="square"/>
                    <a:lstStyle/>
                    <a:p>
                      <a:r>
                        <a:rPr b="0" sz="1200" i="0">
                          <a:solidFill>
                            <a:srgbClr val="1A2233"/>
                          </a:solidFill>
                          <a:latin typeface="Consolas"/>
                        </a:rPr>
                        <a:t>J: =Equity!J$39</a:t>
                      </a:r>
                    </a:p>
                  </a:txBody>
                  <a:tcPr marL="64008" marR="64008" marT="27432" marB="27432" anchor="ctr">
                    <a:solidFill>
                      <a:srgbClr val="FFFFFF"/>
                    </a:solidFill>
                  </a:tcPr>
                </a:tc>
              </a:tr>
              <a:tr h="329184">
                <a:tc>
                  <a:txBody>
                    <a:bodyPr wrap="square"/>
                    <a:lstStyle/>
                    <a:p>
                      <a:r>
                        <a:rPr b="1" sz="1200" i="0">
                          <a:solidFill>
                            <a:srgbClr val="1A2233"/>
                          </a:solidFill>
                          <a:latin typeface="Calibri"/>
                        </a:rPr>
                        <a:t>22</a:t>
                      </a:r>
                    </a:p>
                  </a:txBody>
                  <a:tcPr marL="64008" marR="64008" marT="27432" marB="27432" anchor="ctr">
                    <a:solidFill>
                      <a:srgbClr val="F3F6F9"/>
                    </a:solidFill>
                  </a:tcPr>
                </a:tc>
                <a:tc>
                  <a:txBody>
                    <a:bodyPr wrap="square"/>
                    <a:lstStyle/>
                    <a:p>
                      <a:r>
                        <a:rPr b="0" sz="1200" i="0">
                          <a:solidFill>
                            <a:srgbClr val="1A2233"/>
                          </a:solidFill>
                          <a:latin typeface="Calibri"/>
                        </a:rPr>
                        <a:t>Share capital redemption POS</a:t>
                      </a:r>
                    </a:p>
                  </a:txBody>
                  <a:tcPr marL="64008" marR="64008" marT="27432" marB="27432" anchor="ctr">
                    <a:solidFill>
                      <a:srgbClr val="F3F6F9"/>
                    </a:solidFill>
                  </a:tcPr>
                </a:tc>
                <a:tc>
                  <a:txBody>
                    <a:bodyPr wrap="square"/>
                    <a:lstStyle/>
                    <a:p>
                      <a:r>
                        <a:rPr b="0" sz="1200" i="0">
                          <a:solidFill>
                            <a:srgbClr val="1A2233"/>
                          </a:solidFill>
                          <a:latin typeface="Consolas"/>
                        </a:rPr>
                        <a:t>J: =Equity!J$10</a:t>
                      </a:r>
                    </a:p>
                  </a:txBody>
                  <a:tcPr marL="64008" marR="64008" marT="27432" marB="27432" anchor="ctr">
                    <a:solidFill>
                      <a:srgbClr val="F3F6F9"/>
                    </a:solidFill>
                  </a:tcPr>
                </a:tc>
              </a:tr>
              <a:tr h="329184">
                <a:tc>
                  <a:txBody>
                    <a:bodyPr wrap="square"/>
                    <a:lstStyle/>
                    <a:p>
                      <a:r>
                        <a:rPr b="1" sz="1200" i="0">
                          <a:solidFill>
                            <a:srgbClr val="1A2233"/>
                          </a:solidFill>
                          <a:latin typeface="Calibri"/>
                        </a:rPr>
                        <a:t>23</a:t>
                      </a:r>
                    </a:p>
                  </a:txBody>
                  <a:tcPr marL="64008" marR="64008" marT="27432" marB="27432" anchor="ctr">
                    <a:solidFill>
                      <a:srgbClr val="FFFFFF"/>
                    </a:solidFill>
                  </a:tcPr>
                </a:tc>
                <a:tc>
                  <a:txBody>
                    <a:bodyPr wrap="square"/>
                    <a:lstStyle/>
                    <a:p>
                      <a:r>
                        <a:rPr b="0" sz="1200" i="0">
                          <a:solidFill>
                            <a:srgbClr val="1A2233"/>
                          </a:solidFill>
                          <a:latin typeface="Calibri"/>
                        </a:rPr>
                        <a:t>Shareholder cash inflow </a:t>
                      </a:r>
                    </a:p>
                  </a:txBody>
                  <a:tcPr marL="64008" marR="64008" marT="27432" marB="27432" anchor="ctr">
                    <a:solidFill>
                      <a:srgbClr val="FFFFFF"/>
                    </a:solidFill>
                  </a:tcPr>
                </a:tc>
                <a:tc>
                  <a:txBody>
                    <a:bodyPr wrap="square"/>
                    <a:lstStyle/>
                    <a:p>
                      <a:r>
                        <a:rPr b="0" sz="1200" i="0">
                          <a:solidFill>
                            <a:srgbClr val="1A2233"/>
                          </a:solidFill>
                          <a:latin typeface="Consolas"/>
                        </a:rPr>
                        <a:t>J: =SUM(J21:J22)</a:t>
                      </a:r>
                    </a:p>
                  </a:txBody>
                  <a:tcPr marL="64008" marR="64008" marT="27432" marB="27432" anchor="ctr">
                    <a:solidFill>
                      <a:srgbClr val="FFFFFF"/>
                    </a:solidFill>
                  </a:tcPr>
                </a:tc>
              </a:tr>
              <a:tr h="329184">
                <a:tc>
                  <a:txBody>
                    <a:bodyPr wrap="square"/>
                    <a:lstStyle/>
                    <a:p>
                      <a:r>
                        <a:rPr b="1" sz="1200" i="0">
                          <a:solidFill>
                            <a:srgbClr val="1A2233"/>
                          </a:solidFill>
                          <a:latin typeface="Calibri"/>
                        </a:rPr>
                        <a:t>25</a:t>
                      </a:r>
                    </a:p>
                  </a:txBody>
                  <a:tcPr marL="64008" marR="64008" marT="27432" marB="27432" anchor="ctr">
                    <a:solidFill>
                      <a:srgbClr val="F3F6F9"/>
                    </a:solidFill>
                  </a:tcPr>
                </a:tc>
                <a:tc>
                  <a:txBody>
                    <a:bodyPr wrap="square"/>
                    <a:lstStyle/>
                    <a:p>
                      <a:r>
                        <a:rPr b="0" sz="1200" i="0">
                          <a:solidFill>
                            <a:srgbClr val="1A2233"/>
                          </a:solidFill>
                          <a:latin typeface="Calibri"/>
                        </a:rPr>
                        <a:t>Share capital - Initial balance</a:t>
                      </a:r>
                    </a:p>
                  </a:txBody>
                  <a:tcPr marL="64008" marR="64008" marT="27432" marB="27432" anchor="ctr">
                    <a:solidFill>
                      <a:srgbClr val="F3F6F9"/>
                    </a:solidFill>
                  </a:tcPr>
                </a:tc>
                <a:tc>
                  <a:txBody>
                    <a:bodyPr wrap="square"/>
                    <a:lstStyle/>
                    <a:p>
                      <a:r>
                        <a:rPr b="0" sz="1200" i="0">
                          <a:solidFill>
                            <a:srgbClr val="1A2233"/>
                          </a:solidFill>
                          <a:latin typeface="Consolas"/>
                        </a:rPr>
                        <a:t>F: =Equity!F$16</a:t>
                      </a:r>
                    </a:p>
                  </a:txBody>
                  <a:tcPr marL="64008" marR="64008" marT="27432" marB="27432" anchor="ctr">
                    <a:solidFill>
                      <a:srgbClr val="F3F6F9"/>
                    </a:solidFill>
                  </a:tcPr>
                </a:tc>
              </a:tr>
              <a:tr h="329184">
                <a:tc>
                  <a:txBody>
                    <a:bodyPr wrap="square"/>
                    <a:lstStyle/>
                    <a:p>
                      <a:r>
                        <a:rPr b="1" sz="1200" i="0">
                          <a:solidFill>
                            <a:srgbClr val="1A2233"/>
                          </a:solidFill>
                          <a:latin typeface="Calibri"/>
                        </a:rPr>
                        <a:t>26</a:t>
                      </a:r>
                    </a:p>
                  </a:txBody>
                  <a:tcPr marL="64008" marR="64008" marT="27432" marB="27432" anchor="ctr">
                    <a:solidFill>
                      <a:srgbClr val="FFFFFF"/>
                    </a:solidFill>
                  </a:tcPr>
                </a:tc>
                <a:tc>
                  <a:txBody>
                    <a:bodyPr wrap="square"/>
                    <a:lstStyle/>
                    <a:p>
                      <a:r>
                        <a:rPr b="0" sz="1200" i="0">
                          <a:solidFill>
                            <a:srgbClr val="1A2233"/>
                          </a:solidFill>
                          <a:latin typeface="Calibri"/>
                        </a:rPr>
                        <a:t>Acquisition / initial balance date flag</a:t>
                      </a:r>
                    </a:p>
                  </a:txBody>
                  <a:tcPr marL="64008" marR="64008" marT="27432" marB="27432" anchor="ctr">
                    <a:solidFill>
                      <a:srgbClr val="FFFFFF"/>
                    </a:solidFill>
                  </a:tcPr>
                </a:tc>
                <a:tc>
                  <a:txBody>
                    <a:bodyPr wrap="square"/>
                    <a:lstStyle/>
                    <a:p>
                      <a:r>
                        <a:rPr b="0" sz="1200" i="0">
                          <a:solidFill>
                            <a:srgbClr val="1A2233"/>
                          </a:solidFill>
                          <a:latin typeface="Consolas"/>
                        </a:rPr>
                        <a:t>J: =Time!J$45</a:t>
                      </a:r>
                    </a:p>
                  </a:txBody>
                  <a:tcPr marL="64008" marR="64008" marT="27432" marB="27432" anchor="ctr">
                    <a:solidFill>
                      <a:srgbClr val="FFFFFF"/>
                    </a:solidFill>
                  </a:tcPr>
                </a:tc>
              </a:tr>
              <a:tr h="329184">
                <a:tc>
                  <a:txBody>
                    <a:bodyPr wrap="square"/>
                    <a:lstStyle/>
                    <a:p>
                      <a:r>
                        <a:rPr b="1" sz="1200" i="0">
                          <a:solidFill>
                            <a:srgbClr val="1A2233"/>
                          </a:solidFill>
                          <a:latin typeface="Calibri"/>
                        </a:rPr>
                        <a:t>27</a:t>
                      </a:r>
                    </a:p>
                  </a:txBody>
                  <a:tcPr marL="64008" marR="64008" marT="27432" marB="27432" anchor="ctr">
                    <a:solidFill>
                      <a:srgbClr val="F3F6F9"/>
                    </a:solidFill>
                  </a:tcPr>
                </a:tc>
                <a:tc>
                  <a:txBody>
                    <a:bodyPr wrap="square"/>
                    <a:lstStyle/>
                    <a:p>
                      <a:r>
                        <a:rPr b="0" sz="1200" i="0">
                          <a:solidFill>
                            <a:srgbClr val="1A2233"/>
                          </a:solidFill>
                          <a:latin typeface="Calibri"/>
                        </a:rPr>
                        <a:t>Shareholder cash outflow</a:t>
                      </a:r>
                    </a:p>
                  </a:txBody>
                  <a:tcPr marL="64008" marR="64008" marT="27432" marB="27432" anchor="ctr">
                    <a:solidFill>
                      <a:srgbClr val="F3F6F9"/>
                    </a:solidFill>
                  </a:tcPr>
                </a:tc>
                <a:tc>
                  <a:txBody>
                    <a:bodyPr wrap="square"/>
                    <a:lstStyle/>
                    <a:p>
                      <a:r>
                        <a:rPr b="0" sz="1200" i="0">
                          <a:solidFill>
                            <a:srgbClr val="1A2233"/>
                          </a:solidFill>
                          <a:latin typeface="Consolas"/>
                        </a:rPr>
                        <a:t>J: =IF(J26=1,$F25,0)+J24</a:t>
                      </a:r>
                    </a:p>
                  </a:txBody>
                  <a:tcPr marL="64008" marR="64008" marT="27432" marB="27432" anchor="ctr">
                    <a:solidFill>
                      <a:srgbClr val="F3F6F9"/>
                    </a:solidFill>
                  </a:tcPr>
                </a:tc>
              </a:tr>
              <a:tr h="329184">
                <a:tc>
                  <a:txBody>
                    <a:bodyPr wrap="square"/>
                    <a:lstStyle/>
                    <a:p>
                      <a:r>
                        <a:rPr b="1" sz="1200" i="0">
                          <a:solidFill>
                            <a:srgbClr val="1A2233"/>
                          </a:solidFill>
                          <a:latin typeface="Calibri"/>
                        </a:rPr>
                        <a:t>29</a:t>
                      </a:r>
                    </a:p>
                  </a:txBody>
                  <a:tcPr marL="64008" marR="64008" marT="27432" marB="27432" anchor="ctr">
                    <a:solidFill>
                      <a:srgbClr val="FFFFFF"/>
                    </a:solidFill>
                  </a:tcPr>
                </a:tc>
                <a:tc>
                  <a:txBody>
                    <a:bodyPr wrap="square"/>
                    <a:lstStyle/>
                    <a:p>
                      <a:r>
                        <a:rPr b="0" sz="1200" i="0">
                          <a:solidFill>
                            <a:srgbClr val="1A2233"/>
                          </a:solidFill>
                          <a:latin typeface="Calibri"/>
                        </a:rPr>
                        <a:t>Shareholder cash inflow </a:t>
                      </a:r>
                    </a:p>
                  </a:txBody>
                  <a:tcPr marL="64008" marR="64008" marT="27432" marB="27432" anchor="ctr">
                    <a:solidFill>
                      <a:srgbClr val="FFFFFF"/>
                    </a:solidFill>
                  </a:tcPr>
                </a:tc>
                <a:tc>
                  <a:txBody>
                    <a:bodyPr wrap="square"/>
                    <a:lstStyle/>
                    <a:p>
                      <a:r>
                        <a:rPr b="0" sz="1200" i="0">
                          <a:solidFill>
                            <a:srgbClr val="1A2233"/>
                          </a:solidFill>
                          <a:latin typeface="Consolas"/>
                        </a:rPr>
                        <a:t>J: =J$23</a:t>
                      </a:r>
                    </a:p>
                  </a:txBody>
                  <a:tcPr marL="64008" marR="64008" marT="27432" marB="27432" anchor="ctr">
                    <a:solidFill>
                      <a:srgbClr val="FFFFFF"/>
                    </a:solidFill>
                  </a:tcPr>
                </a:tc>
              </a:tr>
              <a:tr h="329184">
                <a:tc>
                  <a:txBody>
                    <a:bodyPr wrap="square"/>
                    <a:lstStyle/>
                    <a:p>
                      <a:r>
                        <a:rPr b="1" sz="1200" i="0">
                          <a:solidFill>
                            <a:srgbClr val="1A2233"/>
                          </a:solidFill>
                          <a:latin typeface="Calibri"/>
                        </a:rPr>
                        <a:t>30</a:t>
                      </a:r>
                    </a:p>
                  </a:txBody>
                  <a:tcPr marL="64008" marR="64008" marT="27432" marB="27432" anchor="ctr">
                    <a:solidFill>
                      <a:srgbClr val="F3F6F9"/>
                    </a:solidFill>
                  </a:tcPr>
                </a:tc>
                <a:tc>
                  <a:txBody>
                    <a:bodyPr wrap="square"/>
                    <a:lstStyle/>
                    <a:p>
                      <a:r>
                        <a:rPr b="0" sz="1200" i="0">
                          <a:solidFill>
                            <a:srgbClr val="1A2233"/>
                          </a:solidFill>
                          <a:latin typeface="Calibri"/>
                        </a:rPr>
                        <a:t>Shareholder cash outflow</a:t>
                      </a:r>
                    </a:p>
                  </a:txBody>
                  <a:tcPr marL="64008" marR="64008" marT="27432" marB="27432" anchor="ctr">
                    <a:solidFill>
                      <a:srgbClr val="F3F6F9"/>
                    </a:solidFill>
                  </a:tcPr>
                </a:tc>
                <a:tc>
                  <a:txBody>
                    <a:bodyPr wrap="square"/>
                    <a:lstStyle/>
                    <a:p>
                      <a:r>
                        <a:rPr b="0" sz="1200" i="0">
                          <a:solidFill>
                            <a:srgbClr val="1A2233"/>
                          </a:solidFill>
                          <a:latin typeface="Consolas"/>
                        </a:rPr>
                        <a:t>J: =J$27</a:t>
                      </a:r>
                    </a:p>
                  </a:txBody>
                  <a:tcPr marL="64008" marR="64008" marT="27432" marB="27432" anchor="ctr">
                    <a:solidFill>
                      <a:srgbClr val="F3F6F9"/>
                    </a:solidFill>
                  </a:tcPr>
                </a:tc>
              </a:tr>
              <a:tr h="329184">
                <a:tc>
                  <a:txBody>
                    <a:bodyPr wrap="square"/>
                    <a:lstStyle/>
                    <a:p>
                      <a:r>
                        <a:rPr b="1" sz="1200" i="0">
                          <a:solidFill>
                            <a:srgbClr val="1A2233"/>
                          </a:solidFill>
                          <a:latin typeface="Calibri"/>
                        </a:rPr>
                        <a:t>31</a:t>
                      </a:r>
                    </a:p>
                  </a:txBody>
                  <a:tcPr marL="64008" marR="64008" marT="27432" marB="27432" anchor="ctr">
                    <a:solidFill>
                      <a:srgbClr val="FFFFFF"/>
                    </a:solidFill>
                  </a:tcPr>
                </a:tc>
                <a:tc>
                  <a:txBody>
                    <a:bodyPr wrap="square"/>
                    <a:lstStyle/>
                    <a:p>
                      <a:r>
                        <a:rPr b="0" sz="1200" i="0">
                          <a:solidFill>
                            <a:srgbClr val="1A2233"/>
                          </a:solidFill>
                          <a:latin typeface="Calibri"/>
                        </a:rPr>
                        <a:t>Shareholder cashflows</a:t>
                      </a:r>
                    </a:p>
                  </a:txBody>
                  <a:tcPr marL="64008" marR="64008" marT="27432" marB="27432" anchor="ctr">
                    <a:solidFill>
                      <a:srgbClr val="FFFFFF"/>
                    </a:solidFill>
                  </a:tcPr>
                </a:tc>
                <a:tc>
                  <a:txBody>
                    <a:bodyPr wrap="square"/>
                    <a:lstStyle/>
                    <a:p>
                      <a:r>
                        <a:rPr b="0" sz="1200" i="0">
                          <a:solidFill>
                            <a:srgbClr val="1A2233"/>
                          </a:solidFill>
                          <a:latin typeface="Consolas"/>
                        </a:rPr>
                        <a:t>J: =J29-J30</a:t>
                      </a:r>
                    </a:p>
                  </a:txBody>
                  <a:tcPr marL="64008" marR="64008" marT="27432" marB="27432" anchor="ctr">
                    <a:solidFill>
                      <a:srgbClr val="FFFFFF"/>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Val!J23: shareholder cash inflow</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J23  (to CO23)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cash inflow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=SUM(J21:J22)</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Cash to shareholders = dividends + share capital redemption</a:t>
            </a:r>
          </a:p>
          <a:p>
            <a:pPr algn="l"/>
            <a:r>
              <a:rPr b="0" sz="1500" i="0">
                <a:solidFill>
                  <a:srgbClr val="1A2233"/>
                </a:solidFill>
                <a:latin typeface="Calibri"/>
              </a:rPr>
              <a:t>▪ </a:t>
            </a:r>
            <a:r>
              <a:rPr b="0" sz="1500" i="0">
                <a:solidFill>
                  <a:srgbClr val="0B5E82"/>
                </a:solidFill>
                <a:latin typeface="Consolas"/>
              </a:rPr>
              <a:t>=SUM(J21:J22)</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J23 → CO23</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H23 = 504,033;  L23 = 2,101</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What shareholders receive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Val!J27: shareholder cash outflow</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J27  (to CO27)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cash outflow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=IF(J26=1,$F25,0)+J24</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On the acquisition date, shareholders pay in the initial share capital F25 (40,000); zero otherwise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F25 = Equity!F$16</a:t>
            </a:r>
          </a:p>
          <a:p>
            <a:pPr algn="l"/>
            <a:r>
              <a:rPr b="0" sz="1300" i="0">
                <a:solidFill>
                  <a:srgbClr val="1A2233"/>
                </a:solidFill>
                <a:latin typeface="Consolas"/>
              </a:rPr>
              <a:t>J26 = Time!J$45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J27:CO27,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J27:CO27,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J27 → CO27</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K27 = 40,000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What shareholders pay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Val!J31: shareholder cashflows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J31  (to CO31)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cashflows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=J29-J30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Net shareholder cash flow = inflow − outflow</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J31:CO31,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J31:CO31,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J31 → CO31</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H31 = 464,033;  L31 = 2,101</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Row feeding NPV and XIRR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 block 3: NPV (rows 34 to 39)</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7510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34</a:t>
                      </a:r>
                    </a:p>
                  </a:txBody>
                  <a:tcPr marL="64008" marR="64008" marT="27432" marB="27432" anchor="ctr">
                    <a:solidFill>
                      <a:srgbClr val="FFFFFF"/>
                    </a:solidFill>
                  </a:tcPr>
                </a:tc>
                <a:tc>
                  <a:txBody>
                    <a:bodyPr wrap="square"/>
                    <a:lstStyle/>
                    <a:p>
                      <a:r>
                        <a:rPr b="0" sz="1200" i="0">
                          <a:solidFill>
                            <a:srgbClr val="1A2233"/>
                          </a:solidFill>
                          <a:latin typeface="Calibri"/>
                        </a:rPr>
                        <a:t>Shareholder cashflows</a:t>
                      </a:r>
                    </a:p>
                  </a:txBody>
                  <a:tcPr marL="64008" marR="64008" marT="27432" marB="27432" anchor="ctr">
                    <a:solidFill>
                      <a:srgbClr val="FFFFFF"/>
                    </a:solidFill>
                  </a:tcPr>
                </a:tc>
                <a:tc>
                  <a:txBody>
                    <a:bodyPr wrap="square"/>
                    <a:lstStyle/>
                    <a:p>
                      <a:r>
                        <a:rPr b="0" sz="1200" i="0">
                          <a:solidFill>
                            <a:srgbClr val="1A2233"/>
                          </a:solidFill>
                          <a:latin typeface="Consolas"/>
                        </a:rPr>
                        <a:t>J: =J$31</a:t>
                      </a:r>
                    </a:p>
                  </a:txBody>
                  <a:tcPr marL="64008" marR="64008" marT="27432" marB="27432" anchor="ctr">
                    <a:solidFill>
                      <a:srgbClr val="FFFFFF"/>
                    </a:solidFill>
                  </a:tcPr>
                </a:tc>
              </a:tr>
              <a:tr h="329184">
                <a:tc>
                  <a:txBody>
                    <a:bodyPr wrap="square"/>
                    <a:lstStyle/>
                    <a:p>
                      <a:r>
                        <a:rPr b="1" sz="1200" i="0">
                          <a:solidFill>
                            <a:srgbClr val="1A2233"/>
                          </a:solidFill>
                          <a:latin typeface="Calibri"/>
                        </a:rPr>
                        <a:t>35</a:t>
                      </a:r>
                    </a:p>
                  </a:txBody>
                  <a:tcPr marL="64008" marR="64008" marT="27432" marB="27432" anchor="ctr">
                    <a:solidFill>
                      <a:srgbClr val="F3F6F9"/>
                    </a:solidFill>
                  </a:tcPr>
                </a:tc>
                <a:tc>
                  <a:txBody>
                    <a:bodyPr wrap="square"/>
                    <a:lstStyle/>
                    <a:p>
                      <a:r>
                        <a:rPr b="0" sz="1200" i="0">
                          <a:solidFill>
                            <a:srgbClr val="1A2233"/>
                          </a:solidFill>
                          <a:latin typeface="Calibri"/>
                        </a:rPr>
                        <a:t>Shareholder discount factor</a:t>
                      </a:r>
                    </a:p>
                  </a:txBody>
                  <a:tcPr marL="64008" marR="64008" marT="27432" marB="27432" anchor="ctr">
                    <a:solidFill>
                      <a:srgbClr val="F3F6F9"/>
                    </a:solidFill>
                  </a:tcPr>
                </a:tc>
                <a:tc>
                  <a:txBody>
                    <a:bodyPr wrap="square"/>
                    <a:lstStyle/>
                    <a:p>
                      <a:r>
                        <a:rPr b="0" sz="1200" i="0">
                          <a:solidFill>
                            <a:srgbClr val="1A2233"/>
                          </a:solidFill>
                          <a:latin typeface="Consolas"/>
                        </a:rPr>
                        <a:t>J: =J$17</a:t>
                      </a:r>
                    </a:p>
                  </a:txBody>
                  <a:tcPr marL="64008" marR="64008" marT="27432" marB="27432" anchor="ctr">
                    <a:solidFill>
                      <a:srgbClr val="F3F6F9"/>
                    </a:solidFill>
                  </a:tcPr>
                </a:tc>
              </a:tr>
              <a:tr h="329184">
                <a:tc>
                  <a:txBody>
                    <a:bodyPr wrap="square"/>
                    <a:lstStyle/>
                    <a:p>
                      <a:r>
                        <a:rPr b="1" sz="1200" i="0">
                          <a:solidFill>
                            <a:srgbClr val="1A2233"/>
                          </a:solidFill>
                          <a:latin typeface="Calibri"/>
                        </a:rPr>
                        <a:t>36</a:t>
                      </a:r>
                    </a:p>
                  </a:txBody>
                  <a:tcPr marL="64008" marR="64008" marT="27432" marB="27432" anchor="ctr">
                    <a:solidFill>
                      <a:srgbClr val="FFFFFF"/>
                    </a:solidFill>
                  </a:tcPr>
                </a:tc>
                <a:tc>
                  <a:txBody>
                    <a:bodyPr wrap="square"/>
                    <a:lstStyle/>
                    <a:p>
                      <a:r>
                        <a:rPr b="0" sz="1200" i="0">
                          <a:solidFill>
                            <a:srgbClr val="1A2233"/>
                          </a:solidFill>
                          <a:latin typeface="Calibri"/>
                        </a:rPr>
                        <a:t>PV of shareholder cashflow</a:t>
                      </a:r>
                    </a:p>
                  </a:txBody>
                  <a:tcPr marL="64008" marR="64008" marT="27432" marB="27432" anchor="ctr">
                    <a:solidFill>
                      <a:srgbClr val="FFFFFF"/>
                    </a:solidFill>
                  </a:tcPr>
                </a:tc>
                <a:tc>
                  <a:txBody>
                    <a:bodyPr wrap="square"/>
                    <a:lstStyle/>
                    <a:p>
                      <a:r>
                        <a:rPr b="0" sz="1200" i="0">
                          <a:solidFill>
                            <a:srgbClr val="1A2233"/>
                          </a:solidFill>
                          <a:latin typeface="Consolas"/>
                        </a:rPr>
                        <a:t>J: =J34*J35</a:t>
                      </a:r>
                    </a:p>
                  </a:txBody>
                  <a:tcPr marL="64008" marR="64008" marT="27432" marB="27432" anchor="ctr">
                    <a:solidFill>
                      <a:srgbClr val="FFFFFF"/>
                    </a:solidFill>
                  </a:tcPr>
                </a:tc>
              </a:tr>
              <a:tr h="329184">
                <a:tc>
                  <a:txBody>
                    <a:bodyPr wrap="square"/>
                    <a:lstStyle/>
                    <a:p>
                      <a:r>
                        <a:rPr b="1" sz="1200" i="0">
                          <a:solidFill>
                            <a:srgbClr val="1A2233"/>
                          </a:solidFill>
                          <a:latin typeface="Calibri"/>
                        </a:rPr>
                        <a:t>38</a:t>
                      </a:r>
                    </a:p>
                  </a:txBody>
                  <a:tcPr marL="64008" marR="64008" marT="27432" marB="27432" anchor="ctr">
                    <a:solidFill>
                      <a:srgbClr val="F3F6F9"/>
                    </a:solidFill>
                  </a:tcPr>
                </a:tc>
                <a:tc>
                  <a:txBody>
                    <a:bodyPr wrap="square"/>
                    <a:lstStyle/>
                    <a:p>
                      <a:r>
                        <a:rPr b="0" sz="1200" i="0">
                          <a:solidFill>
                            <a:srgbClr val="1A2233"/>
                          </a:solidFill>
                          <a:latin typeface="Calibri"/>
                        </a:rPr>
                        <a:t>PV of shareholder cashflow</a:t>
                      </a:r>
                    </a:p>
                  </a:txBody>
                  <a:tcPr marL="64008" marR="64008" marT="27432" marB="27432" anchor="ctr">
                    <a:solidFill>
                      <a:srgbClr val="F3F6F9"/>
                    </a:solidFill>
                  </a:tcPr>
                </a:tc>
                <a:tc>
                  <a:txBody>
                    <a:bodyPr wrap="square"/>
                    <a:lstStyle/>
                    <a:p>
                      <a:r>
                        <a:rPr b="0" sz="1200" i="0">
                          <a:solidFill>
                            <a:srgbClr val="1A2233"/>
                          </a:solidFill>
                          <a:latin typeface="Consolas"/>
                        </a:rPr>
                        <a:t>J: =J$36</a:t>
                      </a:r>
                    </a:p>
                  </a:txBody>
                  <a:tcPr marL="64008" marR="64008" marT="27432" marB="27432" anchor="ctr">
                    <a:solidFill>
                      <a:srgbClr val="F3F6F9"/>
                    </a:solidFill>
                  </a:tcPr>
                </a:tc>
              </a:tr>
              <a:tr h="329184">
                <a:tc>
                  <a:txBody>
                    <a:bodyPr wrap="square"/>
                    <a:lstStyle/>
                    <a:p>
                      <a:r>
                        <a:rPr b="1" sz="1200" i="0">
                          <a:solidFill>
                            <a:srgbClr val="1A2233"/>
                          </a:solidFill>
                          <a:latin typeface="Calibri"/>
                        </a:rPr>
                        <a:t>39</a:t>
                      </a:r>
                    </a:p>
                  </a:txBody>
                  <a:tcPr marL="64008" marR="64008" marT="27432" marB="27432" anchor="ctr">
                    <a:solidFill>
                      <a:srgbClr val="FFFFFF"/>
                    </a:solidFill>
                  </a:tcPr>
                </a:tc>
                <a:tc>
                  <a:txBody>
                    <a:bodyPr wrap="square"/>
                    <a:lstStyle/>
                    <a:p>
                      <a:r>
                        <a:rPr b="0" sz="1200" i="0">
                          <a:solidFill>
                            <a:srgbClr val="1A2233"/>
                          </a:solidFill>
                          <a:latin typeface="Calibri"/>
                        </a:rPr>
                        <a:t>NPV of shareholder cashflow</a:t>
                      </a:r>
                    </a:p>
                  </a:txBody>
                  <a:tcPr marL="64008" marR="64008" marT="27432" marB="27432" anchor="ctr">
                    <a:solidFill>
                      <a:srgbClr val="FFFFFF"/>
                    </a:solidFill>
                  </a:tcPr>
                </a:tc>
                <a:tc>
                  <a:txBody>
                    <a:bodyPr wrap="square"/>
                    <a:lstStyle/>
                    <a:p>
                      <a:r>
                        <a:rPr b="0" sz="1200" i="0">
                          <a:solidFill>
                            <a:srgbClr val="1A2233"/>
                          </a:solidFill>
                          <a:latin typeface="Consolas"/>
                        </a:rPr>
                        <a:t>F: =SUM(J38:CO38)</a:t>
                      </a:r>
                    </a:p>
                  </a:txBody>
                  <a:tcPr marL="64008" marR="64008" marT="27432" marB="27432" anchor="ctr">
                    <a:solidFill>
                      <a:srgbClr val="FFFFFF"/>
                    </a:solidFill>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Val!J36: PV of shareholder cashflow</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J36  (to CO36)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PV of shareholder cashflow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=J34*J35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Present value = cash flow × discount factor</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J36:CO36,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J36:CO36,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J36 → CO36</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H36 = empty;  L36 = 1,987</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Row sums to the NPV</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Val!F39: NPV of shareholder cash flow</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F39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NPV of shareholder cashflow</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=SUM(J38:CO38)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Add the present values</a:t>
            </a:r>
          </a:p>
          <a:p>
            <a:pPr algn="l"/>
            <a:r>
              <a:rPr b="0" sz="1500" i="0">
                <a:solidFill>
                  <a:srgbClr val="1A2233"/>
                </a:solidFill>
                <a:latin typeface="Calibri"/>
              </a:rPr>
              <a:t>▪ Row 38 pulls row 36</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a:t>
            </a:r>
          </a:p>
          <a:p>
            <a:pPr algn="l"/>
            <a:r>
              <a:rPr b="0" sz="1400" i="0">
                <a:solidFill>
                  <a:srgbClr val="1A2233"/>
                </a:solidFill>
                <a:latin typeface="Consolas"/>
              </a:rPr>
              <a:t>type F39, Enter</a:t>
            </a:r>
          </a:p>
          <a:p>
            <a:pPr algn="l"/>
            <a:r>
              <a:rPr b="0" sz="1400" i="0">
                <a:solidFill>
                  <a:srgbClr val="1A2233"/>
                </a:solidFill>
                <a:latin typeface="Consolas"/>
              </a:rPr>
              <a:t>type formula</a:t>
            </a:r>
          </a:p>
          <a:p>
            <a:pPr algn="l"/>
            <a:r>
              <a:rPr b="0" sz="1400" i="0">
                <a:solidFill>
                  <a:srgbClr val="1A2233"/>
                </a:solidFill>
                <a:latin typeface="Consolas"/>
              </a:rPr>
              <a:t>Enter</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a:t>
            </a:r>
          </a:p>
          <a:p>
            <a:pPr algn="l"/>
            <a:r>
              <a:rPr b="0" sz="1400" i="0">
                <a:solidFill>
                  <a:srgbClr val="1A2233"/>
                </a:solidFill>
                <a:latin typeface="Consolas"/>
              </a:rPr>
              <a:t>type F39, Enter</a:t>
            </a:r>
          </a:p>
          <a:p>
            <a:pPr algn="l"/>
            <a:r>
              <a:rPr b="0" sz="1400" i="0">
                <a:solidFill>
                  <a:srgbClr val="1A2233"/>
                </a:solidFill>
                <a:latin typeface="Consolas"/>
              </a:rPr>
              <a:t>type formula</a:t>
            </a:r>
          </a:p>
          <a:p>
            <a:pPr algn="l"/>
            <a:r>
              <a:rPr b="0" sz="1400" i="0">
                <a:solidFill>
                  <a:srgbClr val="1A2233"/>
                </a:solidFill>
                <a:latin typeface="Consolas"/>
              </a:rPr>
              <a:t>Return</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F39 = 17,609.0 (Base)</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Positive NPV: shareholders earn more than 25.25%</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Val!F49: shareholder IRR with XIRR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F49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internal rate of return</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=XIRR(J47:CO47,J48:CO48)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100" i="0">
                <a:solidFill>
                  <a:srgbClr val="1A2233"/>
                </a:solidFill>
                <a:latin typeface="Calibri"/>
              </a:rPr>
              <a:t>▪ XIRR finds the annual rate that makes the dated cash flows sum to zero</a:t>
            </a:r>
          </a:p>
          <a:p>
            <a:pPr algn="l"/>
            <a:r>
              <a:rPr b="0" sz="1100" i="0">
                <a:solidFill>
                  <a:srgbClr val="1A2233"/>
                </a:solidFill>
                <a:latin typeface="Calibri"/>
              </a:rPr>
              <a:t>▪ Needs values (row 47) and dates (row 48)</a:t>
            </a:r>
          </a:p>
          <a:p>
            <a:pPr algn="l"/>
            <a:r>
              <a:rPr b="0" sz="1100" i="0">
                <a:solidFill>
                  <a:srgbClr val="1A2233"/>
                </a:solidFill>
                <a:latin typeface="Calibri"/>
              </a:rPr>
              <a:t>▪ Row 45 inserts a tiny −0.001 in the first column so the series starts with a negative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J47 = J$45 (cash flow for XIRR)</a:t>
            </a:r>
          </a:p>
          <a:p>
            <a:pPr algn="l"/>
            <a:r>
              <a:rPr b="0" sz="1300" i="0">
                <a:solidFill>
                  <a:srgbClr val="1A2233"/>
                </a:solidFill>
                <a:latin typeface="Consolas"/>
              </a:rPr>
              <a:t>J48 = Time!J$25 (dates)</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a:t>
            </a:r>
          </a:p>
          <a:p>
            <a:pPr algn="l"/>
            <a:r>
              <a:rPr b="0" sz="1400" i="0">
                <a:solidFill>
                  <a:srgbClr val="1A2233"/>
                </a:solidFill>
                <a:latin typeface="Consolas"/>
              </a:rPr>
              <a:t>type F49, Enter</a:t>
            </a:r>
          </a:p>
          <a:p>
            <a:pPr algn="l"/>
            <a:r>
              <a:rPr b="0" sz="1400" i="0">
                <a:solidFill>
                  <a:srgbClr val="1A2233"/>
                </a:solidFill>
                <a:latin typeface="Consolas"/>
              </a:rPr>
              <a:t>type formula</a:t>
            </a:r>
          </a:p>
          <a:p>
            <a:pPr algn="l"/>
            <a:r>
              <a:rPr b="0" sz="1400" i="0">
                <a:solidFill>
                  <a:srgbClr val="1A2233"/>
                </a:solidFill>
                <a:latin typeface="Consolas"/>
              </a:rPr>
              <a:t>Enter</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a:t>
            </a:r>
          </a:p>
          <a:p>
            <a:pPr algn="l"/>
            <a:r>
              <a:rPr b="0" sz="1400" i="0">
                <a:solidFill>
                  <a:srgbClr val="1A2233"/>
                </a:solidFill>
                <a:latin typeface="Consolas"/>
              </a:rPr>
              <a:t>type F49, Enter</a:t>
            </a:r>
          </a:p>
          <a:p>
            <a:pPr algn="l"/>
            <a:r>
              <a:rPr b="0" sz="1400" i="0">
                <a:solidFill>
                  <a:srgbClr val="1A2233"/>
                </a:solidFill>
                <a:latin typeface="Consolas"/>
              </a:rPr>
              <a:t>type formula</a:t>
            </a:r>
          </a:p>
          <a:p>
            <a:pPr algn="l"/>
            <a:r>
              <a:rPr b="0" sz="1400" i="0">
                <a:solidFill>
                  <a:srgbClr val="1A2233"/>
                </a:solidFill>
                <a:latin typeface="Consolas"/>
              </a:rPr>
              <a:t>Return</a:t>
            </a:r>
          </a:p>
        </p:txBody>
      </p:sp>
      <p:sp>
        <p:nvSpPr>
          <p:cNvPr id="25" name="Rectangle 24"/>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F49 = 33.72% p.a.</a:t>
            </a:r>
          </a:p>
        </p:txBody>
      </p:sp>
      <p:sp>
        <p:nvSpPr>
          <p:cNvPr id="26" name="Rectangle 25"/>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Actual dates mean XIRR respects uneven quarter lengths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EVALUATION</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Project evaluation: shareholder return vs project return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63040"/>
            <a:ext cx="5394960" cy="41148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700" i="0">
                <a:solidFill>
                  <a:srgbClr val="FFFFFF"/>
                </a:solidFill>
                <a:latin typeface="Calibri"/>
              </a:rPr>
              <a:t>Shareholder (levered) view</a:t>
            </a:r>
          </a:p>
        </p:txBody>
      </p:sp>
      <p:sp>
        <p:nvSpPr>
          <p:cNvPr id="12" name="Rectangle 11"/>
          <p:cNvSpPr/>
          <p:nvPr/>
        </p:nvSpPr>
        <p:spPr>
          <a:xfrm>
            <a:off x="548640" y="1874519"/>
            <a:ext cx="5394960" cy="3611880"/>
          </a:xfrm>
          <a:prstGeom prst="rect">
            <a:avLst/>
          </a:prstGeom>
          <a:solidFill>
            <a:srgbClr val="F3F6F9"/>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938528"/>
            <a:ext cx="5257800" cy="3474720"/>
          </a:xfrm>
          <a:prstGeom prst="rect">
            <a:avLst/>
          </a:prstGeom>
          <a:noFill/>
        </p:spPr>
        <p:txBody>
          <a:bodyPr wrap="square">
            <a:spAutoFit/>
          </a:bodyPr>
          <a:lstStyle/>
          <a:p>
            <a:pPr>
              <a:spcAft>
                <a:spcPts val="600"/>
              </a:spcAft>
            </a:pPr>
            <a:r>
              <a:rPr b="0" sz="1700" i="0">
                <a:solidFill>
                  <a:srgbClr val="1A2233"/>
                </a:solidFill>
                <a:latin typeface="Calibri"/>
              </a:rPr>
              <a:t>▪ Cash flows after debt service</a:t>
            </a:r>
          </a:p>
          <a:p>
            <a:pPr>
              <a:spcAft>
                <a:spcPts val="600"/>
              </a:spcAft>
            </a:pPr>
            <a:r>
              <a:rPr b="0" sz="1700" i="0">
                <a:solidFill>
                  <a:srgbClr val="1A2233"/>
                </a:solidFill>
                <a:latin typeface="Calibri"/>
              </a:rPr>
              <a:t>▪ Initial outflow: share capital 40,000</a:t>
            </a:r>
          </a:p>
          <a:p>
            <a:pPr>
              <a:spcAft>
                <a:spcPts val="600"/>
              </a:spcAft>
            </a:pPr>
            <a:r>
              <a:rPr b="0" sz="1700" i="0">
                <a:solidFill>
                  <a:srgbClr val="1A2233"/>
                </a:solidFill>
                <a:latin typeface="Calibri"/>
              </a:rPr>
              <a:t>▪ NPV @ 25.25% = 17,609.0</a:t>
            </a:r>
          </a:p>
          <a:p>
            <a:pPr>
              <a:spcAft>
                <a:spcPts val="600"/>
              </a:spcAft>
            </a:pPr>
            <a:r>
              <a:rPr b="0" sz="1700" i="0">
                <a:solidFill>
                  <a:srgbClr val="1A2233"/>
                </a:solidFill>
                <a:latin typeface="Calibri"/>
              </a:rPr>
              <a:t>▪ XIRR = 33.72%</a:t>
            </a:r>
          </a:p>
          <a:p>
            <a:pPr>
              <a:spcAft>
                <a:spcPts val="600"/>
              </a:spcAft>
            </a:pPr>
            <a:r>
              <a:rPr b="0" sz="1700" i="0">
                <a:solidFill>
                  <a:srgbClr val="1A2233"/>
                </a:solidFill>
                <a:latin typeface="Calibri"/>
              </a:rPr>
              <a:t>▪ Includes the benefit (and risk) of 60% debt</a:t>
            </a:r>
          </a:p>
        </p:txBody>
      </p:sp>
      <p:sp>
        <p:nvSpPr>
          <p:cNvPr id="14" name="Rectangle 13"/>
          <p:cNvSpPr/>
          <p:nvPr/>
        </p:nvSpPr>
        <p:spPr>
          <a:xfrm>
            <a:off x="6263640" y="1463040"/>
            <a:ext cx="5394960" cy="41148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700" i="0">
                <a:solidFill>
                  <a:srgbClr val="FFFFFF"/>
                </a:solidFill>
                <a:latin typeface="Calibri"/>
              </a:rPr>
              <a:t>Project view (CFADS after tax)</a:t>
            </a:r>
          </a:p>
        </p:txBody>
      </p:sp>
      <p:sp>
        <p:nvSpPr>
          <p:cNvPr id="15" name="Rectangle 14"/>
          <p:cNvSpPr/>
          <p:nvPr/>
        </p:nvSpPr>
        <p:spPr>
          <a:xfrm>
            <a:off x="6263640" y="1874519"/>
            <a:ext cx="5394960" cy="3611880"/>
          </a:xfrm>
          <a:prstGeom prst="rect">
            <a:avLst/>
          </a:prstGeom>
          <a:solidFill>
            <a:srgbClr val="F3F6F9"/>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1938528"/>
            <a:ext cx="5257800" cy="3474720"/>
          </a:xfrm>
          <a:prstGeom prst="rect">
            <a:avLst/>
          </a:prstGeom>
          <a:noFill/>
        </p:spPr>
        <p:txBody>
          <a:bodyPr wrap="square">
            <a:spAutoFit/>
          </a:bodyPr>
          <a:lstStyle/>
          <a:p>
            <a:pPr>
              <a:spcAft>
                <a:spcPts val="600"/>
              </a:spcAft>
            </a:pPr>
            <a:r>
              <a:rPr b="0" sz="1700" i="0">
                <a:solidFill>
                  <a:srgbClr val="1A2233"/>
                </a:solidFill>
                <a:latin typeface="Calibri"/>
              </a:rPr>
              <a:t>▪ Cash flows before financing = CFADS</a:t>
            </a:r>
          </a:p>
          <a:p>
            <a:pPr>
              <a:spcAft>
                <a:spcPts val="600"/>
              </a:spcAft>
            </a:pPr>
            <a:r>
              <a:rPr b="0" sz="1700" i="0">
                <a:solidFill>
                  <a:srgbClr val="1A2233"/>
                </a:solidFill>
                <a:latin typeface="Calibri"/>
              </a:rPr>
              <a:t>▪ Initial outflow: the full 100,000</a:t>
            </a:r>
          </a:p>
          <a:p>
            <a:pPr>
              <a:spcAft>
                <a:spcPts val="600"/>
              </a:spcAft>
            </a:pPr>
            <a:r>
              <a:rPr b="0" sz="1700" i="0">
                <a:solidFill>
                  <a:srgbClr val="1A2233"/>
                </a:solidFill>
                <a:latin typeface="Calibri"/>
              </a:rPr>
              <a:t>▪ XIRR = 24.94% (post-tax)</a:t>
            </a:r>
          </a:p>
          <a:p>
            <a:pPr>
              <a:spcAft>
                <a:spcPts val="600"/>
              </a:spcAft>
            </a:pPr>
            <a:r>
              <a:rPr b="0" sz="1700" i="0">
                <a:solidFill>
                  <a:srgbClr val="1A2233"/>
                </a:solidFill>
                <a:latin typeface="Calibri"/>
              </a:rPr>
              <a:t>▪ Not affected by how much debt is drawn (CFADS includes the interest tax shield, so it is slightly above a truly unlevered return)</a:t>
            </a:r>
          </a:p>
          <a:p>
            <a:pPr>
              <a:spcAft>
                <a:spcPts val="600"/>
              </a:spcAft>
            </a:pPr>
            <a:r>
              <a:rPr b="0" sz="1700" i="0">
                <a:solidFill>
                  <a:srgbClr val="1A2233"/>
                </a:solidFill>
                <a:latin typeface="Calibri"/>
              </a:rPr>
              <a:t>▪ Compare with the cost of capital to judge the project itself</a:t>
            </a:r>
          </a:p>
        </p:txBody>
      </p:sp>
      <p:sp>
        <p:nvSpPr>
          <p:cNvPr id="17" name="Rectangle 16"/>
          <p:cNvSpPr/>
          <p:nvPr/>
        </p:nvSpPr>
        <p:spPr>
          <a:xfrm>
            <a:off x="548640" y="5486400"/>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548640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Leverage lifts the return on equity from 24.9% to 33.7% because debt costs 6.5%, well below the project return.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Payback period: when do shareholders get their money back?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Val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J51 (new rows 51 to 53)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Cumulative shareholder cash flow</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=SUM($J31:J31)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Add a new row 'Cumulative shareholder cash flow': a running total (expanding range $J31:J31)</a:t>
            </a:r>
          </a:p>
          <a:p>
            <a:pPr algn="l"/>
            <a:r>
              <a:rPr b="0" sz="1500" i="0">
                <a:solidFill>
                  <a:srgbClr val="1A2233"/>
                </a:solidFill>
                <a:latin typeface="Calibri"/>
              </a:rPr>
              <a:t>▪ The payback date is the first period-end where the cumulative value is zero or more</a:t>
            </a:r>
          </a:p>
          <a:p>
            <a:pPr algn="l"/>
            <a:r>
              <a:rPr b="0" sz="1500" i="0">
                <a:solidFill>
                  <a:srgbClr val="1A2233"/>
                </a:solidFill>
                <a:latin typeface="Calibri"/>
              </a:rPr>
              <a:t>▪ Payback date: </a:t>
            </a:r>
            <a:r>
              <a:rPr b="0" sz="1500" i="0">
                <a:solidFill>
                  <a:srgbClr val="0B5E82"/>
                </a:solidFill>
                <a:latin typeface="Consolas"/>
              </a:rPr>
              <a:t>=MINIFS(J48:CO48,J51:CO51,"&gt;=0")</a:t>
            </a:r>
            <a:r>
              <a:rPr b="0" sz="1500" i="0">
                <a:solidFill>
                  <a:srgbClr val="1A2233"/>
                </a:solidFill>
                <a:latin typeface="Calibri"/>
              </a:rPr>
              <a:t> taken after the initial outflow date</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a:t>
            </a:r>
          </a:p>
          <a:p>
            <a:pPr algn="l"/>
            <a:r>
              <a:rPr b="0" sz="1400" i="0">
                <a:solidFill>
                  <a:srgbClr val="1A2233"/>
                </a:solidFill>
                <a:latin typeface="Consolas"/>
              </a:rPr>
              <a:t>type J51:CO51, Enter</a:t>
            </a:r>
          </a:p>
          <a:p>
            <a:pPr algn="l"/>
            <a:r>
              <a:rPr b="0" sz="1400" i="0">
                <a:solidFill>
                  <a:srgbClr val="1A2233"/>
                </a:solidFill>
                <a:latin typeface="Consolas"/>
              </a:rPr>
              <a:t>type =SUM($J31:J31)</a:t>
            </a:r>
          </a:p>
          <a:p>
            <a:pPr algn="l"/>
            <a:r>
              <a:rPr b="0" sz="1400" i="0">
                <a:solidFill>
                  <a:srgbClr val="1A2233"/>
                </a:solidFill>
                <a:latin typeface="Consolas"/>
              </a:rPr>
              <a:t>Ctrl+Enter</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a:t>
            </a:r>
          </a:p>
          <a:p>
            <a:pPr algn="l"/>
            <a:r>
              <a:rPr b="0" sz="1400" i="0">
                <a:solidFill>
                  <a:srgbClr val="1A2233"/>
                </a:solidFill>
                <a:latin typeface="Consolas"/>
              </a:rPr>
              <a:t>type J51:CO51, Enter</a:t>
            </a:r>
          </a:p>
          <a:p>
            <a:pPr algn="l"/>
            <a:r>
              <a:rPr b="0" sz="1400" i="0">
                <a:solidFill>
                  <a:srgbClr val="1A2233"/>
                </a:solidFill>
                <a:latin typeface="Consolas"/>
              </a:rPr>
              <a:t>type =SUM($J31:J31)</a:t>
            </a:r>
          </a:p>
          <a:p>
            <a:pPr algn="l"/>
            <a:r>
              <a:rPr b="0" sz="1400" i="0">
                <a:solidFill>
                  <a:srgbClr val="1A2233"/>
                </a:solidFill>
                <a:latin typeface="Consolas"/>
              </a:rPr>
              <a:t>Ctrl+Return</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Cumulative turns positive in the quarter ending 31 Mar 2026 (about 4.5 years)</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Payback ignores the time value of money: report it alongside NPV, never instead of it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5.6: Peer review with the checklist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Swap workbooks with a neighbour and review them against the model-review checklist on the next slide. Record three findings.</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Run the checks: FinStat F74, F77, F80 = 0; Time F120 = 0</a:t>
            </a:r>
          </a:p>
          <a:p>
            <a:pPr>
              <a:spcAft>
                <a:spcPts val="300"/>
              </a:spcAft>
            </a:pPr>
            <a:r>
              <a:rPr b="0" sz="1500" i="0">
                <a:solidFill>
                  <a:srgbClr val="1A2233"/>
                </a:solidFill>
                <a:latin typeface="Calibri"/>
              </a:rPr>
              <a:t>2.  Compare totals with the checkpoints for every sheet</a:t>
            </a:r>
          </a:p>
          <a:p>
            <a:pPr>
              <a:spcAft>
                <a:spcPts val="300"/>
              </a:spcAft>
            </a:pPr>
            <a:r>
              <a:rPr b="0" sz="1500" i="0">
                <a:solidFill>
                  <a:srgbClr val="1A2233"/>
                </a:solidFill>
                <a:latin typeface="Calibri"/>
              </a:rPr>
              <a:t>3.  Select a row at random: is the formula identical from J to CO? (Ctrl+` and scan)</a:t>
            </a:r>
          </a:p>
          <a:p>
            <a:pPr>
              <a:spcAft>
                <a:spcPts val="300"/>
              </a:spcAft>
            </a:pPr>
            <a:r>
              <a:rPr b="0" sz="1500" i="0">
                <a:solidFill>
                  <a:srgbClr val="1A2233"/>
                </a:solidFill>
                <a:latin typeface="Calibri"/>
              </a:rPr>
              <a:t>4.  Look for typed numbers inside formulas: Ctrl+F searching for digits is not reliable, so use Go To Special ▸ Constants ▸ Numbers on calculation sheets</a:t>
            </a:r>
          </a:p>
          <a:p>
            <a:pPr>
              <a:spcAft>
                <a:spcPts val="300"/>
              </a:spcAft>
            </a:pPr>
            <a:r>
              <a:rPr b="0" sz="1500" i="0">
                <a:solidFill>
                  <a:srgbClr val="1A2233"/>
                </a:solidFill>
                <a:latin typeface="Calibri"/>
              </a:rPr>
              <a:t>5.  Write your three findings and explain them to the owner</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25 min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REVIEW</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Model review checklist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39" cy="3127248"/>
        </p:xfrm>
        <a:graphic>
          <a:graphicData uri="http://schemas.openxmlformats.org/drawingml/2006/table">
            <a:tbl>
              <a:tblPr firstRow="1" bandRow="1">
                <a:tableStyleId>{5C22544A-7EE6-4342-B048-85BDC9FD1C3A}</a:tableStyleId>
              </a:tblPr>
              <a:tblGrid>
                <a:gridCol w="2011680"/>
                <a:gridCol w="7955279"/>
                <a:gridCol w="1097280"/>
              </a:tblGrid>
              <a:tr h="347472">
                <a:tc>
                  <a:txBody>
                    <a:bodyPr wrap="square"/>
                    <a:lstStyle/>
                    <a:p>
                      <a:r>
                        <a:rPr b="1" sz="1300" i="0">
                          <a:solidFill>
                            <a:srgbClr val="FFFFFF"/>
                          </a:solidFill>
                          <a:latin typeface="Calibri"/>
                        </a:rPr>
                        <a:t>Area</a:t>
                      </a:r>
                    </a:p>
                  </a:txBody>
                  <a:tcPr marL="64008" marR="64008" marT="27432" marB="27432" anchor="ctr">
                    <a:solidFill>
                      <a:srgbClr val="141B4D"/>
                    </a:solidFill>
                  </a:tcPr>
                </a:tc>
                <a:tc>
                  <a:txBody>
                    <a:bodyPr wrap="square"/>
                    <a:lstStyle/>
                    <a:p>
                      <a:r>
                        <a:rPr b="1" sz="1300" i="0">
                          <a:solidFill>
                            <a:srgbClr val="FFFFFF"/>
                          </a:solidFill>
                          <a:latin typeface="Calibri"/>
                        </a:rPr>
                        <a:t>Question</a:t>
                      </a:r>
                    </a:p>
                  </a:txBody>
                  <a:tcPr marL="64008" marR="64008" marT="27432" marB="27432" anchor="ctr">
                    <a:solidFill>
                      <a:srgbClr val="141B4D"/>
                    </a:solidFill>
                  </a:tcPr>
                </a:tc>
                <a:tc>
                  <a:txBody>
                    <a:bodyPr wrap="square"/>
                    <a:lstStyle/>
                    <a:p>
                      <a:r>
                        <a:rPr b="1" sz="1300" i="0">
                          <a:solidFill>
                            <a:srgbClr val="FFFFFF"/>
                          </a:solidFill>
                          <a:latin typeface="Calibri"/>
                        </a:rPr>
                        <a:t>Pass?</a:t>
                      </a:r>
                    </a:p>
                  </a:txBody>
                  <a:tcPr marL="64008" marR="64008" marT="27432" marB="27432" anchor="ctr">
                    <a:solidFill>
                      <a:srgbClr val="141B4D"/>
                    </a:solidFill>
                  </a:tcPr>
                </a:tc>
              </a:tr>
              <a:tr h="347472">
                <a:tc>
                  <a:txBody>
                    <a:bodyPr wrap="square"/>
                    <a:lstStyle/>
                    <a:p>
                      <a:r>
                        <a:rPr b="1" sz="1300" i="0">
                          <a:solidFill>
                            <a:srgbClr val="1A2233"/>
                          </a:solidFill>
                          <a:latin typeface="Calibri"/>
                        </a:rPr>
                        <a:t>Structure</a:t>
                      </a:r>
                    </a:p>
                  </a:txBody>
                  <a:tcPr marL="64008" marR="64008" marT="27432" marB="27432" anchor="ctr">
                    <a:solidFill>
                      <a:srgbClr val="FFFFFF"/>
                    </a:solidFill>
                  </a:tcPr>
                </a:tc>
                <a:tc>
                  <a:txBody>
                    <a:bodyPr wrap="square"/>
                    <a:lstStyle/>
                    <a:p>
                      <a:r>
                        <a:rPr b="0" sz="1300" i="0">
                          <a:solidFill>
                            <a:srgbClr val="1A2233"/>
                          </a:solidFill>
                          <a:latin typeface="Calibri"/>
                        </a:rPr>
                        <a:t>Inputs, calculations, outputs and checks separated?</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Consistency</a:t>
                      </a:r>
                    </a:p>
                  </a:txBody>
                  <a:tcPr marL="64008" marR="64008" marT="27432" marB="27432" anchor="ctr">
                    <a:solidFill>
                      <a:srgbClr val="F3F6F9"/>
                    </a:solidFill>
                  </a:tcPr>
                </a:tc>
                <a:tc>
                  <a:txBody>
                    <a:bodyPr wrap="square"/>
                    <a:lstStyle/>
                    <a:p>
                      <a:r>
                        <a:rPr b="0" sz="1300" i="0">
                          <a:solidFill>
                            <a:srgbClr val="1A2233"/>
                          </a:solidFill>
                          <a:latin typeface="Calibri"/>
                        </a:rPr>
                        <a:t>One formula per row from J to CO?</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r h="347472">
                <a:tc>
                  <a:txBody>
                    <a:bodyPr wrap="square"/>
                    <a:lstStyle/>
                    <a:p>
                      <a:r>
                        <a:rPr b="1" sz="1300" i="0">
                          <a:solidFill>
                            <a:srgbClr val="1A2233"/>
                          </a:solidFill>
                          <a:latin typeface="Calibri"/>
                        </a:rPr>
                        <a:t>Hard-codes</a:t>
                      </a:r>
                    </a:p>
                  </a:txBody>
                  <a:tcPr marL="64008" marR="64008" marT="27432" marB="27432" anchor="ctr">
                    <a:solidFill>
                      <a:srgbClr val="FFFFFF"/>
                    </a:solidFill>
                  </a:tcPr>
                </a:tc>
                <a:tc>
                  <a:txBody>
                    <a:bodyPr wrap="square"/>
                    <a:lstStyle/>
                    <a:p>
                      <a:r>
                        <a:rPr b="0" sz="1300" i="0">
                          <a:solidFill>
                            <a:srgbClr val="1A2233"/>
                          </a:solidFill>
                          <a:latin typeface="Calibri"/>
                        </a:rPr>
                        <a:t>No typed numbers inside formulas (except 0 and 1)?</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47472">
                <a:tc>
                  <a:txBody>
                    <a:bodyPr wrap="square"/>
                    <a:lstStyle/>
                    <a:p>
                      <a:r>
                        <a:rPr b="1" sz="1300" i="0">
                          <a:solidFill>
                            <a:srgbClr val="1A2233"/>
                          </a:solidFill>
                          <a:latin typeface="Calibri"/>
                        </a:rPr>
                        <a:t>Units &amp; signs</a:t>
                      </a:r>
                    </a:p>
                  </a:txBody>
                  <a:tcPr marL="64008" marR="64008" marT="27432" marB="27432" anchor="ctr">
                    <a:solidFill>
                      <a:srgbClr val="F3F6F9"/>
                    </a:solidFill>
                  </a:tcPr>
                </a:tc>
                <a:tc>
                  <a:txBody>
                    <a:bodyPr wrap="square"/>
                    <a:lstStyle/>
                    <a:p>
                      <a:r>
                        <a:rPr b="0" sz="1300" i="0">
                          <a:solidFill>
                            <a:srgbClr val="1A2233"/>
                          </a:solidFill>
                          <a:latin typeface="Calibri"/>
                        </a:rPr>
                        <a:t>Units in column G; POS rows positive, statement rows signed?</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r h="347472">
                <a:tc>
                  <a:txBody>
                    <a:bodyPr wrap="square"/>
                    <a:lstStyle/>
                    <a:p>
                      <a:r>
                        <a:rPr b="1" sz="1300" i="0">
                          <a:solidFill>
                            <a:srgbClr val="1A2233"/>
                          </a:solidFill>
                          <a:latin typeface="Calibri"/>
                        </a:rPr>
                        <a:t>Time</a:t>
                      </a:r>
                    </a:p>
                  </a:txBody>
                  <a:tcPr marL="64008" marR="64008" marT="27432" marB="27432" anchor="ctr">
                    <a:solidFill>
                      <a:srgbClr val="FFFFFF"/>
                    </a:solidFill>
                  </a:tcPr>
                </a:tc>
                <a:tc>
                  <a:txBody>
                    <a:bodyPr wrap="square"/>
                    <a:lstStyle/>
                    <a:p>
                      <a:r>
                        <a:rPr b="0" sz="1300" i="0">
                          <a:solidFill>
                            <a:srgbClr val="1A2233"/>
                          </a:solidFill>
                          <a:latin typeface="Calibri"/>
                        </a:rPr>
                        <a:t>Timeline checks zero; flags correct at start and end?</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47472">
                <a:tc>
                  <a:txBody>
                    <a:bodyPr wrap="square"/>
                    <a:lstStyle/>
                    <a:p>
                      <a:r>
                        <a:rPr b="1" sz="1300" i="0">
                          <a:solidFill>
                            <a:srgbClr val="1A2233"/>
                          </a:solidFill>
                          <a:latin typeface="Calibri"/>
                        </a:rPr>
                        <a:t>Balance</a:t>
                      </a:r>
                    </a:p>
                  </a:txBody>
                  <a:tcPr marL="64008" marR="64008" marT="27432" marB="27432" anchor="ctr">
                    <a:solidFill>
                      <a:srgbClr val="F3F6F9"/>
                    </a:solidFill>
                  </a:tcPr>
                </a:tc>
                <a:tc>
                  <a:txBody>
                    <a:bodyPr wrap="square"/>
                    <a:lstStyle/>
                    <a:p>
                      <a:r>
                        <a:rPr b="0" sz="1300" i="0">
                          <a:solidFill>
                            <a:srgbClr val="1A2233"/>
                          </a:solidFill>
                          <a:latin typeface="Calibri"/>
                        </a:rPr>
                        <a:t>Balance sheet, cash and income checks zero in every column?</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r h="347472">
                <a:tc>
                  <a:txBody>
                    <a:bodyPr wrap="square"/>
                    <a:lstStyle/>
                    <a:p>
                      <a:r>
                        <a:rPr b="1" sz="1300" i="0">
                          <a:solidFill>
                            <a:srgbClr val="1A2233"/>
                          </a:solidFill>
                          <a:latin typeface="Calibri"/>
                        </a:rPr>
                        <a:t>Documentation</a:t>
                      </a:r>
                    </a:p>
                  </a:txBody>
                  <a:tcPr marL="64008" marR="64008" marT="27432" marB="27432" anchor="ctr">
                    <a:solidFill>
                      <a:srgbClr val="FFFFFF"/>
                    </a:solidFill>
                  </a:tcPr>
                </a:tc>
                <a:tc>
                  <a:txBody>
                    <a:bodyPr wrap="square"/>
                    <a:lstStyle/>
                    <a:p>
                      <a:r>
                        <a:rPr b="0" sz="1300" i="0">
                          <a:solidFill>
                            <a:srgbClr val="1A2233"/>
                          </a:solidFill>
                          <a:latin typeface="Calibri"/>
                        </a:rPr>
                        <a:t>Sheet purpose, version and change log on Track comments?</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47472">
                <a:tc>
                  <a:txBody>
                    <a:bodyPr wrap="square"/>
                    <a:lstStyle/>
                    <a:p>
                      <a:r>
                        <a:rPr b="1" sz="1300" i="0">
                          <a:solidFill>
                            <a:srgbClr val="1A2233"/>
                          </a:solidFill>
                          <a:latin typeface="Calibri"/>
                        </a:rPr>
                        <a:t>Reasonableness</a:t>
                      </a:r>
                    </a:p>
                  </a:txBody>
                  <a:tcPr marL="64008" marR="64008" marT="27432" marB="27432" anchor="ctr">
                    <a:solidFill>
                      <a:srgbClr val="F3F6F9"/>
                    </a:solidFill>
                  </a:tcPr>
                </a:tc>
                <a:tc>
                  <a:txBody>
                    <a:bodyPr wrap="square"/>
                    <a:lstStyle/>
                    <a:p>
                      <a:r>
                        <a:rPr b="0" sz="1300" i="0">
                          <a:solidFill>
                            <a:srgbClr val="1A2233"/>
                          </a:solidFill>
                          <a:latin typeface="Calibri"/>
                        </a:rPr>
                        <a:t>Do key ratios (margins, DSCR, IRR) look sensible?</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DOCUMENTATION</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Model guide: what a user manual for the model contains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a:t>
            </a:r>
            <a:r>
              <a:rPr b="1" sz="2000" i="0">
                <a:solidFill>
                  <a:srgbClr val="1A2233"/>
                </a:solidFill>
                <a:latin typeface="Calibri"/>
              </a:rPr>
              <a:t>Purpose and scope</a:t>
            </a:r>
            <a:r>
              <a:rPr b="0" sz="2000" i="0">
                <a:solidFill>
                  <a:srgbClr val="1A2233"/>
                </a:solidFill>
                <a:latin typeface="Calibri"/>
              </a:rPr>
              <a:t>: what the model answers, what it does not</a:t>
            </a:r>
          </a:p>
          <a:p>
            <a:pPr>
              <a:spcAft>
                <a:spcPts val="700"/>
              </a:spcAft>
            </a:pPr>
            <a:r>
              <a:rPr b="0" sz="2000" i="0">
                <a:solidFill>
                  <a:srgbClr val="1A2233"/>
                </a:solidFill>
                <a:latin typeface="Calibri"/>
              </a:rPr>
              <a:t>▪ </a:t>
            </a:r>
            <a:r>
              <a:rPr b="1" sz="2000" i="0">
                <a:solidFill>
                  <a:srgbClr val="1A2233"/>
                </a:solidFill>
                <a:latin typeface="Calibri"/>
              </a:rPr>
              <a:t>Structure map</a:t>
            </a:r>
            <a:r>
              <a:rPr b="0" sz="2000" i="0">
                <a:solidFill>
                  <a:srgbClr val="1A2233"/>
                </a:solidFill>
                <a:latin typeface="Calibri"/>
              </a:rPr>
              <a:t>: sheet list, colour code, flow diagram</a:t>
            </a:r>
          </a:p>
          <a:p>
            <a:pPr>
              <a:spcAft>
                <a:spcPts val="700"/>
              </a:spcAft>
            </a:pPr>
            <a:r>
              <a:rPr b="0" sz="2000" i="0">
                <a:solidFill>
                  <a:srgbClr val="1A2233"/>
                </a:solidFill>
                <a:latin typeface="Calibri"/>
              </a:rPr>
              <a:t>▪ </a:t>
            </a:r>
            <a:r>
              <a:rPr b="1" sz="2000" i="0">
                <a:solidFill>
                  <a:srgbClr val="1A2233"/>
                </a:solidFill>
                <a:latin typeface="Calibri"/>
              </a:rPr>
              <a:t>How to run</a:t>
            </a:r>
            <a:r>
              <a:rPr b="0" sz="2000" i="0">
                <a:solidFill>
                  <a:srgbClr val="1A2233"/>
                </a:solidFill>
                <a:latin typeface="Calibri"/>
              </a:rPr>
              <a:t>: scenario switch, what to change, what never to change</a:t>
            </a:r>
          </a:p>
          <a:p>
            <a:pPr>
              <a:spcAft>
                <a:spcPts val="700"/>
              </a:spcAft>
            </a:pPr>
            <a:r>
              <a:rPr b="0" sz="2000" i="0">
                <a:solidFill>
                  <a:srgbClr val="1A2233"/>
                </a:solidFill>
                <a:latin typeface="Calibri"/>
              </a:rPr>
              <a:t>▪ </a:t>
            </a:r>
            <a:r>
              <a:rPr b="1" sz="2000" i="0">
                <a:solidFill>
                  <a:srgbClr val="1A2233"/>
                </a:solidFill>
                <a:latin typeface="Calibri"/>
              </a:rPr>
              <a:t>Key assumptions</a:t>
            </a:r>
            <a:r>
              <a:rPr b="0" sz="2000" i="0">
                <a:solidFill>
                  <a:srgbClr val="1A2233"/>
                </a:solidFill>
                <a:latin typeface="Calibri"/>
              </a:rPr>
              <a:t> and sources (with dates)</a:t>
            </a:r>
          </a:p>
          <a:p>
            <a:pPr>
              <a:spcAft>
                <a:spcPts val="700"/>
              </a:spcAft>
            </a:pPr>
            <a:r>
              <a:rPr b="0" sz="2000" i="0">
                <a:solidFill>
                  <a:srgbClr val="1A2233"/>
                </a:solidFill>
                <a:latin typeface="Calibri"/>
              </a:rPr>
              <a:t>▪ </a:t>
            </a:r>
            <a:r>
              <a:rPr b="1" sz="2000" i="0">
                <a:solidFill>
                  <a:srgbClr val="1A2233"/>
                </a:solidFill>
                <a:latin typeface="Calibri"/>
              </a:rPr>
              <a:t>Checks</a:t>
            </a:r>
            <a:r>
              <a:rPr b="0" sz="2000" i="0">
                <a:solidFill>
                  <a:srgbClr val="1A2233"/>
                </a:solidFill>
                <a:latin typeface="Calibri"/>
              </a:rPr>
              <a:t>: what each check means and what to do if it is not zero</a:t>
            </a:r>
          </a:p>
          <a:p>
            <a:pPr>
              <a:spcAft>
                <a:spcPts val="700"/>
              </a:spcAft>
            </a:pPr>
            <a:r>
              <a:rPr b="0" sz="2000" i="0">
                <a:solidFill>
                  <a:srgbClr val="1A2233"/>
                </a:solidFill>
                <a:latin typeface="Calibri"/>
              </a:rPr>
              <a:t>▪ </a:t>
            </a:r>
            <a:r>
              <a:rPr b="1" sz="2000" i="0">
                <a:solidFill>
                  <a:srgbClr val="1A2233"/>
                </a:solidFill>
                <a:latin typeface="Calibri"/>
              </a:rPr>
              <a:t>Change log</a:t>
            </a:r>
            <a:r>
              <a:rPr b="0" sz="2000" i="0">
                <a:solidFill>
                  <a:srgbClr val="1A2233"/>
                </a:solidFill>
                <a:latin typeface="Calibri"/>
              </a:rPr>
              <a:t>: version, date, author, change, effect on results (Track comments rows 77 and 78)</a:t>
            </a:r>
          </a:p>
          <a:p>
            <a:pPr>
              <a:spcAft>
                <a:spcPts val="700"/>
              </a:spcAft>
            </a:pPr>
            <a:r>
              <a:rPr b="0" sz="2000" i="0">
                <a:solidFill>
                  <a:srgbClr val="1A2233"/>
                </a:solidFill>
                <a:latin typeface="Calibri"/>
              </a:rPr>
              <a:t>▪ </a:t>
            </a:r>
            <a:r>
              <a:rPr b="1" sz="2000" i="0">
                <a:solidFill>
                  <a:srgbClr val="1A2233"/>
                </a:solidFill>
                <a:latin typeface="Calibri"/>
              </a:rPr>
              <a:t>Known limitations</a:t>
            </a:r>
            <a:r>
              <a:rPr b="0" sz="2000" i="0">
                <a:solidFill>
                  <a:srgbClr val="1A2233"/>
                </a:solidFill>
                <a:latin typeface="Calibri"/>
              </a:rPr>
              <a:t>: e.g. cash tax ignores interest; sculpting not yet in the model</a:t>
            </a:r>
          </a:p>
        </p:txBody>
      </p:sp>
      <p:sp>
        <p:nvSpPr>
          <p:cNvPr id="12" name="Rectangle 11"/>
          <p:cNvSpPr/>
          <p:nvPr/>
        </p:nvSpPr>
        <p:spPr>
          <a:xfrm>
            <a:off x="640080" y="5303520"/>
            <a:ext cx="1088136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30352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303520"/>
            <a:ext cx="10652760" cy="685800"/>
          </a:xfrm>
          <a:prstGeom prst="rect">
            <a:avLst/>
          </a:prstGeom>
          <a:noFill/>
        </p:spPr>
        <p:txBody>
          <a:bodyPr wrap="square" lIns="45720" rIns="45720" tIns="27432" bIns="27432" anchor="ctr">
            <a:spAutoFit/>
          </a:bodyPr>
          <a:lstStyle/>
          <a:p>
            <a:pPr algn="l"/>
            <a:r>
              <a:rPr b="0" sz="1400" i="0">
                <a:solidFill>
                  <a:srgbClr val="1A2233"/>
                </a:solidFill>
                <a:latin typeface="Calibri"/>
              </a:rPr>
              <a:t>Rule: if someone else could not run your model from the guide in 30 minutes, the guide is not finished.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cell contains </a:t>
            </a:r>
            <a:r>
              <a:rPr b="1" sz="2000" i="0">
                <a:solidFill>
                  <a:srgbClr val="141B4D"/>
                </a:solidFill>
                <a:latin typeface="Consolas"/>
              </a:rPr>
              <a:t>=IF(J41=1,$F37/$F38*J39*J40,0)</a:t>
            </a:r>
            <a:r>
              <a:rPr b="1" sz="2000" i="0">
                <a:solidFill>
                  <a:srgbClr val="141B4D"/>
                </a:solidFill>
                <a:latin typeface="Georgia"/>
              </a:rPr>
              <a:t>. What does J41 hold?</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forecast period flag</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fare</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unit factor</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scenario number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The balance sheet check F80 shows 1. What do you do first?</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Delete the check</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Find the first column where J80 = 1 and compare its movements</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Change the tolerance to 100</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Copy values over the balance sheet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Day 5 end-state checkpoints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88336"/>
        </p:xfrm>
        <a:graphic>
          <a:graphicData uri="http://schemas.openxmlformats.org/drawingml/2006/table">
            <a:tbl>
              <a:tblPr firstRow="1" bandRow="1">
                <a:tableStyleId>{5C22544A-7EE6-4342-B048-85BDC9FD1C3A}</a:tableStyleId>
              </a:tblPr>
              <a:tblGrid>
                <a:gridCol w="1828800"/>
                <a:gridCol w="5943600"/>
                <a:gridCol w="3291840"/>
              </a:tblGrid>
              <a:tr h="384048">
                <a:tc>
                  <a:txBody>
                    <a:bodyPr wrap="square"/>
                    <a:lstStyle/>
                    <a:p>
                      <a:r>
                        <a:rPr b="1" sz="1300" i="0">
                          <a:solidFill>
                            <a:srgbClr val="FFFFFF"/>
                          </a:solidFill>
                          <a:latin typeface="Calibri"/>
                        </a:rPr>
                        <a:t>Sheet</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H or F value</a:t>
                      </a:r>
                    </a:p>
                  </a:txBody>
                  <a:tcPr marL="64008" marR="64008" marT="27432" marB="27432" anchor="ctr">
                    <a:solidFill>
                      <a:srgbClr val="141B4D"/>
                    </a:solidFill>
                  </a:tcPr>
                </a:tc>
              </a:tr>
              <a:tr h="384048">
                <a:tc>
                  <a:txBody>
                    <a:bodyPr wrap="square"/>
                    <a:lstStyle/>
                    <a:p>
                      <a:r>
                        <a:rPr b="1" sz="1300" i="0">
                          <a:solidFill>
                            <a:srgbClr val="1A2233"/>
                          </a:solidFill>
                          <a:latin typeface="Calibri"/>
                        </a:rPr>
                        <a:t>Val</a:t>
                      </a:r>
                    </a:p>
                  </a:txBody>
                  <a:tcPr marL="64008" marR="64008" marT="27432" marB="27432" anchor="ctr">
                    <a:solidFill>
                      <a:srgbClr val="FFFFFF"/>
                    </a:solidFill>
                  </a:tcPr>
                </a:tc>
                <a:tc>
                  <a:txBody>
                    <a:bodyPr wrap="square"/>
                    <a:lstStyle/>
                    <a:p>
                      <a:r>
                        <a:rPr b="0" sz="1300" i="0">
                          <a:solidFill>
                            <a:srgbClr val="1A2233"/>
                          </a:solidFill>
                          <a:latin typeface="Calibri"/>
                        </a:rPr>
                        <a:t>NPV of shareholder cash flow (F39)</a:t>
                      </a:r>
                    </a:p>
                  </a:txBody>
                  <a:tcPr marL="64008" marR="64008" marT="27432" marB="27432" anchor="ctr">
                    <a:solidFill>
                      <a:srgbClr val="FFFFFF"/>
                    </a:solidFill>
                  </a:tcPr>
                </a:tc>
                <a:tc>
                  <a:txBody>
                    <a:bodyPr wrap="square"/>
                    <a:lstStyle/>
                    <a:p>
                      <a:r>
                        <a:rPr b="0" sz="1300" i="0">
                          <a:solidFill>
                            <a:srgbClr val="1A2233"/>
                          </a:solidFill>
                          <a:latin typeface="Calibri"/>
                        </a:rPr>
                        <a:t>17,609.0</a:t>
                      </a:r>
                    </a:p>
                  </a:txBody>
                  <a:tcPr marL="64008" marR="64008" marT="27432" marB="27432" anchor="ctr">
                    <a:solidFill>
                      <a:srgbClr val="FFFFFF"/>
                    </a:solidFill>
                  </a:tcPr>
                </a:tc>
              </a:tr>
              <a:tr h="384048">
                <a:tc>
                  <a:txBody>
                    <a:bodyPr wrap="square"/>
                    <a:lstStyle/>
                    <a:p>
                      <a:r>
                        <a:rPr b="1" sz="1300" i="0">
                          <a:solidFill>
                            <a:srgbClr val="1A2233"/>
                          </a:solidFill>
                          <a:latin typeface="Calibri"/>
                        </a:rPr>
                        <a:t>Val</a:t>
                      </a:r>
                    </a:p>
                  </a:txBody>
                  <a:tcPr marL="64008" marR="64008" marT="27432" marB="27432" anchor="ctr">
                    <a:solidFill>
                      <a:srgbClr val="F3F6F9"/>
                    </a:solidFill>
                  </a:tcPr>
                </a:tc>
                <a:tc>
                  <a:txBody>
                    <a:bodyPr wrap="square"/>
                    <a:lstStyle/>
                    <a:p>
                      <a:r>
                        <a:rPr b="0" sz="1300" i="0">
                          <a:solidFill>
                            <a:srgbClr val="1A2233"/>
                          </a:solidFill>
                          <a:latin typeface="Calibri"/>
                        </a:rPr>
                        <a:t>Shareholder IRR (F49)</a:t>
                      </a:r>
                    </a:p>
                  </a:txBody>
                  <a:tcPr marL="64008" marR="64008" marT="27432" marB="27432" anchor="ctr">
                    <a:solidFill>
                      <a:srgbClr val="F3F6F9"/>
                    </a:solidFill>
                  </a:tcPr>
                </a:tc>
                <a:tc>
                  <a:txBody>
                    <a:bodyPr wrap="square"/>
                    <a:lstStyle/>
                    <a:p>
                      <a:r>
                        <a:rPr b="0" sz="1300" i="0">
                          <a:solidFill>
                            <a:srgbClr val="1A2233"/>
                          </a:solidFill>
                          <a:latin typeface="Calibri"/>
                        </a:rPr>
                        <a:t>33.72%</a:t>
                      </a:r>
                    </a:p>
                  </a:txBody>
                  <a:tcPr marL="64008" marR="64008" marT="27432" marB="27432" anchor="ctr">
                    <a:solidFill>
                      <a:srgbClr val="F3F6F9"/>
                    </a:solidFill>
                  </a:tcPr>
                </a:tc>
              </a:tr>
              <a:tr h="384048">
                <a:tc>
                  <a:txBody>
                    <a:bodyPr wrap="square"/>
                    <a:lstStyle/>
                    <a:p>
                      <a:r>
                        <a:rPr b="1" sz="1300" i="0">
                          <a:solidFill>
                            <a:srgbClr val="1A2233"/>
                          </a:solidFill>
                          <a:latin typeface="Calibri"/>
                        </a:rPr>
                        <a:t>FinStat</a:t>
                      </a:r>
                    </a:p>
                  </a:txBody>
                  <a:tcPr marL="64008" marR="64008" marT="27432" marB="27432" anchor="ctr">
                    <a:solidFill>
                      <a:srgbClr val="FFFFFF"/>
                    </a:solidFill>
                  </a:tcPr>
                </a:tc>
                <a:tc>
                  <a:txBody>
                    <a:bodyPr wrap="square"/>
                    <a:lstStyle/>
                    <a:p>
                      <a:r>
                        <a:rPr b="0" sz="1300" i="0">
                          <a:solidFill>
                            <a:srgbClr val="1A2233"/>
                          </a:solidFill>
                          <a:latin typeface="Calibri"/>
                        </a:rPr>
                        <a:t>EBITDA (H11)</a:t>
                      </a:r>
                    </a:p>
                  </a:txBody>
                  <a:tcPr marL="64008" marR="64008" marT="27432" marB="27432" anchor="ctr">
                    <a:solidFill>
                      <a:srgbClr val="FFFFFF"/>
                    </a:solidFill>
                  </a:tcPr>
                </a:tc>
                <a:tc>
                  <a:txBody>
                    <a:bodyPr wrap="square"/>
                    <a:lstStyle/>
                    <a:p>
                      <a:r>
                        <a:rPr b="0" sz="1300" i="0">
                          <a:solidFill>
                            <a:srgbClr val="1A2233"/>
                          </a:solidFill>
                          <a:latin typeface="Calibri"/>
                        </a:rPr>
                        <a:t>789,195</a:t>
                      </a:r>
                    </a:p>
                  </a:txBody>
                  <a:tcPr marL="64008" marR="64008" marT="27432" marB="27432" anchor="ctr">
                    <a:solidFill>
                      <a:srgbClr val="FFFFFF"/>
                    </a:solidFill>
                  </a:tcPr>
                </a:tc>
              </a:tr>
              <a:tr h="384048">
                <a:tc>
                  <a:txBody>
                    <a:bodyPr wrap="square"/>
                    <a:lstStyle/>
                    <a:p>
                      <a:r>
                        <a:rPr b="1" sz="1300" i="0">
                          <a:solidFill>
                            <a:srgbClr val="1A2233"/>
                          </a:solidFill>
                          <a:latin typeface="Calibri"/>
                        </a:rPr>
                        <a:t>FinStat</a:t>
                      </a:r>
                    </a:p>
                  </a:txBody>
                  <a:tcPr marL="64008" marR="64008" marT="27432" marB="27432" anchor="ctr">
                    <a:solidFill>
                      <a:srgbClr val="F3F6F9"/>
                    </a:solidFill>
                  </a:tcPr>
                </a:tc>
                <a:tc>
                  <a:txBody>
                    <a:bodyPr wrap="square"/>
                    <a:lstStyle/>
                    <a:p>
                      <a:r>
                        <a:rPr b="0" sz="1300" i="0">
                          <a:solidFill>
                            <a:srgbClr val="1A2233"/>
                          </a:solidFill>
                          <a:latin typeface="Calibri"/>
                        </a:rPr>
                        <a:t>CFADS (H38)</a:t>
                      </a:r>
                    </a:p>
                  </a:txBody>
                  <a:tcPr marL="64008" marR="64008" marT="27432" marB="27432" anchor="ctr">
                    <a:solidFill>
                      <a:srgbClr val="F3F6F9"/>
                    </a:solidFill>
                  </a:tcPr>
                </a:tc>
                <a:tc>
                  <a:txBody>
                    <a:bodyPr wrap="square"/>
                    <a:lstStyle/>
                    <a:p>
                      <a:r>
                        <a:rPr b="0" sz="1300" i="0">
                          <a:solidFill>
                            <a:srgbClr val="1A2233"/>
                          </a:solidFill>
                          <a:latin typeface="Calibri"/>
                        </a:rPr>
                        <a:t>582,324</a:t>
                      </a:r>
                    </a:p>
                  </a:txBody>
                  <a:tcPr marL="64008" marR="64008" marT="27432" marB="27432" anchor="ctr">
                    <a:solidFill>
                      <a:srgbClr val="F3F6F9"/>
                    </a:solidFill>
                  </a:tcPr>
                </a:tc>
              </a:tr>
              <a:tr h="384048">
                <a:tc>
                  <a:txBody>
                    <a:bodyPr wrap="square"/>
                    <a:lstStyle/>
                    <a:p>
                      <a:r>
                        <a:rPr b="1" sz="1300" i="0">
                          <a:solidFill>
                            <a:srgbClr val="1A2233"/>
                          </a:solidFill>
                          <a:latin typeface="Calibri"/>
                        </a:rPr>
                        <a:t>Equity</a:t>
                      </a:r>
                    </a:p>
                  </a:txBody>
                  <a:tcPr marL="64008" marR="64008" marT="27432" marB="27432" anchor="ctr">
                    <a:solidFill>
                      <a:srgbClr val="FFFFFF"/>
                    </a:solidFill>
                  </a:tcPr>
                </a:tc>
                <a:tc>
                  <a:txBody>
                    <a:bodyPr wrap="square"/>
                    <a:lstStyle/>
                    <a:p>
                      <a:r>
                        <a:rPr b="0" sz="1300" i="0">
                          <a:solidFill>
                            <a:srgbClr val="1A2233"/>
                          </a:solidFill>
                          <a:latin typeface="Calibri"/>
                        </a:rPr>
                        <a:t>Dividends (H39)</a:t>
                      </a:r>
                    </a:p>
                  </a:txBody>
                  <a:tcPr marL="64008" marR="64008" marT="27432" marB="27432" anchor="ctr">
                    <a:solidFill>
                      <a:srgbClr val="FFFFFF"/>
                    </a:solidFill>
                  </a:tcPr>
                </a:tc>
                <a:tc>
                  <a:txBody>
                    <a:bodyPr wrap="square"/>
                    <a:lstStyle/>
                    <a:p>
                      <a:r>
                        <a:rPr b="0" sz="1300" i="0">
                          <a:solidFill>
                            <a:srgbClr val="1A2233"/>
                          </a:solidFill>
                          <a:latin typeface="Calibri"/>
                        </a:rPr>
                        <a:t>464,033</a:t>
                      </a:r>
                    </a:p>
                  </a:txBody>
                  <a:tcPr marL="64008" marR="64008" marT="27432" marB="27432" anchor="ctr">
                    <a:solidFill>
                      <a:srgbClr val="FFFFFF"/>
                    </a:solidFill>
                  </a:tcPr>
                </a:tc>
              </a:tr>
              <a:tr h="384048">
                <a:tc>
                  <a:txBody>
                    <a:bodyPr wrap="square"/>
                    <a:lstStyle/>
                    <a:p>
                      <a:r>
                        <a:rPr b="1" sz="1300" i="0">
                          <a:solidFill>
                            <a:srgbClr val="1A2233"/>
                          </a:solidFill>
                          <a:latin typeface="Calibri"/>
                        </a:rPr>
                        <a:t>FinStat</a:t>
                      </a:r>
                    </a:p>
                  </a:txBody>
                  <a:tcPr marL="64008" marR="64008" marT="27432" marB="27432" anchor="ctr">
                    <a:solidFill>
                      <a:srgbClr val="F3F6F9"/>
                    </a:solidFill>
                  </a:tcPr>
                </a:tc>
                <a:tc>
                  <a:txBody>
                    <a:bodyPr wrap="square"/>
                    <a:lstStyle/>
                    <a:p>
                      <a:r>
                        <a:rPr b="0" sz="1300" i="0">
                          <a:solidFill>
                            <a:srgbClr val="1A2233"/>
                          </a:solidFill>
                          <a:latin typeface="Calibri"/>
                        </a:rPr>
                        <a:t>Checks F74, F77, F80</a:t>
                      </a:r>
                    </a:p>
                  </a:txBody>
                  <a:tcPr marL="64008" marR="64008" marT="27432" marB="27432" anchor="ctr">
                    <a:solidFill>
                      <a:srgbClr val="F3F6F9"/>
                    </a:solidFill>
                  </a:tcPr>
                </a:tc>
                <a:tc>
                  <a:txBody>
                    <a:bodyPr wrap="square"/>
                    <a:lstStyle/>
                    <a:p>
                      <a:r>
                        <a:rPr b="0" sz="1300" i="0">
                          <a:solidFill>
                            <a:srgbClr val="1A2233"/>
                          </a:solidFill>
                          <a:latin typeface="Calibri"/>
                        </a:rPr>
                        <a:t>0, 0, 0</a:t>
                      </a:r>
                    </a:p>
                  </a:txBody>
                  <a:tcPr marL="64008" marR="64008" marT="27432" marB="27432" anchor="ctr">
                    <a:solidFill>
                      <a:srgbClr val="F3F6F9"/>
                    </a:solidFill>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5  |  Tue 20 Oct 2026  |  Financial Modelling II: balance sheet, funding and valuation</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RECAP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we built today, and what comes next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NCA, working capital reconciliation, Debt, Equity, FinStat and Val: a balanced three-statement model</a:t>
            </a:r>
          </a:p>
          <a:p>
            <a:pPr>
              <a:spcAft>
                <a:spcPts val="700"/>
              </a:spcAft>
            </a:pPr>
            <a:r>
              <a:rPr b="0" sz="2000" i="0">
                <a:solidFill>
                  <a:srgbClr val="1A2233"/>
                </a:solidFill>
                <a:latin typeface="Calibri"/>
              </a:rPr>
              <a:t>▪ Track: scenario log; data-table sensitivity; DSCR as the first lender ratio</a:t>
            </a:r>
          </a:p>
          <a:p>
            <a:pPr>
              <a:spcAft>
                <a:spcPts val="700"/>
              </a:spcAft>
            </a:pPr>
            <a:r>
              <a:rPr b="0" sz="2000" i="0">
                <a:solidFill>
                  <a:srgbClr val="1A2233"/>
                </a:solidFill>
                <a:latin typeface="Calibri"/>
              </a:rPr>
              <a:t>▪ Valuation (Base): NPV 17,609.0; shareholder XIRR 33.72%; project XIRR 24.9%; payback Mar 2026</a:t>
            </a:r>
          </a:p>
          <a:p>
            <a:pPr>
              <a:spcAft>
                <a:spcPts val="700"/>
              </a:spcAft>
            </a:pPr>
            <a:r>
              <a:rPr b="0" sz="2000" i="0">
                <a:solidFill>
                  <a:srgbClr val="1A2233"/>
                </a:solidFill>
                <a:latin typeface="Calibri"/>
              </a:rPr>
              <a:t>▪ </a:t>
            </a:r>
            <a:r>
              <a:rPr b="1" sz="2000" i="0">
                <a:solidFill>
                  <a:srgbClr val="1A2233"/>
                </a:solidFill>
                <a:latin typeface="Calibri"/>
              </a:rPr>
              <a:t>Tomorrow (Day 6)</a:t>
            </a:r>
            <a:r>
              <a:rPr b="0" sz="2000" i="0">
                <a:solidFill>
                  <a:srgbClr val="1A2233"/>
                </a:solidFill>
                <a:latin typeface="Calibri"/>
              </a:rPr>
              <a:t>: turn it into a project finance model: construction period, sources and uses, fees and interest during construction</a:t>
            </a:r>
          </a:p>
        </p:txBody>
      </p:sp>
      <p:sp>
        <p:nvSpPr>
          <p:cNvPr id="12" name="Rectangle 11"/>
          <p:cNvSpPr/>
          <p:nvPr/>
        </p:nvSpPr>
        <p:spPr>
          <a:xfrm>
            <a:off x="640080" y="5029200"/>
            <a:ext cx="10881360" cy="82296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29200"/>
            <a:ext cx="82296" cy="8229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52760" cy="822960"/>
          </a:xfrm>
          <a:prstGeom prst="rect">
            <a:avLst/>
          </a:prstGeom>
          <a:noFill/>
        </p:spPr>
        <p:txBody>
          <a:bodyPr wrap="square" lIns="45720" rIns="45720" tIns="27432" bIns="27432" anchor="ctr">
            <a:spAutoFit/>
          </a:bodyPr>
          <a:lstStyle/>
          <a:p>
            <a:pPr algn="l"/>
            <a:r>
              <a:rPr b="0" sz="1400" i="0">
                <a:solidFill>
                  <a:srgbClr val="1A2233"/>
                </a:solidFill>
                <a:latin typeface="Calibri"/>
              </a:rPr>
              <a:t>Homework: save as v05; read the Day 6 pre-read: sources and uses of funds (Yescombe ch. on project costs and funding).</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5  |  Tue 20 Oct 2026  |  Financial Modelling II: balance sheet, funding and valuation</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109</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15544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QUESTIONS AND FOLLOW-UP</a:t>
            </a:r>
          </a:p>
        </p:txBody>
      </p:sp>
      <p:sp>
        <p:nvSpPr>
          <p:cNvPr id="10" name="TextBox 9"/>
          <p:cNvSpPr txBox="1"/>
          <p:nvPr/>
        </p:nvSpPr>
        <p:spPr>
          <a:xfrm>
            <a:off x="731520" y="1965960"/>
            <a:ext cx="10058400" cy="914400"/>
          </a:xfrm>
          <a:prstGeom prst="rect">
            <a:avLst/>
          </a:prstGeom>
          <a:noFill/>
        </p:spPr>
        <p:txBody>
          <a:bodyPr wrap="square" lIns="45720" rIns="45720" tIns="27432" bIns="27432" anchor="t">
            <a:spAutoFit/>
          </a:bodyPr>
          <a:lstStyle/>
          <a:p>
            <a:pPr algn="l"/>
            <a:r>
              <a:rPr b="1" sz="4400" i="0">
                <a:solidFill>
                  <a:srgbClr val="FFFFFF"/>
                </a:solidFill>
                <a:latin typeface="Georgia"/>
              </a:rPr>
              <a:t>Thank you</a:t>
            </a:r>
          </a:p>
        </p:txBody>
      </p:sp>
      <p:sp>
        <p:nvSpPr>
          <p:cNvPr id="11" name="TextBox 10"/>
          <p:cNvSpPr txBox="1"/>
          <p:nvPr/>
        </p:nvSpPr>
        <p:spPr>
          <a:xfrm>
            <a:off x="731520" y="3200400"/>
            <a:ext cx="8686800" cy="2194560"/>
          </a:xfrm>
          <a:prstGeom prst="rect">
            <a:avLst/>
          </a:prstGeom>
          <a:noFill/>
        </p:spPr>
        <p:txBody>
          <a:bodyPr wrap="square" lIns="45720" rIns="45720" tIns="27432" bIns="27432" anchor="t">
            <a:spAutoFit/>
          </a:bodyPr>
          <a:lstStyle/>
          <a:p>
            <a:pPr algn="l"/>
            <a:r>
              <a:rPr b="1" sz="2000" i="0">
                <a:solidFill>
                  <a:srgbClr val="D8DEF5"/>
                </a:solidFill>
                <a:latin typeface="Calibri"/>
              </a:rPr>
              <a:t>Prof Bongo Adi</a:t>
            </a:r>
          </a:p>
          <a:p>
            <a:pPr algn="l"/>
            <a:r>
              <a:rPr b="0" sz="2000" i="0">
                <a:solidFill>
                  <a:srgbClr val="D8DEF5"/>
                </a:solidFill>
                <a:latin typeface="Calibri"/>
              </a:rPr>
              <a:t>Lagos Business School, Pan-Atlantic University</a:t>
            </a:r>
          </a:p>
          <a:p>
            <a:pPr algn="l"/>
            <a:r>
              <a:rPr b="0" sz="2000" i="0">
                <a:solidFill>
                  <a:srgbClr val="D8DEF5"/>
                </a:solidFill>
                <a:latin typeface="Calibri"/>
              </a:rPr>
              <a:t>Phone / WhatsApp:  +234 706 164 8699</a:t>
            </a:r>
          </a:p>
          <a:p>
            <a:pPr algn="l"/>
            <a:r>
              <a:rPr b="0" sz="2000" i="0">
                <a:solidFill>
                  <a:srgbClr val="D8DEF5"/>
                </a:solidFill>
                <a:latin typeface="Calibri"/>
              </a:rPr>
              <a:t>Email:  badi@lbs.edu.ng</a:t>
            </a:r>
          </a:p>
          <a:p>
            <a:pPr algn="l"/>
            <a:r>
              <a:rPr b="0" sz="2000" i="0">
                <a:solidFill>
                  <a:srgbClr val="D8DEF5"/>
                </a:solidFill>
                <a:latin typeface="Calibri"/>
              </a:rPr>
              <a:t>Fulbright email:  bongo.adi@fulbrightmail.org</a:t>
            </a:r>
          </a:p>
        </p:txBody>
      </p:sp>
      <p:pic>
        <p:nvPicPr>
          <p:cNvPr id="12" name="Picture 11" descr="mipf_hex.png"/>
          <p:cNvPicPr>
            <a:picLocks noChangeAspect="1"/>
          </p:cNvPicPr>
          <p:nvPr/>
        </p:nvPicPr>
        <p:blipFill>
          <a:blip r:embed="rId5"/>
          <a:stretch>
            <a:fillRect/>
          </a:stretch>
        </p:blipFill>
        <p:spPr>
          <a:xfrm>
            <a:off x="9418320" y="1828800"/>
            <a:ext cx="2103120" cy="2103120"/>
          </a:xfrm>
          <a:prstGeom prst="rect">
            <a:avLst/>
          </a:prstGeom>
        </p:spPr>
      </p:pic>
      <p:pic>
        <p:nvPicPr>
          <p:cNvPr id="13" name="Picture 12" descr="bongo_ai_hex_dark_256.png"/>
          <p:cNvPicPr>
            <a:picLocks noChangeAspect="1"/>
          </p:cNvPicPr>
          <p:nvPr/>
        </p:nvPicPr>
        <p:blipFill>
          <a:blip r:embed="rId4"/>
          <a:stretch>
            <a:fillRect/>
          </a:stretch>
        </p:blipFill>
        <p:spPr>
          <a:xfrm>
            <a:off x="9692640" y="411480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MIPF_Day5_Funding_Valuation_Deck (participant edition)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